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Calibri (MS)" charset="1" panose="020F0502020204030204"/>
      <p:regular r:id="rId44"/>
    </p:embeddedFont>
    <p:embeddedFont>
      <p:font typeface="Arial" charset="1" panose="020B0604020202020204"/>
      <p:regular r:id="rId45"/>
    </p:embeddedFont>
    <p:embeddedFont>
      <p:font typeface="Arial Bold" charset="1" panose="020B0704020202020204"/>
      <p:regular r:id="rId46"/>
    </p:embeddedFont>
    <p:embeddedFont>
      <p:font typeface="Arimo Bold" charset="1" panose="020B0704020202020204"/>
      <p:regular r:id="rId47"/>
    </p:embeddedFont>
    <p:embeddedFont>
      <p:font typeface="Arimo" charset="1" panose="020B0604020202020204"/>
      <p:regular r:id="rId48"/>
    </p:embeddedFont>
    <p:embeddedFont>
      <p:font typeface="Noto Sans" charset="1" panose="020B0502040504020204"/>
      <p:regular r:id="rId49"/>
    </p:embeddedFont>
    <p:embeddedFont>
      <p:font typeface="Quicksand Bold" charset="1" panose="00000000000000000000"/>
      <p:regular r:id="rId50"/>
    </p:embeddedFont>
    <p:embeddedFont>
      <p:font typeface="Quicksand" charset="1" panose="00000000000000000000"/>
      <p:regular r:id="rId51"/>
    </p:embeddedFont>
    <p:embeddedFont>
      <p:font typeface="Canva Sans" charset="1" panose="020B0503030501040103"/>
      <p:regular r:id="rId52"/>
    </p:embeddedFont>
    <p:embeddedFont>
      <p:font typeface="Calibri (MS) Bold" charset="1" panose="020F0702030404030204"/>
      <p:regular r:id="rId53"/>
    </p:embeddedFont>
    <p:embeddedFont>
      <p:font typeface="Aptos Bold" charset="1" panose="020B0004020202020204"/>
      <p:regular r:id="rId68"/>
    </p:embeddedFont>
    <p:embeddedFont>
      <p:font typeface="Aptos" charset="1" panose="020B0004020202020204"/>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notesMasters/notesMaster1.xml" Type="http://schemas.openxmlformats.org/officeDocument/2006/relationships/notesMaster"/><Relationship Id="rId55" Target="theme/theme2.xml" Type="http://schemas.openxmlformats.org/officeDocument/2006/relationships/theme"/><Relationship Id="rId56" Target="notesSlides/notesSlide1.xml" Type="http://schemas.openxmlformats.org/officeDocument/2006/relationships/notesSlide"/><Relationship Id="rId57" Target="notesSlides/notesSlide2.xml" Type="http://schemas.openxmlformats.org/officeDocument/2006/relationships/notesSlide"/><Relationship Id="rId58" Target="notesSlides/notesSlide3.xml" Type="http://schemas.openxmlformats.org/officeDocument/2006/relationships/notesSlide"/><Relationship Id="rId59" Target="notesSlides/notesSlide4.xml" Type="http://schemas.openxmlformats.org/officeDocument/2006/relationships/notesSlide"/><Relationship Id="rId6" Target="slides/slide1.xml" Type="http://schemas.openxmlformats.org/officeDocument/2006/relationships/slide"/><Relationship Id="rId60" Target="notesSlides/notesSlide5.xml" Type="http://schemas.openxmlformats.org/officeDocument/2006/relationships/notesSlide"/><Relationship Id="rId61" Target="notesSlides/notesSlide6.xml" Type="http://schemas.openxmlformats.org/officeDocument/2006/relationships/notesSlide"/><Relationship Id="rId62" Target="notesSlides/notesSlide7.xml" Type="http://schemas.openxmlformats.org/officeDocument/2006/relationships/notesSlide"/><Relationship Id="rId63" Target="notesSlides/notesSlide8.xml" Type="http://schemas.openxmlformats.org/officeDocument/2006/relationships/notesSlide"/><Relationship Id="rId64" Target="notesSlides/notesSlide9.xml" Type="http://schemas.openxmlformats.org/officeDocument/2006/relationships/notesSlide"/><Relationship Id="rId65" Target="notesSlides/notesSlide10.xml" Type="http://schemas.openxmlformats.org/officeDocument/2006/relationships/notesSlide"/><Relationship Id="rId66" Target="notesSlides/notesSlide11.xml" Type="http://schemas.openxmlformats.org/officeDocument/2006/relationships/notesSlide"/><Relationship Id="rId67" Target="notesSlides/notesSlide12.xml" Type="http://schemas.openxmlformats.org/officeDocument/2006/relationships/notesSlide"/><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70" Target="notesSlides/notesSlide13.xml" Type="http://schemas.openxmlformats.org/officeDocument/2006/relationships/notesSlide"/><Relationship Id="rId71" Target="notesSlides/notesSlide14.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Mô hình tuyến tính biến các đặc trưng thành điểm lớp. Xác suất giúp diễn giải việc chọn lớp. Các số 55%, 20% và 25% chỉ là ví dụ minh họa. CPU trong code dùng SGDClassifier với loss=log_loss, học theo one-vs-rest, và StandardScaler fit trên Train. Spark dùng LogisticRegression đa lớp family=multinomial. Các cấu hình trong snapshot chưa được log xác nhận cho lượt cũ. Nguồn: https://scikit-learn.org/stable/modules/generated/sklearn.linear_model.SGDClassifier.html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Cây chọn điều kiện để giảm mức trộn nhãn, rồi tiếp tục chia từng nhánh. Khi dự đoán, một chuyến bay đi từ gốc tới lá. Ngưỡng giờ đi 17 và khoảng cách 1.000, cùng nhãn ở lá, chỉ là minh họa. CPU snapshot đặt max_depth=12 và min_samples_split=50; Spark đặt maxDepth=6, maxBins=32. Không khẳng định đây là cấu hình đúng lúc lưu kết quả. Nguồn: https://scikit-learn.org/stable/modules/tree.html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Các cây học từ các mẫu bootstrap và tập con đặc trưng. Ví dụ Carrier/Carrier/NAS giải thích trực giác đa số phiếu. Bản scikit-learn thực tế chọn lớp có trung bình xác suất cao nhất, không phải luôn đếm nhãn cứng. Snapshot CPU đặt 50 cây, depth 10. Spark snapshot đặt cứng 10 cây, depth 6, dù CLI ghi mặc định 20/10. Số cây không tương ứng số máy. Nguồn: https://scikit-learn.org/stable/modules/generated/sklearn.ensemble.RandomForestClassifier.html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XGBoost thêm cây để cải thiện hàm mất mát của mô hình hiện tại. Cây mới học theo thông tin gradient và Hessian; cụm từ giảm sai số trên slide là cách giải thích đơn giản. Khi dự đoán, cộng đóng góp các cây rồi chọn lớp, không bỏ phiếu. CPU snapshot đặt device=cpu, tree_method=hist, 100 cây, depth 8 và learning_rate=0,08; Validation dùng early stopping. Đây là cấu hình trong code tham chiếu. Nguồn: https://xgboost.readthedocs.io/en/latest/tutorials/model.html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Histogram gom giá trị liên tục vào các bins và tích lũy thống kê gradient/Hessian. LightGBM chọn lá có mức giảm loss lớn nhất để phát triển tiếp, thay vì mở cả tầng đồng thời. Các cây vẫn được thêm theo gradient boosting. Lá A/B và các bins trên slide chỉ minh họa. CPU snapshot có 100 cây, depth 10, learning_rate=0,08 và early stopping 15 vòng. Nguồn: https://lightgbm.readthedocs.io/en/v4.2.0/Features.html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CatBoost hỗ trợ dữ liệu phân loại bằng các thống kê theo hoán vị. Ordered boosting là một lựa chọn, không tự khẳng định code đã dùng vì không đặt boosting_type. CPU của dự án đã dùng LabelEncoder, chuyển tất cả cột thành ma trận float32 và không truyền cat_features. Vì vậy, sơ đồ thể hiện năng lực nguyên lý, chưa phải cơ chế categorical mà cấu hình dự án đã kích hoạt. Snapshot đặt iterations=100, depth=8, task_type=CPU. Nguồn: https://catboost.ai/docs/en/concepts/algorithm-main-stages_cat-to-numberic</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Kính thưa thầy cô, ở bước chọn dữ liệu, nguyên tắc cốt lõi của nhóm là tách bạch hoàn toàn giữa nhãn và đặc trưng đầu vào để tránh rò rỉ dữ liệu (data leakage).</a:t>
            </a:r>
          </a:p>
          <a:p>
            <a:r>
              <a:rPr lang="en-US"/>
              <a:t/>
            </a:r>
          </a:p>
          <a:p>
            <a:r>
              <a:rPr lang="en-US"/>
              <a:t>Dữ liệu được chia thành 3 nhóm rõ ràng:</a:t>
            </a:r>
          </a:p>
          <a:p>
            <a:r>
              <a:rPr lang="en-US"/>
              <a:t/>
            </a:r>
          </a:p>
          <a:p>
            <a:r>
              <a:rPr lang="en-US"/>
              <a:t>Nhóm lọc và tạo nhãn: Dùng trạng thái hủy/đổi hướng bay (cancelled, diverted), độ trễ thực tế (arr_delay) và 5 nhóm nguyên nhân trễ để xác định ground truth. Nhóm này hoàn toàn bị loại khỏi tập </a:t>
            </a:r>
          </a:p>
          <a:p>
            <a:r>
              <a:rPr lang="en-US"/>
              <a:t>𝑋</a:t>
            </a:r>
          </a:p>
          <a:p>
            <a:r>
              <a:rPr lang="en-US"/>
              <a:t>X khi huấn luyện.</a:t>
            </a:r>
          </a:p>
          <a:p>
            <a:r>
              <a:rPr lang="en-US"/>
              <a:t/>
            </a:r>
          </a:p>
          <a:p>
            <a:r>
              <a:rPr lang="en-US"/>
              <a:t>Nhóm lịch trình kế hoạch: Gồm ngày, thứ trong tuần và giờ bay/giờ đến dự kiến (crs_dep_time, crs_arr_time).</a:t>
            </a:r>
          </a:p>
          <a:p>
            <a:r>
              <a:rPr lang="en-US"/>
              <a:t/>
            </a:r>
          </a:p>
          <a:p>
            <a:r>
              <a:rPr lang="en-US"/>
              <a:t>Nhóm vận hành: Gồm mã hãng bay, sân bay đi - đến, thời gian bay dự kiến và khoảng cách.</a:t>
            </a:r>
          </a:p>
          <a:p>
            <a:r>
              <a:rPr lang="en-US"/>
              <a:t/>
            </a:r>
          </a:p>
          <a:p>
            <a:r>
              <a:rPr lang="en-US"/>
              <a:t>Như vậy, mô hình chỉ học từ những thông tin kế hoạch đã biết trước giờ cất cánh, đảm bảo tính khả thi khi dự báo ngoài thực tế."</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Tiếp theo là các quy tắc làm sạch dữ liệu thực tế được triển khai trong code.</a:t>
            </a:r>
          </a:p>
          <a:p>
            <a:r>
              <a:rPr lang="en-US"/>
              <a:t/>
            </a:r>
          </a:p>
          <a:p>
            <a:r>
              <a:rPr lang="en-US"/>
              <a:t>Quy trình tập trung vào hai xử lý cốt lõi:</a:t>
            </a:r>
          </a:p>
          <a:p>
            <a:r>
              <a:rPr lang="en-US"/>
              <a:t/>
            </a:r>
          </a:p>
          <a:p>
            <a:r>
              <a:rPr lang="en-US"/>
              <a:t>Lọc bản ghi (Filtering): Chỉ giữ các chuyến bay bình thường với cancelled = 0 và diverted = 0, đồng thời arr_delay bắt buộc phải có giá trị để tạo ground truth. Các chuyến bị hủy, chuyển hướng hoặc thiếu nhãn đều bị loại bỏ hoàn toàn.</a:t>
            </a:r>
          </a:p>
          <a:p>
            <a:r>
              <a:rPr lang="en-US"/>
              <a:t/>
            </a:r>
          </a:p>
          <a:p>
            <a:r>
              <a:rPr lang="en-US"/>
              <a:t>Xử lý giá trị thiếu (Imputation): Với 5 cột nguyên nhân gây trễ và cột dep_delay, nếu bị thiếu sẽ được điền mặc định bằng </a:t>
            </a:r>
          </a:p>
          <a:p>
            <a:r>
              <a:rPr lang="en-US"/>
              <a:t>0</a:t>
            </a:r>
          </a:p>
          <a:p>
            <a:r>
              <a:rPr lang="en-US"/>
              <a:t>0.</a:t>
            </a:r>
          </a:p>
          <a:p>
            <a:r>
              <a:rPr lang="en-US"/>
              <a:t/>
            </a:r>
          </a:p>
          <a:p>
            <a:r>
              <a:rPr lang="en-US"/>
              <a:t>Về mặt kỹ thuật, Spark tiến hành ép kiểu số trước khi lọc, còn pipeline CPU sẽ tiếp tục xử lý các lỗi ép kiểu khi chuẩn bị ma trận </a:t>
            </a:r>
          </a:p>
          <a:p>
            <a:r>
              <a:rPr lang="en-US"/>
              <a:t>𝑋</a:t>
            </a:r>
          </a:p>
          <a:p>
            <a:r>
              <a:rPr lang="en-US"/>
              <a:t>X."</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Tiếp theo là thuật toán gán nhãn đa lớp cho bài toán dự báo nguyên nhân trễ.Quy tắc phân loại gồm 2 nhánh chính:Đúng giờ hoặc trễ không đáng kể: Nếu arr_delay &lt; 15 phút, chuyến bay được gán ngay mã nhãn là 0 (OnTime).Trễ từ 15 phút trở lên: Nhóm sẽ xét 5 cột nguyên nhân gây trễ và chọn nguyên nhân có số phút lớn nhất làm nhãn chi phối.Để tránh xung đột khi có nhiều nguyên nhân cùng đạt số phút bằng nhau (hoặc trường hợp đặc biệt max $\le 0$), hệ thống áp dụng thứ tự ưu tiên cố định trong mã nguồn: Hãng bay (Carrier) $\rightarrow$ Thời tiết (Weather) $\rightarrow$ Hệ thống hàng không (NAS) $\rightarrow$ An ninh (Security) $\rightarrow$ Trễ dây chuyền (LateAircraft).Ví dụ trên slide: Một chuyến bay trễ 40 phút có cả lỗi hãng và thời tiết đều bằng 20 phút, nhãn sẽ được ưu tiên gán là do Hãng bay</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Nguồn: add_time_features và clean_spark_dataframe. HHMM tách giờ bằng chia nguyên 100, phút bằng phần dư 100. CPU giới hạn giờ 0–23 và phút trong ngày 0–1.439. Spark giới hạn cột giờ nhưng tính phút trong ngày từ giờ gốc, không clip phút. Nhóm Morning là [5,12), Afternoon [12,17), Evening [17,22), còn lại Night. CPU dựa giờ đã clip, Spark dựa giờ gốc. Với dữ liệu lỗi, hai cách có thể khác. Code không xác nhận phần phút HHMM luôn nằm 0–59. CPU ép lịch sang int8, phút int16, elapsed/distance/arr_delay float32; Spark dùng Integer/Float.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Kịch bản thuyết trình ngắn gọn, tự nhiên cho Trang 19: Tạo đặc trưng thời gian (khoảng 35 – 40 giây):</a:t>
            </a:r>
          </a:p>
          <a:p>
            <a:r>
              <a:rPr lang="en-US"/>
              <a:t/>
            </a:r>
          </a:p>
          <a:p>
            <a:r>
              <a:rPr lang="en-US"/>
              <a:t>"Sau khi làm sạch dữ liệu, nhóm tiến hành trích xuất đặc trưng thời gian (Feature Engineering).</a:t>
            </a:r>
          </a:p>
          <a:p>
            <a:r>
              <a:rPr lang="en-US"/>
              <a:t/>
            </a:r>
          </a:p>
          <a:p>
            <a:r>
              <a:rPr lang="en-US"/>
              <a:t>Từ cột giờ kế hoạch ban đầu ở định dạng số nguyên HHMM, hệ thống tách và tạo ra 3 nhóm thông tin chính:</a:t>
            </a:r>
          </a:p>
          <a:p>
            <a:r>
              <a:rPr lang="en-US"/>
              <a:t/>
            </a:r>
          </a:p>
          <a:p>
            <a:r>
              <a:rPr lang="en-US"/>
              <a:t>Giờ và phút trong ngày: Lấy phần nguyên chia 100 để được giờ (giới hạn từ 0–23), và tính tổng số phút trong ngày (hour * 60 + min) từ 0 đến 1.439 phút.</a:t>
            </a:r>
          </a:p>
          <a:p>
            <a:r>
              <a:rPr lang="en-US"/>
              <a:t/>
            </a:r>
          </a:p>
          <a:p>
            <a:r>
              <a:rPr lang="en-US"/>
              <a:t>Phân nhóm khung giờ trong ngày (time_of_day): Chia thành 4 ca vận hành: Sáng (05–11h), Chiều (12–16h), Tối (17–21h) và Đêm (các giờ còn lại).</a:t>
            </a:r>
          </a:p>
          <a:p>
            <a:r>
              <a:rPr lang="en-US"/>
              <a:t/>
            </a:r>
          </a:p>
          <a:p>
            <a:r>
              <a:rPr lang="en-US"/>
              <a:t>Ví dụ trực quan trên slide: Chuyến bay có giờ cất cánh dự kiến là 1730 sẽ được chuyển đổi thành giờ 17, phút thứ 1.050 trong ngày, và thuộc ca Tối (Evening).</a:t>
            </a:r>
          </a:p>
          <a:p>
            <a:r>
              <a:rPr lang="en-US"/>
              <a:t/>
            </a:r>
          </a:p>
          <a:p>
            <a:r>
              <a:rPr lang="en-US"/>
              <a:t>Việc bóc tách này giúp mô hình bắt được tính quy luật theo chu kỳ thời gian và mật độ chuyến bay trong ngày</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Sau bước tiền xử lý, dữ liệu được chuyển đổi sang định dạng Parquet và phân chia tập dữ liệu huấn luyện.</a:t>
            </a:r>
          </a:p>
          <a:p>
            <a:r>
              <a:rPr lang="en-US"/>
              <a:t/>
            </a:r>
          </a:p>
          <a:p>
            <a:r>
              <a:rPr lang="en-US"/>
              <a:t>Quy trình gồm 3 điểm kỹ thuật đáng lưu ý:</a:t>
            </a:r>
          </a:p>
          <a:p>
            <a:r>
              <a:rPr lang="en-US"/>
              <a:t/>
            </a:r>
          </a:p>
          <a:p>
            <a:r>
              <a:rPr lang="en-US"/>
              <a:t>Lưu trữ tối ưu: Dữ liệu CSV sau khi làm sạch được ghi sang định dạng Parquet và phân vùng (partition) theo tháng (month) để tối ưu hóa tốc độ truy vấn I/O.</a:t>
            </a:r>
          </a:p>
          <a:p>
            <a:r>
              <a:rPr lang="en-US"/>
              <a:t/>
            </a:r>
          </a:p>
          <a:p>
            <a:r>
              <a:rPr lang="en-US"/>
              <a:t>Đóng gói đặc trưng: Mô hình đọc từ Parquet để thực hiện mã hóa và đóng gói vector đặc trưng.</a:t>
            </a:r>
          </a:p>
          <a:p>
            <a:r>
              <a:rPr lang="en-US"/>
              <a:t/>
            </a:r>
          </a:p>
          <a:p>
            <a:r>
              <a:rPr lang="en-US"/>
              <a:t>Chiến lược chia 70 / 15 / 15: Dù cùng tỷ lệ Train 70%, Validation 15%, Test 15%, nhưng hai môi trường có sự khác biệt:</a:t>
            </a:r>
          </a:p>
          <a:p>
            <a:r>
              <a:rPr lang="en-US"/>
              <a:t/>
            </a:r>
          </a:p>
          <a:p>
            <a:r>
              <a:rPr lang="en-US"/>
              <a:t>CPU (Scikit-learn): Chia có phân tầng theo nhãn (stratified) với random_state = 42 để giữ nguyên phân phối lớp.</a:t>
            </a:r>
          </a:p>
          <a:p>
            <a:r>
              <a:rPr lang="en-US"/>
              <a:t/>
            </a:r>
          </a:p>
          <a:p>
            <a:r>
              <a:rPr lang="en-US"/>
              <a:t>Spark MLlib: Dùng hàm randomSplit với seed = 42, không phân tầng nên tỷ lệ nhãn thực tế giữa các tập có thể dao động nhẹ.</a:t>
            </a:r>
          </a:p>
          <a:p>
            <a:r>
              <a:rPr lang="en-US"/>
              <a:t/>
            </a:r>
          </a:p>
          <a:p>
            <a:r>
              <a:rPr lang="en-US"/>
              <a:t>Sự khác biệt này là yếu tố quan trọng cần lưu ý khi đối sánh kết quả giữa CPU và Spark ở các slide tiếp theo</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Sources: BaoCao_DoAn_BigData_Nhom6_IEEE.docx (bản biên tập); HUONG_DAN_CHO_GPT_WORK.txt; baseline_summary_7m.json; grand_model_comparison_7m.csv; spark_end_to_end_metrics.json. Bộ thực nghiệm 10/10/2026. Gói không có ảnh Web_Air và log đầu vào–kết quả thật. Sơ đồ là luồng khái niệm theo báo cáo, không phải ảnh chụp ứng dụng. Cần người dùng bổ sung ảnh giao diện thật và một ví dụ chạy thực tế. Không tự tạo ví dụ với nhãn hoặc độ tin cậy để xem là kết quả thực đo. Latency ms/1.000 mẫu trong bảng mô hình khác độ trễ người dùng chờ một HTTP request.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Sources: BaoCao_DoAn_BigData_Nhom6_IEEE.docx (bản biên tập); HUONG_DAN_CHO_GPT_WORK.txt; baseline_summary_7m.json; grand_model_comparison_7m.csv; spark_end_to_end_metrics.json. Bộ thực nghiệm 10/10/2026. Giữ ba ý kết luận: công việc đã làm, kết quả chính và giới hạn. Chưa kết luận mô hình dự đoán tốt mọi nguyên nhân trễ, chưa xác nhận lợi ích phân tán độc lập, chưa có kết quả thực đo cho sáu tích hợp Spark. Cần lưu cấu hình, seed, danh sách bản ghi test, dự đoán thô, log wall-clock và tài nguyên của mỗi máy.</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 Id="rId6" Target="../media/image7.png" Type="http://schemas.openxmlformats.org/officeDocument/2006/relationships/image"/><Relationship Id="rId7" Target="../embeddings/oleObject1.bin" Type="http://schemas.openxmlformats.org/officeDocument/2006/relationships/oleObjec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4.png" Type="http://schemas.openxmlformats.org/officeDocument/2006/relationships/image"/><Relationship Id="rId5" Target="../media/image1.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 Id="rId5"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 Id="rId5" Target="../media/image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 Id="rId5" Target="../media/image6.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 Id="rId5" Target="../media/image6.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 Id="rId5" Target="../media/image6.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 Id="rId5" Target="../media/image6.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16.png" Type="http://schemas.openxmlformats.org/officeDocument/2006/relationships/image"/><Relationship Id="rId4"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2663190" y="10082212"/>
            <a:ext cx="15624810" cy="204883"/>
            <a:chOff x="0" y="0"/>
            <a:chExt cx="20833080" cy="273177"/>
          </a:xfrm>
        </p:grpSpPr>
        <p:sp>
          <p:nvSpPr>
            <p:cNvPr name="Freeform 5" id="5"/>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6" id="6"/>
          <p:cNvGrpSpPr/>
          <p:nvPr/>
        </p:nvGrpSpPr>
        <p:grpSpPr>
          <a:xfrm rot="0">
            <a:off x="2743238" y="10108759"/>
            <a:ext cx="15544705" cy="152686"/>
            <a:chOff x="0" y="0"/>
            <a:chExt cx="20726273" cy="203581"/>
          </a:xfrm>
        </p:grpSpPr>
        <p:sp>
          <p:nvSpPr>
            <p:cNvPr name="Freeform 7" id="7"/>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2"/>
              <a:stretch>
                <a:fillRect l="0" t="-17872" r="0" b="-17872"/>
              </a:stretch>
            </a:blipFill>
          </p:spPr>
        </p:sp>
      </p:grpSp>
      <p:sp>
        <p:nvSpPr>
          <p:cNvPr name="TextBox 8" id="8"/>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name="Group 9" id="9"/>
          <p:cNvGrpSpPr/>
          <p:nvPr/>
        </p:nvGrpSpPr>
        <p:grpSpPr>
          <a:xfrm rot="0">
            <a:off x="-15240" y="7567612"/>
            <a:ext cx="18303240" cy="2514600"/>
            <a:chOff x="0" y="0"/>
            <a:chExt cx="24404320" cy="3352800"/>
          </a:xfrm>
        </p:grpSpPr>
        <p:sp>
          <p:nvSpPr>
            <p:cNvPr name="Freeform 10" id="10" descr="A building with trees in the background  Description automatically generated"/>
            <p:cNvSpPr/>
            <p:nvPr/>
          </p:nvSpPr>
          <p:spPr>
            <a:xfrm flipH="false" flipV="false" rot="0">
              <a:off x="0" y="0"/>
              <a:ext cx="24404320" cy="3352800"/>
            </a:xfrm>
            <a:custGeom>
              <a:avLst/>
              <a:gdLst/>
              <a:ahLst/>
              <a:cxnLst/>
              <a:rect r="r" b="b" t="t" l="l"/>
              <a:pathLst>
                <a:path h="3352800" w="24404320">
                  <a:moveTo>
                    <a:pt x="0" y="0"/>
                  </a:moveTo>
                  <a:lnTo>
                    <a:pt x="24404320" y="0"/>
                  </a:lnTo>
                  <a:lnTo>
                    <a:pt x="24404320" y="3352800"/>
                  </a:lnTo>
                  <a:lnTo>
                    <a:pt x="0" y="3352800"/>
                  </a:lnTo>
                  <a:lnTo>
                    <a:pt x="0" y="0"/>
                  </a:lnTo>
                  <a:close/>
                </a:path>
              </a:pathLst>
            </a:custGeom>
            <a:blipFill>
              <a:blip r:embed="rId3"/>
              <a:stretch>
                <a:fillRect l="0" t="-16633" r="0" b="-16633"/>
              </a:stretch>
            </a:blipFill>
          </p:spPr>
        </p:sp>
      </p:grpSp>
      <p:sp>
        <p:nvSpPr>
          <p:cNvPr name="TextBox 11" id="11"/>
          <p:cNvSpPr txBox="true"/>
          <p:nvPr/>
        </p:nvSpPr>
        <p:spPr>
          <a:xfrm rot="0">
            <a:off x="3910012" y="55740"/>
            <a:ext cx="10452725" cy="916153"/>
          </a:xfrm>
          <a:prstGeom prst="rect">
            <a:avLst/>
          </a:prstGeom>
        </p:spPr>
        <p:txBody>
          <a:bodyPr anchor="t" rtlCol="false" tIns="0" lIns="0" bIns="0" rIns="0">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true">
                <a:solidFill>
                  <a:srgbClr val="FFFFFF"/>
                </a:solidFill>
                <a:latin typeface="Arial Bold"/>
                <a:ea typeface="Arial Bold"/>
                <a:cs typeface="Arial Bold"/>
                <a:sym typeface="Arial Bold"/>
              </a:rPr>
              <a:t>TRƯỜNG ĐẠI HỌC CÔNG THƯƠNG THÀNH PHỐ HỒ CHÍ MINH</a:t>
            </a:r>
          </a:p>
        </p:txBody>
      </p:sp>
      <p:grpSp>
        <p:nvGrpSpPr>
          <p:cNvPr name="Group 12" id="12"/>
          <p:cNvGrpSpPr/>
          <p:nvPr/>
        </p:nvGrpSpPr>
        <p:grpSpPr>
          <a:xfrm rot="0">
            <a:off x="534200" y="27089"/>
            <a:ext cx="998982" cy="998982"/>
            <a:chOff x="0" y="0"/>
            <a:chExt cx="1331976" cy="1331976"/>
          </a:xfrm>
        </p:grpSpPr>
        <p:sp>
          <p:nvSpPr>
            <p:cNvPr name="Freeform 13" id="13" descr="A white circle with blue and red text and a book with a graduation cap  Description automatically generated"/>
            <p:cNvSpPr/>
            <p:nvPr/>
          </p:nvSpPr>
          <p:spPr>
            <a:xfrm flipH="false" flipV="false" rot="0">
              <a:off x="0" y="0"/>
              <a:ext cx="1331976" cy="1331976"/>
            </a:xfrm>
            <a:custGeom>
              <a:avLst/>
              <a:gdLst/>
              <a:ahLst/>
              <a:cxnLst/>
              <a:rect r="r" b="b" t="t" l="l"/>
              <a:pathLst>
                <a:path h="1331976" w="1331976">
                  <a:moveTo>
                    <a:pt x="0" y="0"/>
                  </a:moveTo>
                  <a:lnTo>
                    <a:pt x="1331976" y="0"/>
                  </a:lnTo>
                  <a:lnTo>
                    <a:pt x="1331976" y="1331976"/>
                  </a:lnTo>
                  <a:lnTo>
                    <a:pt x="0" y="1331976"/>
                  </a:lnTo>
                  <a:lnTo>
                    <a:pt x="0" y="0"/>
                  </a:lnTo>
                  <a:close/>
                </a:path>
              </a:pathLst>
            </a:custGeom>
            <a:blipFill>
              <a:blip r:embed="rId4"/>
              <a:stretch>
                <a:fillRect l="0" t="0" r="0" b="0"/>
              </a:stretch>
            </a:blipFill>
          </p:spPr>
        </p:sp>
      </p:grpSp>
      <p:sp>
        <p:nvSpPr>
          <p:cNvPr name="TextBox 14" id="14"/>
          <p:cNvSpPr txBox="true"/>
          <p:nvPr/>
        </p:nvSpPr>
        <p:spPr>
          <a:xfrm rot="0">
            <a:off x="854278" y="1826409"/>
            <a:ext cx="16897217" cy="4038600"/>
          </a:xfrm>
          <a:prstGeom prst="rect">
            <a:avLst/>
          </a:prstGeom>
        </p:spPr>
        <p:txBody>
          <a:bodyPr anchor="t" rtlCol="false" tIns="0" lIns="0" bIns="0" rIns="0">
            <a:spAutoFit/>
          </a:bodyPr>
          <a:lstStyle/>
          <a:p>
            <a:pPr algn="ctr">
              <a:lnSpc>
                <a:spcPts val="7800"/>
              </a:lnSpc>
            </a:pPr>
            <a:r>
              <a:rPr lang="en-US" sz="6500" b="true">
                <a:solidFill>
                  <a:srgbClr val="ED1C24"/>
                </a:solidFill>
                <a:latin typeface="Arimo Bold"/>
                <a:ea typeface="Arimo Bold"/>
                <a:cs typeface="Arimo Bold"/>
                <a:sym typeface="Arimo Bold"/>
              </a:rPr>
              <a:t>ỨNG DỤNG RANDOM FOREST PHÂN TÁN DỰ ĐOÁN NGUYÊN NHÂN TRỄ CHUYẾN BAY THƯƠNG MẠI HOA KỲ NĂM 2024</a:t>
            </a:r>
          </a:p>
          <a:p>
            <a:pPr algn="ctr">
              <a:lnSpc>
                <a:spcPts val="7800"/>
              </a:lnSpc>
            </a:pPr>
          </a:p>
        </p:txBody>
      </p:sp>
      <p:sp>
        <p:nvSpPr>
          <p:cNvPr name="TextBox 15" id="15"/>
          <p:cNvSpPr txBox="true"/>
          <p:nvPr/>
        </p:nvSpPr>
        <p:spPr>
          <a:xfrm rot="0">
            <a:off x="5808278" y="5212604"/>
            <a:ext cx="6366510" cy="676275"/>
          </a:xfrm>
          <a:prstGeom prst="rect">
            <a:avLst/>
          </a:prstGeom>
        </p:spPr>
        <p:txBody>
          <a:bodyPr anchor="t" rtlCol="false" tIns="0" lIns="0" bIns="0" rIns="0">
            <a:spAutoFit/>
          </a:bodyPr>
          <a:lstStyle/>
          <a:p>
            <a:pPr algn="ctr">
              <a:lnSpc>
                <a:spcPts val="5040"/>
              </a:lnSpc>
            </a:pPr>
            <a:r>
              <a:rPr lang="en-US" sz="4200" b="true">
                <a:solidFill>
                  <a:srgbClr val="000000"/>
                </a:solidFill>
                <a:latin typeface="Arimo Bold"/>
                <a:ea typeface="Arimo Bold"/>
                <a:cs typeface="Arimo Bold"/>
                <a:sym typeface="Arimo Bold"/>
              </a:rPr>
              <a:t>TS. Phan Hồ Viết Trường</a:t>
            </a:r>
          </a:p>
        </p:txBody>
      </p:sp>
      <p:sp>
        <p:nvSpPr>
          <p:cNvPr name="TextBox 16" id="16"/>
          <p:cNvSpPr txBox="true"/>
          <p:nvPr/>
        </p:nvSpPr>
        <p:spPr>
          <a:xfrm rot="0">
            <a:off x="2859948" y="6303159"/>
            <a:ext cx="12263171" cy="447675"/>
          </a:xfrm>
          <a:prstGeom prst="rect">
            <a:avLst/>
          </a:prstGeom>
        </p:spPr>
        <p:txBody>
          <a:bodyPr anchor="t" rtlCol="false" tIns="0" lIns="0" bIns="0" rIns="0">
            <a:spAutoFit/>
          </a:bodyPr>
          <a:lstStyle/>
          <a:p>
            <a:pPr algn="ctr">
              <a:lnSpc>
                <a:spcPts val="3240"/>
              </a:lnSpc>
            </a:pPr>
            <a:r>
              <a:rPr lang="en-US" sz="2700">
                <a:solidFill>
                  <a:srgbClr val="000000"/>
                </a:solidFill>
                <a:latin typeface="Arimo"/>
                <a:ea typeface="Arimo"/>
                <a:cs typeface="Arimo"/>
                <a:sym typeface="Arimo"/>
              </a:rPr>
              <a:t>Nhóm 6</a:t>
            </a:r>
          </a:p>
        </p:txBody>
      </p:sp>
      <p:sp>
        <p:nvSpPr>
          <p:cNvPr name="TextBox 17" id="17"/>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descr="A black background with white text  Description automatically generated"/>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17872" r="0" b="-17872"/>
              </a:stretch>
            </a:blipFill>
          </p:spPr>
        </p:sp>
      </p:grpSp>
      <p:grpSp>
        <p:nvGrpSpPr>
          <p:cNvPr name="Group 10" id="10"/>
          <p:cNvGrpSpPr/>
          <p:nvPr/>
        </p:nvGrpSpPr>
        <p:grpSpPr>
          <a:xfrm rot="0">
            <a:off x="6316228" y="1398813"/>
            <a:ext cx="5655545" cy="1492825"/>
            <a:chOff x="0" y="0"/>
            <a:chExt cx="7540727" cy="1990433"/>
          </a:xfrm>
        </p:grpSpPr>
        <p:sp>
          <p:nvSpPr>
            <p:cNvPr name="Freeform 11" id="11"/>
            <p:cNvSpPr/>
            <p:nvPr/>
          </p:nvSpPr>
          <p:spPr>
            <a:xfrm flipH="false" flipV="false" rot="0">
              <a:off x="0" y="0"/>
              <a:ext cx="7540752" cy="1990471"/>
            </a:xfrm>
            <a:custGeom>
              <a:avLst/>
              <a:gdLst/>
              <a:ahLst/>
              <a:cxnLst/>
              <a:rect r="r" b="b" t="t" l="l"/>
              <a:pathLst>
                <a:path h="1990471" w="7540752">
                  <a:moveTo>
                    <a:pt x="0" y="0"/>
                  </a:moveTo>
                  <a:lnTo>
                    <a:pt x="7540752" y="0"/>
                  </a:lnTo>
                  <a:lnTo>
                    <a:pt x="7540752" y="1990471"/>
                  </a:lnTo>
                  <a:lnTo>
                    <a:pt x="0" y="1990471"/>
                  </a:lnTo>
                  <a:close/>
                </a:path>
              </a:pathLst>
            </a:custGeom>
            <a:blipFill>
              <a:blip r:embed="rId4">
                <a:alphaModFix amt="0"/>
              </a:blip>
              <a:stretch>
                <a:fillRect l="0" t="-23766" r="0" b="-23765"/>
              </a:stretch>
            </a:blipFill>
          </p:spPr>
        </p:sp>
      </p:grpSp>
      <p:grpSp>
        <p:nvGrpSpPr>
          <p:cNvPr name="Group 12" id="12"/>
          <p:cNvGrpSpPr/>
          <p:nvPr/>
        </p:nvGrpSpPr>
        <p:grpSpPr>
          <a:xfrm rot="0">
            <a:off x="6316228" y="1453105"/>
            <a:ext cx="5655545" cy="1438532"/>
            <a:chOff x="0" y="0"/>
            <a:chExt cx="7540727" cy="1918043"/>
          </a:xfrm>
        </p:grpSpPr>
        <p:sp>
          <p:nvSpPr>
            <p:cNvPr name="Freeform 13" id="13"/>
            <p:cNvSpPr/>
            <p:nvPr/>
          </p:nvSpPr>
          <p:spPr>
            <a:xfrm flipH="false" flipV="false" rot="0">
              <a:off x="0" y="0"/>
              <a:ext cx="7540732" cy="1918043"/>
            </a:xfrm>
            <a:custGeom>
              <a:avLst/>
              <a:gdLst/>
              <a:ahLst/>
              <a:cxnLst/>
              <a:rect r="r" b="b" t="t" l="l"/>
              <a:pathLst>
                <a:path h="1918043" w="7540732">
                  <a:moveTo>
                    <a:pt x="0" y="0"/>
                  </a:moveTo>
                  <a:lnTo>
                    <a:pt x="7540732" y="0"/>
                  </a:lnTo>
                  <a:lnTo>
                    <a:pt x="7540732" y="1918043"/>
                  </a:lnTo>
                  <a:lnTo>
                    <a:pt x="0" y="1918043"/>
                  </a:lnTo>
                  <a:close/>
                </a:path>
              </a:pathLst>
            </a:custGeom>
            <a:blipFill>
              <a:blip r:embed="rId5">
                <a:alphaModFix amt="0"/>
              </a:blip>
              <a:stretch>
                <a:fillRect l="0" t="-26604" r="0" b="-26604"/>
              </a:stretch>
            </a:blipFill>
          </p:spPr>
        </p:sp>
        <p:sp>
          <p:nvSpPr>
            <p:cNvPr name="TextBox 14" id="14"/>
            <p:cNvSpPr txBox="true"/>
            <p:nvPr/>
          </p:nvSpPr>
          <p:spPr>
            <a:xfrm>
              <a:off x="0" y="76200"/>
              <a:ext cx="7540727" cy="1841843"/>
            </a:xfrm>
            <a:prstGeom prst="rect">
              <a:avLst/>
            </a:prstGeom>
          </p:spPr>
          <p:txBody>
            <a:bodyPr anchor="b" rtlCol="false" tIns="0" lIns="0" bIns="0" rIns="0"/>
            <a:lstStyle/>
            <a:p>
              <a:pPr algn="l">
                <a:lnSpc>
                  <a:spcPts val="7559"/>
                </a:lnSpc>
              </a:pPr>
              <a:r>
                <a:rPr lang="en-US" b="true" sz="6999" spc="-41">
                  <a:solidFill>
                    <a:srgbClr val="0070C0"/>
                  </a:solidFill>
                  <a:latin typeface="Quicksand Bold"/>
                  <a:ea typeface="Quicksand Bold"/>
                  <a:cs typeface="Quicksand Bold"/>
                  <a:sym typeface="Quicksand Bold"/>
                </a:rPr>
                <a:t>THÀNH VIÊN</a:t>
              </a:r>
            </a:p>
          </p:txBody>
        </p:sp>
      </p:grpSp>
      <p:graphicFrame>
        <p:nvGraphicFramePr>
          <p:cNvPr name="Object 15" id="15"/>
          <p:cNvGraphicFramePr/>
          <p:nvPr/>
        </p:nvGraphicFramePr>
        <p:xfrm>
          <a:off x="477926" y="3109717"/>
          <a:ext cx="17288651" cy="6300983"/>
        </p:xfrm>
        <a:graphic>
          <a:graphicData uri="http://schemas.openxmlformats.org/presentationml/2006/ole">
            <p:oleObj imgW="20739100" imgH="97536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6" id="16"/>
          <p:cNvSpPr txBox="true"/>
          <p:nvPr/>
        </p:nvSpPr>
        <p:spPr>
          <a:xfrm rot="0">
            <a:off x="302009" y="10040331"/>
            <a:ext cx="2254501" cy="228533"/>
          </a:xfrm>
          <a:prstGeom prst="rect">
            <a:avLst/>
          </a:prstGeom>
        </p:spPr>
        <p:txBody>
          <a:bodyPr anchor="t" rtlCol="false" tIns="0" lIns="0" bIns="0" rIns="0">
            <a:spAutoFit/>
          </a:bodyPr>
          <a:lstStyle/>
          <a:p>
            <a:pPr algn="l">
              <a:lnSpc>
                <a:spcPts val="1800"/>
              </a:lnSpc>
            </a:pPr>
            <a:r>
              <a:rPr lang="en-US" sz="1500">
                <a:solidFill>
                  <a:srgbClr val="0070C0"/>
                </a:solidFill>
                <a:latin typeface="Quicksand"/>
                <a:ea typeface="Quicksand"/>
                <a:cs typeface="Quicksand"/>
                <a:sym typeface="Quicksand"/>
              </a:rPr>
              <a:t>https://huit.edu.vn</a:t>
            </a:r>
          </a:p>
        </p:txBody>
      </p:sp>
      <p:sp>
        <p:nvSpPr>
          <p:cNvPr name="TextBox 17" id="17"/>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70C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40331" y="-1487929"/>
            <a:ext cx="13960431" cy="13960431"/>
          </a:xfrm>
          <a:custGeom>
            <a:avLst/>
            <a:gdLst/>
            <a:ahLst/>
            <a:cxnLst/>
            <a:rect r="r" b="b" t="t" l="l"/>
            <a:pathLst>
              <a:path h="13960431" w="13960431">
                <a:moveTo>
                  <a:pt x="0" y="0"/>
                </a:moveTo>
                <a:lnTo>
                  <a:pt x="13960431" y="0"/>
                </a:lnTo>
                <a:lnTo>
                  <a:pt x="13960431" y="13960431"/>
                </a:lnTo>
                <a:lnTo>
                  <a:pt x="0" y="139604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2668"/>
            <a:ext cx="18288000" cy="1070038"/>
            <a:chOff x="0" y="0"/>
            <a:chExt cx="24384000" cy="1426718"/>
          </a:xfrm>
        </p:grpSpPr>
        <p:sp>
          <p:nvSpPr>
            <p:cNvPr name="Freeform 4" id="4"/>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5" id="5"/>
          <p:cNvGrpSpPr/>
          <p:nvPr/>
        </p:nvGrpSpPr>
        <p:grpSpPr>
          <a:xfrm rot="0">
            <a:off x="477926" y="3334"/>
            <a:ext cx="4935569" cy="1027652"/>
            <a:chOff x="0" y="0"/>
            <a:chExt cx="6580759" cy="1370203"/>
          </a:xfrm>
        </p:grpSpPr>
        <p:sp>
          <p:nvSpPr>
            <p:cNvPr name="Freeform 6" id="6" descr="A black background with white text  Description automatically generated"/>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4"/>
              <a:stretch>
                <a:fillRect l="-194" t="0" r="-194" b="0"/>
              </a:stretch>
            </a:blipFill>
          </p:spPr>
        </p:sp>
      </p:grpSp>
      <p:grpSp>
        <p:nvGrpSpPr>
          <p:cNvPr name="Group 7" id="7"/>
          <p:cNvGrpSpPr/>
          <p:nvPr/>
        </p:nvGrpSpPr>
        <p:grpSpPr>
          <a:xfrm rot="0">
            <a:off x="2663190" y="10082212"/>
            <a:ext cx="15624810" cy="204883"/>
            <a:chOff x="0" y="0"/>
            <a:chExt cx="20833080" cy="273177"/>
          </a:xfrm>
        </p:grpSpPr>
        <p:sp>
          <p:nvSpPr>
            <p:cNvPr name="Freeform 8" id="8"/>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9" id="9"/>
          <p:cNvGrpSpPr/>
          <p:nvPr/>
        </p:nvGrpSpPr>
        <p:grpSpPr>
          <a:xfrm rot="0">
            <a:off x="2743238" y="10108759"/>
            <a:ext cx="15544705" cy="152686"/>
            <a:chOff x="0" y="0"/>
            <a:chExt cx="20726273" cy="203581"/>
          </a:xfrm>
        </p:grpSpPr>
        <p:sp>
          <p:nvSpPr>
            <p:cNvPr name="Freeform 10" id="10"/>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5"/>
              <a:stretch>
                <a:fillRect l="0" t="-17872" r="0" b="-17872"/>
              </a:stretch>
            </a:blipFill>
          </p:spPr>
        </p:sp>
      </p:grpSp>
      <p:sp>
        <p:nvSpPr>
          <p:cNvPr name="TextBox 11" id="11"/>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0070C0"/>
                </a:solidFill>
                <a:latin typeface="Quicksand"/>
                <a:ea typeface="Quicksand"/>
                <a:cs typeface="Quicksand"/>
                <a:sym typeface="Quicksand"/>
              </a:rPr>
              <a:t>https://huit.edu.vn</a:t>
            </a:r>
          </a:p>
        </p:txBody>
      </p:sp>
      <p:sp>
        <p:nvSpPr>
          <p:cNvPr name="TextBox 12" id="12"/>
          <p:cNvSpPr txBox="true"/>
          <p:nvPr/>
        </p:nvSpPr>
        <p:spPr>
          <a:xfrm rot="0">
            <a:off x="1140543" y="4560456"/>
            <a:ext cx="6095228" cy="1539878"/>
          </a:xfrm>
          <a:prstGeom prst="rect">
            <a:avLst/>
          </a:prstGeom>
        </p:spPr>
        <p:txBody>
          <a:bodyPr anchor="t" rtlCol="false" tIns="0" lIns="0" bIns="0" rIns="0">
            <a:spAutoFit/>
          </a:bodyPr>
          <a:lstStyle/>
          <a:p>
            <a:pPr algn="l">
              <a:lnSpc>
                <a:spcPts val="11200"/>
              </a:lnSpc>
            </a:pPr>
            <a:r>
              <a:rPr lang="en-US" sz="8000" b="true">
                <a:solidFill>
                  <a:srgbClr val="0070C0"/>
                </a:solidFill>
                <a:latin typeface="Quicksand Bold"/>
                <a:ea typeface="Quicksand Bold"/>
                <a:cs typeface="Quicksand Bold"/>
                <a:sym typeface="Quicksand Bold"/>
              </a:rPr>
              <a:t>NỘI DUNG</a:t>
            </a:r>
          </a:p>
        </p:txBody>
      </p:sp>
      <p:sp>
        <p:nvSpPr>
          <p:cNvPr name="Freeform 13" id="13"/>
          <p:cNvSpPr/>
          <p:nvPr/>
        </p:nvSpPr>
        <p:spPr>
          <a:xfrm flipH="false" flipV="false" rot="0">
            <a:off x="8492147" y="1209123"/>
            <a:ext cx="1645310" cy="1645310"/>
          </a:xfrm>
          <a:custGeom>
            <a:avLst/>
            <a:gdLst/>
            <a:ahLst/>
            <a:cxnLst/>
            <a:rect r="r" b="b" t="t" l="l"/>
            <a:pathLst>
              <a:path h="1645310" w="1645310">
                <a:moveTo>
                  <a:pt x="0" y="0"/>
                </a:moveTo>
                <a:lnTo>
                  <a:pt x="1645311" y="0"/>
                </a:lnTo>
                <a:lnTo>
                  <a:pt x="1645311" y="1645310"/>
                </a:lnTo>
                <a:lnTo>
                  <a:pt x="0" y="1645310"/>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8662997" y="1379972"/>
            <a:ext cx="1303601" cy="1303601"/>
          </a:xfrm>
          <a:custGeom>
            <a:avLst/>
            <a:gdLst/>
            <a:ahLst/>
            <a:cxnLst/>
            <a:rect r="r" b="b" t="t" l="l"/>
            <a:pathLst>
              <a:path h="1303601" w="1303601">
                <a:moveTo>
                  <a:pt x="0" y="0"/>
                </a:moveTo>
                <a:lnTo>
                  <a:pt x="1303601" y="0"/>
                </a:lnTo>
                <a:lnTo>
                  <a:pt x="1303601" y="1303601"/>
                </a:lnTo>
                <a:lnTo>
                  <a:pt x="0" y="13036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9122616" y="1775841"/>
            <a:ext cx="384362" cy="511864"/>
          </a:xfrm>
          <a:custGeom>
            <a:avLst/>
            <a:gdLst/>
            <a:ahLst/>
            <a:cxnLst/>
            <a:rect r="r" b="b" t="t" l="l"/>
            <a:pathLst>
              <a:path h="511864" w="384362">
                <a:moveTo>
                  <a:pt x="0" y="0"/>
                </a:moveTo>
                <a:lnTo>
                  <a:pt x="384363" y="0"/>
                </a:lnTo>
                <a:lnTo>
                  <a:pt x="384363" y="511864"/>
                </a:lnTo>
                <a:lnTo>
                  <a:pt x="0" y="511864"/>
                </a:lnTo>
                <a:lnTo>
                  <a:pt x="0" y="0"/>
                </a:lnTo>
                <a:close/>
              </a:path>
            </a:pathLst>
          </a:custGeom>
          <a:blipFill>
            <a:blip r:embed="rId10">
              <a:extLst>
                <a:ext uri="{96DAC541-7B7A-43D3-8B79-37D633B846F1}">
                  <asvg:svgBlip xmlns:asvg="http://schemas.microsoft.com/office/drawing/2016/SVG/main" r:embed="rId11"/>
                </a:ext>
              </a:extLst>
            </a:blip>
            <a:stretch>
              <a:fillRect l="-555" t="0" r="-557" b="0"/>
            </a:stretch>
          </a:blipFill>
        </p:spPr>
      </p:sp>
      <p:sp>
        <p:nvSpPr>
          <p:cNvPr name="TextBox 16" id="16"/>
          <p:cNvSpPr txBox="true"/>
          <p:nvPr/>
        </p:nvSpPr>
        <p:spPr>
          <a:xfrm rot="0">
            <a:off x="10857662" y="1496501"/>
            <a:ext cx="4802572" cy="590550"/>
          </a:xfrm>
          <a:prstGeom prst="rect">
            <a:avLst/>
          </a:prstGeom>
        </p:spPr>
        <p:txBody>
          <a:bodyPr anchor="t" rtlCol="false" tIns="0" lIns="0" bIns="0" rIns="0">
            <a:spAutoFit/>
          </a:bodyPr>
          <a:lstStyle/>
          <a:p>
            <a:pPr algn="l">
              <a:lnSpc>
                <a:spcPts val="4659"/>
              </a:lnSpc>
            </a:pPr>
            <a:r>
              <a:rPr lang="en-US" sz="3882" b="true">
                <a:solidFill>
                  <a:srgbClr val="2A2E3A"/>
                </a:solidFill>
                <a:latin typeface="Quicksand Bold"/>
                <a:ea typeface="Quicksand Bold"/>
                <a:cs typeface="Quicksand Bold"/>
                <a:sym typeface="Quicksand Bold"/>
              </a:rPr>
              <a:t>PHẦN 1</a:t>
            </a:r>
          </a:p>
        </p:txBody>
      </p:sp>
      <p:sp>
        <p:nvSpPr>
          <p:cNvPr name="TextBox 17" id="17"/>
          <p:cNvSpPr txBox="true"/>
          <p:nvPr/>
        </p:nvSpPr>
        <p:spPr>
          <a:xfrm rot="0">
            <a:off x="10857662" y="2116779"/>
            <a:ext cx="6548980" cy="598361"/>
          </a:xfrm>
          <a:prstGeom prst="rect">
            <a:avLst/>
          </a:prstGeom>
        </p:spPr>
        <p:txBody>
          <a:bodyPr anchor="t" rtlCol="false" tIns="0" lIns="0" bIns="0" rIns="0">
            <a:spAutoFit/>
          </a:bodyPr>
          <a:lstStyle/>
          <a:p>
            <a:pPr algn="l">
              <a:lnSpc>
                <a:spcPts val="4424"/>
              </a:lnSpc>
            </a:pPr>
            <a:r>
              <a:rPr lang="en-US" sz="3161">
                <a:solidFill>
                  <a:srgbClr val="2A2E3A"/>
                </a:solidFill>
                <a:latin typeface="Quicksand"/>
                <a:ea typeface="Quicksand"/>
                <a:cs typeface="Quicksand"/>
                <a:sym typeface="Quicksand"/>
              </a:rPr>
              <a:t>CƠ SỞ LÍ THUYẾT</a:t>
            </a:r>
          </a:p>
        </p:txBody>
      </p:sp>
      <p:sp>
        <p:nvSpPr>
          <p:cNvPr name="TextBox 18" id="18"/>
          <p:cNvSpPr txBox="true"/>
          <p:nvPr/>
        </p:nvSpPr>
        <p:spPr>
          <a:xfrm rot="0">
            <a:off x="10981573" y="5957440"/>
            <a:ext cx="6326943" cy="571500"/>
          </a:xfrm>
          <a:prstGeom prst="rect">
            <a:avLst/>
          </a:prstGeom>
        </p:spPr>
        <p:txBody>
          <a:bodyPr anchor="t" rtlCol="false" tIns="0" lIns="0" bIns="0" rIns="0">
            <a:spAutoFit/>
          </a:bodyPr>
          <a:lstStyle/>
          <a:p>
            <a:pPr algn="l">
              <a:lnSpc>
                <a:spcPts val="4550"/>
              </a:lnSpc>
            </a:pPr>
            <a:r>
              <a:rPr lang="en-US" sz="3792" b="true">
                <a:solidFill>
                  <a:srgbClr val="2A2E3A"/>
                </a:solidFill>
                <a:latin typeface="Quicksand Bold"/>
                <a:ea typeface="Quicksand Bold"/>
                <a:cs typeface="Quicksand Bold"/>
                <a:sym typeface="Quicksand Bold"/>
              </a:rPr>
              <a:t>PHẦN 3</a:t>
            </a:r>
          </a:p>
        </p:txBody>
      </p:sp>
      <p:sp>
        <p:nvSpPr>
          <p:cNvPr name="TextBox 19" id="19"/>
          <p:cNvSpPr txBox="true"/>
          <p:nvPr/>
        </p:nvSpPr>
        <p:spPr>
          <a:xfrm rot="0">
            <a:off x="10981573" y="6567259"/>
            <a:ext cx="6326943" cy="598361"/>
          </a:xfrm>
          <a:prstGeom prst="rect">
            <a:avLst/>
          </a:prstGeom>
        </p:spPr>
        <p:txBody>
          <a:bodyPr anchor="t" rtlCol="false" tIns="0" lIns="0" bIns="0" rIns="0">
            <a:spAutoFit/>
          </a:bodyPr>
          <a:lstStyle/>
          <a:p>
            <a:pPr algn="l">
              <a:lnSpc>
                <a:spcPts val="4424"/>
              </a:lnSpc>
            </a:pPr>
            <a:r>
              <a:rPr lang="en-US" sz="3161">
                <a:solidFill>
                  <a:srgbClr val="2A2E3A"/>
                </a:solidFill>
                <a:latin typeface="Quicksand"/>
                <a:ea typeface="Quicksand"/>
                <a:cs typeface="Quicksand"/>
                <a:sym typeface="Quicksand"/>
              </a:rPr>
              <a:t>DỮ LIỆU VÀ TIỀN XỬ LÝ</a:t>
            </a:r>
          </a:p>
        </p:txBody>
      </p:sp>
      <p:sp>
        <p:nvSpPr>
          <p:cNvPr name="Freeform 20" id="20"/>
          <p:cNvSpPr/>
          <p:nvPr/>
        </p:nvSpPr>
        <p:spPr>
          <a:xfrm flipH="false" flipV="false" rot="0">
            <a:off x="8590264" y="5670652"/>
            <a:ext cx="1645310" cy="1645310"/>
          </a:xfrm>
          <a:custGeom>
            <a:avLst/>
            <a:gdLst/>
            <a:ahLst/>
            <a:cxnLst/>
            <a:rect r="r" b="b" t="t" l="l"/>
            <a:pathLst>
              <a:path h="1645310" w="1645310">
                <a:moveTo>
                  <a:pt x="0" y="0"/>
                </a:moveTo>
                <a:lnTo>
                  <a:pt x="1645311" y="0"/>
                </a:lnTo>
                <a:lnTo>
                  <a:pt x="1645311" y="1645310"/>
                </a:lnTo>
                <a:lnTo>
                  <a:pt x="0" y="1645310"/>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8761124" y="5841502"/>
            <a:ext cx="1303601" cy="1303601"/>
          </a:xfrm>
          <a:custGeom>
            <a:avLst/>
            <a:gdLst/>
            <a:ahLst/>
            <a:cxnLst/>
            <a:rect r="r" b="b" t="t" l="l"/>
            <a:pathLst>
              <a:path h="1303601" w="1303601">
                <a:moveTo>
                  <a:pt x="0" y="0"/>
                </a:moveTo>
                <a:lnTo>
                  <a:pt x="1303601" y="0"/>
                </a:lnTo>
                <a:lnTo>
                  <a:pt x="1303601" y="1303601"/>
                </a:lnTo>
                <a:lnTo>
                  <a:pt x="0" y="13036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9220743" y="6237370"/>
            <a:ext cx="384362" cy="511864"/>
          </a:xfrm>
          <a:custGeom>
            <a:avLst/>
            <a:gdLst/>
            <a:ahLst/>
            <a:cxnLst/>
            <a:rect r="r" b="b" t="t" l="l"/>
            <a:pathLst>
              <a:path h="511864" w="384362">
                <a:moveTo>
                  <a:pt x="0" y="0"/>
                </a:moveTo>
                <a:lnTo>
                  <a:pt x="384362" y="0"/>
                </a:lnTo>
                <a:lnTo>
                  <a:pt x="384362" y="511864"/>
                </a:lnTo>
                <a:lnTo>
                  <a:pt x="0" y="511864"/>
                </a:lnTo>
                <a:lnTo>
                  <a:pt x="0" y="0"/>
                </a:lnTo>
                <a:close/>
              </a:path>
            </a:pathLst>
          </a:custGeom>
          <a:blipFill>
            <a:blip r:embed="rId10">
              <a:extLst>
                <a:ext uri="{96DAC541-7B7A-43D3-8B79-37D633B846F1}">
                  <asvg:svgBlip xmlns:asvg="http://schemas.microsoft.com/office/drawing/2016/SVG/main" r:embed="rId11"/>
                </a:ext>
              </a:extLst>
            </a:blip>
            <a:stretch>
              <a:fillRect l="-555" t="0" r="-557" b="0"/>
            </a:stretch>
          </a:blipFill>
        </p:spPr>
      </p:sp>
      <p:sp>
        <p:nvSpPr>
          <p:cNvPr name="TextBox 23" id="23"/>
          <p:cNvSpPr txBox="true"/>
          <p:nvPr/>
        </p:nvSpPr>
        <p:spPr>
          <a:xfrm rot="0">
            <a:off x="10888113" y="3702777"/>
            <a:ext cx="3490560" cy="581025"/>
          </a:xfrm>
          <a:prstGeom prst="rect">
            <a:avLst/>
          </a:prstGeom>
        </p:spPr>
        <p:txBody>
          <a:bodyPr anchor="t" rtlCol="false" tIns="0" lIns="0" bIns="0" rIns="0">
            <a:spAutoFit/>
          </a:bodyPr>
          <a:lstStyle/>
          <a:p>
            <a:pPr algn="l">
              <a:lnSpc>
                <a:spcPts val="4633"/>
              </a:lnSpc>
            </a:pPr>
            <a:r>
              <a:rPr lang="en-US" sz="3861" b="true">
                <a:solidFill>
                  <a:srgbClr val="2A2E3A"/>
                </a:solidFill>
                <a:latin typeface="Quicksand Bold"/>
                <a:ea typeface="Quicksand Bold"/>
                <a:cs typeface="Quicksand Bold"/>
                <a:sym typeface="Quicksand Bold"/>
              </a:rPr>
              <a:t>PHẦN 2</a:t>
            </a:r>
          </a:p>
        </p:txBody>
      </p:sp>
      <p:sp>
        <p:nvSpPr>
          <p:cNvPr name="Freeform 24" id="24"/>
          <p:cNvSpPr/>
          <p:nvPr/>
        </p:nvSpPr>
        <p:spPr>
          <a:xfrm flipH="false" flipV="false" rot="0">
            <a:off x="8496805" y="3439887"/>
            <a:ext cx="1645310" cy="1645310"/>
          </a:xfrm>
          <a:custGeom>
            <a:avLst/>
            <a:gdLst/>
            <a:ahLst/>
            <a:cxnLst/>
            <a:rect r="r" b="b" t="t" l="l"/>
            <a:pathLst>
              <a:path h="1645310" w="1645310">
                <a:moveTo>
                  <a:pt x="0" y="0"/>
                </a:moveTo>
                <a:lnTo>
                  <a:pt x="1645310" y="0"/>
                </a:lnTo>
                <a:lnTo>
                  <a:pt x="1645310" y="1645310"/>
                </a:lnTo>
                <a:lnTo>
                  <a:pt x="0" y="1645310"/>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8667664" y="3610737"/>
            <a:ext cx="1303601" cy="1303601"/>
          </a:xfrm>
          <a:custGeom>
            <a:avLst/>
            <a:gdLst/>
            <a:ahLst/>
            <a:cxnLst/>
            <a:rect r="r" b="b" t="t" l="l"/>
            <a:pathLst>
              <a:path h="1303601" w="1303601">
                <a:moveTo>
                  <a:pt x="0" y="0"/>
                </a:moveTo>
                <a:lnTo>
                  <a:pt x="1303601" y="0"/>
                </a:lnTo>
                <a:lnTo>
                  <a:pt x="1303601" y="1303601"/>
                </a:lnTo>
                <a:lnTo>
                  <a:pt x="0" y="13036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false" flipV="false" rot="0">
            <a:off x="9127284" y="4006606"/>
            <a:ext cx="384362" cy="511864"/>
          </a:xfrm>
          <a:custGeom>
            <a:avLst/>
            <a:gdLst/>
            <a:ahLst/>
            <a:cxnLst/>
            <a:rect r="r" b="b" t="t" l="l"/>
            <a:pathLst>
              <a:path h="511864" w="384362">
                <a:moveTo>
                  <a:pt x="0" y="0"/>
                </a:moveTo>
                <a:lnTo>
                  <a:pt x="384362" y="0"/>
                </a:lnTo>
                <a:lnTo>
                  <a:pt x="384362" y="511864"/>
                </a:lnTo>
                <a:lnTo>
                  <a:pt x="0" y="511864"/>
                </a:lnTo>
                <a:lnTo>
                  <a:pt x="0" y="0"/>
                </a:lnTo>
                <a:close/>
              </a:path>
            </a:pathLst>
          </a:custGeom>
          <a:blipFill>
            <a:blip r:embed="rId10">
              <a:extLst>
                <a:ext uri="{96DAC541-7B7A-43D3-8B79-37D633B846F1}">
                  <asvg:svgBlip xmlns:asvg="http://schemas.microsoft.com/office/drawing/2016/SVG/main" r:embed="rId11"/>
                </a:ext>
              </a:extLst>
            </a:blip>
            <a:stretch>
              <a:fillRect l="-555" t="0" r="-557" b="0"/>
            </a:stretch>
          </a:blipFill>
        </p:spPr>
      </p:sp>
      <p:sp>
        <p:nvSpPr>
          <p:cNvPr name="TextBox 27" id="27"/>
          <p:cNvSpPr txBox="true"/>
          <p:nvPr/>
        </p:nvSpPr>
        <p:spPr>
          <a:xfrm rot="0">
            <a:off x="10888113" y="4438088"/>
            <a:ext cx="6513862" cy="476250"/>
          </a:xfrm>
          <a:prstGeom prst="rect">
            <a:avLst/>
          </a:prstGeom>
        </p:spPr>
        <p:txBody>
          <a:bodyPr anchor="t" rtlCol="false" tIns="0" lIns="0" bIns="0" rIns="0">
            <a:spAutoFit/>
          </a:bodyPr>
          <a:lstStyle/>
          <a:p>
            <a:pPr algn="l">
              <a:lnSpc>
                <a:spcPts val="3793"/>
              </a:lnSpc>
            </a:pPr>
            <a:r>
              <a:rPr lang="en-US" sz="3161">
                <a:solidFill>
                  <a:srgbClr val="000000"/>
                </a:solidFill>
                <a:latin typeface="Quicksand"/>
                <a:ea typeface="Quicksand"/>
                <a:cs typeface="Quicksand"/>
                <a:sym typeface="Quicksand"/>
              </a:rPr>
              <a:t>LÝ THUYẾT SÁU MÔ HÌNH</a:t>
            </a:r>
          </a:p>
        </p:txBody>
      </p:sp>
      <p:sp>
        <p:nvSpPr>
          <p:cNvPr name="Freeform 28" id="28"/>
          <p:cNvSpPr/>
          <p:nvPr/>
        </p:nvSpPr>
        <p:spPr>
          <a:xfrm flipH="false" flipV="false" rot="0">
            <a:off x="8566852" y="7901416"/>
            <a:ext cx="1645310" cy="1645310"/>
          </a:xfrm>
          <a:custGeom>
            <a:avLst/>
            <a:gdLst/>
            <a:ahLst/>
            <a:cxnLst/>
            <a:rect r="r" b="b" t="t" l="l"/>
            <a:pathLst>
              <a:path h="1645310" w="1645310">
                <a:moveTo>
                  <a:pt x="0" y="0"/>
                </a:moveTo>
                <a:lnTo>
                  <a:pt x="1645310" y="0"/>
                </a:lnTo>
                <a:lnTo>
                  <a:pt x="1645310" y="1645311"/>
                </a:lnTo>
                <a:lnTo>
                  <a:pt x="0" y="1645311"/>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8737702" y="8072266"/>
            <a:ext cx="1303601" cy="1303601"/>
          </a:xfrm>
          <a:custGeom>
            <a:avLst/>
            <a:gdLst/>
            <a:ahLst/>
            <a:cxnLst/>
            <a:rect r="r" b="b" t="t" l="l"/>
            <a:pathLst>
              <a:path h="1303601" w="1303601">
                <a:moveTo>
                  <a:pt x="0" y="0"/>
                </a:moveTo>
                <a:lnTo>
                  <a:pt x="1303601" y="0"/>
                </a:lnTo>
                <a:lnTo>
                  <a:pt x="1303601" y="1303601"/>
                </a:lnTo>
                <a:lnTo>
                  <a:pt x="0" y="13036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0">
            <a:off x="9197321" y="8468135"/>
            <a:ext cx="384362" cy="511864"/>
          </a:xfrm>
          <a:custGeom>
            <a:avLst/>
            <a:gdLst/>
            <a:ahLst/>
            <a:cxnLst/>
            <a:rect r="r" b="b" t="t" l="l"/>
            <a:pathLst>
              <a:path h="511864" w="384362">
                <a:moveTo>
                  <a:pt x="0" y="0"/>
                </a:moveTo>
                <a:lnTo>
                  <a:pt x="384362" y="0"/>
                </a:lnTo>
                <a:lnTo>
                  <a:pt x="384362" y="511864"/>
                </a:lnTo>
                <a:lnTo>
                  <a:pt x="0" y="511864"/>
                </a:lnTo>
                <a:lnTo>
                  <a:pt x="0" y="0"/>
                </a:lnTo>
                <a:close/>
              </a:path>
            </a:pathLst>
          </a:custGeom>
          <a:blipFill>
            <a:blip r:embed="rId10">
              <a:extLst>
                <a:ext uri="{96DAC541-7B7A-43D3-8B79-37D633B846F1}">
                  <asvg:svgBlip xmlns:asvg="http://schemas.microsoft.com/office/drawing/2016/SVG/main" r:embed="rId11"/>
                </a:ext>
              </a:extLst>
            </a:blip>
            <a:stretch>
              <a:fillRect l="-555" t="0" r="-557" b="0"/>
            </a:stretch>
          </a:blipFill>
        </p:spPr>
      </p:sp>
      <p:sp>
        <p:nvSpPr>
          <p:cNvPr name="TextBox 31" id="31"/>
          <p:cNvSpPr txBox="true"/>
          <p:nvPr/>
        </p:nvSpPr>
        <p:spPr>
          <a:xfrm rot="0">
            <a:off x="10932357" y="8124682"/>
            <a:ext cx="6326943" cy="571500"/>
          </a:xfrm>
          <a:prstGeom prst="rect">
            <a:avLst/>
          </a:prstGeom>
        </p:spPr>
        <p:txBody>
          <a:bodyPr anchor="t" rtlCol="false" tIns="0" lIns="0" bIns="0" rIns="0">
            <a:spAutoFit/>
          </a:bodyPr>
          <a:lstStyle/>
          <a:p>
            <a:pPr algn="l">
              <a:lnSpc>
                <a:spcPts val="4550"/>
              </a:lnSpc>
            </a:pPr>
            <a:r>
              <a:rPr lang="en-US" sz="3792" b="true">
                <a:solidFill>
                  <a:srgbClr val="2A2E3A"/>
                </a:solidFill>
                <a:latin typeface="Quicksand Bold"/>
                <a:ea typeface="Quicksand Bold"/>
                <a:cs typeface="Quicksand Bold"/>
                <a:sym typeface="Quicksand Bold"/>
              </a:rPr>
              <a:t>PHẦN 4</a:t>
            </a:r>
          </a:p>
        </p:txBody>
      </p:sp>
      <p:sp>
        <p:nvSpPr>
          <p:cNvPr name="TextBox 32" id="32"/>
          <p:cNvSpPr txBox="true"/>
          <p:nvPr/>
        </p:nvSpPr>
        <p:spPr>
          <a:xfrm rot="0">
            <a:off x="10932357" y="9041368"/>
            <a:ext cx="6164685" cy="476250"/>
          </a:xfrm>
          <a:prstGeom prst="rect">
            <a:avLst/>
          </a:prstGeom>
        </p:spPr>
        <p:txBody>
          <a:bodyPr anchor="t" rtlCol="false" tIns="0" lIns="0" bIns="0" rIns="0">
            <a:spAutoFit/>
          </a:bodyPr>
          <a:lstStyle/>
          <a:p>
            <a:pPr algn="l">
              <a:lnSpc>
                <a:spcPts val="3793"/>
              </a:lnSpc>
            </a:pPr>
            <a:r>
              <a:rPr lang="en-US" sz="3161">
                <a:solidFill>
                  <a:srgbClr val="000000"/>
                </a:solidFill>
                <a:latin typeface="Quicksand"/>
                <a:ea typeface="Quicksand"/>
                <a:cs typeface="Quicksand"/>
                <a:sym typeface="Quicksand"/>
              </a:rPr>
              <a:t>THỰC NGHIỆM VÀ KẾT QUẢ</a:t>
            </a:r>
          </a:p>
        </p:txBody>
      </p:sp>
      <p:sp>
        <p:nvSpPr>
          <p:cNvPr name="TextBox 33" id="3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928688" y="1314450"/>
            <a:ext cx="16430625" cy="1100137"/>
          </a:xfrm>
          <a:prstGeom prst="rect">
            <a:avLst/>
          </a:prstGeom>
        </p:spPr>
        <p:txBody>
          <a:bodyPr anchor="t" rtlCol="false" tIns="0" lIns="0" bIns="0" rIns="0">
            <a:spAutoFit/>
          </a:bodyPr>
          <a:lstStyle/>
          <a:p>
            <a:pPr algn="l">
              <a:lnSpc>
                <a:spcPts val="5130"/>
              </a:lnSpc>
            </a:pPr>
            <a:r>
              <a:rPr lang="en-US" sz="4275" b="true">
                <a:solidFill>
                  <a:srgbClr val="2072B7"/>
                </a:solidFill>
                <a:latin typeface="Calibri (MS) Bold"/>
                <a:ea typeface="Calibri (MS) Bold"/>
                <a:cs typeface="Calibri (MS) Bold"/>
                <a:sym typeface="Calibri (MS) Bold"/>
              </a:rPr>
              <a:t>Lý do và mục tiêu</a:t>
            </a:r>
          </a:p>
        </p:txBody>
      </p:sp>
      <p:sp>
        <p:nvSpPr>
          <p:cNvPr name="TextBox 12" id="12"/>
          <p:cNvSpPr txBox="true"/>
          <p:nvPr/>
        </p:nvSpPr>
        <p:spPr>
          <a:xfrm rot="0">
            <a:off x="928688" y="2809875"/>
            <a:ext cx="7072312" cy="2162175"/>
          </a:xfrm>
          <a:prstGeom prst="rect">
            <a:avLst/>
          </a:prstGeom>
        </p:spPr>
        <p:txBody>
          <a:bodyPr anchor="t" rtlCol="false" tIns="0" lIns="0" bIns="0" rIns="0">
            <a:spAutoFit/>
          </a:bodyPr>
          <a:lstStyle/>
          <a:p>
            <a:pPr algn="l">
              <a:lnSpc>
                <a:spcPts val="5204"/>
              </a:lnSpc>
            </a:pPr>
            <a:r>
              <a:rPr lang="en-US" sz="4337">
                <a:solidFill>
                  <a:srgbClr val="222222"/>
                </a:solidFill>
                <a:latin typeface="Calibri (MS)"/>
                <a:ea typeface="Calibri (MS)"/>
                <a:cs typeface="Calibri (MS)"/>
                <a:sym typeface="Calibri (MS)"/>
              </a:rPr>
              <a:t>Dữ liệu hơn 7 triệu chuyến bay cần một quy trình xử lý phù hợp.</a:t>
            </a:r>
          </a:p>
        </p:txBody>
      </p:sp>
      <p:sp>
        <p:nvSpPr>
          <p:cNvPr name="TextBox 13" id="13"/>
          <p:cNvSpPr txBox="true"/>
          <p:nvPr/>
        </p:nvSpPr>
        <p:spPr>
          <a:xfrm rot="0">
            <a:off x="928688" y="5469825"/>
            <a:ext cx="7072312" cy="1409750"/>
          </a:xfrm>
          <a:prstGeom prst="rect">
            <a:avLst/>
          </a:prstGeom>
        </p:spPr>
        <p:txBody>
          <a:bodyPr anchor="t" rtlCol="false" tIns="0" lIns="0" bIns="0" rIns="0">
            <a:spAutoFit/>
          </a:bodyPr>
          <a:lstStyle/>
          <a:p>
            <a:pPr algn="l">
              <a:lnSpc>
                <a:spcPts val="5204"/>
              </a:lnSpc>
            </a:pPr>
            <a:r>
              <a:rPr lang="en-US" sz="4337">
                <a:solidFill>
                  <a:srgbClr val="222222"/>
                </a:solidFill>
                <a:latin typeface="Calibri (MS)"/>
                <a:ea typeface="Calibri (MS)"/>
                <a:cs typeface="Calibri (MS)"/>
                <a:sym typeface="Calibri (MS)"/>
              </a:rPr>
              <a:t>Nhóm dự đoán nguyên nhân trễ chi phối</a:t>
            </a:r>
          </a:p>
        </p:txBody>
      </p:sp>
      <p:sp>
        <p:nvSpPr>
          <p:cNvPr name="TextBox 14" id="14"/>
          <p:cNvSpPr txBox="true"/>
          <p:nvPr/>
        </p:nvSpPr>
        <p:spPr>
          <a:xfrm rot="0">
            <a:off x="928688" y="7233066"/>
            <a:ext cx="7072312" cy="847725"/>
          </a:xfrm>
          <a:prstGeom prst="rect">
            <a:avLst/>
          </a:prstGeom>
        </p:spPr>
        <p:txBody>
          <a:bodyPr anchor="t" rtlCol="false" tIns="0" lIns="0" bIns="0" rIns="0">
            <a:spAutoFit/>
          </a:bodyPr>
          <a:lstStyle/>
          <a:p>
            <a:pPr algn="l">
              <a:lnSpc>
                <a:spcPts val="5204"/>
              </a:lnSpc>
            </a:pPr>
            <a:r>
              <a:rPr lang="en-US" sz="4337">
                <a:solidFill>
                  <a:srgbClr val="222222"/>
                </a:solidFill>
                <a:latin typeface="Calibri (MS)"/>
                <a:ea typeface="Calibri (MS)"/>
                <a:cs typeface="Calibri (MS)"/>
                <a:sym typeface="Calibri (MS)"/>
              </a:rPr>
              <a:t>So sánh CPU với Spark </a:t>
            </a:r>
          </a:p>
        </p:txBody>
      </p:sp>
      <p:grpSp>
        <p:nvGrpSpPr>
          <p:cNvPr name="Group 15" id="15"/>
          <p:cNvGrpSpPr/>
          <p:nvPr/>
        </p:nvGrpSpPr>
        <p:grpSpPr>
          <a:xfrm rot="0">
            <a:off x="8730253" y="2857500"/>
            <a:ext cx="8843372" cy="1173099"/>
            <a:chOff x="0" y="0"/>
            <a:chExt cx="11791163" cy="1564132"/>
          </a:xfrm>
        </p:grpSpPr>
        <p:sp>
          <p:nvSpPr>
            <p:cNvPr name="Freeform 16" id="16"/>
            <p:cNvSpPr/>
            <p:nvPr/>
          </p:nvSpPr>
          <p:spPr>
            <a:xfrm flipH="false" flipV="false" rot="0">
              <a:off x="0" y="0"/>
              <a:ext cx="11791188" cy="1564132"/>
            </a:xfrm>
            <a:custGeom>
              <a:avLst/>
              <a:gdLst/>
              <a:ahLst/>
              <a:cxnLst/>
              <a:rect r="r" b="b" t="t" l="l"/>
              <a:pathLst>
                <a:path h="1564132" w="11791188">
                  <a:moveTo>
                    <a:pt x="0" y="0"/>
                  </a:moveTo>
                  <a:lnTo>
                    <a:pt x="11791188" y="0"/>
                  </a:lnTo>
                  <a:lnTo>
                    <a:pt x="11791188" y="1564132"/>
                  </a:lnTo>
                  <a:lnTo>
                    <a:pt x="0" y="1564132"/>
                  </a:lnTo>
                  <a:close/>
                </a:path>
              </a:pathLst>
            </a:custGeom>
            <a:solidFill>
              <a:srgbClr val="2072B7"/>
            </a:solidFill>
          </p:spPr>
        </p:sp>
      </p:grpSp>
      <p:grpSp>
        <p:nvGrpSpPr>
          <p:cNvPr name="Group 17" id="17"/>
          <p:cNvGrpSpPr/>
          <p:nvPr/>
        </p:nvGrpSpPr>
        <p:grpSpPr>
          <a:xfrm rot="0">
            <a:off x="8730253" y="2776290"/>
            <a:ext cx="8843372" cy="1254319"/>
            <a:chOff x="0" y="0"/>
            <a:chExt cx="11791163" cy="1672425"/>
          </a:xfrm>
        </p:grpSpPr>
        <p:sp>
          <p:nvSpPr>
            <p:cNvPr name="Freeform 18" id="18"/>
            <p:cNvSpPr/>
            <p:nvPr/>
          </p:nvSpPr>
          <p:spPr>
            <a:xfrm flipH="false" flipV="false" rot="0">
              <a:off x="0" y="0"/>
              <a:ext cx="11791164" cy="1672421"/>
            </a:xfrm>
            <a:custGeom>
              <a:avLst/>
              <a:gdLst/>
              <a:ahLst/>
              <a:cxnLst/>
              <a:rect r="r" b="b" t="t" l="l"/>
              <a:pathLst>
                <a:path h="1672421" w="11791164">
                  <a:moveTo>
                    <a:pt x="0" y="0"/>
                  </a:moveTo>
                  <a:lnTo>
                    <a:pt x="11791164" y="0"/>
                  </a:lnTo>
                  <a:lnTo>
                    <a:pt x="11791164" y="1672421"/>
                  </a:lnTo>
                  <a:lnTo>
                    <a:pt x="0" y="1672421"/>
                  </a:lnTo>
                  <a:close/>
                </a:path>
              </a:pathLst>
            </a:custGeom>
            <a:blipFill>
              <a:blip r:embed="rId4">
                <a:alphaModFix amt="0"/>
              </a:blip>
              <a:stretch>
                <a:fillRect l="0" t="-87376" r="0" b="-87376"/>
              </a:stretch>
            </a:blipFill>
          </p:spPr>
        </p:sp>
        <p:sp>
          <p:nvSpPr>
            <p:cNvPr name="TextBox 19" id="19"/>
            <p:cNvSpPr txBox="true"/>
            <p:nvPr/>
          </p:nvSpPr>
          <p:spPr>
            <a:xfrm>
              <a:off x="0" y="-85725"/>
              <a:ext cx="11791163" cy="1758150"/>
            </a:xfrm>
            <a:prstGeom prst="rect">
              <a:avLst/>
            </a:prstGeom>
          </p:spPr>
          <p:txBody>
            <a:bodyPr anchor="ctr" rtlCol="false" tIns="0" lIns="0" bIns="0" rIns="0"/>
            <a:lstStyle/>
            <a:p>
              <a:pPr algn="ctr">
                <a:lnSpc>
                  <a:spcPts val="4933"/>
                </a:lnSpc>
              </a:pPr>
              <a:r>
                <a:rPr lang="en-US" sz="4112">
                  <a:solidFill>
                    <a:srgbClr val="FFFFFF"/>
                  </a:solidFill>
                  <a:latin typeface="Calibri (MS)"/>
                  <a:ea typeface="Calibri (MS)"/>
                  <a:cs typeface="Calibri (MS)"/>
                  <a:sym typeface="Calibri (MS)"/>
                </a:rPr>
                <a:t>Dữ liệu chuyến bay 2024</a:t>
              </a:r>
            </a:p>
          </p:txBody>
        </p:sp>
      </p:grpSp>
      <p:sp>
        <p:nvSpPr>
          <p:cNvPr name="TextBox 20" id="20"/>
          <p:cNvSpPr txBox="true"/>
          <p:nvPr/>
        </p:nvSpPr>
        <p:spPr>
          <a:xfrm rot="0">
            <a:off x="12971459" y="3878199"/>
            <a:ext cx="541430" cy="693830"/>
          </a:xfrm>
          <a:prstGeom prst="rect">
            <a:avLst/>
          </a:prstGeom>
        </p:spPr>
        <p:txBody>
          <a:bodyPr anchor="t" rtlCol="false" tIns="0" lIns="0" bIns="0" rIns="0">
            <a:spAutoFit/>
          </a:bodyPr>
          <a:lstStyle/>
          <a:p>
            <a:pPr algn="l">
              <a:lnSpc>
                <a:spcPts val="4263"/>
              </a:lnSpc>
            </a:pPr>
            <a:r>
              <a:rPr lang="en-US" sz="3551">
                <a:solidFill>
                  <a:srgbClr val="2072B7"/>
                </a:solidFill>
                <a:latin typeface="Calibri (MS)"/>
                <a:ea typeface="Calibri (MS)"/>
                <a:cs typeface="Calibri (MS)"/>
                <a:sym typeface="Calibri (MS)"/>
              </a:rPr>
              <a:t>↓</a:t>
            </a:r>
          </a:p>
        </p:txBody>
      </p:sp>
      <p:grpSp>
        <p:nvGrpSpPr>
          <p:cNvPr name="Group 21" id="21"/>
          <p:cNvGrpSpPr/>
          <p:nvPr/>
        </p:nvGrpSpPr>
        <p:grpSpPr>
          <a:xfrm rot="0">
            <a:off x="8730253" y="4553988"/>
            <a:ext cx="8843372" cy="1173099"/>
            <a:chOff x="0" y="0"/>
            <a:chExt cx="11791163" cy="1564132"/>
          </a:xfrm>
        </p:grpSpPr>
        <p:sp>
          <p:nvSpPr>
            <p:cNvPr name="Freeform 22" id="22"/>
            <p:cNvSpPr/>
            <p:nvPr/>
          </p:nvSpPr>
          <p:spPr>
            <a:xfrm flipH="false" flipV="false" rot="0">
              <a:off x="0" y="0"/>
              <a:ext cx="11791188" cy="1564132"/>
            </a:xfrm>
            <a:custGeom>
              <a:avLst/>
              <a:gdLst/>
              <a:ahLst/>
              <a:cxnLst/>
              <a:rect r="r" b="b" t="t" l="l"/>
              <a:pathLst>
                <a:path h="1564132" w="11791188">
                  <a:moveTo>
                    <a:pt x="0" y="0"/>
                  </a:moveTo>
                  <a:lnTo>
                    <a:pt x="11791188" y="0"/>
                  </a:lnTo>
                  <a:lnTo>
                    <a:pt x="11791188" y="1564132"/>
                  </a:lnTo>
                  <a:lnTo>
                    <a:pt x="0" y="1564132"/>
                  </a:lnTo>
                  <a:close/>
                </a:path>
              </a:pathLst>
            </a:custGeom>
            <a:solidFill>
              <a:srgbClr val="2072B7"/>
            </a:solidFill>
          </p:spPr>
        </p:sp>
      </p:grpSp>
      <p:grpSp>
        <p:nvGrpSpPr>
          <p:cNvPr name="Group 23" id="23"/>
          <p:cNvGrpSpPr/>
          <p:nvPr/>
        </p:nvGrpSpPr>
        <p:grpSpPr>
          <a:xfrm rot="0">
            <a:off x="8730253" y="4472769"/>
            <a:ext cx="8843372" cy="1254319"/>
            <a:chOff x="0" y="0"/>
            <a:chExt cx="11791163" cy="1672425"/>
          </a:xfrm>
        </p:grpSpPr>
        <p:sp>
          <p:nvSpPr>
            <p:cNvPr name="Freeform 24" id="24"/>
            <p:cNvSpPr/>
            <p:nvPr/>
          </p:nvSpPr>
          <p:spPr>
            <a:xfrm flipH="false" flipV="false" rot="0">
              <a:off x="0" y="0"/>
              <a:ext cx="11791164" cy="1672421"/>
            </a:xfrm>
            <a:custGeom>
              <a:avLst/>
              <a:gdLst/>
              <a:ahLst/>
              <a:cxnLst/>
              <a:rect r="r" b="b" t="t" l="l"/>
              <a:pathLst>
                <a:path h="1672421" w="11791164">
                  <a:moveTo>
                    <a:pt x="0" y="0"/>
                  </a:moveTo>
                  <a:lnTo>
                    <a:pt x="11791164" y="0"/>
                  </a:lnTo>
                  <a:lnTo>
                    <a:pt x="11791164" y="1672421"/>
                  </a:lnTo>
                  <a:lnTo>
                    <a:pt x="0" y="1672421"/>
                  </a:lnTo>
                  <a:close/>
                </a:path>
              </a:pathLst>
            </a:custGeom>
            <a:blipFill>
              <a:blip r:embed="rId4">
                <a:alphaModFix amt="0"/>
              </a:blip>
              <a:stretch>
                <a:fillRect l="0" t="-87376" r="0" b="-87376"/>
              </a:stretch>
            </a:blipFill>
          </p:spPr>
        </p:sp>
        <p:sp>
          <p:nvSpPr>
            <p:cNvPr name="TextBox 25" id="25"/>
            <p:cNvSpPr txBox="true"/>
            <p:nvPr/>
          </p:nvSpPr>
          <p:spPr>
            <a:xfrm>
              <a:off x="0" y="-85725"/>
              <a:ext cx="11791163" cy="1758150"/>
            </a:xfrm>
            <a:prstGeom prst="rect">
              <a:avLst/>
            </a:prstGeom>
          </p:spPr>
          <p:txBody>
            <a:bodyPr anchor="ctr" rtlCol="false" tIns="0" lIns="0" bIns="0" rIns="0"/>
            <a:lstStyle/>
            <a:p>
              <a:pPr algn="ctr">
                <a:lnSpc>
                  <a:spcPts val="4933"/>
                </a:lnSpc>
              </a:pPr>
              <a:r>
                <a:rPr lang="en-US" sz="4112">
                  <a:solidFill>
                    <a:srgbClr val="FFFFFF"/>
                  </a:solidFill>
                  <a:latin typeface="Calibri (MS)"/>
                  <a:ea typeface="Calibri (MS)"/>
                  <a:cs typeface="Calibri (MS)"/>
                  <a:sym typeface="Calibri (MS)"/>
                </a:rPr>
                <a:t>Dự đoán 6 nhóm mục tiêu</a:t>
              </a:r>
            </a:p>
          </p:txBody>
        </p:sp>
      </p:grpSp>
      <p:sp>
        <p:nvSpPr>
          <p:cNvPr name="TextBox 26" id="26"/>
          <p:cNvSpPr txBox="true"/>
          <p:nvPr/>
        </p:nvSpPr>
        <p:spPr>
          <a:xfrm rot="0">
            <a:off x="12971459" y="5574687"/>
            <a:ext cx="541430" cy="693830"/>
          </a:xfrm>
          <a:prstGeom prst="rect">
            <a:avLst/>
          </a:prstGeom>
        </p:spPr>
        <p:txBody>
          <a:bodyPr anchor="t" rtlCol="false" tIns="0" lIns="0" bIns="0" rIns="0">
            <a:spAutoFit/>
          </a:bodyPr>
          <a:lstStyle/>
          <a:p>
            <a:pPr algn="l">
              <a:lnSpc>
                <a:spcPts val="4263"/>
              </a:lnSpc>
            </a:pPr>
            <a:r>
              <a:rPr lang="en-US" sz="3551">
                <a:solidFill>
                  <a:srgbClr val="2072B7"/>
                </a:solidFill>
                <a:latin typeface="Calibri (MS)"/>
                <a:ea typeface="Calibri (MS)"/>
                <a:cs typeface="Calibri (MS)"/>
                <a:sym typeface="Calibri (MS)"/>
              </a:rPr>
              <a:t>↓</a:t>
            </a:r>
          </a:p>
        </p:txBody>
      </p:sp>
      <p:grpSp>
        <p:nvGrpSpPr>
          <p:cNvPr name="Group 27" id="27"/>
          <p:cNvGrpSpPr/>
          <p:nvPr/>
        </p:nvGrpSpPr>
        <p:grpSpPr>
          <a:xfrm rot="0">
            <a:off x="8730253" y="6250467"/>
            <a:ext cx="8843372" cy="1173099"/>
            <a:chOff x="0" y="0"/>
            <a:chExt cx="11791163" cy="1564132"/>
          </a:xfrm>
        </p:grpSpPr>
        <p:sp>
          <p:nvSpPr>
            <p:cNvPr name="Freeform 28" id="28"/>
            <p:cNvSpPr/>
            <p:nvPr/>
          </p:nvSpPr>
          <p:spPr>
            <a:xfrm flipH="false" flipV="false" rot="0">
              <a:off x="0" y="0"/>
              <a:ext cx="11791188" cy="1564132"/>
            </a:xfrm>
            <a:custGeom>
              <a:avLst/>
              <a:gdLst/>
              <a:ahLst/>
              <a:cxnLst/>
              <a:rect r="r" b="b" t="t" l="l"/>
              <a:pathLst>
                <a:path h="1564132" w="11791188">
                  <a:moveTo>
                    <a:pt x="0" y="0"/>
                  </a:moveTo>
                  <a:lnTo>
                    <a:pt x="11791188" y="0"/>
                  </a:lnTo>
                  <a:lnTo>
                    <a:pt x="11791188" y="1564132"/>
                  </a:lnTo>
                  <a:lnTo>
                    <a:pt x="0" y="1564132"/>
                  </a:lnTo>
                  <a:close/>
                </a:path>
              </a:pathLst>
            </a:custGeom>
            <a:solidFill>
              <a:srgbClr val="2072B7"/>
            </a:solidFill>
          </p:spPr>
        </p:sp>
      </p:grpSp>
      <p:grpSp>
        <p:nvGrpSpPr>
          <p:cNvPr name="Group 29" id="29"/>
          <p:cNvGrpSpPr/>
          <p:nvPr/>
        </p:nvGrpSpPr>
        <p:grpSpPr>
          <a:xfrm rot="0">
            <a:off x="8730253" y="6169257"/>
            <a:ext cx="8843372" cy="1254319"/>
            <a:chOff x="0" y="0"/>
            <a:chExt cx="11791163" cy="1672425"/>
          </a:xfrm>
        </p:grpSpPr>
        <p:sp>
          <p:nvSpPr>
            <p:cNvPr name="Freeform 30" id="30"/>
            <p:cNvSpPr/>
            <p:nvPr/>
          </p:nvSpPr>
          <p:spPr>
            <a:xfrm flipH="false" flipV="false" rot="0">
              <a:off x="0" y="0"/>
              <a:ext cx="11791164" cy="1672421"/>
            </a:xfrm>
            <a:custGeom>
              <a:avLst/>
              <a:gdLst/>
              <a:ahLst/>
              <a:cxnLst/>
              <a:rect r="r" b="b" t="t" l="l"/>
              <a:pathLst>
                <a:path h="1672421" w="11791164">
                  <a:moveTo>
                    <a:pt x="0" y="0"/>
                  </a:moveTo>
                  <a:lnTo>
                    <a:pt x="11791164" y="0"/>
                  </a:lnTo>
                  <a:lnTo>
                    <a:pt x="11791164" y="1672421"/>
                  </a:lnTo>
                  <a:lnTo>
                    <a:pt x="0" y="1672421"/>
                  </a:lnTo>
                  <a:close/>
                </a:path>
              </a:pathLst>
            </a:custGeom>
            <a:blipFill>
              <a:blip r:embed="rId4">
                <a:alphaModFix amt="0"/>
              </a:blip>
              <a:stretch>
                <a:fillRect l="0" t="-87376" r="0" b="-87376"/>
              </a:stretch>
            </a:blipFill>
          </p:spPr>
        </p:sp>
        <p:sp>
          <p:nvSpPr>
            <p:cNvPr name="TextBox 31" id="31"/>
            <p:cNvSpPr txBox="true"/>
            <p:nvPr/>
          </p:nvSpPr>
          <p:spPr>
            <a:xfrm>
              <a:off x="0" y="-85725"/>
              <a:ext cx="11791163" cy="1758150"/>
            </a:xfrm>
            <a:prstGeom prst="rect">
              <a:avLst/>
            </a:prstGeom>
          </p:spPr>
          <p:txBody>
            <a:bodyPr anchor="ctr" rtlCol="false" tIns="0" lIns="0" bIns="0" rIns="0"/>
            <a:lstStyle/>
            <a:p>
              <a:pPr algn="ctr">
                <a:lnSpc>
                  <a:spcPts val="4933"/>
                </a:lnSpc>
              </a:pPr>
              <a:r>
                <a:rPr lang="en-US" sz="4112">
                  <a:solidFill>
                    <a:srgbClr val="FFFFFF"/>
                  </a:solidFill>
                  <a:latin typeface="Calibri (MS)"/>
                  <a:ea typeface="Calibri (MS)"/>
                  <a:cs typeface="Calibri (MS)"/>
                  <a:sym typeface="Calibri (MS)"/>
                </a:rPr>
                <a:t>Đánh giá và ứng dụng</a:t>
              </a:r>
            </a:p>
          </p:txBody>
        </p:sp>
      </p:grpSp>
      <p:sp>
        <p:nvSpPr>
          <p:cNvPr name="TextBox 32" id="3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72B6"/>
        </a:solidFill>
      </p:bgPr>
    </p:bg>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17872" r="0" b="-17872"/>
              </a:stretch>
            </a:blipFill>
          </p:spPr>
        </p:sp>
      </p:grpSp>
      <p:sp>
        <p:nvSpPr>
          <p:cNvPr name="TextBox 10" id="10"/>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1" id="11"/>
          <p:cNvSpPr txBox="true"/>
          <p:nvPr/>
        </p:nvSpPr>
        <p:spPr>
          <a:xfrm rot="0">
            <a:off x="3201000" y="4770882"/>
            <a:ext cx="11886000" cy="859536"/>
          </a:xfrm>
          <a:prstGeom prst="rect">
            <a:avLst/>
          </a:prstGeom>
        </p:spPr>
        <p:txBody>
          <a:bodyPr anchor="t" rtlCol="false" tIns="0" lIns="0" bIns="0" rIns="0">
            <a:spAutoFit/>
          </a:bodyPr>
          <a:lstStyle/>
          <a:p>
            <a:pPr algn="ctr">
              <a:lnSpc>
                <a:spcPts val="6910"/>
              </a:lnSpc>
            </a:pPr>
            <a:r>
              <a:rPr lang="en-US" sz="6398" b="true">
                <a:solidFill>
                  <a:srgbClr val="FFFFFF"/>
                </a:solidFill>
                <a:latin typeface="Quicksand Bold"/>
                <a:ea typeface="Quicksand Bold"/>
                <a:cs typeface="Quicksand Bold"/>
                <a:sym typeface="Quicksand Bold"/>
              </a:rPr>
              <a:t>CƠ SỞ LÝ THUYẾT</a:t>
            </a:r>
          </a:p>
        </p:txBody>
      </p:sp>
      <p:sp>
        <p:nvSpPr>
          <p:cNvPr name="TextBox 12" id="1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FFFFFF"/>
                </a:solidFill>
                <a:latin typeface="Noto Sans"/>
                <a:ea typeface="Noto Sans"/>
                <a:cs typeface="Noto Sans"/>
                <a:sym typeface="Noto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5253780">
            <a:off x="5490962" y="5898356"/>
            <a:ext cx="448085" cy="0"/>
          </a:xfrm>
          <a:prstGeom prst="line">
            <a:avLst/>
          </a:prstGeom>
          <a:ln cap="rnd" w="19050">
            <a:solidFill>
              <a:srgbClr val="2072B7"/>
            </a:solidFill>
            <a:prstDash val="solid"/>
            <a:headEnd type="none" len="sm" w="sm"/>
            <a:tailEnd type="triangle" len="med" w="lg"/>
          </a:ln>
        </p:spPr>
      </p:sp>
      <p:sp>
        <p:nvSpPr>
          <p:cNvPr name="AutoShape 12" id="12"/>
          <p:cNvSpPr/>
          <p:nvPr/>
        </p:nvSpPr>
        <p:spPr>
          <a:xfrm rot="5253780">
            <a:off x="5490962" y="4526756"/>
            <a:ext cx="448085" cy="0"/>
          </a:xfrm>
          <a:prstGeom prst="line">
            <a:avLst/>
          </a:prstGeom>
          <a:ln cap="rnd" w="19050">
            <a:solidFill>
              <a:srgbClr val="2072B7"/>
            </a:solidFill>
            <a:prstDash val="solid"/>
            <a:headEnd type="none" len="sm" w="sm"/>
            <a:tailEnd type="triangle" len="med" w="lg"/>
          </a:ln>
        </p:spPr>
      </p:sp>
      <p:sp>
        <p:nvSpPr>
          <p:cNvPr name="TextBox 13" id="13"/>
          <p:cNvSpPr txBox="true"/>
          <p:nvPr/>
        </p:nvSpPr>
        <p:spPr>
          <a:xfrm rot="0">
            <a:off x="857250" y="1447800"/>
            <a:ext cx="16573500" cy="685800"/>
          </a:xfrm>
          <a:prstGeom prst="rect">
            <a:avLst/>
          </a:prstGeom>
        </p:spPr>
        <p:txBody>
          <a:bodyPr anchor="t" rtlCol="false" tIns="0" lIns="0" bIns="0" rIns="0">
            <a:spAutoFit/>
          </a:bodyPr>
          <a:lstStyle/>
          <a:p>
            <a:pPr algn="l">
              <a:lnSpc>
                <a:spcPts val="5114"/>
              </a:lnSpc>
            </a:pPr>
            <a:r>
              <a:rPr lang="en-US" sz="4262" b="true">
                <a:solidFill>
                  <a:srgbClr val="2072B7"/>
                </a:solidFill>
                <a:latin typeface="Arial Bold"/>
                <a:ea typeface="Arial Bold"/>
                <a:cs typeface="Arial Bold"/>
                <a:sym typeface="Arial Bold"/>
              </a:rPr>
              <a:t>Logistic Regression</a:t>
            </a:r>
          </a:p>
        </p:txBody>
      </p:sp>
      <p:sp>
        <p:nvSpPr>
          <p:cNvPr name="TextBox 14" id="14"/>
          <p:cNvSpPr txBox="true"/>
          <p:nvPr/>
        </p:nvSpPr>
        <p:spPr>
          <a:xfrm rot="0">
            <a:off x="857250" y="2333625"/>
            <a:ext cx="16573500" cy="457200"/>
          </a:xfrm>
          <a:prstGeom prst="rect">
            <a:avLst/>
          </a:prstGeom>
        </p:spPr>
        <p:txBody>
          <a:bodyPr anchor="t" rtlCol="false" tIns="0" lIns="0" bIns="0" rIns="0">
            <a:spAutoFit/>
          </a:bodyPr>
          <a:lstStyle/>
          <a:p>
            <a:pPr algn="l">
              <a:lnSpc>
                <a:spcPts val="3358"/>
              </a:lnSpc>
            </a:pPr>
            <a:r>
              <a:rPr lang="en-US" sz="2799" b="true">
                <a:solidFill>
                  <a:srgbClr val="174C7E"/>
                </a:solidFill>
                <a:latin typeface="Arial Bold"/>
                <a:ea typeface="Arial Bold"/>
                <a:cs typeface="Arial Bold"/>
                <a:sym typeface="Arial Bold"/>
              </a:rPr>
              <a:t>Chuyển đặc trưng chuyến bay thành điểm và xác suất cho các lớp</a:t>
            </a:r>
          </a:p>
        </p:txBody>
      </p:sp>
      <p:sp>
        <p:nvSpPr>
          <p:cNvPr name="TextBox 15" id="15"/>
          <p:cNvSpPr txBox="true"/>
          <p:nvPr/>
        </p:nvSpPr>
        <p:spPr>
          <a:xfrm rot="0">
            <a:off x="11430000" y="3290888"/>
            <a:ext cx="6000750" cy="1409700"/>
          </a:xfrm>
          <a:prstGeom prst="rect">
            <a:avLst/>
          </a:prstGeom>
        </p:spPr>
        <p:txBody>
          <a:bodyPr anchor="t" rtlCol="false" tIns="0" lIns="0" bIns="0" rIns="0">
            <a:spAutoFit/>
          </a:bodyPr>
          <a:lstStyle/>
          <a:p>
            <a:pPr algn="l">
              <a:lnSpc>
                <a:spcPts val="3629"/>
              </a:lnSpc>
            </a:pPr>
            <a:r>
              <a:rPr lang="en-US" sz="3024">
                <a:solidFill>
                  <a:srgbClr val="202D39"/>
                </a:solidFill>
                <a:latin typeface="Arial"/>
                <a:ea typeface="Arial"/>
                <a:cs typeface="Arial"/>
                <a:sym typeface="Arial"/>
              </a:rPr>
              <a:t>Đầu vào: lịch bay, giờ bay, hãng và sân bay.</a:t>
            </a:r>
          </a:p>
          <a:p>
            <a:pPr algn="l">
              <a:lnSpc>
                <a:spcPts val="3629"/>
              </a:lnSpc>
            </a:pPr>
            <a:r>
              <a:rPr lang="en-US" sz="3024">
                <a:solidFill>
                  <a:srgbClr val="202D39"/>
                </a:solidFill>
                <a:latin typeface="Arial"/>
                <a:ea typeface="Arial"/>
                <a:cs typeface="Arial"/>
                <a:sym typeface="Arial"/>
              </a:rPr>
              <a:t>Đầu ra: một trong sáu nhãn.</a:t>
            </a:r>
          </a:p>
        </p:txBody>
      </p:sp>
      <p:sp>
        <p:nvSpPr>
          <p:cNvPr name="TextBox 16" id="16"/>
          <p:cNvSpPr txBox="true"/>
          <p:nvPr/>
        </p:nvSpPr>
        <p:spPr>
          <a:xfrm rot="0">
            <a:off x="11430000" y="4919662"/>
            <a:ext cx="6000750" cy="952500"/>
          </a:xfrm>
          <a:prstGeom prst="rect">
            <a:avLst/>
          </a:prstGeom>
        </p:spPr>
        <p:txBody>
          <a:bodyPr anchor="t" rtlCol="false" tIns="0" lIns="0" bIns="0" rIns="0">
            <a:spAutoFit/>
          </a:bodyPr>
          <a:lstStyle/>
          <a:p>
            <a:pPr algn="l">
              <a:lnSpc>
                <a:spcPts val="3629"/>
              </a:lnSpc>
            </a:pPr>
            <a:r>
              <a:rPr lang="en-US" sz="3024">
                <a:solidFill>
                  <a:srgbClr val="202D39"/>
                </a:solidFill>
                <a:latin typeface="Arial"/>
                <a:ea typeface="Arial"/>
                <a:cs typeface="Arial"/>
                <a:sym typeface="Arial"/>
              </a:rPr>
              <a:t>Ưu điểm: nhẹ, tạo được mốc so sánh nhanh.</a:t>
            </a:r>
          </a:p>
        </p:txBody>
      </p:sp>
      <p:sp>
        <p:nvSpPr>
          <p:cNvPr name="TextBox 17" id="17"/>
          <p:cNvSpPr txBox="true"/>
          <p:nvPr/>
        </p:nvSpPr>
        <p:spPr>
          <a:xfrm rot="0">
            <a:off x="11430000" y="6548438"/>
            <a:ext cx="6000750" cy="952500"/>
          </a:xfrm>
          <a:prstGeom prst="rect">
            <a:avLst/>
          </a:prstGeom>
        </p:spPr>
        <p:txBody>
          <a:bodyPr anchor="t" rtlCol="false" tIns="0" lIns="0" bIns="0" rIns="0">
            <a:spAutoFit/>
          </a:bodyPr>
          <a:lstStyle/>
          <a:p>
            <a:pPr algn="l">
              <a:lnSpc>
                <a:spcPts val="3629"/>
              </a:lnSpc>
            </a:pPr>
            <a:r>
              <a:rPr lang="en-US" sz="3024">
                <a:solidFill>
                  <a:srgbClr val="202D39"/>
                </a:solidFill>
                <a:latin typeface="Arial"/>
                <a:ea typeface="Arial"/>
                <a:cs typeface="Arial"/>
                <a:sym typeface="Arial"/>
              </a:rPr>
              <a:t>Hạn chế: ranh giới tuyến tính khó nắm các tương tác phức tạp.</a:t>
            </a:r>
          </a:p>
        </p:txBody>
      </p:sp>
      <p:grpSp>
        <p:nvGrpSpPr>
          <p:cNvPr name="Group 18" id="18"/>
          <p:cNvGrpSpPr/>
          <p:nvPr/>
        </p:nvGrpSpPr>
        <p:grpSpPr>
          <a:xfrm rot="0">
            <a:off x="916191" y="3373641"/>
            <a:ext cx="9597628" cy="953691"/>
            <a:chOff x="0" y="0"/>
            <a:chExt cx="12796838" cy="1271588"/>
          </a:xfrm>
        </p:grpSpPr>
        <p:sp>
          <p:nvSpPr>
            <p:cNvPr name="Freeform 19" id="19"/>
            <p:cNvSpPr/>
            <p:nvPr/>
          </p:nvSpPr>
          <p:spPr>
            <a:xfrm flipH="false" flipV="false" rot="0">
              <a:off x="0" y="0"/>
              <a:ext cx="12796774" cy="1271651"/>
            </a:xfrm>
            <a:custGeom>
              <a:avLst/>
              <a:gdLst/>
              <a:ahLst/>
              <a:cxnLst/>
              <a:rect r="r" b="b" t="t" l="l"/>
              <a:pathLst>
                <a:path h="1271651" w="12796774">
                  <a:moveTo>
                    <a:pt x="0" y="0"/>
                  </a:moveTo>
                  <a:lnTo>
                    <a:pt x="12796774" y="0"/>
                  </a:lnTo>
                  <a:lnTo>
                    <a:pt x="12796774" y="1271651"/>
                  </a:lnTo>
                  <a:lnTo>
                    <a:pt x="0" y="1271651"/>
                  </a:lnTo>
                  <a:close/>
                </a:path>
              </a:pathLst>
            </a:custGeom>
            <a:solidFill>
              <a:srgbClr val="2072B7"/>
            </a:solidFill>
            <a:ln w="14288" cap="sq">
              <a:solidFill>
                <a:srgbClr val="2072B7"/>
              </a:solidFill>
              <a:prstDash val="solid"/>
              <a:miter/>
            </a:ln>
          </p:spPr>
        </p:sp>
      </p:grpSp>
      <p:grpSp>
        <p:nvGrpSpPr>
          <p:cNvPr name="Group 20" id="20"/>
          <p:cNvGrpSpPr/>
          <p:nvPr/>
        </p:nvGrpSpPr>
        <p:grpSpPr>
          <a:xfrm rot="0">
            <a:off x="921544" y="3364706"/>
            <a:ext cx="9586912" cy="957262"/>
            <a:chOff x="0" y="0"/>
            <a:chExt cx="12782550" cy="1276350"/>
          </a:xfrm>
        </p:grpSpPr>
        <p:sp>
          <p:nvSpPr>
            <p:cNvPr name="Freeform 21" id="21"/>
            <p:cNvSpPr/>
            <p:nvPr/>
          </p:nvSpPr>
          <p:spPr>
            <a:xfrm flipH="false" flipV="false" rot="0">
              <a:off x="0" y="0"/>
              <a:ext cx="12782549" cy="1276350"/>
            </a:xfrm>
            <a:custGeom>
              <a:avLst/>
              <a:gdLst/>
              <a:ahLst/>
              <a:cxnLst/>
              <a:rect r="r" b="b" t="t" l="l"/>
              <a:pathLst>
                <a:path h="1276350" w="12782549">
                  <a:moveTo>
                    <a:pt x="0" y="0"/>
                  </a:moveTo>
                  <a:lnTo>
                    <a:pt x="12782549" y="0"/>
                  </a:lnTo>
                  <a:lnTo>
                    <a:pt x="12782549" y="1276350"/>
                  </a:lnTo>
                  <a:lnTo>
                    <a:pt x="0" y="1276350"/>
                  </a:lnTo>
                  <a:close/>
                </a:path>
              </a:pathLst>
            </a:custGeom>
            <a:blipFill>
              <a:blip r:embed="rId5">
                <a:alphaModFix amt="0"/>
              </a:blip>
              <a:stretch>
                <a:fillRect l="0" t="-145141" r="0" b="-145141"/>
              </a:stretch>
            </a:blipFill>
          </p:spPr>
        </p:sp>
        <p:sp>
          <p:nvSpPr>
            <p:cNvPr name="TextBox 22" id="22"/>
            <p:cNvSpPr txBox="true"/>
            <p:nvPr/>
          </p:nvSpPr>
          <p:spPr>
            <a:xfrm>
              <a:off x="0" y="-19050"/>
              <a:ext cx="12782550" cy="1295400"/>
            </a:xfrm>
            <a:prstGeom prst="rect">
              <a:avLst/>
            </a:prstGeom>
          </p:spPr>
          <p:txBody>
            <a:bodyPr anchor="ctr" rtlCol="false" tIns="0" lIns="0" bIns="0" rIns="0"/>
            <a:lstStyle/>
            <a:p>
              <a:pPr algn="ctr">
                <a:lnSpc>
                  <a:spcPts val="3358"/>
                </a:lnSpc>
              </a:pPr>
              <a:r>
                <a:rPr lang="en-US" sz="2799">
                  <a:solidFill>
                    <a:srgbClr val="FFFFFF"/>
                  </a:solidFill>
                  <a:latin typeface="Arial"/>
                  <a:ea typeface="Arial"/>
                  <a:cs typeface="Arial"/>
                  <a:sym typeface="Arial"/>
                </a:rPr>
                <a:t>Đặc trưng chuyến bay đã mã hóa</a:t>
              </a:r>
            </a:p>
          </p:txBody>
        </p:sp>
      </p:grpSp>
      <p:grpSp>
        <p:nvGrpSpPr>
          <p:cNvPr name="Group 23" id="23"/>
          <p:cNvGrpSpPr/>
          <p:nvPr/>
        </p:nvGrpSpPr>
        <p:grpSpPr>
          <a:xfrm rot="0">
            <a:off x="916191" y="4745241"/>
            <a:ext cx="9597628" cy="953691"/>
            <a:chOff x="0" y="0"/>
            <a:chExt cx="12796838" cy="1271588"/>
          </a:xfrm>
        </p:grpSpPr>
        <p:sp>
          <p:nvSpPr>
            <p:cNvPr name="Freeform 24" id="24"/>
            <p:cNvSpPr/>
            <p:nvPr/>
          </p:nvSpPr>
          <p:spPr>
            <a:xfrm flipH="false" flipV="false" rot="0">
              <a:off x="0" y="0"/>
              <a:ext cx="12796774" cy="1271651"/>
            </a:xfrm>
            <a:custGeom>
              <a:avLst/>
              <a:gdLst/>
              <a:ahLst/>
              <a:cxnLst/>
              <a:rect r="r" b="b" t="t" l="l"/>
              <a:pathLst>
                <a:path h="1271651" w="12796774">
                  <a:moveTo>
                    <a:pt x="0" y="0"/>
                  </a:moveTo>
                  <a:lnTo>
                    <a:pt x="12796774" y="0"/>
                  </a:lnTo>
                  <a:lnTo>
                    <a:pt x="12796774" y="1271651"/>
                  </a:lnTo>
                  <a:lnTo>
                    <a:pt x="0" y="1271651"/>
                  </a:lnTo>
                  <a:close/>
                </a:path>
              </a:pathLst>
            </a:custGeom>
            <a:solidFill>
              <a:srgbClr val="2072B7"/>
            </a:solidFill>
            <a:ln w="14288" cap="sq">
              <a:solidFill>
                <a:srgbClr val="2072B7"/>
              </a:solidFill>
              <a:prstDash val="solid"/>
              <a:miter/>
            </a:ln>
          </p:spPr>
        </p:sp>
      </p:grpSp>
      <p:grpSp>
        <p:nvGrpSpPr>
          <p:cNvPr name="Group 25" id="25"/>
          <p:cNvGrpSpPr/>
          <p:nvPr/>
        </p:nvGrpSpPr>
        <p:grpSpPr>
          <a:xfrm rot="0">
            <a:off x="921544" y="4736306"/>
            <a:ext cx="9586912" cy="957262"/>
            <a:chOff x="0" y="0"/>
            <a:chExt cx="12782550" cy="1276350"/>
          </a:xfrm>
        </p:grpSpPr>
        <p:sp>
          <p:nvSpPr>
            <p:cNvPr name="Freeform 26" id="26"/>
            <p:cNvSpPr/>
            <p:nvPr/>
          </p:nvSpPr>
          <p:spPr>
            <a:xfrm flipH="false" flipV="false" rot="0">
              <a:off x="0" y="0"/>
              <a:ext cx="12782549" cy="1276350"/>
            </a:xfrm>
            <a:custGeom>
              <a:avLst/>
              <a:gdLst/>
              <a:ahLst/>
              <a:cxnLst/>
              <a:rect r="r" b="b" t="t" l="l"/>
              <a:pathLst>
                <a:path h="1276350" w="12782549">
                  <a:moveTo>
                    <a:pt x="0" y="0"/>
                  </a:moveTo>
                  <a:lnTo>
                    <a:pt x="12782549" y="0"/>
                  </a:lnTo>
                  <a:lnTo>
                    <a:pt x="12782549" y="1276350"/>
                  </a:lnTo>
                  <a:lnTo>
                    <a:pt x="0" y="1276350"/>
                  </a:lnTo>
                  <a:close/>
                </a:path>
              </a:pathLst>
            </a:custGeom>
            <a:blipFill>
              <a:blip r:embed="rId5">
                <a:alphaModFix amt="0"/>
              </a:blip>
              <a:stretch>
                <a:fillRect l="0" t="-145141" r="0" b="-145141"/>
              </a:stretch>
            </a:blipFill>
          </p:spPr>
        </p:sp>
        <p:sp>
          <p:nvSpPr>
            <p:cNvPr name="TextBox 27" id="27"/>
            <p:cNvSpPr txBox="true"/>
            <p:nvPr/>
          </p:nvSpPr>
          <p:spPr>
            <a:xfrm>
              <a:off x="0" y="-19050"/>
              <a:ext cx="12782550" cy="1295400"/>
            </a:xfrm>
            <a:prstGeom prst="rect">
              <a:avLst/>
            </a:prstGeom>
          </p:spPr>
          <p:txBody>
            <a:bodyPr anchor="ctr" rtlCol="false" tIns="0" lIns="0" bIns="0" rIns="0"/>
            <a:lstStyle/>
            <a:p>
              <a:pPr algn="ctr">
                <a:lnSpc>
                  <a:spcPts val="3358"/>
                </a:lnSpc>
              </a:pPr>
              <a:r>
                <a:rPr lang="en-US" sz="2799">
                  <a:solidFill>
                    <a:srgbClr val="FFFFFF"/>
                  </a:solidFill>
                  <a:latin typeface="Arial"/>
                  <a:ea typeface="Arial"/>
                  <a:cs typeface="Arial"/>
                  <a:sym typeface="Arial"/>
                </a:rPr>
                <a:t>Tính điểm và xác suất 6 lớp</a:t>
              </a:r>
            </a:p>
          </p:txBody>
        </p:sp>
      </p:grpSp>
      <p:grpSp>
        <p:nvGrpSpPr>
          <p:cNvPr name="Group 28" id="28"/>
          <p:cNvGrpSpPr/>
          <p:nvPr/>
        </p:nvGrpSpPr>
        <p:grpSpPr>
          <a:xfrm rot="0">
            <a:off x="916191" y="6116841"/>
            <a:ext cx="9597628" cy="953691"/>
            <a:chOff x="0" y="0"/>
            <a:chExt cx="12796838" cy="1271588"/>
          </a:xfrm>
        </p:grpSpPr>
        <p:sp>
          <p:nvSpPr>
            <p:cNvPr name="Freeform 29" id="29"/>
            <p:cNvSpPr/>
            <p:nvPr/>
          </p:nvSpPr>
          <p:spPr>
            <a:xfrm flipH="false" flipV="false" rot="0">
              <a:off x="0" y="0"/>
              <a:ext cx="12796774" cy="1271651"/>
            </a:xfrm>
            <a:custGeom>
              <a:avLst/>
              <a:gdLst/>
              <a:ahLst/>
              <a:cxnLst/>
              <a:rect r="r" b="b" t="t" l="l"/>
              <a:pathLst>
                <a:path h="1271651" w="12796774">
                  <a:moveTo>
                    <a:pt x="0" y="0"/>
                  </a:moveTo>
                  <a:lnTo>
                    <a:pt x="12796774" y="0"/>
                  </a:lnTo>
                  <a:lnTo>
                    <a:pt x="12796774" y="1271651"/>
                  </a:lnTo>
                  <a:lnTo>
                    <a:pt x="0" y="1271651"/>
                  </a:lnTo>
                  <a:close/>
                </a:path>
              </a:pathLst>
            </a:custGeom>
            <a:solidFill>
              <a:srgbClr val="2072B7"/>
            </a:solidFill>
            <a:ln w="14288" cap="sq">
              <a:solidFill>
                <a:srgbClr val="2072B7"/>
              </a:solidFill>
              <a:prstDash val="solid"/>
              <a:miter/>
            </a:ln>
          </p:spPr>
        </p:sp>
      </p:grpSp>
      <p:grpSp>
        <p:nvGrpSpPr>
          <p:cNvPr name="Group 30" id="30"/>
          <p:cNvGrpSpPr/>
          <p:nvPr/>
        </p:nvGrpSpPr>
        <p:grpSpPr>
          <a:xfrm rot="0">
            <a:off x="921544" y="6107906"/>
            <a:ext cx="9586912" cy="957262"/>
            <a:chOff x="0" y="0"/>
            <a:chExt cx="12782550" cy="1276350"/>
          </a:xfrm>
        </p:grpSpPr>
        <p:sp>
          <p:nvSpPr>
            <p:cNvPr name="Freeform 31" id="31"/>
            <p:cNvSpPr/>
            <p:nvPr/>
          </p:nvSpPr>
          <p:spPr>
            <a:xfrm flipH="false" flipV="false" rot="0">
              <a:off x="0" y="0"/>
              <a:ext cx="12782549" cy="1276350"/>
            </a:xfrm>
            <a:custGeom>
              <a:avLst/>
              <a:gdLst/>
              <a:ahLst/>
              <a:cxnLst/>
              <a:rect r="r" b="b" t="t" l="l"/>
              <a:pathLst>
                <a:path h="1276350" w="12782549">
                  <a:moveTo>
                    <a:pt x="0" y="0"/>
                  </a:moveTo>
                  <a:lnTo>
                    <a:pt x="12782549" y="0"/>
                  </a:lnTo>
                  <a:lnTo>
                    <a:pt x="12782549" y="1276350"/>
                  </a:lnTo>
                  <a:lnTo>
                    <a:pt x="0" y="1276350"/>
                  </a:lnTo>
                  <a:close/>
                </a:path>
              </a:pathLst>
            </a:custGeom>
            <a:blipFill>
              <a:blip r:embed="rId5">
                <a:alphaModFix amt="0"/>
              </a:blip>
              <a:stretch>
                <a:fillRect l="0" t="-145141" r="0" b="-145141"/>
              </a:stretch>
            </a:blipFill>
          </p:spPr>
        </p:sp>
        <p:sp>
          <p:nvSpPr>
            <p:cNvPr name="TextBox 32" id="32"/>
            <p:cNvSpPr txBox="true"/>
            <p:nvPr/>
          </p:nvSpPr>
          <p:spPr>
            <a:xfrm>
              <a:off x="0" y="-19050"/>
              <a:ext cx="12782550" cy="1295400"/>
            </a:xfrm>
            <a:prstGeom prst="rect">
              <a:avLst/>
            </a:prstGeom>
          </p:spPr>
          <p:txBody>
            <a:bodyPr anchor="ctr" rtlCol="false" tIns="0" lIns="0" bIns="0" rIns="0"/>
            <a:lstStyle/>
            <a:p>
              <a:pPr algn="ctr">
                <a:lnSpc>
                  <a:spcPts val="3358"/>
                </a:lnSpc>
              </a:pPr>
              <a:r>
                <a:rPr lang="en-US" sz="2799">
                  <a:solidFill>
                    <a:srgbClr val="FFFFFF"/>
                  </a:solidFill>
                  <a:latin typeface="Arial"/>
                  <a:ea typeface="Arial"/>
                  <a:cs typeface="Arial"/>
                  <a:sym typeface="Arial"/>
                </a:rPr>
                <a:t>Chọn lớp có xác suất cao nhất</a:t>
              </a:r>
            </a:p>
          </p:txBody>
        </p:sp>
      </p:grpSp>
      <p:sp>
        <p:nvSpPr>
          <p:cNvPr name="TextBox 33" id="33"/>
          <p:cNvSpPr txBox="true"/>
          <p:nvPr/>
        </p:nvSpPr>
        <p:spPr>
          <a:xfrm rot="0">
            <a:off x="928688" y="7672387"/>
            <a:ext cx="9049550" cy="1685925"/>
          </a:xfrm>
          <a:prstGeom prst="rect">
            <a:avLst/>
          </a:prstGeom>
        </p:spPr>
        <p:txBody>
          <a:bodyPr anchor="t" rtlCol="false" tIns="0" lIns="0" bIns="0" rIns="0">
            <a:spAutoFit/>
          </a:bodyPr>
          <a:lstStyle/>
          <a:p>
            <a:pPr algn="l">
              <a:lnSpc>
                <a:spcPts val="4334"/>
              </a:lnSpc>
            </a:pPr>
            <a:r>
              <a:rPr lang="en-US" sz="3611" b="true">
                <a:solidFill>
                  <a:srgbClr val="2072B7"/>
                </a:solidFill>
                <a:latin typeface="Arial Bold"/>
                <a:ea typeface="Arial Bold"/>
                <a:cs typeface="Arial Bold"/>
                <a:sym typeface="Arial Bold"/>
              </a:rPr>
              <a:t>Minh họa: OnTime 55%, Carrier 20%, các lớp khác 25%.</a:t>
            </a:r>
          </a:p>
          <a:p>
            <a:pPr algn="l">
              <a:lnSpc>
                <a:spcPts val="4334"/>
              </a:lnSpc>
            </a:pPr>
            <a:r>
              <a:rPr lang="en-US" sz="3611" b="true">
                <a:solidFill>
                  <a:srgbClr val="2072B7"/>
                </a:solidFill>
                <a:latin typeface="Arial Bold"/>
                <a:ea typeface="Arial Bold"/>
                <a:cs typeface="Arial Bold"/>
                <a:sym typeface="Arial Bold"/>
              </a:rPr>
              <a:t>Dự đoán minh họa: OnTime.</a:t>
            </a:r>
          </a:p>
        </p:txBody>
      </p:sp>
      <p:sp>
        <p:nvSpPr>
          <p:cNvPr name="TextBox 34" id="34"/>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6</a:t>
            </a:r>
          </a:p>
        </p:txBody>
      </p:sp>
      <p:sp>
        <p:nvSpPr>
          <p:cNvPr name="AutoShape 35" id="35"/>
          <p:cNvSpPr/>
          <p:nvPr/>
        </p:nvSpPr>
        <p:spPr>
          <a:xfrm>
            <a:off x="5715000" y="5693569"/>
            <a:ext cx="0" cy="428625"/>
          </a:xfrm>
          <a:prstGeom prst="line">
            <a:avLst/>
          </a:prstGeom>
          <a:ln cap="rnd" w="19050">
            <a:solidFill>
              <a:srgbClr val="2072B7"/>
            </a:solidFill>
            <a:prstDash val="solid"/>
            <a:headEnd type="none" len="sm" w="sm"/>
            <a:tailEnd type="triangle" len="med" w="lg"/>
          </a:ln>
        </p:spPr>
      </p:sp>
      <p:sp>
        <p:nvSpPr>
          <p:cNvPr name="AutoShape 36" id="36"/>
          <p:cNvSpPr/>
          <p:nvPr/>
        </p:nvSpPr>
        <p:spPr>
          <a:xfrm>
            <a:off x="5715000" y="4321969"/>
            <a:ext cx="0" cy="428625"/>
          </a:xfrm>
          <a:prstGeom prst="line">
            <a:avLst/>
          </a:prstGeom>
          <a:ln cap="rnd" w="19050">
            <a:solidFill>
              <a:srgbClr val="2072B7"/>
            </a:solidFill>
            <a:prstDash val="solid"/>
            <a:headEnd type="none" len="sm" w="sm"/>
            <a:tailEnd type="triangle" len="med" w="lg"/>
          </a:ln>
        </p:spPr>
      </p:sp>
      <p:grpSp>
        <p:nvGrpSpPr>
          <p:cNvPr name="Group 37" id="37"/>
          <p:cNvGrpSpPr/>
          <p:nvPr/>
        </p:nvGrpSpPr>
        <p:grpSpPr>
          <a:xfrm rot="0">
            <a:off x="921544" y="3378994"/>
            <a:ext cx="9586912" cy="942975"/>
            <a:chOff x="0" y="0"/>
            <a:chExt cx="12782550" cy="1257300"/>
          </a:xfrm>
        </p:grpSpPr>
        <p:sp>
          <p:nvSpPr>
            <p:cNvPr name="Freeform 38" id="38"/>
            <p:cNvSpPr/>
            <p:nvPr/>
          </p:nvSpPr>
          <p:spPr>
            <a:xfrm flipH="false" flipV="false" rot="0">
              <a:off x="0" y="0"/>
              <a:ext cx="12782550" cy="1257300"/>
            </a:xfrm>
            <a:custGeom>
              <a:avLst/>
              <a:gdLst/>
              <a:ahLst/>
              <a:cxnLst/>
              <a:rect r="r" b="b" t="t" l="l"/>
              <a:pathLst>
                <a:path h="1257300" w="12782550">
                  <a:moveTo>
                    <a:pt x="0" y="0"/>
                  </a:moveTo>
                  <a:lnTo>
                    <a:pt x="12782550" y="0"/>
                  </a:lnTo>
                  <a:lnTo>
                    <a:pt x="12782550" y="1257300"/>
                  </a:lnTo>
                  <a:lnTo>
                    <a:pt x="0" y="1257300"/>
                  </a:lnTo>
                  <a:close/>
                </a:path>
              </a:pathLst>
            </a:custGeom>
            <a:solidFill>
              <a:srgbClr val="2072B7"/>
            </a:solidFill>
            <a:ln w="14288" cap="sq">
              <a:solidFill>
                <a:srgbClr val="2072B7"/>
              </a:solidFill>
              <a:prstDash val="solid"/>
              <a:miter/>
            </a:ln>
          </p:spPr>
        </p:sp>
        <p:sp>
          <p:nvSpPr>
            <p:cNvPr name="TextBox 39" id="39"/>
            <p:cNvSpPr txBox="true"/>
            <p:nvPr/>
          </p:nvSpPr>
          <p:spPr>
            <a:xfrm>
              <a:off x="0" y="-19050"/>
              <a:ext cx="12782550" cy="1276350"/>
            </a:xfrm>
            <a:prstGeom prst="rect">
              <a:avLst/>
            </a:prstGeom>
          </p:spPr>
          <p:txBody>
            <a:bodyPr anchor="ctr" rtlCol="false" tIns="50800" lIns="50800" bIns="50800" rIns="50800"/>
            <a:lstStyle/>
            <a:p>
              <a:pPr algn="ctr">
                <a:lnSpc>
                  <a:spcPts val="3359"/>
                </a:lnSpc>
              </a:pPr>
              <a:r>
                <a:rPr lang="en-US" sz="2799">
                  <a:solidFill>
                    <a:srgbClr val="FFFFFF"/>
                  </a:solidFill>
                  <a:latin typeface="Arial"/>
                  <a:ea typeface="Arial"/>
                  <a:cs typeface="Arial"/>
                  <a:sym typeface="Arial"/>
                </a:rPr>
                <a:t>Đặc trưng chuyến bay đã mã hóa</a:t>
              </a:r>
            </a:p>
          </p:txBody>
        </p:sp>
      </p:grpSp>
      <p:grpSp>
        <p:nvGrpSpPr>
          <p:cNvPr name="Group 40" id="40"/>
          <p:cNvGrpSpPr/>
          <p:nvPr/>
        </p:nvGrpSpPr>
        <p:grpSpPr>
          <a:xfrm rot="0">
            <a:off x="921544" y="4750594"/>
            <a:ext cx="9586912" cy="942975"/>
            <a:chOff x="0" y="0"/>
            <a:chExt cx="12782550" cy="1257300"/>
          </a:xfrm>
        </p:grpSpPr>
        <p:sp>
          <p:nvSpPr>
            <p:cNvPr name="Freeform 41" id="41"/>
            <p:cNvSpPr/>
            <p:nvPr/>
          </p:nvSpPr>
          <p:spPr>
            <a:xfrm flipH="false" flipV="false" rot="0">
              <a:off x="0" y="0"/>
              <a:ext cx="12782550" cy="1257300"/>
            </a:xfrm>
            <a:custGeom>
              <a:avLst/>
              <a:gdLst/>
              <a:ahLst/>
              <a:cxnLst/>
              <a:rect r="r" b="b" t="t" l="l"/>
              <a:pathLst>
                <a:path h="1257300" w="12782550">
                  <a:moveTo>
                    <a:pt x="0" y="0"/>
                  </a:moveTo>
                  <a:lnTo>
                    <a:pt x="12782550" y="0"/>
                  </a:lnTo>
                  <a:lnTo>
                    <a:pt x="12782550" y="1257300"/>
                  </a:lnTo>
                  <a:lnTo>
                    <a:pt x="0" y="1257300"/>
                  </a:lnTo>
                  <a:close/>
                </a:path>
              </a:pathLst>
            </a:custGeom>
            <a:solidFill>
              <a:srgbClr val="2072B7"/>
            </a:solidFill>
            <a:ln w="14288" cap="sq">
              <a:solidFill>
                <a:srgbClr val="2072B7"/>
              </a:solidFill>
              <a:prstDash val="solid"/>
              <a:miter/>
            </a:ln>
          </p:spPr>
        </p:sp>
        <p:sp>
          <p:nvSpPr>
            <p:cNvPr name="TextBox 42" id="42"/>
            <p:cNvSpPr txBox="true"/>
            <p:nvPr/>
          </p:nvSpPr>
          <p:spPr>
            <a:xfrm>
              <a:off x="0" y="-19050"/>
              <a:ext cx="12782550" cy="1276350"/>
            </a:xfrm>
            <a:prstGeom prst="rect">
              <a:avLst/>
            </a:prstGeom>
          </p:spPr>
          <p:txBody>
            <a:bodyPr anchor="ctr" rtlCol="false" tIns="50800" lIns="50800" bIns="50800" rIns="50800"/>
            <a:lstStyle/>
            <a:p>
              <a:pPr algn="ctr">
                <a:lnSpc>
                  <a:spcPts val="3359"/>
                </a:lnSpc>
              </a:pPr>
              <a:r>
                <a:rPr lang="en-US" sz="2799">
                  <a:solidFill>
                    <a:srgbClr val="FFFFFF"/>
                  </a:solidFill>
                  <a:latin typeface="Arial"/>
                  <a:ea typeface="Arial"/>
                  <a:cs typeface="Arial"/>
                  <a:sym typeface="Arial"/>
                </a:rPr>
                <a:t>Tính điểm và xác suất 6 lớp</a:t>
              </a:r>
            </a:p>
          </p:txBody>
        </p:sp>
      </p:grpSp>
      <p:grpSp>
        <p:nvGrpSpPr>
          <p:cNvPr name="Group 43" id="43"/>
          <p:cNvGrpSpPr/>
          <p:nvPr/>
        </p:nvGrpSpPr>
        <p:grpSpPr>
          <a:xfrm rot="0">
            <a:off x="921544" y="6122194"/>
            <a:ext cx="9586912" cy="942975"/>
            <a:chOff x="0" y="0"/>
            <a:chExt cx="12782550" cy="1257300"/>
          </a:xfrm>
        </p:grpSpPr>
        <p:sp>
          <p:nvSpPr>
            <p:cNvPr name="Freeform 44" id="44"/>
            <p:cNvSpPr/>
            <p:nvPr/>
          </p:nvSpPr>
          <p:spPr>
            <a:xfrm flipH="false" flipV="false" rot="0">
              <a:off x="0" y="0"/>
              <a:ext cx="12782550" cy="1257300"/>
            </a:xfrm>
            <a:custGeom>
              <a:avLst/>
              <a:gdLst/>
              <a:ahLst/>
              <a:cxnLst/>
              <a:rect r="r" b="b" t="t" l="l"/>
              <a:pathLst>
                <a:path h="1257300" w="12782550">
                  <a:moveTo>
                    <a:pt x="0" y="0"/>
                  </a:moveTo>
                  <a:lnTo>
                    <a:pt x="12782550" y="0"/>
                  </a:lnTo>
                  <a:lnTo>
                    <a:pt x="12782550" y="1257300"/>
                  </a:lnTo>
                  <a:lnTo>
                    <a:pt x="0" y="1257300"/>
                  </a:lnTo>
                  <a:close/>
                </a:path>
              </a:pathLst>
            </a:custGeom>
            <a:solidFill>
              <a:srgbClr val="2072B7"/>
            </a:solidFill>
            <a:ln w="14288" cap="sq">
              <a:solidFill>
                <a:srgbClr val="2072B7"/>
              </a:solidFill>
              <a:prstDash val="solid"/>
              <a:miter/>
            </a:ln>
          </p:spPr>
        </p:sp>
        <p:sp>
          <p:nvSpPr>
            <p:cNvPr name="TextBox 45" id="45"/>
            <p:cNvSpPr txBox="true"/>
            <p:nvPr/>
          </p:nvSpPr>
          <p:spPr>
            <a:xfrm>
              <a:off x="0" y="-19050"/>
              <a:ext cx="12782550" cy="1276350"/>
            </a:xfrm>
            <a:prstGeom prst="rect">
              <a:avLst/>
            </a:prstGeom>
          </p:spPr>
          <p:txBody>
            <a:bodyPr anchor="ctr" rtlCol="false" tIns="50800" lIns="50800" bIns="50800" rIns="50800"/>
            <a:lstStyle/>
            <a:p>
              <a:pPr algn="ctr">
                <a:lnSpc>
                  <a:spcPts val="3359"/>
                </a:lnSpc>
              </a:pPr>
              <a:r>
                <a:rPr lang="en-US" sz="2799">
                  <a:solidFill>
                    <a:srgbClr val="FFFFFF"/>
                  </a:solidFill>
                  <a:latin typeface="Arial"/>
                  <a:ea typeface="Arial"/>
                  <a:cs typeface="Arial"/>
                  <a:sym typeface="Arial"/>
                </a:rPr>
                <a:t>Chọn lớp có xác suất cao nhất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47800"/>
            <a:ext cx="16573500" cy="838200"/>
          </a:xfrm>
          <a:prstGeom prst="rect">
            <a:avLst/>
          </a:prstGeom>
        </p:spPr>
        <p:txBody>
          <a:bodyPr anchor="t" rtlCol="false" tIns="0" lIns="0" bIns="0" rIns="0">
            <a:spAutoFit/>
          </a:bodyPr>
          <a:lstStyle/>
          <a:p>
            <a:pPr algn="l">
              <a:lnSpc>
                <a:spcPts val="4994"/>
              </a:lnSpc>
            </a:pPr>
            <a:r>
              <a:rPr lang="en-US" sz="4161" b="true">
                <a:solidFill>
                  <a:srgbClr val="2072B7"/>
                </a:solidFill>
                <a:latin typeface="Arial Bold"/>
                <a:ea typeface="Arial Bold"/>
                <a:cs typeface="Arial Bold"/>
                <a:sym typeface="Arial Bold"/>
              </a:rPr>
              <a:t>Decision Tree</a:t>
            </a:r>
          </a:p>
        </p:txBody>
      </p:sp>
      <p:sp>
        <p:nvSpPr>
          <p:cNvPr name="TextBox 12" id="12"/>
          <p:cNvSpPr txBox="true"/>
          <p:nvPr/>
        </p:nvSpPr>
        <p:spPr>
          <a:xfrm rot="0">
            <a:off x="857250" y="2333625"/>
            <a:ext cx="16573500" cy="66675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Đi qua các câu hỏi điều kiện để tới nhãn ở nút lá</a:t>
            </a:r>
          </a:p>
        </p:txBody>
      </p:sp>
      <p:sp>
        <p:nvSpPr>
          <p:cNvPr name="TextBox 13" id="13"/>
          <p:cNvSpPr txBox="true"/>
          <p:nvPr/>
        </p:nvSpPr>
        <p:spPr>
          <a:xfrm rot="0">
            <a:off x="857250" y="3290888"/>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4" id="14"/>
          <p:cNvSpPr txBox="true"/>
          <p:nvPr/>
        </p:nvSpPr>
        <p:spPr>
          <a:xfrm rot="0">
            <a:off x="857250" y="4919662"/>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đường đi dễ giải thích cho người xem.</a:t>
            </a:r>
          </a:p>
        </p:txBody>
      </p:sp>
      <p:sp>
        <p:nvSpPr>
          <p:cNvPr name="TextBox 15" id="15"/>
          <p:cNvSpPr txBox="true"/>
          <p:nvPr/>
        </p:nvSpPr>
        <p:spPr>
          <a:xfrm rot="0">
            <a:off x="857250" y="6548438"/>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một cây dễ học lệch về lớp đông hoặc quá khớp.</a:t>
            </a:r>
          </a:p>
        </p:txBody>
      </p:sp>
      <p:sp>
        <p:nvSpPr>
          <p:cNvPr name="TextBox 16" id="1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7</a:t>
            </a:r>
          </a:p>
        </p:txBody>
      </p:sp>
      <p:sp>
        <p:nvSpPr>
          <p:cNvPr name="AutoShape 17" id="17"/>
          <p:cNvSpPr/>
          <p:nvPr/>
        </p:nvSpPr>
        <p:spPr>
          <a:xfrm rot="1474030">
            <a:off x="9876814" y="6598444"/>
            <a:ext cx="2749184" cy="19050"/>
          </a:xfrm>
          <a:prstGeom prst="line">
            <a:avLst/>
          </a:prstGeom>
          <a:ln cap="rnd" w="19050">
            <a:solidFill>
              <a:srgbClr val="2072B7"/>
            </a:solidFill>
            <a:prstDash val="solid"/>
            <a:headEnd type="none" len="sm" w="sm"/>
            <a:tailEnd type="triangle" len="med" w="lg"/>
          </a:ln>
        </p:spPr>
      </p:sp>
      <p:sp>
        <p:nvSpPr>
          <p:cNvPr name="AutoShape 18" id="18"/>
          <p:cNvSpPr/>
          <p:nvPr/>
        </p:nvSpPr>
        <p:spPr>
          <a:xfrm rot="7809359">
            <a:off x="8771296" y="6598444"/>
            <a:ext cx="1495503" cy="19050"/>
          </a:xfrm>
          <a:prstGeom prst="line">
            <a:avLst/>
          </a:prstGeom>
          <a:ln cap="rnd" w="19050">
            <a:solidFill>
              <a:srgbClr val="2072B7"/>
            </a:solidFill>
            <a:prstDash val="solid"/>
            <a:headEnd type="none" len="sm" w="sm"/>
            <a:tailEnd type="triangle" len="med" w="lg"/>
          </a:ln>
        </p:spPr>
      </p:sp>
      <p:sp>
        <p:nvSpPr>
          <p:cNvPr name="AutoShape 19" id="19"/>
          <p:cNvSpPr/>
          <p:nvPr/>
        </p:nvSpPr>
        <p:spPr>
          <a:xfrm rot="1053064">
            <a:off x="12283698" y="4712494"/>
            <a:ext cx="3221792" cy="19050"/>
          </a:xfrm>
          <a:prstGeom prst="line">
            <a:avLst/>
          </a:prstGeom>
          <a:ln cap="rnd" w="19050">
            <a:solidFill>
              <a:srgbClr val="2072B7"/>
            </a:solidFill>
            <a:prstDash val="solid"/>
            <a:headEnd type="none" len="sm" w="sm"/>
            <a:tailEnd type="triangle" len="med" w="lg"/>
          </a:ln>
        </p:spPr>
      </p:sp>
      <p:sp>
        <p:nvSpPr>
          <p:cNvPr name="AutoShape 20" id="20"/>
          <p:cNvSpPr/>
          <p:nvPr/>
        </p:nvSpPr>
        <p:spPr>
          <a:xfrm rot="9546134">
            <a:off x="9918252" y="4676775"/>
            <a:ext cx="2523433" cy="19050"/>
          </a:xfrm>
          <a:prstGeom prst="line">
            <a:avLst/>
          </a:prstGeom>
          <a:ln cap="rnd" w="19050">
            <a:solidFill>
              <a:srgbClr val="2072B7"/>
            </a:solidFill>
            <a:prstDash val="solid"/>
            <a:headEnd type="none" len="sm" w="sm"/>
            <a:tailEnd type="triangle" len="med" w="lg"/>
          </a:ln>
        </p:spPr>
      </p:sp>
      <p:grpSp>
        <p:nvGrpSpPr>
          <p:cNvPr name="Group 21" id="21"/>
          <p:cNvGrpSpPr/>
          <p:nvPr/>
        </p:nvGrpSpPr>
        <p:grpSpPr>
          <a:xfrm rot="0">
            <a:off x="10279856" y="3336131"/>
            <a:ext cx="4157662" cy="900112"/>
            <a:chOff x="0" y="0"/>
            <a:chExt cx="5543550" cy="1200150"/>
          </a:xfrm>
        </p:grpSpPr>
        <p:sp>
          <p:nvSpPr>
            <p:cNvPr name="Freeform 22" id="22"/>
            <p:cNvSpPr/>
            <p:nvPr/>
          </p:nvSpPr>
          <p:spPr>
            <a:xfrm flipH="false" flipV="false" rot="0">
              <a:off x="0" y="0"/>
              <a:ext cx="5543550" cy="1200150"/>
            </a:xfrm>
            <a:custGeom>
              <a:avLst/>
              <a:gdLst/>
              <a:ahLst/>
              <a:cxnLst/>
              <a:rect r="r" b="b" t="t" l="l"/>
              <a:pathLst>
                <a:path h="1200150" w="5543550">
                  <a:moveTo>
                    <a:pt x="0" y="0"/>
                  </a:moveTo>
                  <a:lnTo>
                    <a:pt x="5543550" y="0"/>
                  </a:lnTo>
                  <a:lnTo>
                    <a:pt x="5543550" y="1200150"/>
                  </a:lnTo>
                  <a:lnTo>
                    <a:pt x="0" y="1200150"/>
                  </a:lnTo>
                  <a:close/>
                </a:path>
              </a:pathLst>
            </a:custGeom>
            <a:solidFill>
              <a:srgbClr val="2072B7"/>
            </a:solidFill>
            <a:ln w="14288" cap="sq">
              <a:solidFill>
                <a:srgbClr val="2072B7"/>
              </a:solidFill>
              <a:prstDash val="solid"/>
              <a:miter/>
            </a:ln>
          </p:spPr>
        </p:sp>
        <p:sp>
          <p:nvSpPr>
            <p:cNvPr name="TextBox 23" id="23"/>
            <p:cNvSpPr txBox="true"/>
            <p:nvPr/>
          </p:nvSpPr>
          <p:spPr>
            <a:xfrm>
              <a:off x="0" y="-19050"/>
              <a:ext cx="5543550" cy="12192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Giờ đi ≥ 17?</a:t>
              </a:r>
            </a:p>
          </p:txBody>
        </p:sp>
      </p:grpSp>
      <p:grpSp>
        <p:nvGrpSpPr>
          <p:cNvPr name="Group 24" id="24"/>
          <p:cNvGrpSpPr/>
          <p:nvPr/>
        </p:nvGrpSpPr>
        <p:grpSpPr>
          <a:xfrm rot="0">
            <a:off x="7850981" y="5136356"/>
            <a:ext cx="4300538" cy="900112"/>
            <a:chOff x="0" y="0"/>
            <a:chExt cx="5734050" cy="1200150"/>
          </a:xfrm>
        </p:grpSpPr>
        <p:sp>
          <p:nvSpPr>
            <p:cNvPr name="Freeform 25" id="25"/>
            <p:cNvSpPr/>
            <p:nvPr/>
          </p:nvSpPr>
          <p:spPr>
            <a:xfrm flipH="false" flipV="false" rot="0">
              <a:off x="0" y="0"/>
              <a:ext cx="5734050" cy="1200150"/>
            </a:xfrm>
            <a:custGeom>
              <a:avLst/>
              <a:gdLst/>
              <a:ahLst/>
              <a:cxnLst/>
              <a:rect r="r" b="b" t="t" l="l"/>
              <a:pathLst>
                <a:path h="1200150" w="5734050">
                  <a:moveTo>
                    <a:pt x="0" y="0"/>
                  </a:moveTo>
                  <a:lnTo>
                    <a:pt x="5734050" y="0"/>
                  </a:lnTo>
                  <a:lnTo>
                    <a:pt x="5734050" y="1200150"/>
                  </a:lnTo>
                  <a:lnTo>
                    <a:pt x="0" y="1200150"/>
                  </a:lnTo>
                  <a:close/>
                </a:path>
              </a:pathLst>
            </a:custGeom>
            <a:solidFill>
              <a:srgbClr val="EDF5FB"/>
            </a:solidFill>
            <a:ln w="14288" cap="sq">
              <a:solidFill>
                <a:srgbClr val="B9D2E7"/>
              </a:solidFill>
              <a:prstDash val="solid"/>
              <a:miter/>
            </a:ln>
          </p:spPr>
        </p:sp>
        <p:sp>
          <p:nvSpPr>
            <p:cNvPr name="TextBox 26" id="26"/>
            <p:cNvSpPr txBox="true"/>
            <p:nvPr/>
          </p:nvSpPr>
          <p:spPr>
            <a:xfrm>
              <a:off x="0" y="-19050"/>
              <a:ext cx="5734050" cy="1219200"/>
            </a:xfrm>
            <a:prstGeom prst="rect">
              <a:avLst/>
            </a:prstGeom>
          </p:spPr>
          <p:txBody>
            <a:bodyPr anchor="ctr" rtlCol="false" tIns="50800" lIns="50800" bIns="50800" rIns="50800"/>
            <a:lstStyle/>
            <a:p>
              <a:pPr algn="ctr">
                <a:lnSpc>
                  <a:spcPts val="3104"/>
                </a:lnSpc>
              </a:pPr>
              <a:r>
                <a:rPr lang="en-US" sz="2587">
                  <a:solidFill>
                    <a:srgbClr val="202D39"/>
                  </a:solidFill>
                  <a:latin typeface="Arial"/>
                  <a:ea typeface="Arial"/>
                  <a:cs typeface="Arial"/>
                  <a:sym typeface="Arial"/>
                </a:rPr>
                <a:t>Khoảng cách &gt; 1.000?</a:t>
              </a:r>
            </a:p>
          </p:txBody>
        </p:sp>
      </p:grpSp>
      <p:grpSp>
        <p:nvGrpSpPr>
          <p:cNvPr name="Group 27" id="27"/>
          <p:cNvGrpSpPr/>
          <p:nvPr/>
        </p:nvGrpSpPr>
        <p:grpSpPr>
          <a:xfrm rot="0">
            <a:off x="13708856" y="5207794"/>
            <a:ext cx="3443288" cy="900112"/>
            <a:chOff x="0" y="0"/>
            <a:chExt cx="4591050" cy="1200150"/>
          </a:xfrm>
        </p:grpSpPr>
        <p:sp>
          <p:nvSpPr>
            <p:cNvPr name="Freeform 28" id="28"/>
            <p:cNvSpPr/>
            <p:nvPr/>
          </p:nvSpPr>
          <p:spPr>
            <a:xfrm flipH="false" flipV="false" rot="0">
              <a:off x="0" y="0"/>
              <a:ext cx="4591050" cy="1200150"/>
            </a:xfrm>
            <a:custGeom>
              <a:avLst/>
              <a:gdLst/>
              <a:ahLst/>
              <a:cxnLst/>
              <a:rect r="r" b="b" t="t" l="l"/>
              <a:pathLst>
                <a:path h="1200150" w="4591050">
                  <a:moveTo>
                    <a:pt x="0" y="0"/>
                  </a:moveTo>
                  <a:lnTo>
                    <a:pt x="4591050" y="0"/>
                  </a:lnTo>
                  <a:lnTo>
                    <a:pt x="4591050" y="1200150"/>
                  </a:lnTo>
                  <a:lnTo>
                    <a:pt x="0" y="1200150"/>
                  </a:lnTo>
                  <a:close/>
                </a:path>
              </a:pathLst>
            </a:custGeom>
            <a:solidFill>
              <a:srgbClr val="2072B7"/>
            </a:solidFill>
            <a:ln w="14288" cap="sq">
              <a:solidFill>
                <a:srgbClr val="2072B7"/>
              </a:solidFill>
              <a:prstDash val="solid"/>
              <a:miter/>
            </a:ln>
          </p:spPr>
        </p:sp>
        <p:sp>
          <p:nvSpPr>
            <p:cNvPr name="TextBox 29" id="29"/>
            <p:cNvSpPr txBox="true"/>
            <p:nvPr/>
          </p:nvSpPr>
          <p:spPr>
            <a:xfrm>
              <a:off x="0" y="-19050"/>
              <a:ext cx="4591050" cy="12192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Lá: Carrier</a:t>
              </a:r>
            </a:p>
          </p:txBody>
        </p:sp>
      </p:grpSp>
      <p:sp>
        <p:nvSpPr>
          <p:cNvPr name="TextBox 30" id="30"/>
          <p:cNvSpPr txBox="true"/>
          <p:nvPr/>
        </p:nvSpPr>
        <p:spPr>
          <a:xfrm rot="0">
            <a:off x="9872662" y="4362450"/>
            <a:ext cx="928688" cy="438150"/>
          </a:xfrm>
          <a:prstGeom prst="rect">
            <a:avLst/>
          </a:prstGeom>
        </p:spPr>
        <p:txBody>
          <a:bodyPr anchor="t" rtlCol="false" tIns="0" lIns="0" bIns="0" rIns="0">
            <a:spAutoFit/>
          </a:bodyPr>
          <a:lstStyle/>
          <a:p>
            <a:pPr algn="l">
              <a:lnSpc>
                <a:spcPts val="2970"/>
              </a:lnSpc>
            </a:pPr>
            <a:r>
              <a:rPr lang="en-US" sz="2475" b="true">
                <a:solidFill>
                  <a:srgbClr val="2072B7"/>
                </a:solidFill>
                <a:latin typeface="Arial Bold"/>
                <a:ea typeface="Arial Bold"/>
                <a:cs typeface="Arial Bold"/>
                <a:sym typeface="Arial Bold"/>
              </a:rPr>
              <a:t>Có</a:t>
            </a:r>
          </a:p>
        </p:txBody>
      </p:sp>
      <p:sp>
        <p:nvSpPr>
          <p:cNvPr name="TextBox 31" id="31"/>
          <p:cNvSpPr txBox="true"/>
          <p:nvPr/>
        </p:nvSpPr>
        <p:spPr>
          <a:xfrm rot="0">
            <a:off x="14716125" y="4376737"/>
            <a:ext cx="1357312" cy="438150"/>
          </a:xfrm>
          <a:prstGeom prst="rect">
            <a:avLst/>
          </a:prstGeom>
        </p:spPr>
        <p:txBody>
          <a:bodyPr anchor="t" rtlCol="false" tIns="0" lIns="0" bIns="0" rIns="0">
            <a:spAutoFit/>
          </a:bodyPr>
          <a:lstStyle/>
          <a:p>
            <a:pPr algn="l">
              <a:lnSpc>
                <a:spcPts val="2970"/>
              </a:lnSpc>
            </a:pPr>
            <a:r>
              <a:rPr lang="en-US" sz="2475" b="true">
                <a:solidFill>
                  <a:srgbClr val="2072B7"/>
                </a:solidFill>
                <a:latin typeface="Arial Bold"/>
                <a:ea typeface="Arial Bold"/>
                <a:cs typeface="Arial Bold"/>
                <a:sym typeface="Arial Bold"/>
              </a:rPr>
              <a:t>Không</a:t>
            </a:r>
          </a:p>
        </p:txBody>
      </p:sp>
      <p:grpSp>
        <p:nvGrpSpPr>
          <p:cNvPr name="Group 32" id="32"/>
          <p:cNvGrpSpPr/>
          <p:nvPr/>
        </p:nvGrpSpPr>
        <p:grpSpPr>
          <a:xfrm rot="0">
            <a:off x="7708106" y="7179469"/>
            <a:ext cx="2657475" cy="900112"/>
            <a:chOff x="0" y="0"/>
            <a:chExt cx="3543300" cy="1200150"/>
          </a:xfrm>
        </p:grpSpPr>
        <p:sp>
          <p:nvSpPr>
            <p:cNvPr name="Freeform 33" id="33"/>
            <p:cNvSpPr/>
            <p:nvPr/>
          </p:nvSpPr>
          <p:spPr>
            <a:xfrm flipH="false" flipV="false" rot="0">
              <a:off x="0" y="0"/>
              <a:ext cx="3543300" cy="1200150"/>
            </a:xfrm>
            <a:custGeom>
              <a:avLst/>
              <a:gdLst/>
              <a:ahLst/>
              <a:cxnLst/>
              <a:rect r="r" b="b" t="t" l="l"/>
              <a:pathLst>
                <a:path h="1200150" w="3543300">
                  <a:moveTo>
                    <a:pt x="0" y="0"/>
                  </a:moveTo>
                  <a:lnTo>
                    <a:pt x="3543300" y="0"/>
                  </a:lnTo>
                  <a:lnTo>
                    <a:pt x="3543300" y="1200150"/>
                  </a:lnTo>
                  <a:lnTo>
                    <a:pt x="0" y="1200150"/>
                  </a:lnTo>
                  <a:close/>
                </a:path>
              </a:pathLst>
            </a:custGeom>
            <a:solidFill>
              <a:srgbClr val="2072B7"/>
            </a:solidFill>
            <a:ln w="14288" cap="sq">
              <a:solidFill>
                <a:srgbClr val="2072B7"/>
              </a:solidFill>
              <a:prstDash val="solid"/>
              <a:miter/>
            </a:ln>
          </p:spPr>
        </p:sp>
        <p:sp>
          <p:nvSpPr>
            <p:cNvPr name="TextBox 34" id="34"/>
            <p:cNvSpPr txBox="true"/>
            <p:nvPr/>
          </p:nvSpPr>
          <p:spPr>
            <a:xfrm>
              <a:off x="0" y="-19050"/>
              <a:ext cx="3543300" cy="12192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Lá: NAS</a:t>
              </a:r>
            </a:p>
          </p:txBody>
        </p:sp>
      </p:grpSp>
      <p:grpSp>
        <p:nvGrpSpPr>
          <p:cNvPr name="Group 35" id="35"/>
          <p:cNvGrpSpPr/>
          <p:nvPr/>
        </p:nvGrpSpPr>
        <p:grpSpPr>
          <a:xfrm rot="0">
            <a:off x="11137106" y="7179469"/>
            <a:ext cx="2728912" cy="900112"/>
            <a:chOff x="0" y="0"/>
            <a:chExt cx="3638550" cy="1200150"/>
          </a:xfrm>
        </p:grpSpPr>
        <p:sp>
          <p:nvSpPr>
            <p:cNvPr name="Freeform 36" id="36"/>
            <p:cNvSpPr/>
            <p:nvPr/>
          </p:nvSpPr>
          <p:spPr>
            <a:xfrm flipH="false" flipV="false" rot="0">
              <a:off x="0" y="0"/>
              <a:ext cx="3638550" cy="1200150"/>
            </a:xfrm>
            <a:custGeom>
              <a:avLst/>
              <a:gdLst/>
              <a:ahLst/>
              <a:cxnLst/>
              <a:rect r="r" b="b" t="t" l="l"/>
              <a:pathLst>
                <a:path h="1200150" w="3638550">
                  <a:moveTo>
                    <a:pt x="0" y="0"/>
                  </a:moveTo>
                  <a:lnTo>
                    <a:pt x="3638550" y="0"/>
                  </a:lnTo>
                  <a:lnTo>
                    <a:pt x="3638550" y="1200150"/>
                  </a:lnTo>
                  <a:lnTo>
                    <a:pt x="0" y="1200150"/>
                  </a:lnTo>
                  <a:close/>
                </a:path>
              </a:pathLst>
            </a:custGeom>
            <a:solidFill>
              <a:srgbClr val="2072B7"/>
            </a:solidFill>
            <a:ln w="14288" cap="sq">
              <a:solidFill>
                <a:srgbClr val="2072B7"/>
              </a:solidFill>
              <a:prstDash val="solid"/>
              <a:miter/>
            </a:ln>
          </p:spPr>
        </p:sp>
        <p:sp>
          <p:nvSpPr>
            <p:cNvPr name="TextBox 37" id="37"/>
            <p:cNvSpPr txBox="true"/>
            <p:nvPr/>
          </p:nvSpPr>
          <p:spPr>
            <a:xfrm>
              <a:off x="0" y="-19050"/>
              <a:ext cx="3638550" cy="12192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Lá: OnTime</a:t>
              </a:r>
            </a:p>
          </p:txBody>
        </p:sp>
      </p:grpSp>
      <p:sp>
        <p:nvSpPr>
          <p:cNvPr name="TextBox 38" id="38"/>
          <p:cNvSpPr txBox="true"/>
          <p:nvPr/>
        </p:nvSpPr>
        <p:spPr>
          <a:xfrm rot="0">
            <a:off x="7929562" y="6462713"/>
            <a:ext cx="1000125" cy="438150"/>
          </a:xfrm>
          <a:prstGeom prst="rect">
            <a:avLst/>
          </a:prstGeom>
        </p:spPr>
        <p:txBody>
          <a:bodyPr anchor="t" rtlCol="false" tIns="0" lIns="0" bIns="0" rIns="0">
            <a:spAutoFit/>
          </a:bodyPr>
          <a:lstStyle/>
          <a:p>
            <a:pPr algn="l">
              <a:lnSpc>
                <a:spcPts val="2970"/>
              </a:lnSpc>
            </a:pPr>
            <a:r>
              <a:rPr lang="en-US" sz="2475" b="true">
                <a:solidFill>
                  <a:srgbClr val="2072B7"/>
                </a:solidFill>
                <a:latin typeface="Arial Bold"/>
                <a:ea typeface="Arial Bold"/>
                <a:cs typeface="Arial Bold"/>
                <a:sym typeface="Arial Bold"/>
              </a:rPr>
              <a:t>Có</a:t>
            </a:r>
          </a:p>
        </p:txBody>
      </p:sp>
      <p:sp>
        <p:nvSpPr>
          <p:cNvPr name="TextBox 39" id="39"/>
          <p:cNvSpPr txBox="true"/>
          <p:nvPr/>
        </p:nvSpPr>
        <p:spPr>
          <a:xfrm rot="0">
            <a:off x="12015788" y="6462713"/>
            <a:ext cx="1428750" cy="438150"/>
          </a:xfrm>
          <a:prstGeom prst="rect">
            <a:avLst/>
          </a:prstGeom>
        </p:spPr>
        <p:txBody>
          <a:bodyPr anchor="t" rtlCol="false" tIns="0" lIns="0" bIns="0" rIns="0">
            <a:spAutoFit/>
          </a:bodyPr>
          <a:lstStyle/>
          <a:p>
            <a:pPr algn="l">
              <a:lnSpc>
                <a:spcPts val="2970"/>
              </a:lnSpc>
            </a:pPr>
            <a:r>
              <a:rPr lang="en-US" sz="2475" b="true">
                <a:solidFill>
                  <a:srgbClr val="2072B7"/>
                </a:solidFill>
                <a:latin typeface="Arial Bold"/>
                <a:ea typeface="Arial Bold"/>
                <a:cs typeface="Arial Bold"/>
                <a:sym typeface="Arial Bold"/>
              </a:rPr>
              <a:t>Không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47800"/>
            <a:ext cx="16573500" cy="838200"/>
          </a:xfrm>
          <a:prstGeom prst="rect">
            <a:avLst/>
          </a:prstGeom>
        </p:spPr>
        <p:txBody>
          <a:bodyPr anchor="t" rtlCol="false" tIns="0" lIns="0" bIns="0" rIns="0">
            <a:spAutoFit/>
          </a:bodyPr>
          <a:lstStyle/>
          <a:p>
            <a:pPr algn="l">
              <a:lnSpc>
                <a:spcPts val="4994"/>
              </a:lnSpc>
            </a:pPr>
            <a:r>
              <a:rPr lang="en-US" sz="4161" b="true">
                <a:solidFill>
                  <a:srgbClr val="2072B7"/>
                </a:solidFill>
                <a:latin typeface="Arial Bold"/>
                <a:ea typeface="Arial Bold"/>
                <a:cs typeface="Arial Bold"/>
                <a:sym typeface="Arial Bold"/>
              </a:rPr>
              <a:t>Random Forest</a:t>
            </a:r>
          </a:p>
        </p:txBody>
      </p:sp>
      <p:sp>
        <p:nvSpPr>
          <p:cNvPr name="TextBox 12" id="12"/>
          <p:cNvSpPr txBox="true"/>
          <p:nvPr/>
        </p:nvSpPr>
        <p:spPr>
          <a:xfrm rot="0">
            <a:off x="857250" y="2333625"/>
            <a:ext cx="16573500" cy="66675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Nhiều cây tạo dự đoán, rồi rừng tổng hợp thành nhãn cuối</a:t>
            </a:r>
          </a:p>
        </p:txBody>
      </p:sp>
      <p:sp>
        <p:nvSpPr>
          <p:cNvPr name="TextBox 13" id="13"/>
          <p:cNvSpPr txBox="true"/>
          <p:nvPr/>
        </p:nvSpPr>
        <p:spPr>
          <a:xfrm rot="0">
            <a:off x="11430000" y="3290888"/>
            <a:ext cx="6000750"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4" id="14"/>
          <p:cNvSpPr txBox="true"/>
          <p:nvPr/>
        </p:nvSpPr>
        <p:spPr>
          <a:xfrm rot="0">
            <a:off x="11430000" y="4919662"/>
            <a:ext cx="6000750"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ổn định hơn một cây nhờ kết hợp nhiều cây.</a:t>
            </a:r>
          </a:p>
        </p:txBody>
      </p:sp>
      <p:sp>
        <p:nvSpPr>
          <p:cNvPr name="TextBox 15" id="15"/>
          <p:cNvSpPr txBox="true"/>
          <p:nvPr/>
        </p:nvSpPr>
        <p:spPr>
          <a:xfrm rot="0">
            <a:off x="11430000" y="6548438"/>
            <a:ext cx="6000750"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tốn tài nguyên hơn, vẫn có thể nghiêng về OnTime.</a:t>
            </a:r>
          </a:p>
        </p:txBody>
      </p:sp>
      <p:sp>
        <p:nvSpPr>
          <p:cNvPr name="TextBox 16" id="1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8</a:t>
            </a:r>
          </a:p>
        </p:txBody>
      </p:sp>
      <p:sp>
        <p:nvSpPr>
          <p:cNvPr name="AutoShape 17" id="17"/>
          <p:cNvSpPr/>
          <p:nvPr/>
        </p:nvSpPr>
        <p:spPr>
          <a:xfrm rot="9689421">
            <a:off x="5625368" y="7005638"/>
            <a:ext cx="3465389" cy="19050"/>
          </a:xfrm>
          <a:prstGeom prst="line">
            <a:avLst/>
          </a:prstGeom>
          <a:ln cap="rnd" w="19050">
            <a:solidFill>
              <a:srgbClr val="2072B7"/>
            </a:solidFill>
            <a:prstDash val="solid"/>
            <a:headEnd type="none" len="sm" w="sm"/>
            <a:tailEnd type="triangle" len="med" w="lg"/>
          </a:ln>
        </p:spPr>
      </p:sp>
      <p:sp>
        <p:nvSpPr>
          <p:cNvPr name="AutoShape 18" id="18"/>
          <p:cNvSpPr/>
          <p:nvPr/>
        </p:nvSpPr>
        <p:spPr>
          <a:xfrm rot="5400000">
            <a:off x="5164931" y="7005638"/>
            <a:ext cx="1100138" cy="19050"/>
          </a:xfrm>
          <a:prstGeom prst="line">
            <a:avLst/>
          </a:prstGeom>
          <a:ln cap="rnd" w="19050">
            <a:solidFill>
              <a:srgbClr val="2072B7"/>
            </a:solidFill>
            <a:prstDash val="solid"/>
            <a:headEnd type="none" len="sm" w="sm"/>
            <a:tailEnd type="triangle" len="med" w="lg"/>
          </a:ln>
        </p:spPr>
      </p:sp>
      <p:sp>
        <p:nvSpPr>
          <p:cNvPr name="AutoShape 19" id="19"/>
          <p:cNvSpPr/>
          <p:nvPr/>
        </p:nvSpPr>
        <p:spPr>
          <a:xfrm rot="1110578">
            <a:off x="2339243" y="7005638"/>
            <a:ext cx="3465389" cy="19050"/>
          </a:xfrm>
          <a:prstGeom prst="line">
            <a:avLst/>
          </a:prstGeom>
          <a:ln cap="rnd" w="19050">
            <a:solidFill>
              <a:srgbClr val="2072B7"/>
            </a:solidFill>
            <a:prstDash val="solid"/>
            <a:headEnd type="none" len="sm" w="sm"/>
            <a:tailEnd type="triangle" len="med" w="lg"/>
          </a:ln>
        </p:spPr>
      </p:sp>
      <p:sp>
        <p:nvSpPr>
          <p:cNvPr name="AutoShape 20" id="20"/>
          <p:cNvSpPr/>
          <p:nvPr/>
        </p:nvSpPr>
        <p:spPr>
          <a:xfrm rot="1042943">
            <a:off x="5636374" y="4698206"/>
            <a:ext cx="3443376" cy="19050"/>
          </a:xfrm>
          <a:prstGeom prst="line">
            <a:avLst/>
          </a:prstGeom>
          <a:ln cap="rnd" w="19050">
            <a:solidFill>
              <a:srgbClr val="2072B7"/>
            </a:solidFill>
            <a:prstDash val="solid"/>
            <a:headEnd type="none" len="sm" w="sm"/>
            <a:tailEnd type="triangle" len="med" w="lg"/>
          </a:ln>
        </p:spPr>
      </p:sp>
      <p:sp>
        <p:nvSpPr>
          <p:cNvPr name="AutoShape 21" id="21"/>
          <p:cNvSpPr/>
          <p:nvPr/>
        </p:nvSpPr>
        <p:spPr>
          <a:xfrm rot="5400000">
            <a:off x="5200650" y="4698206"/>
            <a:ext cx="1028700" cy="19050"/>
          </a:xfrm>
          <a:prstGeom prst="line">
            <a:avLst/>
          </a:prstGeom>
          <a:ln cap="rnd" w="19050">
            <a:solidFill>
              <a:srgbClr val="2072B7"/>
            </a:solidFill>
            <a:prstDash val="solid"/>
            <a:headEnd type="none" len="sm" w="sm"/>
            <a:tailEnd type="triangle" len="med" w="lg"/>
          </a:ln>
        </p:spPr>
      </p:sp>
      <p:sp>
        <p:nvSpPr>
          <p:cNvPr name="AutoShape 22" id="22"/>
          <p:cNvSpPr/>
          <p:nvPr/>
        </p:nvSpPr>
        <p:spPr>
          <a:xfrm rot="9757056">
            <a:off x="2350249" y="4698206"/>
            <a:ext cx="3443376" cy="19050"/>
          </a:xfrm>
          <a:prstGeom prst="line">
            <a:avLst/>
          </a:prstGeom>
          <a:ln cap="rnd" w="19050">
            <a:solidFill>
              <a:srgbClr val="2072B7"/>
            </a:solidFill>
            <a:prstDash val="solid"/>
            <a:headEnd type="none" len="sm" w="sm"/>
            <a:tailEnd type="triangle" len="med" w="lg"/>
          </a:ln>
        </p:spPr>
      </p:sp>
      <p:grpSp>
        <p:nvGrpSpPr>
          <p:cNvPr name="Group 23" id="23"/>
          <p:cNvGrpSpPr/>
          <p:nvPr/>
        </p:nvGrpSpPr>
        <p:grpSpPr>
          <a:xfrm rot="0">
            <a:off x="921544" y="3321844"/>
            <a:ext cx="9586912" cy="871538"/>
            <a:chOff x="0" y="0"/>
            <a:chExt cx="12782550" cy="1162050"/>
          </a:xfrm>
        </p:grpSpPr>
        <p:sp>
          <p:nvSpPr>
            <p:cNvPr name="Freeform 24" id="24"/>
            <p:cNvSpPr/>
            <p:nvPr/>
          </p:nvSpPr>
          <p:spPr>
            <a:xfrm flipH="false" flipV="false" rot="0">
              <a:off x="0" y="0"/>
              <a:ext cx="12782550" cy="1162050"/>
            </a:xfrm>
            <a:custGeom>
              <a:avLst/>
              <a:gdLst/>
              <a:ahLst/>
              <a:cxnLst/>
              <a:rect r="r" b="b" t="t" l="l"/>
              <a:pathLst>
                <a:path h="1162050" w="12782550">
                  <a:moveTo>
                    <a:pt x="0" y="0"/>
                  </a:moveTo>
                  <a:lnTo>
                    <a:pt x="12782550" y="0"/>
                  </a:lnTo>
                  <a:lnTo>
                    <a:pt x="12782550" y="1162050"/>
                  </a:lnTo>
                  <a:lnTo>
                    <a:pt x="0" y="1162050"/>
                  </a:lnTo>
                  <a:close/>
                </a:path>
              </a:pathLst>
            </a:custGeom>
            <a:solidFill>
              <a:srgbClr val="2072B7"/>
            </a:solidFill>
            <a:ln w="14288" cap="sq">
              <a:solidFill>
                <a:srgbClr val="2072B7"/>
              </a:solidFill>
              <a:prstDash val="solid"/>
              <a:miter/>
            </a:ln>
          </p:spPr>
        </p:sp>
        <p:sp>
          <p:nvSpPr>
            <p:cNvPr name="TextBox 25" id="25"/>
            <p:cNvSpPr txBox="true"/>
            <p:nvPr/>
          </p:nvSpPr>
          <p:spPr>
            <a:xfrm>
              <a:off x="0" y="-19050"/>
              <a:ext cx="12782550" cy="11811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Cùng một chuyến bay</a:t>
              </a:r>
            </a:p>
          </p:txBody>
        </p:sp>
      </p:grpSp>
      <p:grpSp>
        <p:nvGrpSpPr>
          <p:cNvPr name="Group 26" id="26"/>
          <p:cNvGrpSpPr/>
          <p:nvPr/>
        </p:nvGrpSpPr>
        <p:grpSpPr>
          <a:xfrm rot="0">
            <a:off x="921544" y="5222081"/>
            <a:ext cx="3014662" cy="1243012"/>
            <a:chOff x="0" y="0"/>
            <a:chExt cx="4019550" cy="1657350"/>
          </a:xfrm>
        </p:grpSpPr>
        <p:sp>
          <p:nvSpPr>
            <p:cNvPr name="Freeform 27" id="27"/>
            <p:cNvSpPr/>
            <p:nvPr/>
          </p:nvSpPr>
          <p:spPr>
            <a:xfrm flipH="false" flipV="false" rot="0">
              <a:off x="0" y="0"/>
              <a:ext cx="4019550" cy="1657350"/>
            </a:xfrm>
            <a:custGeom>
              <a:avLst/>
              <a:gdLst/>
              <a:ahLst/>
              <a:cxnLst/>
              <a:rect r="r" b="b" t="t" l="l"/>
              <a:pathLst>
                <a:path h="1657350" w="4019550">
                  <a:moveTo>
                    <a:pt x="0" y="0"/>
                  </a:moveTo>
                  <a:lnTo>
                    <a:pt x="4019550" y="0"/>
                  </a:lnTo>
                  <a:lnTo>
                    <a:pt x="4019550" y="1657350"/>
                  </a:lnTo>
                  <a:lnTo>
                    <a:pt x="0" y="1657350"/>
                  </a:lnTo>
                  <a:close/>
                </a:path>
              </a:pathLst>
            </a:custGeom>
            <a:solidFill>
              <a:srgbClr val="2072B7"/>
            </a:solidFill>
            <a:ln w="14288" cap="sq">
              <a:solidFill>
                <a:srgbClr val="2072B7"/>
              </a:solidFill>
              <a:prstDash val="solid"/>
              <a:miter/>
            </a:ln>
          </p:spPr>
        </p:sp>
        <p:sp>
          <p:nvSpPr>
            <p:cNvPr name="TextBox 28" id="28"/>
            <p:cNvSpPr txBox="true"/>
            <p:nvPr/>
          </p:nvSpPr>
          <p:spPr>
            <a:xfrm>
              <a:off x="0" y="-19050"/>
              <a:ext cx="4019550" cy="1676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1</a:t>
              </a:r>
            </a:p>
            <a:p>
              <a:pPr algn="ctr">
                <a:lnSpc>
                  <a:spcPts val="3240"/>
                </a:lnSpc>
              </a:pPr>
              <a:r>
                <a:rPr lang="en-US" sz="2700">
                  <a:solidFill>
                    <a:srgbClr val="FFFFFF"/>
                  </a:solidFill>
                  <a:latin typeface="Arial"/>
                  <a:ea typeface="Arial"/>
                  <a:cs typeface="Arial"/>
                  <a:sym typeface="Arial"/>
                </a:rPr>
                <a:t>Carrier</a:t>
              </a:r>
            </a:p>
          </p:txBody>
        </p:sp>
      </p:grpSp>
      <p:grpSp>
        <p:nvGrpSpPr>
          <p:cNvPr name="Group 29" id="29"/>
          <p:cNvGrpSpPr/>
          <p:nvPr/>
        </p:nvGrpSpPr>
        <p:grpSpPr>
          <a:xfrm rot="0">
            <a:off x="4207669" y="5222081"/>
            <a:ext cx="3014662" cy="1243012"/>
            <a:chOff x="0" y="0"/>
            <a:chExt cx="4019550" cy="1657350"/>
          </a:xfrm>
        </p:grpSpPr>
        <p:sp>
          <p:nvSpPr>
            <p:cNvPr name="Freeform 30" id="30"/>
            <p:cNvSpPr/>
            <p:nvPr/>
          </p:nvSpPr>
          <p:spPr>
            <a:xfrm flipH="false" flipV="false" rot="0">
              <a:off x="0" y="0"/>
              <a:ext cx="4019550" cy="1657350"/>
            </a:xfrm>
            <a:custGeom>
              <a:avLst/>
              <a:gdLst/>
              <a:ahLst/>
              <a:cxnLst/>
              <a:rect r="r" b="b" t="t" l="l"/>
              <a:pathLst>
                <a:path h="1657350" w="4019550">
                  <a:moveTo>
                    <a:pt x="0" y="0"/>
                  </a:moveTo>
                  <a:lnTo>
                    <a:pt x="4019550" y="0"/>
                  </a:lnTo>
                  <a:lnTo>
                    <a:pt x="4019550" y="1657350"/>
                  </a:lnTo>
                  <a:lnTo>
                    <a:pt x="0" y="1657350"/>
                  </a:lnTo>
                  <a:close/>
                </a:path>
              </a:pathLst>
            </a:custGeom>
            <a:solidFill>
              <a:srgbClr val="2072B7"/>
            </a:solidFill>
            <a:ln w="14288" cap="sq">
              <a:solidFill>
                <a:srgbClr val="2072B7"/>
              </a:solidFill>
              <a:prstDash val="solid"/>
              <a:miter/>
            </a:ln>
          </p:spPr>
        </p:sp>
        <p:sp>
          <p:nvSpPr>
            <p:cNvPr name="TextBox 31" id="31"/>
            <p:cNvSpPr txBox="true"/>
            <p:nvPr/>
          </p:nvSpPr>
          <p:spPr>
            <a:xfrm>
              <a:off x="0" y="-19050"/>
              <a:ext cx="4019550" cy="1676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2</a:t>
              </a:r>
            </a:p>
            <a:p>
              <a:pPr algn="ctr">
                <a:lnSpc>
                  <a:spcPts val="3240"/>
                </a:lnSpc>
              </a:pPr>
              <a:r>
                <a:rPr lang="en-US" sz="2700">
                  <a:solidFill>
                    <a:srgbClr val="FFFFFF"/>
                  </a:solidFill>
                  <a:latin typeface="Arial"/>
                  <a:ea typeface="Arial"/>
                  <a:cs typeface="Arial"/>
                  <a:sym typeface="Arial"/>
                </a:rPr>
                <a:t>Carrier</a:t>
              </a:r>
            </a:p>
          </p:txBody>
        </p:sp>
      </p:grpSp>
      <p:grpSp>
        <p:nvGrpSpPr>
          <p:cNvPr name="Group 32" id="32"/>
          <p:cNvGrpSpPr/>
          <p:nvPr/>
        </p:nvGrpSpPr>
        <p:grpSpPr>
          <a:xfrm rot="0">
            <a:off x="7493794" y="5222081"/>
            <a:ext cx="3014662" cy="1243012"/>
            <a:chOff x="0" y="0"/>
            <a:chExt cx="4019550" cy="1657350"/>
          </a:xfrm>
        </p:grpSpPr>
        <p:sp>
          <p:nvSpPr>
            <p:cNvPr name="Freeform 33" id="33"/>
            <p:cNvSpPr/>
            <p:nvPr/>
          </p:nvSpPr>
          <p:spPr>
            <a:xfrm flipH="false" flipV="false" rot="0">
              <a:off x="0" y="0"/>
              <a:ext cx="4019550" cy="1657350"/>
            </a:xfrm>
            <a:custGeom>
              <a:avLst/>
              <a:gdLst/>
              <a:ahLst/>
              <a:cxnLst/>
              <a:rect r="r" b="b" t="t" l="l"/>
              <a:pathLst>
                <a:path h="1657350" w="4019550">
                  <a:moveTo>
                    <a:pt x="0" y="0"/>
                  </a:moveTo>
                  <a:lnTo>
                    <a:pt x="4019550" y="0"/>
                  </a:lnTo>
                  <a:lnTo>
                    <a:pt x="4019550" y="1657350"/>
                  </a:lnTo>
                  <a:lnTo>
                    <a:pt x="0" y="1657350"/>
                  </a:lnTo>
                  <a:close/>
                </a:path>
              </a:pathLst>
            </a:custGeom>
            <a:solidFill>
              <a:srgbClr val="2072B7"/>
            </a:solidFill>
            <a:ln w="14288" cap="sq">
              <a:solidFill>
                <a:srgbClr val="2072B7"/>
              </a:solidFill>
              <a:prstDash val="solid"/>
              <a:miter/>
            </a:ln>
          </p:spPr>
        </p:sp>
        <p:sp>
          <p:nvSpPr>
            <p:cNvPr name="TextBox 34" id="34"/>
            <p:cNvSpPr txBox="true"/>
            <p:nvPr/>
          </p:nvSpPr>
          <p:spPr>
            <a:xfrm>
              <a:off x="0" y="-19050"/>
              <a:ext cx="4019550" cy="1676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3</a:t>
              </a:r>
            </a:p>
            <a:p>
              <a:pPr algn="ctr">
                <a:lnSpc>
                  <a:spcPts val="3240"/>
                </a:lnSpc>
              </a:pPr>
              <a:r>
                <a:rPr lang="en-US" sz="2700">
                  <a:solidFill>
                    <a:srgbClr val="FFFFFF"/>
                  </a:solidFill>
                  <a:latin typeface="Arial"/>
                  <a:ea typeface="Arial"/>
                  <a:cs typeface="Arial"/>
                  <a:sym typeface="Arial"/>
                </a:rPr>
                <a:t>NAS</a:t>
              </a:r>
            </a:p>
          </p:txBody>
        </p:sp>
      </p:grpSp>
      <p:grpSp>
        <p:nvGrpSpPr>
          <p:cNvPr name="Group 35" id="35"/>
          <p:cNvGrpSpPr/>
          <p:nvPr/>
        </p:nvGrpSpPr>
        <p:grpSpPr>
          <a:xfrm rot="0">
            <a:off x="921544" y="7565231"/>
            <a:ext cx="9586912" cy="942975"/>
            <a:chOff x="0" y="0"/>
            <a:chExt cx="12782550" cy="1257300"/>
          </a:xfrm>
        </p:grpSpPr>
        <p:sp>
          <p:nvSpPr>
            <p:cNvPr name="Freeform 36" id="36"/>
            <p:cNvSpPr/>
            <p:nvPr/>
          </p:nvSpPr>
          <p:spPr>
            <a:xfrm flipH="false" flipV="false" rot="0">
              <a:off x="0" y="0"/>
              <a:ext cx="12782550" cy="1257300"/>
            </a:xfrm>
            <a:custGeom>
              <a:avLst/>
              <a:gdLst/>
              <a:ahLst/>
              <a:cxnLst/>
              <a:rect r="r" b="b" t="t" l="l"/>
              <a:pathLst>
                <a:path h="1257300" w="12782550">
                  <a:moveTo>
                    <a:pt x="0" y="0"/>
                  </a:moveTo>
                  <a:lnTo>
                    <a:pt x="12782550" y="0"/>
                  </a:lnTo>
                  <a:lnTo>
                    <a:pt x="12782550" y="1257300"/>
                  </a:lnTo>
                  <a:lnTo>
                    <a:pt x="0" y="1257300"/>
                  </a:lnTo>
                  <a:close/>
                </a:path>
              </a:pathLst>
            </a:custGeom>
            <a:solidFill>
              <a:srgbClr val="2072B7"/>
            </a:solidFill>
            <a:ln w="14288" cap="sq">
              <a:solidFill>
                <a:srgbClr val="2072B7"/>
              </a:solidFill>
              <a:prstDash val="solid"/>
              <a:miter/>
            </a:ln>
          </p:spPr>
        </p:sp>
        <p:sp>
          <p:nvSpPr>
            <p:cNvPr name="TextBox 37" id="37"/>
            <p:cNvSpPr txBox="true"/>
            <p:nvPr/>
          </p:nvSpPr>
          <p:spPr>
            <a:xfrm>
              <a:off x="0" y="-19050"/>
              <a:ext cx="12782550" cy="12763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Bỏ phiếu minh họa: Carrier có 2/3 phiếu</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47800"/>
            <a:ext cx="16573500" cy="838200"/>
          </a:xfrm>
          <a:prstGeom prst="rect">
            <a:avLst/>
          </a:prstGeom>
        </p:spPr>
        <p:txBody>
          <a:bodyPr anchor="t" rtlCol="false" tIns="0" lIns="0" bIns="0" rIns="0">
            <a:spAutoFit/>
          </a:bodyPr>
          <a:lstStyle/>
          <a:p>
            <a:pPr algn="l">
              <a:lnSpc>
                <a:spcPts val="4994"/>
              </a:lnSpc>
            </a:pPr>
            <a:r>
              <a:rPr lang="en-US" sz="4161" b="true">
                <a:solidFill>
                  <a:srgbClr val="2072B7"/>
                </a:solidFill>
                <a:latin typeface="Arial Bold"/>
                <a:ea typeface="Arial Bold"/>
                <a:cs typeface="Arial Bold"/>
                <a:sym typeface="Arial Bold"/>
              </a:rPr>
              <a:t>XGBoost</a:t>
            </a:r>
          </a:p>
        </p:txBody>
      </p:sp>
      <p:sp>
        <p:nvSpPr>
          <p:cNvPr name="TextBox 12" id="12"/>
          <p:cNvSpPr txBox="true"/>
          <p:nvPr/>
        </p:nvSpPr>
        <p:spPr>
          <a:xfrm rot="0">
            <a:off x="857250" y="2333625"/>
            <a:ext cx="16573500" cy="66675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Thêm cây nối tiếp để cải thiện mô hình hiện tại</a:t>
            </a:r>
          </a:p>
        </p:txBody>
      </p:sp>
      <p:sp>
        <p:nvSpPr>
          <p:cNvPr name="TextBox 13" id="13"/>
          <p:cNvSpPr txBox="true"/>
          <p:nvPr/>
        </p:nvSpPr>
        <p:spPr>
          <a:xfrm rot="0">
            <a:off x="857250" y="3290888"/>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4" id="14"/>
          <p:cNvSpPr txBox="true"/>
          <p:nvPr/>
        </p:nvSpPr>
        <p:spPr>
          <a:xfrm rot="0">
            <a:off x="857250" y="4919662"/>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học được tương tác phi tuyến giữa các đặc trưng.</a:t>
            </a:r>
          </a:p>
        </p:txBody>
      </p:sp>
      <p:sp>
        <p:nvSpPr>
          <p:cNvPr name="TextBox 15" id="15"/>
          <p:cNvSpPr txBox="true"/>
          <p:nvPr/>
        </p:nvSpPr>
        <p:spPr>
          <a:xfrm rot="0">
            <a:off x="857250" y="6548438"/>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cần kiểm soát độ sâu và số vòng để tránh quá khớp.</a:t>
            </a:r>
          </a:p>
        </p:txBody>
      </p:sp>
      <p:sp>
        <p:nvSpPr>
          <p:cNvPr name="TextBox 16" id="1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9</a:t>
            </a:r>
          </a:p>
        </p:txBody>
      </p:sp>
      <p:sp>
        <p:nvSpPr>
          <p:cNvPr name="AutoShape 17" id="17"/>
          <p:cNvSpPr/>
          <p:nvPr/>
        </p:nvSpPr>
        <p:spPr>
          <a:xfrm rot="5400000">
            <a:off x="12337256" y="6984206"/>
            <a:ext cx="400050" cy="19050"/>
          </a:xfrm>
          <a:prstGeom prst="line">
            <a:avLst/>
          </a:prstGeom>
          <a:ln cap="rnd" w="19050">
            <a:solidFill>
              <a:srgbClr val="2072B7"/>
            </a:solidFill>
            <a:prstDash val="solid"/>
            <a:headEnd type="none" len="sm" w="sm"/>
            <a:tailEnd type="triangle" len="med" w="lg"/>
          </a:ln>
        </p:spPr>
      </p:sp>
      <p:sp>
        <p:nvSpPr>
          <p:cNvPr name="AutoShape 18" id="18"/>
          <p:cNvSpPr/>
          <p:nvPr/>
        </p:nvSpPr>
        <p:spPr>
          <a:xfrm rot="5400000">
            <a:off x="12337256" y="5669756"/>
            <a:ext cx="400050" cy="19050"/>
          </a:xfrm>
          <a:prstGeom prst="line">
            <a:avLst/>
          </a:prstGeom>
          <a:ln cap="rnd" w="19050">
            <a:solidFill>
              <a:srgbClr val="2072B7"/>
            </a:solidFill>
            <a:prstDash val="solid"/>
            <a:headEnd type="none" len="sm" w="sm"/>
            <a:tailEnd type="triangle" len="med" w="lg"/>
          </a:ln>
        </p:spPr>
      </p:sp>
      <p:sp>
        <p:nvSpPr>
          <p:cNvPr name="AutoShape 19" id="19"/>
          <p:cNvSpPr/>
          <p:nvPr/>
        </p:nvSpPr>
        <p:spPr>
          <a:xfrm rot="5400000">
            <a:off x="12337256" y="4355306"/>
            <a:ext cx="400050" cy="19050"/>
          </a:xfrm>
          <a:prstGeom prst="line">
            <a:avLst/>
          </a:prstGeom>
          <a:ln cap="rnd" w="19050">
            <a:solidFill>
              <a:srgbClr val="2072B7"/>
            </a:solidFill>
            <a:prstDash val="solid"/>
            <a:headEnd type="none" len="sm" w="sm"/>
            <a:tailEnd type="triangle" len="med" w="lg"/>
          </a:ln>
        </p:spPr>
      </p:sp>
      <p:grpSp>
        <p:nvGrpSpPr>
          <p:cNvPr name="Group 20" id="20"/>
          <p:cNvGrpSpPr/>
          <p:nvPr/>
        </p:nvGrpSpPr>
        <p:grpSpPr>
          <a:xfrm rot="0">
            <a:off x="7779544" y="3250406"/>
            <a:ext cx="9515475" cy="914400"/>
            <a:chOff x="0" y="0"/>
            <a:chExt cx="12687300" cy="1219200"/>
          </a:xfrm>
        </p:grpSpPr>
        <p:sp>
          <p:nvSpPr>
            <p:cNvPr name="Freeform 21" id="21"/>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2" id="22"/>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Mô hình hiện tại dự đoán điểm lớp</a:t>
              </a:r>
            </a:p>
          </p:txBody>
        </p:sp>
      </p:grpSp>
      <p:grpSp>
        <p:nvGrpSpPr>
          <p:cNvPr name="Group 23" id="23"/>
          <p:cNvGrpSpPr/>
          <p:nvPr/>
        </p:nvGrpSpPr>
        <p:grpSpPr>
          <a:xfrm rot="0">
            <a:off x="7779544" y="4564856"/>
            <a:ext cx="9515475" cy="914400"/>
            <a:chOff x="0" y="0"/>
            <a:chExt cx="12687300" cy="1219200"/>
          </a:xfrm>
        </p:grpSpPr>
        <p:sp>
          <p:nvSpPr>
            <p:cNvPr name="Freeform 24" id="24"/>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5" id="25"/>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Tính sai số so với nhãn thật</a:t>
              </a:r>
            </a:p>
          </p:txBody>
        </p:sp>
      </p:grpSp>
      <p:grpSp>
        <p:nvGrpSpPr>
          <p:cNvPr name="Group 26" id="26"/>
          <p:cNvGrpSpPr/>
          <p:nvPr/>
        </p:nvGrpSpPr>
        <p:grpSpPr>
          <a:xfrm rot="0">
            <a:off x="7779544" y="5879306"/>
            <a:ext cx="9515475" cy="914400"/>
            <a:chOff x="0" y="0"/>
            <a:chExt cx="12687300" cy="1219200"/>
          </a:xfrm>
        </p:grpSpPr>
        <p:sp>
          <p:nvSpPr>
            <p:cNvPr name="Freeform 27" id="27"/>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8" id="28"/>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mới học hướng giảm sai số</a:t>
              </a:r>
            </a:p>
          </p:txBody>
        </p:sp>
      </p:grpSp>
      <p:grpSp>
        <p:nvGrpSpPr>
          <p:cNvPr name="Group 29" id="29"/>
          <p:cNvGrpSpPr/>
          <p:nvPr/>
        </p:nvGrpSpPr>
        <p:grpSpPr>
          <a:xfrm rot="0">
            <a:off x="7779544" y="7193756"/>
            <a:ext cx="9515475" cy="914400"/>
            <a:chOff x="0" y="0"/>
            <a:chExt cx="12687300" cy="1219200"/>
          </a:xfrm>
        </p:grpSpPr>
        <p:sp>
          <p:nvSpPr>
            <p:cNvPr name="Freeform 30" id="30"/>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31" id="31"/>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Cộng điểm cây mới và cập nhật mô hình</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47800"/>
            <a:ext cx="16573500" cy="838200"/>
          </a:xfrm>
          <a:prstGeom prst="rect">
            <a:avLst/>
          </a:prstGeom>
        </p:spPr>
        <p:txBody>
          <a:bodyPr anchor="t" rtlCol="false" tIns="0" lIns="0" bIns="0" rIns="0">
            <a:spAutoFit/>
          </a:bodyPr>
          <a:lstStyle/>
          <a:p>
            <a:pPr algn="l">
              <a:lnSpc>
                <a:spcPts val="4994"/>
              </a:lnSpc>
            </a:pPr>
            <a:r>
              <a:rPr lang="en-US" sz="4161" b="true">
                <a:solidFill>
                  <a:srgbClr val="2072B7"/>
                </a:solidFill>
                <a:latin typeface="Arial Bold"/>
                <a:ea typeface="Arial Bold"/>
                <a:cs typeface="Arial Bold"/>
                <a:sym typeface="Arial Bold"/>
              </a:rPr>
              <a:t>LightGBM</a:t>
            </a:r>
          </a:p>
        </p:txBody>
      </p:sp>
      <p:sp>
        <p:nvSpPr>
          <p:cNvPr name="TextBox 12" id="12"/>
          <p:cNvSpPr txBox="true"/>
          <p:nvPr/>
        </p:nvSpPr>
        <p:spPr>
          <a:xfrm rot="0">
            <a:off x="857250" y="2333625"/>
            <a:ext cx="16573500" cy="66675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Gom giá trị vào histogram, rồi mở rộng lá giúp giảm sai số nhiều nhất</a:t>
            </a:r>
          </a:p>
        </p:txBody>
      </p:sp>
      <p:sp>
        <p:nvSpPr>
          <p:cNvPr name="TextBox 13" id="13"/>
          <p:cNvSpPr txBox="true"/>
          <p:nvPr/>
        </p:nvSpPr>
        <p:spPr>
          <a:xfrm rot="0">
            <a:off x="11430000" y="3290888"/>
            <a:ext cx="6000750"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4" id="14"/>
          <p:cNvSpPr txBox="true"/>
          <p:nvPr/>
        </p:nvSpPr>
        <p:spPr>
          <a:xfrm rot="0">
            <a:off x="11430000" y="4919662"/>
            <a:ext cx="6000750"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histogram giúp tìm điểm chia hiệu quả trên dữ liệu lớn.</a:t>
            </a:r>
          </a:p>
        </p:txBody>
      </p:sp>
      <p:sp>
        <p:nvSpPr>
          <p:cNvPr name="TextBox 15" id="15"/>
          <p:cNvSpPr txBox="true"/>
          <p:nvPr/>
        </p:nvSpPr>
        <p:spPr>
          <a:xfrm rot="0">
            <a:off x="11430000" y="6548438"/>
            <a:ext cx="6000750"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phát triển theo lá dễ tạo nhánh sâu nếu không giới hạn.</a:t>
            </a:r>
          </a:p>
        </p:txBody>
      </p:sp>
      <p:sp>
        <p:nvSpPr>
          <p:cNvPr name="TextBox 16" id="1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10</a:t>
            </a:r>
          </a:p>
        </p:txBody>
      </p:sp>
      <p:sp>
        <p:nvSpPr>
          <p:cNvPr name="AutoShape 17" id="17"/>
          <p:cNvSpPr/>
          <p:nvPr/>
        </p:nvSpPr>
        <p:spPr>
          <a:xfrm>
            <a:off x="7628058" y="8839200"/>
            <a:ext cx="605323" cy="471488"/>
          </a:xfrm>
          <a:prstGeom prst="line">
            <a:avLst/>
          </a:prstGeom>
          <a:ln cap="rnd" w="19050">
            <a:solidFill>
              <a:srgbClr val="2072B7"/>
            </a:solidFill>
            <a:prstDash val="solid"/>
            <a:headEnd type="none" len="sm" w="sm"/>
            <a:tailEnd type="triangle" len="med" w="lg"/>
          </a:ln>
        </p:spPr>
      </p:sp>
      <p:sp>
        <p:nvSpPr>
          <p:cNvPr name="AutoShape 18" id="18"/>
          <p:cNvSpPr/>
          <p:nvPr/>
        </p:nvSpPr>
        <p:spPr>
          <a:xfrm>
            <a:off x="5627808" y="7324725"/>
            <a:ext cx="2000250" cy="471488"/>
          </a:xfrm>
          <a:prstGeom prst="line">
            <a:avLst/>
          </a:prstGeom>
          <a:ln cap="rnd" w="19050">
            <a:solidFill>
              <a:srgbClr val="2072B7"/>
            </a:solidFill>
            <a:prstDash val="solid"/>
            <a:headEnd type="none" len="sm" w="sm"/>
            <a:tailEnd type="triangle" len="med" w="lg"/>
          </a:ln>
        </p:spPr>
      </p:sp>
      <p:sp>
        <p:nvSpPr>
          <p:cNvPr name="AutoShape 19" id="19"/>
          <p:cNvSpPr/>
          <p:nvPr/>
        </p:nvSpPr>
        <p:spPr>
          <a:xfrm flipH="true">
            <a:off x="2555996" y="7324725"/>
            <a:ext cx="3071812" cy="585788"/>
          </a:xfrm>
          <a:prstGeom prst="line">
            <a:avLst/>
          </a:prstGeom>
          <a:ln cap="rnd" w="19050">
            <a:solidFill>
              <a:srgbClr val="2072B7"/>
            </a:solidFill>
            <a:prstDash val="solid"/>
            <a:headEnd type="none" len="sm" w="sm"/>
            <a:tailEnd type="triangle" len="med" w="lg"/>
          </a:ln>
        </p:spPr>
      </p:sp>
      <p:grpSp>
        <p:nvGrpSpPr>
          <p:cNvPr name="Group 20" id="20"/>
          <p:cNvGrpSpPr/>
          <p:nvPr/>
        </p:nvGrpSpPr>
        <p:grpSpPr>
          <a:xfrm rot="0">
            <a:off x="921544" y="3307556"/>
            <a:ext cx="9586912" cy="800100"/>
            <a:chOff x="0" y="0"/>
            <a:chExt cx="12782550" cy="1066800"/>
          </a:xfrm>
        </p:grpSpPr>
        <p:sp>
          <p:nvSpPr>
            <p:cNvPr name="Freeform 21" id="21"/>
            <p:cNvSpPr/>
            <p:nvPr/>
          </p:nvSpPr>
          <p:spPr>
            <a:xfrm flipH="false" flipV="false" rot="0">
              <a:off x="0" y="0"/>
              <a:ext cx="12782550" cy="1066800"/>
            </a:xfrm>
            <a:custGeom>
              <a:avLst/>
              <a:gdLst/>
              <a:ahLst/>
              <a:cxnLst/>
              <a:rect r="r" b="b" t="t" l="l"/>
              <a:pathLst>
                <a:path h="1066800" w="12782550">
                  <a:moveTo>
                    <a:pt x="0" y="0"/>
                  </a:moveTo>
                  <a:lnTo>
                    <a:pt x="12782550" y="0"/>
                  </a:lnTo>
                  <a:lnTo>
                    <a:pt x="12782550" y="1066800"/>
                  </a:lnTo>
                  <a:lnTo>
                    <a:pt x="0" y="1066800"/>
                  </a:lnTo>
                  <a:close/>
                </a:path>
              </a:pathLst>
            </a:custGeom>
            <a:solidFill>
              <a:srgbClr val="2072B7"/>
            </a:solidFill>
            <a:ln w="14288" cap="sq">
              <a:solidFill>
                <a:srgbClr val="2072B7"/>
              </a:solidFill>
              <a:prstDash val="solid"/>
              <a:miter/>
            </a:ln>
          </p:spPr>
        </p:sp>
        <p:sp>
          <p:nvSpPr>
            <p:cNvPr name="TextBox 22" id="22"/>
            <p:cNvSpPr txBox="true"/>
            <p:nvPr/>
          </p:nvSpPr>
          <p:spPr>
            <a:xfrm>
              <a:off x="0" y="-19050"/>
              <a:ext cx="12782550" cy="10858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Đặc trưng số → các nhóm giá trị</a:t>
              </a:r>
            </a:p>
          </p:txBody>
        </p:sp>
      </p:grpSp>
      <p:graphicFrame>
        <p:nvGraphicFramePr>
          <p:cNvPr name="Table 23" id="23"/>
          <p:cNvGraphicFramePr>
            <a:graphicFrameLocks noGrp="true"/>
          </p:cNvGraphicFramePr>
          <p:nvPr/>
        </p:nvGraphicFramePr>
        <p:xfrm>
          <a:off x="928688" y="4314825"/>
          <a:ext cx="9563100" cy="1657350"/>
        </p:xfrm>
        <a:graphic>
          <a:graphicData uri="http://schemas.openxmlformats.org/drawingml/2006/table">
            <a:tbl>
              <a:tblPr/>
              <a:tblGrid>
                <a:gridCol w="3192430"/>
                <a:gridCol w="3178241"/>
                <a:gridCol w="3192430"/>
              </a:tblGrid>
              <a:tr h="641864">
                <a:tc>
                  <a:txBody>
                    <a:bodyPr anchor="t" rtlCol="false"/>
                    <a:lstStyle/>
                    <a:p>
                      <a:pPr algn="l">
                        <a:lnSpc>
                          <a:spcPts val="2970"/>
                        </a:lnSpc>
                        <a:defRPr/>
                      </a:pPr>
                      <a:r>
                        <a:rPr lang="en-US" sz="2475" b="true">
                          <a:solidFill>
                            <a:srgbClr val="FFFFFF"/>
                          </a:solidFill>
                          <a:latin typeface="Arial Bold"/>
                          <a:ea typeface="Arial Bold"/>
                          <a:cs typeface="Arial Bold"/>
                          <a:sym typeface="Arial Bold"/>
                        </a:rPr>
                        <a:t>Nhóm 1</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2970"/>
                        </a:lnSpc>
                        <a:defRPr/>
                      </a:pPr>
                      <a:r>
                        <a:rPr lang="en-US" sz="2475" b="true">
                          <a:solidFill>
                            <a:srgbClr val="FFFFFF"/>
                          </a:solidFill>
                          <a:latin typeface="Arial Bold"/>
                          <a:ea typeface="Arial Bold"/>
                          <a:cs typeface="Arial Bold"/>
                          <a:sym typeface="Arial Bold"/>
                        </a:rPr>
                        <a:t>Nhóm 2</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2970"/>
                        </a:lnSpc>
                        <a:defRPr/>
                      </a:pPr>
                      <a:r>
                        <a:rPr lang="en-US" sz="2475" b="true">
                          <a:solidFill>
                            <a:srgbClr val="FFFFFF"/>
                          </a:solidFill>
                          <a:latin typeface="Arial Bold"/>
                          <a:ea typeface="Arial Bold"/>
                          <a:cs typeface="Arial Bold"/>
                          <a:sym typeface="Arial Bold"/>
                        </a:rPr>
                        <a:t>Nhóm 3</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r>
              <a:tr h="1015486">
                <a:tc>
                  <a:txBody>
                    <a:bodyPr anchor="t" rtlCol="false"/>
                    <a:lstStyle/>
                    <a:p>
                      <a:pPr algn="l">
                        <a:lnSpc>
                          <a:spcPts val="2970"/>
                        </a:lnSpc>
                        <a:defRPr/>
                      </a:pPr>
                      <a:r>
                        <a:rPr lang="en-US" sz="2475">
                          <a:solidFill>
                            <a:srgbClr val="202D39"/>
                          </a:solidFill>
                          <a:latin typeface="Arial"/>
                          <a:ea typeface="Arial"/>
                          <a:cs typeface="Arial"/>
                          <a:sym typeface="Arial"/>
                        </a:rPr>
                        <a:t>Thống kê</a:t>
                      </a:r>
                      <a:endParaRPr lang="en-US" sz="1100"/>
                    </a:p>
                    <a:p>
                      <a:pPr algn="l">
                        <a:lnSpc>
                          <a:spcPts val="2970"/>
                        </a:lnSpc>
                      </a:pPr>
                      <a:r>
                        <a:rPr lang="en-US" sz="2475">
                          <a:solidFill>
                            <a:srgbClr val="202D39"/>
                          </a:solidFill>
                          <a:latin typeface="Arial"/>
                          <a:ea typeface="Arial"/>
                          <a:cs typeface="Arial"/>
                          <a:sym typeface="Arial"/>
                        </a:rPr>
                        <a:t>gradient</a:t>
                      </a:r>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2970"/>
                        </a:lnSpc>
                        <a:defRPr/>
                      </a:pPr>
                      <a:r>
                        <a:rPr lang="en-US" sz="2475">
                          <a:solidFill>
                            <a:srgbClr val="202D39"/>
                          </a:solidFill>
                          <a:latin typeface="Arial"/>
                          <a:ea typeface="Arial"/>
                          <a:cs typeface="Arial"/>
                          <a:sym typeface="Arial"/>
                        </a:rPr>
                        <a:t>Thống kê</a:t>
                      </a:r>
                      <a:endParaRPr lang="en-US" sz="1100"/>
                    </a:p>
                    <a:p>
                      <a:pPr algn="l">
                        <a:lnSpc>
                          <a:spcPts val="2970"/>
                        </a:lnSpc>
                      </a:pPr>
                      <a:r>
                        <a:rPr lang="en-US" sz="2475">
                          <a:solidFill>
                            <a:srgbClr val="202D39"/>
                          </a:solidFill>
                          <a:latin typeface="Arial"/>
                          <a:ea typeface="Arial"/>
                          <a:cs typeface="Arial"/>
                          <a:sym typeface="Arial"/>
                        </a:rPr>
                        <a:t>gradient</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2970"/>
                        </a:lnSpc>
                        <a:defRPr/>
                      </a:pPr>
                      <a:r>
                        <a:rPr lang="en-US" sz="2475">
                          <a:solidFill>
                            <a:srgbClr val="202D39"/>
                          </a:solidFill>
                          <a:latin typeface="Arial"/>
                          <a:ea typeface="Arial"/>
                          <a:cs typeface="Arial"/>
                          <a:sym typeface="Arial"/>
                        </a:rPr>
                        <a:t>Thống kê</a:t>
                      </a:r>
                      <a:endParaRPr lang="en-US" sz="1100"/>
                    </a:p>
                    <a:p>
                      <a:pPr algn="l">
                        <a:lnSpc>
                          <a:spcPts val="2970"/>
                        </a:lnSpc>
                      </a:pPr>
                      <a:r>
                        <a:rPr lang="en-US" sz="2475">
                          <a:solidFill>
                            <a:srgbClr val="202D39"/>
                          </a:solidFill>
                          <a:latin typeface="Arial"/>
                          <a:ea typeface="Arial"/>
                          <a:cs typeface="Arial"/>
                          <a:sym typeface="Arial"/>
                        </a:rPr>
                        <a:t>gradient</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bl>
          </a:graphicData>
        </a:graphic>
      </p:graphicFrame>
      <p:grpSp>
        <p:nvGrpSpPr>
          <p:cNvPr name="Group 24" id="24"/>
          <p:cNvGrpSpPr/>
          <p:nvPr/>
        </p:nvGrpSpPr>
        <p:grpSpPr>
          <a:xfrm rot="0">
            <a:off x="3620414" y="6567488"/>
            <a:ext cx="4014788" cy="757238"/>
            <a:chOff x="0" y="0"/>
            <a:chExt cx="5353050" cy="1009650"/>
          </a:xfrm>
        </p:grpSpPr>
        <p:sp>
          <p:nvSpPr>
            <p:cNvPr name="Freeform 25" id="25"/>
            <p:cNvSpPr/>
            <p:nvPr/>
          </p:nvSpPr>
          <p:spPr>
            <a:xfrm flipH="false" flipV="false" rot="0">
              <a:off x="0" y="0"/>
              <a:ext cx="5353050" cy="1009650"/>
            </a:xfrm>
            <a:custGeom>
              <a:avLst/>
              <a:gdLst/>
              <a:ahLst/>
              <a:cxnLst/>
              <a:rect r="r" b="b" t="t" l="l"/>
              <a:pathLst>
                <a:path h="1009650" w="5353050">
                  <a:moveTo>
                    <a:pt x="0" y="0"/>
                  </a:moveTo>
                  <a:lnTo>
                    <a:pt x="5353050" y="0"/>
                  </a:lnTo>
                  <a:lnTo>
                    <a:pt x="5353050" y="1009650"/>
                  </a:lnTo>
                  <a:lnTo>
                    <a:pt x="0" y="1009650"/>
                  </a:lnTo>
                  <a:close/>
                </a:path>
              </a:pathLst>
            </a:custGeom>
            <a:solidFill>
              <a:srgbClr val="2072B7"/>
            </a:solidFill>
            <a:ln w="14288" cap="sq">
              <a:solidFill>
                <a:srgbClr val="2072B7"/>
              </a:solidFill>
              <a:prstDash val="solid"/>
              <a:miter/>
            </a:ln>
          </p:spPr>
        </p:sp>
        <p:sp>
          <p:nvSpPr>
            <p:cNvPr name="TextBox 26" id="26"/>
            <p:cNvSpPr txBox="true"/>
            <p:nvPr/>
          </p:nvSpPr>
          <p:spPr>
            <a:xfrm>
              <a:off x="0" y="-19050"/>
              <a:ext cx="5353050" cy="10287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Chọn điểm chia</a:t>
              </a:r>
            </a:p>
          </p:txBody>
        </p:sp>
      </p:grpSp>
      <p:grpSp>
        <p:nvGrpSpPr>
          <p:cNvPr name="Group 27" id="27"/>
          <p:cNvGrpSpPr/>
          <p:nvPr/>
        </p:nvGrpSpPr>
        <p:grpSpPr>
          <a:xfrm rot="0">
            <a:off x="1334414" y="7910512"/>
            <a:ext cx="2443162" cy="757238"/>
            <a:chOff x="0" y="0"/>
            <a:chExt cx="3257550" cy="1009650"/>
          </a:xfrm>
        </p:grpSpPr>
        <p:sp>
          <p:nvSpPr>
            <p:cNvPr name="Freeform 28" id="28"/>
            <p:cNvSpPr/>
            <p:nvPr/>
          </p:nvSpPr>
          <p:spPr>
            <a:xfrm flipH="false" flipV="false" rot="0">
              <a:off x="0" y="0"/>
              <a:ext cx="3257550" cy="1009650"/>
            </a:xfrm>
            <a:custGeom>
              <a:avLst/>
              <a:gdLst/>
              <a:ahLst/>
              <a:cxnLst/>
              <a:rect r="r" b="b" t="t" l="l"/>
              <a:pathLst>
                <a:path h="1009650" w="3257550">
                  <a:moveTo>
                    <a:pt x="0" y="0"/>
                  </a:moveTo>
                  <a:lnTo>
                    <a:pt x="3257550" y="0"/>
                  </a:lnTo>
                  <a:lnTo>
                    <a:pt x="3257550" y="1009650"/>
                  </a:lnTo>
                  <a:lnTo>
                    <a:pt x="0" y="1009650"/>
                  </a:lnTo>
                  <a:close/>
                </a:path>
              </a:pathLst>
            </a:custGeom>
            <a:solidFill>
              <a:srgbClr val="EDF5FB"/>
            </a:solidFill>
            <a:ln w="14288" cap="sq">
              <a:solidFill>
                <a:srgbClr val="B9D2E7"/>
              </a:solidFill>
              <a:prstDash val="solid"/>
              <a:miter/>
            </a:ln>
          </p:spPr>
        </p:sp>
        <p:sp>
          <p:nvSpPr>
            <p:cNvPr name="TextBox 29" id="29"/>
            <p:cNvSpPr txBox="true"/>
            <p:nvPr/>
          </p:nvSpPr>
          <p:spPr>
            <a:xfrm>
              <a:off x="0" y="-19050"/>
              <a:ext cx="3257550" cy="1028700"/>
            </a:xfrm>
            <a:prstGeom prst="rect">
              <a:avLst/>
            </a:prstGeom>
          </p:spPr>
          <p:txBody>
            <a:bodyPr anchor="ctr" rtlCol="false" tIns="50800" lIns="50800" bIns="50800" rIns="50800"/>
            <a:lstStyle/>
            <a:p>
              <a:pPr algn="ctr">
                <a:lnSpc>
                  <a:spcPts val="3240"/>
                </a:lnSpc>
              </a:pPr>
              <a:r>
                <a:rPr lang="en-US" sz="2700">
                  <a:solidFill>
                    <a:srgbClr val="202D39"/>
                  </a:solidFill>
                  <a:latin typeface="Arial"/>
                  <a:ea typeface="Arial"/>
                  <a:cs typeface="Arial"/>
                  <a:sym typeface="Arial"/>
                </a:rPr>
                <a:t>Lá A</a:t>
              </a:r>
            </a:p>
          </p:txBody>
        </p:sp>
      </p:grpSp>
      <p:grpSp>
        <p:nvGrpSpPr>
          <p:cNvPr name="Group 30" id="30"/>
          <p:cNvGrpSpPr/>
          <p:nvPr/>
        </p:nvGrpSpPr>
        <p:grpSpPr>
          <a:xfrm rot="0">
            <a:off x="5763539" y="7796212"/>
            <a:ext cx="3729038" cy="1042988"/>
            <a:chOff x="0" y="0"/>
            <a:chExt cx="4972050" cy="1390650"/>
          </a:xfrm>
        </p:grpSpPr>
        <p:sp>
          <p:nvSpPr>
            <p:cNvPr name="Freeform 31" id="31"/>
            <p:cNvSpPr/>
            <p:nvPr/>
          </p:nvSpPr>
          <p:spPr>
            <a:xfrm flipH="false" flipV="false" rot="0">
              <a:off x="0" y="0"/>
              <a:ext cx="4972050" cy="1390650"/>
            </a:xfrm>
            <a:custGeom>
              <a:avLst/>
              <a:gdLst/>
              <a:ahLst/>
              <a:cxnLst/>
              <a:rect r="r" b="b" t="t" l="l"/>
              <a:pathLst>
                <a:path h="1390650" w="4972050">
                  <a:moveTo>
                    <a:pt x="0" y="0"/>
                  </a:moveTo>
                  <a:lnTo>
                    <a:pt x="4972050" y="0"/>
                  </a:lnTo>
                  <a:lnTo>
                    <a:pt x="4972050" y="1390650"/>
                  </a:lnTo>
                  <a:lnTo>
                    <a:pt x="0" y="1390650"/>
                  </a:lnTo>
                  <a:close/>
                </a:path>
              </a:pathLst>
            </a:custGeom>
            <a:solidFill>
              <a:srgbClr val="2072B7"/>
            </a:solidFill>
            <a:ln w="14288" cap="sq">
              <a:solidFill>
                <a:srgbClr val="2072B7"/>
              </a:solidFill>
              <a:prstDash val="solid"/>
              <a:miter/>
            </a:ln>
          </p:spPr>
        </p:sp>
        <p:sp>
          <p:nvSpPr>
            <p:cNvPr name="TextBox 32" id="32"/>
            <p:cNvSpPr txBox="true"/>
            <p:nvPr/>
          </p:nvSpPr>
          <p:spPr>
            <a:xfrm>
              <a:off x="0" y="-19050"/>
              <a:ext cx="4972050" cy="14097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Lá B</a:t>
              </a:r>
            </a:p>
            <a:p>
              <a:pPr algn="ctr">
                <a:lnSpc>
                  <a:spcPts val="3240"/>
                </a:lnSpc>
              </a:pPr>
              <a:r>
                <a:rPr lang="en-US" sz="2700">
                  <a:solidFill>
                    <a:srgbClr val="FFFFFF"/>
                  </a:solidFill>
                  <a:latin typeface="Arial"/>
                  <a:ea typeface="Arial"/>
                  <a:cs typeface="Arial"/>
                  <a:sym typeface="Arial"/>
                </a:rPr>
                <a:t>Giảm lỗi lớn hơn</a:t>
              </a:r>
            </a:p>
          </p:txBody>
        </p:sp>
      </p:grpSp>
      <p:grpSp>
        <p:nvGrpSpPr>
          <p:cNvPr name="Group 33" id="33"/>
          <p:cNvGrpSpPr/>
          <p:nvPr/>
        </p:nvGrpSpPr>
        <p:grpSpPr>
          <a:xfrm rot="0">
            <a:off x="6476018" y="9310688"/>
            <a:ext cx="3514725" cy="585788"/>
            <a:chOff x="0" y="0"/>
            <a:chExt cx="4686300" cy="781050"/>
          </a:xfrm>
        </p:grpSpPr>
        <p:sp>
          <p:nvSpPr>
            <p:cNvPr name="Freeform 34" id="34"/>
            <p:cNvSpPr/>
            <p:nvPr/>
          </p:nvSpPr>
          <p:spPr>
            <a:xfrm flipH="false" flipV="false" rot="0">
              <a:off x="0" y="0"/>
              <a:ext cx="4686300" cy="781050"/>
            </a:xfrm>
            <a:custGeom>
              <a:avLst/>
              <a:gdLst/>
              <a:ahLst/>
              <a:cxnLst/>
              <a:rect r="r" b="b" t="t" l="l"/>
              <a:pathLst>
                <a:path h="781050" w="4686300">
                  <a:moveTo>
                    <a:pt x="0" y="0"/>
                  </a:moveTo>
                  <a:lnTo>
                    <a:pt x="4686300" y="0"/>
                  </a:lnTo>
                  <a:lnTo>
                    <a:pt x="4686300" y="781050"/>
                  </a:lnTo>
                  <a:lnTo>
                    <a:pt x="0" y="781050"/>
                  </a:lnTo>
                  <a:close/>
                </a:path>
              </a:pathLst>
            </a:custGeom>
            <a:solidFill>
              <a:srgbClr val="EDF5FB"/>
            </a:solidFill>
            <a:ln w="14288" cap="sq">
              <a:solidFill>
                <a:srgbClr val="B9D2E7"/>
              </a:solidFill>
              <a:prstDash val="solid"/>
              <a:miter/>
            </a:ln>
          </p:spPr>
        </p:sp>
        <p:sp>
          <p:nvSpPr>
            <p:cNvPr name="TextBox 35" id="35"/>
            <p:cNvSpPr txBox="true"/>
            <p:nvPr/>
          </p:nvSpPr>
          <p:spPr>
            <a:xfrm>
              <a:off x="0" y="-9525"/>
              <a:ext cx="4686300" cy="790575"/>
            </a:xfrm>
            <a:prstGeom prst="rect">
              <a:avLst/>
            </a:prstGeom>
          </p:spPr>
          <p:txBody>
            <a:bodyPr anchor="ctr" rtlCol="false" tIns="50800" lIns="50800" bIns="50800" rIns="50800"/>
            <a:lstStyle/>
            <a:p>
              <a:pPr algn="ctr">
                <a:lnSpc>
                  <a:spcPts val="2970"/>
                </a:lnSpc>
              </a:pPr>
              <a:r>
                <a:rPr lang="en-US" sz="2475">
                  <a:solidFill>
                    <a:srgbClr val="202D39"/>
                  </a:solidFill>
                  <a:latin typeface="Arial"/>
                  <a:ea typeface="Arial"/>
                  <a:cs typeface="Arial"/>
                  <a:sym typeface="Arial"/>
                </a:rPr>
                <a:t>Tiếp tục chia lá B</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47800"/>
            <a:ext cx="16573500" cy="838200"/>
          </a:xfrm>
          <a:prstGeom prst="rect">
            <a:avLst/>
          </a:prstGeom>
        </p:spPr>
        <p:txBody>
          <a:bodyPr anchor="t" rtlCol="false" tIns="0" lIns="0" bIns="0" rIns="0">
            <a:spAutoFit/>
          </a:bodyPr>
          <a:lstStyle/>
          <a:p>
            <a:pPr algn="l">
              <a:lnSpc>
                <a:spcPts val="4994"/>
              </a:lnSpc>
            </a:pPr>
            <a:r>
              <a:rPr lang="en-US" sz="4161" b="true">
                <a:solidFill>
                  <a:srgbClr val="2072B7"/>
                </a:solidFill>
                <a:latin typeface="Arial Bold"/>
                <a:ea typeface="Arial Bold"/>
                <a:cs typeface="Arial Bold"/>
                <a:sym typeface="Arial Bold"/>
              </a:rPr>
              <a:t>CatBoost</a:t>
            </a:r>
          </a:p>
        </p:txBody>
      </p:sp>
      <p:sp>
        <p:nvSpPr>
          <p:cNvPr name="TextBox 12" id="12"/>
          <p:cNvSpPr txBox="true"/>
          <p:nvPr/>
        </p:nvSpPr>
        <p:spPr>
          <a:xfrm rot="0">
            <a:off x="857250" y="2333625"/>
            <a:ext cx="16573500" cy="66675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Gradient boosting có cơ chế hỗ trợ đặc trưng phân loại như hãng và sân bay</a:t>
            </a:r>
          </a:p>
        </p:txBody>
      </p:sp>
      <p:sp>
        <p:nvSpPr>
          <p:cNvPr name="TextBox 13" id="13"/>
          <p:cNvSpPr txBox="true"/>
          <p:nvPr/>
        </p:nvSpPr>
        <p:spPr>
          <a:xfrm rot="0">
            <a:off x="857250" y="3290888"/>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4" id="14"/>
          <p:cNvSpPr txBox="true"/>
          <p:nvPr/>
        </p:nvSpPr>
        <p:spPr>
          <a:xfrm rot="0">
            <a:off x="857250" y="4919662"/>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có khả năng xử lý dữ liệu phân loại nhiều giá trị.</a:t>
            </a:r>
          </a:p>
        </p:txBody>
      </p:sp>
      <p:sp>
        <p:nvSpPr>
          <p:cNvPr name="TextBox 15" id="15"/>
          <p:cNvSpPr txBox="true"/>
          <p:nvPr/>
        </p:nvSpPr>
        <p:spPr>
          <a:xfrm rot="0">
            <a:off x="857250" y="6548438"/>
            <a:ext cx="6072188" cy="139541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cần thời gian huấn luyện và cấu hình đầu vào phù hợp.</a:t>
            </a:r>
          </a:p>
        </p:txBody>
      </p:sp>
      <p:sp>
        <p:nvSpPr>
          <p:cNvPr name="TextBox 16" id="1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11</a:t>
            </a:r>
          </a:p>
        </p:txBody>
      </p:sp>
      <p:sp>
        <p:nvSpPr>
          <p:cNvPr name="AutoShape 17" id="17"/>
          <p:cNvSpPr/>
          <p:nvPr/>
        </p:nvSpPr>
        <p:spPr>
          <a:xfrm rot="5400000">
            <a:off x="12337256" y="6984206"/>
            <a:ext cx="400050" cy="19050"/>
          </a:xfrm>
          <a:prstGeom prst="line">
            <a:avLst/>
          </a:prstGeom>
          <a:ln cap="rnd" w="19050">
            <a:solidFill>
              <a:srgbClr val="2072B7"/>
            </a:solidFill>
            <a:prstDash val="solid"/>
            <a:headEnd type="none" len="sm" w="sm"/>
            <a:tailEnd type="triangle" len="med" w="lg"/>
          </a:ln>
        </p:spPr>
      </p:sp>
      <p:sp>
        <p:nvSpPr>
          <p:cNvPr name="AutoShape 18" id="18"/>
          <p:cNvSpPr/>
          <p:nvPr/>
        </p:nvSpPr>
        <p:spPr>
          <a:xfrm rot="5400000">
            <a:off x="12337256" y="5669756"/>
            <a:ext cx="400050" cy="19050"/>
          </a:xfrm>
          <a:prstGeom prst="line">
            <a:avLst/>
          </a:prstGeom>
          <a:ln cap="rnd" w="19050">
            <a:solidFill>
              <a:srgbClr val="2072B7"/>
            </a:solidFill>
            <a:prstDash val="solid"/>
            <a:headEnd type="none" len="sm" w="sm"/>
            <a:tailEnd type="triangle" len="med" w="lg"/>
          </a:ln>
        </p:spPr>
      </p:sp>
      <p:sp>
        <p:nvSpPr>
          <p:cNvPr name="AutoShape 19" id="19"/>
          <p:cNvSpPr/>
          <p:nvPr/>
        </p:nvSpPr>
        <p:spPr>
          <a:xfrm rot="5400000">
            <a:off x="12337256" y="4355306"/>
            <a:ext cx="400050" cy="19050"/>
          </a:xfrm>
          <a:prstGeom prst="line">
            <a:avLst/>
          </a:prstGeom>
          <a:ln cap="rnd" w="19050">
            <a:solidFill>
              <a:srgbClr val="2072B7"/>
            </a:solidFill>
            <a:prstDash val="solid"/>
            <a:headEnd type="none" len="sm" w="sm"/>
            <a:tailEnd type="triangle" len="med" w="lg"/>
          </a:ln>
        </p:spPr>
      </p:sp>
      <p:grpSp>
        <p:nvGrpSpPr>
          <p:cNvPr name="Group 20" id="20"/>
          <p:cNvGrpSpPr/>
          <p:nvPr/>
        </p:nvGrpSpPr>
        <p:grpSpPr>
          <a:xfrm rot="0">
            <a:off x="7779544" y="3250406"/>
            <a:ext cx="9515475" cy="914400"/>
            <a:chOff x="0" y="0"/>
            <a:chExt cx="12687300" cy="1219200"/>
          </a:xfrm>
        </p:grpSpPr>
        <p:sp>
          <p:nvSpPr>
            <p:cNvPr name="Freeform 21" id="21"/>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2" id="22"/>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Hãng bay, sân bay dạng phân loại</a:t>
              </a:r>
            </a:p>
          </p:txBody>
        </p:sp>
      </p:grpSp>
      <p:grpSp>
        <p:nvGrpSpPr>
          <p:cNvPr name="Group 23" id="23"/>
          <p:cNvGrpSpPr/>
          <p:nvPr/>
        </p:nvGrpSpPr>
        <p:grpSpPr>
          <a:xfrm rot="0">
            <a:off x="7779544" y="4564856"/>
            <a:ext cx="9515475" cy="914400"/>
            <a:chOff x="0" y="0"/>
            <a:chExt cx="12687300" cy="1219200"/>
          </a:xfrm>
        </p:grpSpPr>
        <p:sp>
          <p:nvSpPr>
            <p:cNvPr name="Freeform 24" id="24"/>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5" id="25"/>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Mã hóa/thống kê phân loại theo cơ chế CatBoost</a:t>
              </a:r>
            </a:p>
          </p:txBody>
        </p:sp>
      </p:grpSp>
      <p:grpSp>
        <p:nvGrpSpPr>
          <p:cNvPr name="Group 26" id="26"/>
          <p:cNvGrpSpPr/>
          <p:nvPr/>
        </p:nvGrpSpPr>
        <p:grpSpPr>
          <a:xfrm rot="0">
            <a:off x="7779544" y="5879306"/>
            <a:ext cx="9515475" cy="914400"/>
            <a:chOff x="0" y="0"/>
            <a:chExt cx="12687300" cy="1219200"/>
          </a:xfrm>
        </p:grpSpPr>
        <p:sp>
          <p:nvSpPr>
            <p:cNvPr name="Freeform 27" id="27"/>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8" id="28"/>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nối tiếp học giảm sai số</a:t>
              </a:r>
            </a:p>
          </p:txBody>
        </p:sp>
      </p:grpSp>
      <p:grpSp>
        <p:nvGrpSpPr>
          <p:cNvPr name="Group 29" id="29"/>
          <p:cNvGrpSpPr/>
          <p:nvPr/>
        </p:nvGrpSpPr>
        <p:grpSpPr>
          <a:xfrm rot="0">
            <a:off x="7779544" y="7193756"/>
            <a:ext cx="9515475" cy="914400"/>
            <a:chOff x="0" y="0"/>
            <a:chExt cx="12687300" cy="1219200"/>
          </a:xfrm>
        </p:grpSpPr>
        <p:sp>
          <p:nvSpPr>
            <p:cNvPr name="Freeform 30" id="30"/>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31" id="31"/>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Cộng điểm các cây → nhãn cuối</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F72B6"/>
        </a:solidFill>
      </p:bgPr>
    </p:bg>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17872" r="0" b="-17872"/>
              </a:stretch>
            </a:blipFill>
          </p:spPr>
        </p:sp>
      </p:grpSp>
      <p:sp>
        <p:nvSpPr>
          <p:cNvPr name="TextBox 10" id="10"/>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1" id="11"/>
          <p:cNvSpPr txBox="true"/>
          <p:nvPr/>
        </p:nvSpPr>
        <p:spPr>
          <a:xfrm rot="0">
            <a:off x="3201000" y="4770882"/>
            <a:ext cx="11886000" cy="859536"/>
          </a:xfrm>
          <a:prstGeom prst="rect">
            <a:avLst/>
          </a:prstGeom>
        </p:spPr>
        <p:txBody>
          <a:bodyPr anchor="t" rtlCol="false" tIns="0" lIns="0" bIns="0" rIns="0">
            <a:spAutoFit/>
          </a:bodyPr>
          <a:lstStyle/>
          <a:p>
            <a:pPr algn="ctr">
              <a:lnSpc>
                <a:spcPts val="6910"/>
              </a:lnSpc>
            </a:pPr>
            <a:r>
              <a:rPr lang="en-US" sz="6398" b="true">
                <a:solidFill>
                  <a:srgbClr val="FFFFFF"/>
                </a:solidFill>
                <a:latin typeface="Quicksand Bold"/>
                <a:ea typeface="Quicksand Bold"/>
                <a:cs typeface="Quicksand Bold"/>
                <a:sym typeface="Quicksand Bold"/>
              </a:rPr>
              <a:t>DỮ LIỆU VÀ TIỀN XỬ LÝ</a:t>
            </a:r>
          </a:p>
        </p:txBody>
      </p:sp>
      <p:sp>
        <p:nvSpPr>
          <p:cNvPr name="TextBox 12" id="1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FFFFFF"/>
                </a:solidFill>
                <a:latin typeface="Noto Sans"/>
                <a:ea typeface="Noto Sans"/>
                <a:cs typeface="Noto Sans"/>
                <a:sym typeface="Noto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28750"/>
            <a:ext cx="13690759" cy="809677"/>
          </a:xfrm>
          <a:prstGeom prst="rect">
            <a:avLst/>
          </a:prstGeom>
        </p:spPr>
        <p:txBody>
          <a:bodyPr anchor="t" rtlCol="false" tIns="0" lIns="0" bIns="0" rIns="0">
            <a:spAutoFit/>
          </a:bodyPr>
          <a:lstStyle/>
          <a:p>
            <a:pPr algn="l">
              <a:lnSpc>
                <a:spcPts val="6193"/>
              </a:lnSpc>
            </a:pPr>
            <a:r>
              <a:rPr lang="en-US" sz="5162" b="true">
                <a:solidFill>
                  <a:srgbClr val="2072B7"/>
                </a:solidFill>
                <a:latin typeface="Arial Bold"/>
                <a:ea typeface="Arial Bold"/>
                <a:cs typeface="Arial Bold"/>
                <a:sym typeface="Arial Bold"/>
              </a:rPr>
              <a:t>Phân</a:t>
            </a:r>
            <a:r>
              <a:rPr lang="en-US" sz="5162" b="true">
                <a:solidFill>
                  <a:srgbClr val="2072B7"/>
                </a:solidFill>
                <a:latin typeface="Arial Bold"/>
                <a:ea typeface="Arial Bold"/>
                <a:cs typeface="Arial Bold"/>
                <a:sym typeface="Arial Bold"/>
              </a:rPr>
              <a:t> Loại &amp; Lựa Chọn Các Trường Dữ Liệu</a:t>
            </a:r>
          </a:p>
        </p:txBody>
      </p:sp>
      <p:sp>
        <p:nvSpPr>
          <p:cNvPr name="TextBox 12" id="12"/>
          <p:cNvSpPr txBox="true"/>
          <p:nvPr/>
        </p:nvSpPr>
        <p:spPr>
          <a:xfrm rot="0">
            <a:off x="857250" y="2314575"/>
            <a:ext cx="16836153" cy="590527"/>
          </a:xfrm>
          <a:prstGeom prst="rect">
            <a:avLst/>
          </a:prstGeom>
        </p:spPr>
        <p:txBody>
          <a:bodyPr anchor="t" rtlCol="false" tIns="0" lIns="0" bIns="0" rIns="0">
            <a:spAutoFit/>
          </a:bodyPr>
          <a:lstStyle/>
          <a:p>
            <a:pPr algn="l">
              <a:lnSpc>
                <a:spcPts val="4438"/>
              </a:lnSpc>
            </a:pPr>
            <a:r>
              <a:rPr lang="en-US" sz="3699" b="true">
                <a:solidFill>
                  <a:srgbClr val="174C7E"/>
                </a:solidFill>
                <a:latin typeface="Arial Bold"/>
                <a:ea typeface="Arial Bold"/>
                <a:cs typeface="Arial Bold"/>
                <a:sym typeface="Arial Bold"/>
              </a:rPr>
              <a:t>Nguyên tắc cốt lõi: </a:t>
            </a:r>
            <a:r>
              <a:rPr lang="en-US" sz="3699" b="true">
                <a:solidFill>
                  <a:srgbClr val="174C7E"/>
                </a:solidFill>
                <a:latin typeface="Arial Bold"/>
                <a:ea typeface="Arial Bold"/>
                <a:cs typeface="Arial Bold"/>
                <a:sym typeface="Arial Bold"/>
              </a:rPr>
              <a:t>Tách biệt hoàn toàn biến dự đoán để chống rò rỉ dữ liệu</a:t>
            </a:r>
          </a:p>
        </p:txBody>
      </p:sp>
      <p:sp>
        <p:nvSpPr>
          <p:cNvPr name="TextBox 13" id="13"/>
          <p:cNvSpPr txBox="true"/>
          <p:nvPr/>
        </p:nvSpPr>
        <p:spPr>
          <a:xfrm rot="0">
            <a:off x="11430000" y="3343275"/>
            <a:ext cx="6000750" cy="1238250"/>
          </a:xfrm>
          <a:prstGeom prst="rect">
            <a:avLst/>
          </a:prstGeom>
        </p:spPr>
        <p:txBody>
          <a:bodyPr anchor="t" rtlCol="false" tIns="0" lIns="0" bIns="0" rIns="0">
            <a:spAutoFit/>
          </a:bodyPr>
          <a:lstStyle/>
          <a:p>
            <a:pPr algn="l">
              <a:lnSpc>
                <a:spcPts val="4708"/>
              </a:lnSpc>
            </a:pPr>
            <a:r>
              <a:rPr lang="en-US" sz="3924">
                <a:solidFill>
                  <a:srgbClr val="202D39"/>
                </a:solidFill>
                <a:latin typeface="Arial"/>
                <a:ea typeface="Arial"/>
                <a:cs typeface="Arial"/>
                <a:sym typeface="Arial"/>
              </a:rPr>
              <a:t>Dữ liệu gốc: chuyến bay Hoa Kỳ năm 2024.</a:t>
            </a:r>
          </a:p>
        </p:txBody>
      </p:sp>
      <p:sp>
        <p:nvSpPr>
          <p:cNvPr name="TextBox 14" id="14"/>
          <p:cNvSpPr txBox="true"/>
          <p:nvPr/>
        </p:nvSpPr>
        <p:spPr>
          <a:xfrm rot="0">
            <a:off x="11430000" y="4946647"/>
            <a:ext cx="6000750" cy="1828800"/>
          </a:xfrm>
          <a:prstGeom prst="rect">
            <a:avLst/>
          </a:prstGeom>
        </p:spPr>
        <p:txBody>
          <a:bodyPr anchor="t" rtlCol="false" tIns="0" lIns="0" bIns="0" rIns="0">
            <a:spAutoFit/>
          </a:bodyPr>
          <a:lstStyle/>
          <a:p>
            <a:pPr algn="l">
              <a:lnSpc>
                <a:spcPts val="4708"/>
              </a:lnSpc>
            </a:pPr>
            <a:r>
              <a:rPr lang="en-US" sz="3924">
                <a:solidFill>
                  <a:srgbClr val="202D39"/>
                </a:solidFill>
                <a:latin typeface="Arial"/>
                <a:ea typeface="Arial"/>
                <a:cs typeface="Arial"/>
                <a:sym typeface="Arial"/>
              </a:rPr>
              <a:t>arr_delay và năm cột nguyên nhân dùng tạo nhãn.</a:t>
            </a:r>
          </a:p>
        </p:txBody>
      </p:sp>
      <p:sp>
        <p:nvSpPr>
          <p:cNvPr name="TextBox 15" id="15"/>
          <p:cNvSpPr txBox="true"/>
          <p:nvPr/>
        </p:nvSpPr>
        <p:spPr>
          <a:xfrm rot="0">
            <a:off x="11403806" y="7140578"/>
            <a:ext cx="6000750" cy="2419350"/>
          </a:xfrm>
          <a:prstGeom prst="rect">
            <a:avLst/>
          </a:prstGeom>
        </p:spPr>
        <p:txBody>
          <a:bodyPr anchor="t" rtlCol="false" tIns="0" lIns="0" bIns="0" rIns="0">
            <a:spAutoFit/>
          </a:bodyPr>
          <a:lstStyle/>
          <a:p>
            <a:pPr algn="l">
              <a:lnSpc>
                <a:spcPts val="4708"/>
              </a:lnSpc>
            </a:pPr>
            <a:r>
              <a:rPr lang="en-US" sz="3924">
                <a:solidFill>
                  <a:srgbClr val="202D39"/>
                </a:solidFill>
                <a:latin typeface="Arial"/>
                <a:ea typeface="Arial"/>
                <a:cs typeface="Arial"/>
                <a:sym typeface="Arial"/>
              </a:rPr>
              <a:t>Mô hình dùng lịch, giờ kế hoạch, hãng, sân bay, khoảng cách và thời lượng.</a:t>
            </a:r>
          </a:p>
        </p:txBody>
      </p:sp>
      <p:graphicFrame>
        <p:nvGraphicFramePr>
          <p:cNvPr name="Table 16" id="16"/>
          <p:cNvGraphicFramePr>
            <a:graphicFrameLocks noGrp="true"/>
          </p:cNvGraphicFramePr>
          <p:nvPr/>
        </p:nvGraphicFramePr>
        <p:xfrm>
          <a:off x="661271" y="3225448"/>
          <a:ext cx="10337800" cy="5842000"/>
        </p:xfrm>
        <a:graphic>
          <a:graphicData uri="http://schemas.openxmlformats.org/drawingml/2006/table">
            <a:tbl>
              <a:tblPr/>
              <a:tblGrid>
                <a:gridCol w="3019404"/>
                <a:gridCol w="7318396"/>
              </a:tblGrid>
              <a:tr h="1213356">
                <a:tc>
                  <a:txBody>
                    <a:bodyPr anchor="t" rtlCol="false"/>
                    <a:lstStyle/>
                    <a:p>
                      <a:pPr algn="l">
                        <a:lnSpc>
                          <a:spcPts val="4169"/>
                        </a:lnSpc>
                        <a:defRPr/>
                      </a:pPr>
                      <a:r>
                        <a:rPr lang="en-US" sz="3474" b="true">
                          <a:solidFill>
                            <a:srgbClr val="FFFFFF"/>
                          </a:solidFill>
                          <a:latin typeface="Arial Bold"/>
                          <a:ea typeface="Arial Bold"/>
                          <a:cs typeface="Arial Bold"/>
                          <a:sym typeface="Arial Bold"/>
                        </a:rPr>
                        <a:t>Vai trò</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4169"/>
                        </a:lnSpc>
                        <a:defRPr/>
                      </a:pPr>
                      <a:r>
                        <a:rPr lang="en-US" sz="3474" b="true">
                          <a:solidFill>
                            <a:srgbClr val="FFFFFF"/>
                          </a:solidFill>
                          <a:latin typeface="Arial Bold"/>
                          <a:ea typeface="Arial Bold"/>
                          <a:cs typeface="Arial Bold"/>
                          <a:sym typeface="Arial Bold"/>
                        </a:rPr>
                        <a:t>Các trường chính</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r>
              <a:tr h="1888191">
                <a:tc>
                  <a:txBody>
                    <a:bodyPr anchor="t" rtlCol="false"/>
                    <a:lstStyle/>
                    <a:p>
                      <a:pPr algn="l">
                        <a:lnSpc>
                          <a:spcPts val="4169"/>
                        </a:lnSpc>
                        <a:defRPr/>
                      </a:pPr>
                      <a:r>
                        <a:rPr lang="en-US" sz="3474">
                          <a:solidFill>
                            <a:srgbClr val="202D39"/>
                          </a:solidFill>
                          <a:latin typeface="Arial"/>
                          <a:ea typeface="Arial"/>
                          <a:cs typeface="Arial"/>
                          <a:sym typeface="Arial"/>
                        </a:rPr>
                        <a:t>Lọc và gán nhãn</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169"/>
                        </a:lnSpc>
                        <a:defRPr/>
                      </a:pPr>
                      <a:r>
                        <a:rPr lang="en-US" sz="3474">
                          <a:solidFill>
                            <a:srgbClr val="202D39"/>
                          </a:solidFill>
                          <a:latin typeface="Arial"/>
                          <a:ea typeface="Arial"/>
                          <a:cs typeface="Arial"/>
                          <a:sym typeface="Arial"/>
                        </a:rPr>
                        <a:t>cancelled, diverted, arr_delay</a:t>
                      </a:r>
                      <a:endParaRPr lang="en-US" sz="1100"/>
                    </a:p>
                    <a:p>
                      <a:pPr algn="l">
                        <a:lnSpc>
                          <a:spcPts val="4169"/>
                        </a:lnSpc>
                      </a:pPr>
                      <a:r>
                        <a:rPr lang="en-US" sz="3474">
                          <a:solidFill>
                            <a:srgbClr val="202D39"/>
                          </a:solidFill>
                          <a:latin typeface="Arial"/>
                          <a:ea typeface="Arial"/>
                          <a:cs typeface="Arial"/>
                          <a:sym typeface="Arial"/>
                        </a:rPr>
                        <a:t>carrier/weather/nas/security/</a:t>
                      </a:r>
                    </a:p>
                    <a:p>
                      <a:pPr algn="l">
                        <a:lnSpc>
                          <a:spcPts val="4169"/>
                        </a:lnSpc>
                      </a:pPr>
                      <a:r>
                        <a:rPr lang="en-US" sz="3474">
                          <a:solidFill>
                            <a:srgbClr val="202D39"/>
                          </a:solidFill>
                          <a:latin typeface="Arial"/>
                          <a:ea typeface="Arial"/>
                          <a:cs typeface="Arial"/>
                          <a:sym typeface="Arial"/>
                        </a:rPr>
                        <a:t>late_aircraft_delay</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r h="1370226">
                <a:tc>
                  <a:txBody>
                    <a:bodyPr anchor="t" rtlCol="false"/>
                    <a:lstStyle/>
                    <a:p>
                      <a:pPr algn="l">
                        <a:lnSpc>
                          <a:spcPts val="4169"/>
                        </a:lnSpc>
                        <a:defRPr/>
                      </a:pPr>
                      <a:r>
                        <a:rPr lang="en-US" sz="3474">
                          <a:solidFill>
                            <a:srgbClr val="202D39"/>
                          </a:solidFill>
                          <a:latin typeface="Arial"/>
                          <a:ea typeface="Arial"/>
                          <a:cs typeface="Arial"/>
                          <a:sym typeface="Arial"/>
                        </a:rPr>
                        <a:t>Lịch và giờ kế hoạch</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c>
                  <a:txBody>
                    <a:bodyPr anchor="t" rtlCol="false"/>
                    <a:lstStyle/>
                    <a:p>
                      <a:pPr algn="l">
                        <a:lnSpc>
                          <a:spcPts val="4169"/>
                        </a:lnSpc>
                        <a:defRPr/>
                      </a:pPr>
                      <a:r>
                        <a:rPr lang="en-US" sz="3474">
                          <a:solidFill>
                            <a:srgbClr val="202D39"/>
                          </a:solidFill>
                          <a:latin typeface="Arial"/>
                          <a:ea typeface="Arial"/>
                          <a:cs typeface="Arial"/>
                          <a:sym typeface="Arial"/>
                        </a:rPr>
                        <a:t>month, day_of_month, day_of_week</a:t>
                      </a:r>
                      <a:endParaRPr lang="en-US" sz="1100"/>
                    </a:p>
                    <a:p>
                      <a:pPr algn="l">
                        <a:lnSpc>
                          <a:spcPts val="4169"/>
                        </a:lnSpc>
                      </a:pPr>
                      <a:r>
                        <a:rPr lang="en-US" sz="3474">
                          <a:solidFill>
                            <a:srgbClr val="202D39"/>
                          </a:solidFill>
                          <a:latin typeface="Arial"/>
                          <a:ea typeface="Arial"/>
                          <a:cs typeface="Arial"/>
                          <a:sym typeface="Arial"/>
                        </a:rPr>
                        <a:t>crs_dep_time, crs_arr_time</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r>
              <a:tr h="1370226">
                <a:tc>
                  <a:txBody>
                    <a:bodyPr anchor="t" rtlCol="false"/>
                    <a:lstStyle/>
                    <a:p>
                      <a:pPr algn="l">
                        <a:lnSpc>
                          <a:spcPts val="4169"/>
                        </a:lnSpc>
                        <a:defRPr/>
                      </a:pPr>
                      <a:r>
                        <a:rPr lang="en-US" sz="3474">
                          <a:solidFill>
                            <a:srgbClr val="202D39"/>
                          </a:solidFill>
                          <a:latin typeface="Arial"/>
                          <a:ea typeface="Arial"/>
                          <a:cs typeface="Arial"/>
                          <a:sym typeface="Arial"/>
                        </a:rPr>
                        <a:t>Đặc trưng còn lại</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169"/>
                        </a:lnSpc>
                        <a:defRPr/>
                      </a:pPr>
                      <a:r>
                        <a:rPr lang="en-US" sz="3474">
                          <a:solidFill>
                            <a:srgbClr val="202D39"/>
                          </a:solidFill>
                          <a:latin typeface="Arial"/>
                          <a:ea typeface="Arial"/>
                          <a:cs typeface="Arial"/>
                          <a:sym typeface="Arial"/>
                        </a:rPr>
                        <a:t>op_unique_carrier, origin, dest</a:t>
                      </a:r>
                      <a:endParaRPr lang="en-US" sz="1100"/>
                    </a:p>
                    <a:p>
                      <a:pPr algn="l">
                        <a:lnSpc>
                          <a:spcPts val="4169"/>
                        </a:lnSpc>
                      </a:pPr>
                      <a:r>
                        <a:rPr lang="en-US" sz="3474">
                          <a:solidFill>
                            <a:srgbClr val="202D39"/>
                          </a:solidFill>
                          <a:latin typeface="Arial"/>
                          <a:ea typeface="Arial"/>
                          <a:cs typeface="Arial"/>
                          <a:sym typeface="Arial"/>
                        </a:rPr>
                        <a:t>crs_elapsed_time, distance</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bl>
          </a:graphicData>
        </a:graphic>
      </p:graphicFrame>
      <p:sp>
        <p:nvSpPr>
          <p:cNvPr name="TextBox 17" id="17"/>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28750"/>
            <a:ext cx="5466636" cy="790626"/>
          </a:xfrm>
          <a:prstGeom prst="rect">
            <a:avLst/>
          </a:prstGeom>
        </p:spPr>
        <p:txBody>
          <a:bodyPr anchor="t" rtlCol="false" tIns="0" lIns="0" bIns="0" rIns="0">
            <a:spAutoFit/>
          </a:bodyPr>
          <a:lstStyle/>
          <a:p>
            <a:pPr algn="l">
              <a:lnSpc>
                <a:spcPts val="6073"/>
              </a:lnSpc>
            </a:pPr>
            <a:r>
              <a:rPr lang="en-US" sz="5061" b="true">
                <a:solidFill>
                  <a:srgbClr val="2072B7"/>
                </a:solidFill>
                <a:latin typeface="Arial Bold"/>
                <a:ea typeface="Arial Bold"/>
                <a:cs typeface="Arial Bold"/>
                <a:sym typeface="Arial Bold"/>
              </a:rPr>
              <a:t>Quy tắc làm sạch </a:t>
            </a:r>
          </a:p>
        </p:txBody>
      </p:sp>
      <p:sp>
        <p:nvSpPr>
          <p:cNvPr name="TextBox 12" id="12"/>
          <p:cNvSpPr txBox="true"/>
          <p:nvPr/>
        </p:nvSpPr>
        <p:spPr>
          <a:xfrm rot="0">
            <a:off x="857250" y="2314575"/>
            <a:ext cx="16573500" cy="600075"/>
          </a:xfrm>
          <a:prstGeom prst="rect">
            <a:avLst/>
          </a:prstGeom>
        </p:spPr>
        <p:txBody>
          <a:bodyPr anchor="t" rtlCol="false" tIns="0" lIns="0" bIns="0" rIns="0">
            <a:spAutoFit/>
          </a:bodyPr>
          <a:lstStyle/>
          <a:p>
            <a:pPr algn="l">
              <a:lnSpc>
                <a:spcPts val="4319"/>
              </a:lnSpc>
            </a:pPr>
            <a:r>
              <a:rPr lang="en-US" sz="3599" b="true">
                <a:solidFill>
                  <a:srgbClr val="174C7E"/>
                </a:solidFill>
                <a:latin typeface="Arial Bold"/>
                <a:ea typeface="Arial Bold"/>
                <a:cs typeface="Arial Bold"/>
                <a:sym typeface="Arial Bold"/>
              </a:rPr>
              <a:t>Loại chuyến hủy, chuyển hướng hoặc không có arr_delay để gán nhãn</a:t>
            </a:r>
          </a:p>
        </p:txBody>
      </p:sp>
      <p:sp>
        <p:nvSpPr>
          <p:cNvPr name="TextBox 13" id="13"/>
          <p:cNvSpPr txBox="true"/>
          <p:nvPr/>
        </p:nvSpPr>
        <p:spPr>
          <a:xfrm rot="0">
            <a:off x="857250" y="4892675"/>
            <a:ext cx="6072188" cy="1200150"/>
          </a:xfrm>
          <a:prstGeom prst="rect">
            <a:avLst/>
          </a:prstGeom>
        </p:spPr>
        <p:txBody>
          <a:bodyPr anchor="t" rtlCol="false" tIns="0" lIns="0" bIns="0" rIns="0">
            <a:spAutoFit/>
          </a:bodyPr>
          <a:lstStyle/>
          <a:p>
            <a:pPr algn="l">
              <a:lnSpc>
                <a:spcPts val="4588"/>
              </a:lnSpc>
            </a:pPr>
            <a:r>
              <a:rPr lang="en-US" sz="3824">
                <a:solidFill>
                  <a:srgbClr val="202D39"/>
                </a:solidFill>
                <a:latin typeface="Arial"/>
                <a:ea typeface="Arial"/>
                <a:cs typeface="Arial"/>
                <a:sym typeface="Arial"/>
              </a:rPr>
              <a:t>Giữ cancelled = 0, diverted = 0 và arr_delay có giá trị.</a:t>
            </a:r>
          </a:p>
        </p:txBody>
      </p:sp>
      <p:sp>
        <p:nvSpPr>
          <p:cNvPr name="TextBox 14" id="14"/>
          <p:cNvSpPr txBox="true"/>
          <p:nvPr/>
        </p:nvSpPr>
        <p:spPr>
          <a:xfrm rot="0">
            <a:off x="857250" y="6781800"/>
            <a:ext cx="6072188" cy="1781175"/>
          </a:xfrm>
          <a:prstGeom prst="rect">
            <a:avLst/>
          </a:prstGeom>
        </p:spPr>
        <p:txBody>
          <a:bodyPr anchor="t" rtlCol="false" tIns="0" lIns="0" bIns="0" rIns="0">
            <a:spAutoFit/>
          </a:bodyPr>
          <a:lstStyle/>
          <a:p>
            <a:pPr algn="l">
              <a:lnSpc>
                <a:spcPts val="4588"/>
              </a:lnSpc>
            </a:pPr>
            <a:r>
              <a:rPr lang="en-US" sz="3824">
                <a:solidFill>
                  <a:srgbClr val="202D39"/>
                </a:solidFill>
                <a:latin typeface="Arial"/>
                <a:ea typeface="Arial"/>
                <a:cs typeface="Arial"/>
                <a:sym typeface="Arial"/>
              </a:rPr>
              <a:t>Năm cột nguyên nhân và dep_delay thiếu được điền 0.</a:t>
            </a:r>
          </a:p>
        </p:txBody>
      </p:sp>
      <p:graphicFrame>
        <p:nvGraphicFramePr>
          <p:cNvPr name="Table 15" id="15"/>
          <p:cNvGraphicFramePr>
            <a:graphicFrameLocks noGrp="true"/>
          </p:cNvGraphicFramePr>
          <p:nvPr/>
        </p:nvGraphicFramePr>
        <p:xfrm>
          <a:off x="7643812" y="3343275"/>
          <a:ext cx="9766300" cy="4318000"/>
        </p:xfrm>
        <a:graphic>
          <a:graphicData uri="http://schemas.openxmlformats.org/drawingml/2006/table">
            <a:tbl>
              <a:tblPr/>
              <a:tblGrid>
                <a:gridCol w="5635310"/>
                <a:gridCol w="4130990"/>
              </a:tblGrid>
              <a:tr h="867323">
                <a:tc>
                  <a:txBody>
                    <a:bodyPr anchor="t" rtlCol="false"/>
                    <a:lstStyle/>
                    <a:p>
                      <a:pPr algn="l">
                        <a:lnSpc>
                          <a:spcPts val="4319"/>
                        </a:lnSpc>
                        <a:defRPr/>
                      </a:pPr>
                      <a:r>
                        <a:rPr lang="en-US" sz="3599" b="true">
                          <a:solidFill>
                            <a:srgbClr val="FFFFFF"/>
                          </a:solidFill>
                          <a:latin typeface="Arial Bold"/>
                          <a:ea typeface="Arial Bold"/>
                          <a:cs typeface="Arial Bold"/>
                          <a:sym typeface="Arial Bold"/>
                        </a:rPr>
                        <a:t>Dữ liệu minh họa</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4319"/>
                        </a:lnSpc>
                        <a:defRPr/>
                      </a:pPr>
                      <a:r>
                        <a:rPr lang="en-US" sz="3599" b="true">
                          <a:solidFill>
                            <a:srgbClr val="FFFFFF"/>
                          </a:solidFill>
                          <a:latin typeface="Arial Bold"/>
                          <a:ea typeface="Arial Bold"/>
                          <a:cs typeface="Arial Bold"/>
                          <a:sym typeface="Arial Bold"/>
                        </a:rPr>
                        <a:t>Sau xử lý</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r>
              <a:tr h="862669">
                <a:tc>
                  <a:txBody>
                    <a:bodyPr anchor="t" rtlCol="false"/>
                    <a:lstStyle/>
                    <a:p>
                      <a:pPr algn="l">
                        <a:lnSpc>
                          <a:spcPts val="4319"/>
                        </a:lnSpc>
                        <a:defRPr/>
                      </a:pPr>
                      <a:r>
                        <a:rPr lang="en-US" sz="3599">
                          <a:solidFill>
                            <a:srgbClr val="202D39"/>
                          </a:solidFill>
                          <a:latin typeface="Arial"/>
                          <a:ea typeface="Arial"/>
                          <a:cs typeface="Arial"/>
                          <a:sym typeface="Arial"/>
                        </a:rPr>
                        <a:t>cancelled = 1</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319"/>
                        </a:lnSpc>
                        <a:defRPr/>
                      </a:pPr>
                      <a:r>
                        <a:rPr lang="en-US" sz="3599">
                          <a:solidFill>
                            <a:srgbClr val="202D39"/>
                          </a:solidFill>
                          <a:latin typeface="Arial"/>
                          <a:ea typeface="Arial"/>
                          <a:cs typeface="Arial"/>
                          <a:sym typeface="Arial"/>
                        </a:rPr>
                        <a:t>Loại bản ghi</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r h="862669">
                <a:tc>
                  <a:txBody>
                    <a:bodyPr anchor="t" rtlCol="false"/>
                    <a:lstStyle/>
                    <a:p>
                      <a:pPr algn="l">
                        <a:lnSpc>
                          <a:spcPts val="4319"/>
                        </a:lnSpc>
                        <a:defRPr/>
                      </a:pPr>
                      <a:r>
                        <a:rPr lang="en-US" sz="3599">
                          <a:solidFill>
                            <a:srgbClr val="202D39"/>
                          </a:solidFill>
                          <a:latin typeface="Arial"/>
                          <a:ea typeface="Arial"/>
                          <a:cs typeface="Arial"/>
                          <a:sym typeface="Arial"/>
                        </a:rPr>
                        <a:t>arr_delay = thiếu</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c>
                  <a:txBody>
                    <a:bodyPr anchor="t" rtlCol="false"/>
                    <a:lstStyle/>
                    <a:p>
                      <a:pPr algn="l">
                        <a:lnSpc>
                          <a:spcPts val="4319"/>
                        </a:lnSpc>
                        <a:defRPr/>
                      </a:pPr>
                      <a:r>
                        <a:rPr lang="en-US" sz="3599">
                          <a:solidFill>
                            <a:srgbClr val="202D39"/>
                          </a:solidFill>
                          <a:latin typeface="Arial"/>
                          <a:ea typeface="Arial"/>
                          <a:cs typeface="Arial"/>
                          <a:sym typeface="Arial"/>
                        </a:rPr>
                        <a:t>Loại bản ghi</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r>
              <a:tr h="862669">
                <a:tc>
                  <a:txBody>
                    <a:bodyPr anchor="t" rtlCol="false"/>
                    <a:lstStyle/>
                    <a:p>
                      <a:pPr algn="l">
                        <a:lnSpc>
                          <a:spcPts val="4319"/>
                        </a:lnSpc>
                        <a:defRPr/>
                      </a:pPr>
                      <a:r>
                        <a:rPr lang="en-US" sz="3599">
                          <a:solidFill>
                            <a:srgbClr val="202D39"/>
                          </a:solidFill>
                          <a:latin typeface="Arial"/>
                          <a:ea typeface="Arial"/>
                          <a:cs typeface="Arial"/>
                          <a:sym typeface="Arial"/>
                        </a:rPr>
                        <a:t>weather_delay = thiếu</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319"/>
                        </a:lnSpc>
                        <a:defRPr/>
                      </a:pPr>
                      <a:r>
                        <a:rPr lang="en-US" sz="3599">
                          <a:solidFill>
                            <a:srgbClr val="202D39"/>
                          </a:solidFill>
                          <a:latin typeface="Arial"/>
                          <a:ea typeface="Arial"/>
                          <a:cs typeface="Arial"/>
                          <a:sym typeface="Arial"/>
                        </a:rPr>
                        <a:t>Điền 0</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r h="862669">
                <a:tc>
                  <a:txBody>
                    <a:bodyPr anchor="t" rtlCol="false"/>
                    <a:lstStyle/>
                    <a:p>
                      <a:pPr algn="l">
                        <a:lnSpc>
                          <a:spcPts val="4319"/>
                        </a:lnSpc>
                        <a:defRPr/>
                      </a:pPr>
                      <a:r>
                        <a:rPr lang="en-US" sz="3599">
                          <a:solidFill>
                            <a:srgbClr val="202D39"/>
                          </a:solidFill>
                          <a:latin typeface="Arial"/>
                          <a:ea typeface="Arial"/>
                          <a:cs typeface="Arial"/>
                          <a:sym typeface="Arial"/>
                        </a:rPr>
                        <a:t>dep_delay = thiếu</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c>
                  <a:txBody>
                    <a:bodyPr anchor="t" rtlCol="false"/>
                    <a:lstStyle/>
                    <a:p>
                      <a:pPr algn="l">
                        <a:lnSpc>
                          <a:spcPts val="4319"/>
                        </a:lnSpc>
                        <a:defRPr/>
                      </a:pPr>
                      <a:r>
                        <a:rPr lang="en-US" sz="3599">
                          <a:solidFill>
                            <a:srgbClr val="202D39"/>
                          </a:solidFill>
                          <a:latin typeface="Arial"/>
                          <a:ea typeface="Arial"/>
                          <a:cs typeface="Arial"/>
                          <a:sym typeface="Arial"/>
                        </a:rPr>
                        <a:t>Điền 0</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r>
            </a:tbl>
          </a:graphicData>
        </a:graphic>
      </p:graphicFrame>
      <p:sp>
        <p:nvSpPr>
          <p:cNvPr name="TextBox 16" id="1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7645980">
            <a:off x="6689541" y="6742109"/>
            <a:ext cx="1065590" cy="0"/>
          </a:xfrm>
          <a:prstGeom prst="line">
            <a:avLst/>
          </a:prstGeom>
          <a:ln cap="rnd" w="19050">
            <a:solidFill>
              <a:srgbClr val="2072B7"/>
            </a:solidFill>
            <a:prstDash val="solid"/>
            <a:headEnd type="none" len="sm" w="sm"/>
            <a:tailEnd type="triangle" len="med" w="lg"/>
          </a:ln>
        </p:spPr>
      </p:sp>
      <p:sp>
        <p:nvSpPr>
          <p:cNvPr name="AutoShape 12" id="12"/>
          <p:cNvSpPr/>
          <p:nvPr/>
        </p:nvSpPr>
        <p:spPr>
          <a:xfrm rot="1540380">
            <a:off x="5529310" y="4533900"/>
            <a:ext cx="2121589" cy="0"/>
          </a:xfrm>
          <a:prstGeom prst="line">
            <a:avLst/>
          </a:prstGeom>
          <a:ln cap="rnd" w="19050">
            <a:solidFill>
              <a:srgbClr val="2072B7"/>
            </a:solidFill>
            <a:prstDash val="solid"/>
            <a:headEnd type="none" len="sm" w="sm"/>
            <a:tailEnd type="triangle" len="med" w="lg"/>
          </a:ln>
        </p:spPr>
      </p:sp>
      <p:sp>
        <p:nvSpPr>
          <p:cNvPr name="AutoShape 13" id="13"/>
          <p:cNvSpPr/>
          <p:nvPr/>
        </p:nvSpPr>
        <p:spPr>
          <a:xfrm rot="9802440">
            <a:off x="2312299" y="4562475"/>
            <a:ext cx="3412112" cy="0"/>
          </a:xfrm>
          <a:prstGeom prst="line">
            <a:avLst/>
          </a:prstGeom>
          <a:ln cap="rnd" w="19050">
            <a:solidFill>
              <a:srgbClr val="2072B7"/>
            </a:solidFill>
            <a:prstDash val="solid"/>
            <a:headEnd type="none" len="sm" w="sm"/>
            <a:tailEnd type="triangle" len="med" w="lg"/>
          </a:ln>
        </p:spPr>
      </p:sp>
      <p:sp>
        <p:nvSpPr>
          <p:cNvPr name="TextBox 14" id="14"/>
          <p:cNvSpPr txBox="true"/>
          <p:nvPr/>
        </p:nvSpPr>
        <p:spPr>
          <a:xfrm rot="0">
            <a:off x="857250" y="1428750"/>
            <a:ext cx="16573500" cy="809625"/>
          </a:xfrm>
          <a:prstGeom prst="rect">
            <a:avLst/>
          </a:prstGeom>
        </p:spPr>
        <p:txBody>
          <a:bodyPr anchor="t" rtlCol="false" tIns="0" lIns="0" bIns="0" rIns="0">
            <a:spAutoFit/>
          </a:bodyPr>
          <a:lstStyle/>
          <a:p>
            <a:pPr algn="l">
              <a:lnSpc>
                <a:spcPts val="5954"/>
              </a:lnSpc>
            </a:pPr>
            <a:r>
              <a:rPr lang="en-US" sz="4962" b="true">
                <a:solidFill>
                  <a:srgbClr val="2072B7"/>
                </a:solidFill>
                <a:latin typeface="Arial Bold"/>
                <a:ea typeface="Arial Bold"/>
                <a:cs typeface="Arial Bold"/>
                <a:sym typeface="Arial Bold"/>
              </a:rPr>
              <a:t>Tạo nhãn nguyên nhân trễ chi phối</a:t>
            </a:r>
          </a:p>
        </p:txBody>
      </p:sp>
      <p:sp>
        <p:nvSpPr>
          <p:cNvPr name="TextBox 15" id="15"/>
          <p:cNvSpPr txBox="true"/>
          <p:nvPr/>
        </p:nvSpPr>
        <p:spPr>
          <a:xfrm rot="0">
            <a:off x="857250" y="2333625"/>
            <a:ext cx="16247745" cy="542898"/>
          </a:xfrm>
          <a:prstGeom prst="rect">
            <a:avLst/>
          </a:prstGeom>
        </p:spPr>
        <p:txBody>
          <a:bodyPr anchor="t" rtlCol="false" tIns="0" lIns="0" bIns="0" rIns="0">
            <a:spAutoFit/>
          </a:bodyPr>
          <a:lstStyle/>
          <a:p>
            <a:pPr algn="l">
              <a:lnSpc>
                <a:spcPts val="4199"/>
              </a:lnSpc>
            </a:pPr>
            <a:r>
              <a:rPr lang="en-US" sz="3498" b="true">
                <a:solidFill>
                  <a:srgbClr val="174C7E"/>
                </a:solidFill>
                <a:latin typeface="Arial Bold"/>
                <a:ea typeface="Arial Bold"/>
                <a:cs typeface="Arial Bold"/>
                <a:sym typeface="Arial Bold"/>
              </a:rPr>
              <a:t>Đúng giờ </a:t>
            </a:r>
            <a:r>
              <a:rPr lang="en-US" sz="3498" b="true">
                <a:solidFill>
                  <a:srgbClr val="174C7E"/>
                </a:solidFill>
                <a:latin typeface="Arial Bold"/>
                <a:ea typeface="Arial Bold"/>
                <a:cs typeface="Arial Bold"/>
                <a:sym typeface="Arial Bold"/>
              </a:rPr>
              <a:t>khi arr_delay &lt; 15; chuyến trễ lấy nguyên nhân có số phút lớn nhất</a:t>
            </a:r>
          </a:p>
        </p:txBody>
      </p:sp>
      <p:grpSp>
        <p:nvGrpSpPr>
          <p:cNvPr name="Group 16" id="16"/>
          <p:cNvGrpSpPr/>
          <p:nvPr/>
        </p:nvGrpSpPr>
        <p:grpSpPr>
          <a:xfrm rot="0">
            <a:off x="2630691" y="3259341"/>
            <a:ext cx="6025753" cy="839391"/>
            <a:chOff x="0" y="0"/>
            <a:chExt cx="8034338" cy="1119188"/>
          </a:xfrm>
        </p:grpSpPr>
        <p:sp>
          <p:nvSpPr>
            <p:cNvPr name="Freeform 17" id="17"/>
            <p:cNvSpPr/>
            <p:nvPr/>
          </p:nvSpPr>
          <p:spPr>
            <a:xfrm flipH="false" flipV="false" rot="0">
              <a:off x="0" y="0"/>
              <a:ext cx="8034401" cy="1119251"/>
            </a:xfrm>
            <a:custGeom>
              <a:avLst/>
              <a:gdLst/>
              <a:ahLst/>
              <a:cxnLst/>
              <a:rect r="r" b="b" t="t" l="l"/>
              <a:pathLst>
                <a:path h="1119251" w="8034401">
                  <a:moveTo>
                    <a:pt x="0" y="0"/>
                  </a:moveTo>
                  <a:lnTo>
                    <a:pt x="8034401" y="0"/>
                  </a:lnTo>
                  <a:lnTo>
                    <a:pt x="8034401" y="1119251"/>
                  </a:lnTo>
                  <a:lnTo>
                    <a:pt x="0" y="1119251"/>
                  </a:lnTo>
                  <a:close/>
                </a:path>
              </a:pathLst>
            </a:custGeom>
            <a:solidFill>
              <a:srgbClr val="2072B7"/>
            </a:solidFill>
            <a:ln w="14288" cap="sq">
              <a:solidFill>
                <a:srgbClr val="2072B7"/>
              </a:solidFill>
              <a:prstDash val="solid"/>
              <a:miter/>
            </a:ln>
          </p:spPr>
        </p:sp>
      </p:grpSp>
      <p:grpSp>
        <p:nvGrpSpPr>
          <p:cNvPr name="Group 18" id="18"/>
          <p:cNvGrpSpPr/>
          <p:nvPr/>
        </p:nvGrpSpPr>
        <p:grpSpPr>
          <a:xfrm rot="0">
            <a:off x="2636044" y="3250406"/>
            <a:ext cx="6015038" cy="842962"/>
            <a:chOff x="0" y="0"/>
            <a:chExt cx="8020050" cy="1123950"/>
          </a:xfrm>
        </p:grpSpPr>
        <p:sp>
          <p:nvSpPr>
            <p:cNvPr name="Freeform 19" id="19"/>
            <p:cNvSpPr/>
            <p:nvPr/>
          </p:nvSpPr>
          <p:spPr>
            <a:xfrm flipH="false" flipV="false" rot="0">
              <a:off x="0" y="0"/>
              <a:ext cx="8020051" cy="1123950"/>
            </a:xfrm>
            <a:custGeom>
              <a:avLst/>
              <a:gdLst/>
              <a:ahLst/>
              <a:cxnLst/>
              <a:rect r="r" b="b" t="t" l="l"/>
              <a:pathLst>
                <a:path h="1123950" w="8020051">
                  <a:moveTo>
                    <a:pt x="0" y="0"/>
                  </a:moveTo>
                  <a:lnTo>
                    <a:pt x="8020051" y="0"/>
                  </a:lnTo>
                  <a:lnTo>
                    <a:pt x="8020051" y="1123950"/>
                  </a:lnTo>
                  <a:lnTo>
                    <a:pt x="0" y="1123950"/>
                  </a:lnTo>
                  <a:close/>
                </a:path>
              </a:pathLst>
            </a:custGeom>
            <a:blipFill>
              <a:blip r:embed="rId5">
                <a:alphaModFix amt="0"/>
              </a:blip>
              <a:stretch>
                <a:fillRect l="0" t="-89037" r="0" b="-89037"/>
              </a:stretch>
            </a:blipFill>
          </p:spPr>
        </p:sp>
        <p:sp>
          <p:nvSpPr>
            <p:cNvPr name="TextBox 20" id="20"/>
            <p:cNvSpPr txBox="true"/>
            <p:nvPr/>
          </p:nvSpPr>
          <p:spPr>
            <a:xfrm>
              <a:off x="0" y="-19050"/>
              <a:ext cx="8020050" cy="1143000"/>
            </a:xfrm>
            <a:prstGeom prst="rect">
              <a:avLst/>
            </a:prstGeom>
          </p:spPr>
          <p:txBody>
            <a:bodyPr anchor="ctr" rtlCol="false" tIns="0" lIns="0" bIns="0" rIns="0"/>
            <a:lstStyle/>
            <a:p>
              <a:pPr algn="ctr">
                <a:lnSpc>
                  <a:spcPts val="4199"/>
                </a:lnSpc>
              </a:pPr>
              <a:r>
                <a:rPr lang="en-US" sz="3498">
                  <a:solidFill>
                    <a:srgbClr val="FFFFFF"/>
                  </a:solidFill>
                  <a:latin typeface="Arial"/>
                  <a:ea typeface="Arial"/>
                  <a:cs typeface="Arial"/>
                  <a:sym typeface="Arial"/>
                </a:rPr>
                <a:t>arr_delay &lt; 15?</a:t>
              </a:r>
            </a:p>
          </p:txBody>
        </p:sp>
      </p:grpSp>
      <p:grpSp>
        <p:nvGrpSpPr>
          <p:cNvPr name="Group 21" id="21"/>
          <p:cNvGrpSpPr/>
          <p:nvPr/>
        </p:nvGrpSpPr>
        <p:grpSpPr>
          <a:xfrm rot="0">
            <a:off x="916191" y="5045269"/>
            <a:ext cx="2953941" cy="1355322"/>
            <a:chOff x="0" y="0"/>
            <a:chExt cx="3938588" cy="1807096"/>
          </a:xfrm>
        </p:grpSpPr>
        <p:sp>
          <p:nvSpPr>
            <p:cNvPr name="Freeform 22" id="22"/>
            <p:cNvSpPr/>
            <p:nvPr/>
          </p:nvSpPr>
          <p:spPr>
            <a:xfrm flipH="false" flipV="false" rot="0">
              <a:off x="0" y="0"/>
              <a:ext cx="3938651" cy="1807083"/>
            </a:xfrm>
            <a:custGeom>
              <a:avLst/>
              <a:gdLst/>
              <a:ahLst/>
              <a:cxnLst/>
              <a:rect r="r" b="b" t="t" l="l"/>
              <a:pathLst>
                <a:path h="1807083" w="3938651">
                  <a:moveTo>
                    <a:pt x="0" y="0"/>
                  </a:moveTo>
                  <a:lnTo>
                    <a:pt x="3938651" y="0"/>
                  </a:lnTo>
                  <a:lnTo>
                    <a:pt x="3938651" y="1807083"/>
                  </a:lnTo>
                  <a:lnTo>
                    <a:pt x="0" y="1807083"/>
                  </a:lnTo>
                  <a:close/>
                </a:path>
              </a:pathLst>
            </a:custGeom>
            <a:solidFill>
              <a:srgbClr val="2072B7"/>
            </a:solidFill>
            <a:ln w="14288" cap="sq">
              <a:solidFill>
                <a:srgbClr val="2072B7"/>
              </a:solidFill>
              <a:prstDash val="solid"/>
              <a:miter/>
            </a:ln>
          </p:spPr>
        </p:sp>
      </p:grpSp>
      <p:grpSp>
        <p:nvGrpSpPr>
          <p:cNvPr name="Group 23" id="23"/>
          <p:cNvGrpSpPr/>
          <p:nvPr/>
        </p:nvGrpSpPr>
        <p:grpSpPr>
          <a:xfrm rot="0">
            <a:off x="921544" y="5036344"/>
            <a:ext cx="2943225" cy="1358894"/>
            <a:chOff x="0" y="0"/>
            <a:chExt cx="3924300" cy="1811858"/>
          </a:xfrm>
        </p:grpSpPr>
        <p:sp>
          <p:nvSpPr>
            <p:cNvPr name="Freeform 24" id="24"/>
            <p:cNvSpPr/>
            <p:nvPr/>
          </p:nvSpPr>
          <p:spPr>
            <a:xfrm flipH="false" flipV="false" rot="0">
              <a:off x="0" y="0"/>
              <a:ext cx="3924300" cy="1811857"/>
            </a:xfrm>
            <a:custGeom>
              <a:avLst/>
              <a:gdLst/>
              <a:ahLst/>
              <a:cxnLst/>
              <a:rect r="r" b="b" t="t" l="l"/>
              <a:pathLst>
                <a:path h="1811857" w="3924300">
                  <a:moveTo>
                    <a:pt x="0" y="0"/>
                  </a:moveTo>
                  <a:lnTo>
                    <a:pt x="3924300" y="0"/>
                  </a:lnTo>
                  <a:lnTo>
                    <a:pt x="3924300" y="1811857"/>
                  </a:lnTo>
                  <a:lnTo>
                    <a:pt x="0" y="1811857"/>
                  </a:lnTo>
                  <a:close/>
                </a:path>
              </a:pathLst>
            </a:custGeom>
            <a:blipFill>
              <a:blip r:embed="rId5">
                <a:alphaModFix amt="0"/>
              </a:blip>
              <a:stretch>
                <a:fillRect l="-9238" t="0" r="-9238" b="0"/>
              </a:stretch>
            </a:blipFill>
          </p:spPr>
        </p:sp>
        <p:sp>
          <p:nvSpPr>
            <p:cNvPr name="TextBox 25" id="25"/>
            <p:cNvSpPr txBox="true"/>
            <p:nvPr/>
          </p:nvSpPr>
          <p:spPr>
            <a:xfrm>
              <a:off x="0" y="-19050"/>
              <a:ext cx="3924300" cy="1830908"/>
            </a:xfrm>
            <a:prstGeom prst="rect">
              <a:avLst/>
            </a:prstGeom>
          </p:spPr>
          <p:txBody>
            <a:bodyPr anchor="ctr" rtlCol="false" tIns="0" lIns="0" bIns="0" rIns="0"/>
            <a:lstStyle/>
            <a:p>
              <a:pPr algn="ctr">
                <a:lnSpc>
                  <a:spcPts val="4199"/>
                </a:lnSpc>
              </a:pPr>
              <a:r>
                <a:rPr lang="en-US" sz="3498">
                  <a:solidFill>
                    <a:srgbClr val="FFFFFF"/>
                  </a:solidFill>
                  <a:latin typeface="Arial"/>
                  <a:ea typeface="Arial"/>
                  <a:cs typeface="Arial"/>
                  <a:sym typeface="Arial"/>
                </a:rPr>
                <a:t>Có: OnTime</a:t>
              </a:r>
            </a:p>
            <a:p>
              <a:pPr algn="ctr">
                <a:lnSpc>
                  <a:spcPts val="4199"/>
                </a:lnSpc>
              </a:pPr>
              <a:r>
                <a:rPr lang="en-US" sz="3498">
                  <a:solidFill>
                    <a:srgbClr val="FFFFFF"/>
                  </a:solidFill>
                  <a:latin typeface="Arial"/>
                  <a:ea typeface="Arial"/>
                  <a:cs typeface="Arial"/>
                  <a:sym typeface="Arial"/>
                </a:rPr>
                <a:t>Mã 0</a:t>
              </a:r>
            </a:p>
          </p:txBody>
        </p:sp>
      </p:grpSp>
      <p:grpSp>
        <p:nvGrpSpPr>
          <p:cNvPr name="Group 26" id="26"/>
          <p:cNvGrpSpPr/>
          <p:nvPr/>
        </p:nvGrpSpPr>
        <p:grpSpPr>
          <a:xfrm rot="0">
            <a:off x="4630941" y="4988119"/>
            <a:ext cx="5811441" cy="1355322"/>
            <a:chOff x="0" y="0"/>
            <a:chExt cx="7748588" cy="1807096"/>
          </a:xfrm>
        </p:grpSpPr>
        <p:sp>
          <p:nvSpPr>
            <p:cNvPr name="Freeform 27" id="27"/>
            <p:cNvSpPr/>
            <p:nvPr/>
          </p:nvSpPr>
          <p:spPr>
            <a:xfrm flipH="false" flipV="false" rot="0">
              <a:off x="0" y="0"/>
              <a:ext cx="7748651" cy="1807083"/>
            </a:xfrm>
            <a:custGeom>
              <a:avLst/>
              <a:gdLst/>
              <a:ahLst/>
              <a:cxnLst/>
              <a:rect r="r" b="b" t="t" l="l"/>
              <a:pathLst>
                <a:path h="1807083" w="7748651">
                  <a:moveTo>
                    <a:pt x="0" y="0"/>
                  </a:moveTo>
                  <a:lnTo>
                    <a:pt x="7748651" y="0"/>
                  </a:lnTo>
                  <a:lnTo>
                    <a:pt x="7748651" y="1807083"/>
                  </a:lnTo>
                  <a:lnTo>
                    <a:pt x="0" y="1807083"/>
                  </a:lnTo>
                  <a:close/>
                </a:path>
              </a:pathLst>
            </a:custGeom>
            <a:solidFill>
              <a:srgbClr val="2072B7"/>
            </a:solidFill>
            <a:ln w="14288" cap="sq">
              <a:solidFill>
                <a:srgbClr val="2072B7"/>
              </a:solidFill>
              <a:prstDash val="solid"/>
              <a:miter/>
            </a:ln>
          </p:spPr>
        </p:sp>
      </p:grpSp>
      <p:grpSp>
        <p:nvGrpSpPr>
          <p:cNvPr name="Group 28" id="28"/>
          <p:cNvGrpSpPr/>
          <p:nvPr/>
        </p:nvGrpSpPr>
        <p:grpSpPr>
          <a:xfrm rot="0">
            <a:off x="4636294" y="4979194"/>
            <a:ext cx="5800725" cy="1358894"/>
            <a:chOff x="0" y="0"/>
            <a:chExt cx="7734300" cy="1811858"/>
          </a:xfrm>
        </p:grpSpPr>
        <p:sp>
          <p:nvSpPr>
            <p:cNvPr name="Freeform 29" id="29"/>
            <p:cNvSpPr/>
            <p:nvPr/>
          </p:nvSpPr>
          <p:spPr>
            <a:xfrm flipH="false" flipV="false" rot="0">
              <a:off x="0" y="0"/>
              <a:ext cx="7734300" cy="1811857"/>
            </a:xfrm>
            <a:custGeom>
              <a:avLst/>
              <a:gdLst/>
              <a:ahLst/>
              <a:cxnLst/>
              <a:rect r="r" b="b" t="t" l="l"/>
              <a:pathLst>
                <a:path h="1811857" w="7734300">
                  <a:moveTo>
                    <a:pt x="0" y="0"/>
                  </a:moveTo>
                  <a:lnTo>
                    <a:pt x="7734300" y="0"/>
                  </a:lnTo>
                  <a:lnTo>
                    <a:pt x="7734300" y="1811857"/>
                  </a:lnTo>
                  <a:lnTo>
                    <a:pt x="0" y="1811857"/>
                  </a:lnTo>
                  <a:close/>
                </a:path>
              </a:pathLst>
            </a:custGeom>
            <a:blipFill>
              <a:blip r:embed="rId5">
                <a:alphaModFix amt="0"/>
              </a:blip>
              <a:stretch>
                <a:fillRect l="0" t="-33176" r="0" b="-33176"/>
              </a:stretch>
            </a:blipFill>
          </p:spPr>
        </p:sp>
        <p:sp>
          <p:nvSpPr>
            <p:cNvPr name="TextBox 30" id="30"/>
            <p:cNvSpPr txBox="true"/>
            <p:nvPr/>
          </p:nvSpPr>
          <p:spPr>
            <a:xfrm>
              <a:off x="0" y="-19050"/>
              <a:ext cx="7734300" cy="1830908"/>
            </a:xfrm>
            <a:prstGeom prst="rect">
              <a:avLst/>
            </a:prstGeom>
          </p:spPr>
          <p:txBody>
            <a:bodyPr anchor="ctr" rtlCol="false" tIns="0" lIns="0" bIns="0" rIns="0"/>
            <a:lstStyle/>
            <a:p>
              <a:pPr algn="ctr">
                <a:lnSpc>
                  <a:spcPts val="4199"/>
                </a:lnSpc>
              </a:pPr>
              <a:r>
                <a:rPr lang="en-US" sz="3498">
                  <a:solidFill>
                    <a:srgbClr val="FFFFFF"/>
                  </a:solidFill>
                  <a:latin typeface="Arial"/>
                  <a:ea typeface="Arial"/>
                  <a:cs typeface="Arial"/>
                  <a:sym typeface="Arial"/>
                </a:rPr>
                <a:t>Không: lấy max</a:t>
              </a:r>
            </a:p>
            <a:p>
              <a:pPr algn="ctr">
                <a:lnSpc>
                  <a:spcPts val="4199"/>
                </a:lnSpc>
              </a:pPr>
              <a:r>
                <a:rPr lang="en-US" sz="3498">
                  <a:solidFill>
                    <a:srgbClr val="FFFFFF"/>
                  </a:solidFill>
                  <a:latin typeface="Arial"/>
                  <a:ea typeface="Arial"/>
                  <a:cs typeface="Arial"/>
                  <a:sym typeface="Arial"/>
                </a:rPr>
                <a:t>5 cột nguyên nhân</a:t>
              </a:r>
            </a:p>
          </p:txBody>
        </p:sp>
      </p:grpSp>
      <p:grpSp>
        <p:nvGrpSpPr>
          <p:cNvPr name="Group 31" id="31"/>
          <p:cNvGrpSpPr/>
          <p:nvPr/>
        </p:nvGrpSpPr>
        <p:grpSpPr>
          <a:xfrm rot="0">
            <a:off x="3859416" y="7159819"/>
            <a:ext cx="6097191" cy="1844450"/>
            <a:chOff x="0" y="0"/>
            <a:chExt cx="8129588" cy="2459266"/>
          </a:xfrm>
        </p:grpSpPr>
        <p:sp>
          <p:nvSpPr>
            <p:cNvPr name="Freeform 32" id="32"/>
            <p:cNvSpPr/>
            <p:nvPr/>
          </p:nvSpPr>
          <p:spPr>
            <a:xfrm flipH="false" flipV="false" rot="0">
              <a:off x="0" y="0"/>
              <a:ext cx="8129651" cy="2459228"/>
            </a:xfrm>
            <a:custGeom>
              <a:avLst/>
              <a:gdLst/>
              <a:ahLst/>
              <a:cxnLst/>
              <a:rect r="r" b="b" t="t" l="l"/>
              <a:pathLst>
                <a:path h="2459228" w="8129651">
                  <a:moveTo>
                    <a:pt x="0" y="0"/>
                  </a:moveTo>
                  <a:lnTo>
                    <a:pt x="8129651" y="0"/>
                  </a:lnTo>
                  <a:lnTo>
                    <a:pt x="8129651" y="2459228"/>
                  </a:lnTo>
                  <a:lnTo>
                    <a:pt x="0" y="2459228"/>
                  </a:lnTo>
                  <a:close/>
                </a:path>
              </a:pathLst>
            </a:custGeom>
            <a:solidFill>
              <a:srgbClr val="EDF5FB"/>
            </a:solidFill>
            <a:ln w="14288" cap="sq">
              <a:solidFill>
                <a:srgbClr val="B9D2E7"/>
              </a:solidFill>
              <a:prstDash val="solid"/>
              <a:miter/>
            </a:ln>
          </p:spPr>
        </p:sp>
      </p:grpSp>
      <p:grpSp>
        <p:nvGrpSpPr>
          <p:cNvPr name="Group 33" id="33"/>
          <p:cNvGrpSpPr/>
          <p:nvPr/>
        </p:nvGrpSpPr>
        <p:grpSpPr>
          <a:xfrm rot="0">
            <a:off x="3864769" y="7150894"/>
            <a:ext cx="6086475" cy="1848021"/>
            <a:chOff x="0" y="0"/>
            <a:chExt cx="8115300" cy="2464029"/>
          </a:xfrm>
        </p:grpSpPr>
        <p:sp>
          <p:nvSpPr>
            <p:cNvPr name="Freeform 34" id="34"/>
            <p:cNvSpPr/>
            <p:nvPr/>
          </p:nvSpPr>
          <p:spPr>
            <a:xfrm flipH="false" flipV="false" rot="0">
              <a:off x="0" y="0"/>
              <a:ext cx="8115300" cy="2464025"/>
            </a:xfrm>
            <a:custGeom>
              <a:avLst/>
              <a:gdLst/>
              <a:ahLst/>
              <a:cxnLst/>
              <a:rect r="r" b="b" t="t" l="l"/>
              <a:pathLst>
                <a:path h="2464025" w="8115300">
                  <a:moveTo>
                    <a:pt x="0" y="0"/>
                  </a:moveTo>
                  <a:lnTo>
                    <a:pt x="8115300" y="0"/>
                  </a:lnTo>
                  <a:lnTo>
                    <a:pt x="8115300" y="2464025"/>
                  </a:lnTo>
                  <a:lnTo>
                    <a:pt x="0" y="2464025"/>
                  </a:lnTo>
                  <a:close/>
                </a:path>
              </a:pathLst>
            </a:custGeom>
            <a:blipFill>
              <a:blip r:embed="rId5">
                <a:alphaModFix amt="0"/>
              </a:blip>
              <a:stretch>
                <a:fillRect l="0" t="-14174" r="0" b="-14174"/>
              </a:stretch>
            </a:blipFill>
          </p:spPr>
        </p:sp>
        <p:sp>
          <p:nvSpPr>
            <p:cNvPr name="TextBox 35" id="35"/>
            <p:cNvSpPr txBox="true"/>
            <p:nvPr/>
          </p:nvSpPr>
          <p:spPr>
            <a:xfrm>
              <a:off x="0" y="-19050"/>
              <a:ext cx="8115300" cy="2483079"/>
            </a:xfrm>
            <a:prstGeom prst="rect">
              <a:avLst/>
            </a:prstGeom>
          </p:spPr>
          <p:txBody>
            <a:bodyPr anchor="ctr" rtlCol="false" tIns="0" lIns="0" bIns="0" rIns="0"/>
            <a:lstStyle/>
            <a:p>
              <a:pPr algn="ctr">
                <a:lnSpc>
                  <a:spcPts val="4063"/>
                </a:lnSpc>
              </a:pPr>
              <a:r>
                <a:rPr lang="en-US" sz="3386">
                  <a:solidFill>
                    <a:srgbClr val="202D39"/>
                  </a:solidFill>
                  <a:latin typeface="Arial"/>
                  <a:ea typeface="Arial"/>
                  <a:cs typeface="Arial"/>
                  <a:sym typeface="Arial"/>
                </a:rPr>
                <a:t>max &gt; 0: chọn nguyên nhân đầu tiên đạt max</a:t>
              </a:r>
            </a:p>
            <a:p>
              <a:pPr algn="ctr">
                <a:lnSpc>
                  <a:spcPts val="4063"/>
                </a:lnSpc>
              </a:pPr>
              <a:r>
                <a:rPr lang="en-US" sz="3386">
                  <a:solidFill>
                    <a:srgbClr val="202D39"/>
                  </a:solidFill>
                  <a:latin typeface="Arial"/>
                  <a:ea typeface="Arial"/>
                  <a:cs typeface="Arial"/>
                  <a:sym typeface="Arial"/>
                </a:rPr>
                <a:t>max ≤ 0: Carrier</a:t>
              </a:r>
            </a:p>
          </p:txBody>
        </p:sp>
      </p:grpSp>
      <p:sp>
        <p:nvSpPr>
          <p:cNvPr name="TextBox 36" id="36"/>
          <p:cNvSpPr txBox="true"/>
          <p:nvPr/>
        </p:nvSpPr>
        <p:spPr>
          <a:xfrm rot="0">
            <a:off x="11403806" y="3343275"/>
            <a:ext cx="6000750" cy="1152501"/>
          </a:xfrm>
          <a:prstGeom prst="rect">
            <a:avLst/>
          </a:prstGeom>
        </p:spPr>
        <p:txBody>
          <a:bodyPr anchor="t" rtlCol="false" tIns="0" lIns="0" bIns="0" rIns="0">
            <a:spAutoFit/>
          </a:bodyPr>
          <a:lstStyle/>
          <a:p>
            <a:pPr algn="l">
              <a:lnSpc>
                <a:spcPts val="4468"/>
              </a:lnSpc>
            </a:pPr>
            <a:r>
              <a:rPr lang="en-US" sz="3723">
                <a:solidFill>
                  <a:srgbClr val="202D39"/>
                </a:solidFill>
                <a:latin typeface="Arial"/>
                <a:ea typeface="Arial"/>
                <a:cs typeface="Arial"/>
                <a:sym typeface="Arial"/>
              </a:rPr>
              <a:t>Nếu bằng nhau, ưu tiên theo thứ tự cố định </a:t>
            </a:r>
          </a:p>
        </p:txBody>
      </p:sp>
      <p:sp>
        <p:nvSpPr>
          <p:cNvPr name="TextBox 37" id="37"/>
          <p:cNvSpPr txBox="true"/>
          <p:nvPr/>
        </p:nvSpPr>
        <p:spPr>
          <a:xfrm rot="0">
            <a:off x="11403806" y="5391150"/>
            <a:ext cx="6000750" cy="1152501"/>
          </a:xfrm>
          <a:prstGeom prst="rect">
            <a:avLst/>
          </a:prstGeom>
        </p:spPr>
        <p:txBody>
          <a:bodyPr anchor="t" rtlCol="false" tIns="0" lIns="0" bIns="0" rIns="0">
            <a:spAutoFit/>
          </a:bodyPr>
          <a:lstStyle/>
          <a:p>
            <a:pPr algn="l">
              <a:lnSpc>
                <a:spcPts val="4468"/>
              </a:lnSpc>
            </a:pPr>
            <a:r>
              <a:rPr lang="en-US" sz="3723">
                <a:solidFill>
                  <a:srgbClr val="202D39"/>
                </a:solidFill>
                <a:latin typeface="Arial"/>
                <a:ea typeface="Arial"/>
                <a:cs typeface="Arial"/>
                <a:sym typeface="Arial"/>
              </a:rPr>
              <a:t>Carrier → Weather → NAS → Security → LateAircraft.</a:t>
            </a:r>
          </a:p>
        </p:txBody>
      </p:sp>
      <p:sp>
        <p:nvSpPr>
          <p:cNvPr name="TextBox 38" id="38"/>
          <p:cNvSpPr txBox="true"/>
          <p:nvPr/>
        </p:nvSpPr>
        <p:spPr>
          <a:xfrm rot="0">
            <a:off x="11403806" y="7439025"/>
            <a:ext cx="6000750" cy="1743075"/>
          </a:xfrm>
          <a:prstGeom prst="rect">
            <a:avLst/>
          </a:prstGeom>
        </p:spPr>
        <p:txBody>
          <a:bodyPr anchor="t" rtlCol="false" tIns="0" lIns="0" bIns="0" rIns="0">
            <a:spAutoFit/>
          </a:bodyPr>
          <a:lstStyle/>
          <a:p>
            <a:pPr algn="l">
              <a:lnSpc>
                <a:spcPts val="4468"/>
              </a:lnSpc>
            </a:pPr>
            <a:r>
              <a:rPr lang="en-US" sz="3723">
                <a:solidFill>
                  <a:srgbClr val="202D39"/>
                </a:solidFill>
                <a:latin typeface="Arial"/>
                <a:ea typeface="Arial"/>
                <a:cs typeface="Arial"/>
                <a:sym typeface="Arial"/>
              </a:rPr>
              <a:t>Ví dụ: Carrier = Weather = 20 phút, arr_delay = 40 → Carrier.</a:t>
            </a:r>
          </a:p>
        </p:txBody>
      </p:sp>
      <p:sp>
        <p:nvSpPr>
          <p:cNvPr name="TextBox 39" id="39"/>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5253780">
            <a:off x="12313244" y="5898356"/>
            <a:ext cx="448085" cy="0"/>
          </a:xfrm>
          <a:prstGeom prst="line">
            <a:avLst/>
          </a:prstGeom>
          <a:ln cap="rnd" w="19050">
            <a:solidFill>
              <a:srgbClr val="2072B7"/>
            </a:solidFill>
            <a:prstDash val="solid"/>
            <a:headEnd type="none" len="sm" w="sm"/>
            <a:tailEnd type="triangle" len="med" w="lg"/>
          </a:ln>
        </p:spPr>
      </p:sp>
      <p:sp>
        <p:nvSpPr>
          <p:cNvPr name="AutoShape 12" id="12"/>
          <p:cNvSpPr/>
          <p:nvPr/>
        </p:nvSpPr>
        <p:spPr>
          <a:xfrm rot="5253780">
            <a:off x="12313244" y="4526756"/>
            <a:ext cx="448085" cy="0"/>
          </a:xfrm>
          <a:prstGeom prst="line">
            <a:avLst/>
          </a:prstGeom>
          <a:ln cap="rnd" w="19050">
            <a:solidFill>
              <a:srgbClr val="2072B7"/>
            </a:solidFill>
            <a:prstDash val="solid"/>
            <a:headEnd type="none" len="sm" w="sm"/>
            <a:tailEnd type="triangle" len="med" w="lg"/>
          </a:ln>
        </p:spPr>
      </p:sp>
      <p:sp>
        <p:nvSpPr>
          <p:cNvPr name="TextBox 13" id="13"/>
          <p:cNvSpPr txBox="true"/>
          <p:nvPr/>
        </p:nvSpPr>
        <p:spPr>
          <a:xfrm rot="0">
            <a:off x="857250" y="1428750"/>
            <a:ext cx="13334048" cy="1533865"/>
          </a:xfrm>
          <a:prstGeom prst="rect">
            <a:avLst/>
          </a:prstGeom>
        </p:spPr>
        <p:txBody>
          <a:bodyPr anchor="t" rtlCol="false" tIns="0" lIns="0" bIns="0" rIns="0">
            <a:spAutoFit/>
          </a:bodyPr>
          <a:lstStyle/>
          <a:p>
            <a:pPr algn="l">
              <a:lnSpc>
                <a:spcPts val="5954"/>
              </a:lnSpc>
            </a:pPr>
            <a:r>
              <a:rPr lang="en-US" sz="4962" b="true">
                <a:solidFill>
                  <a:srgbClr val="2072B7"/>
                </a:solidFill>
                <a:latin typeface="Arial Bold"/>
                <a:ea typeface="Arial Bold"/>
                <a:cs typeface="Arial Bold"/>
                <a:sym typeface="Arial Bold"/>
              </a:rPr>
              <a:t>Khai</a:t>
            </a:r>
            <a:r>
              <a:rPr lang="en-US" sz="4962" b="true">
                <a:solidFill>
                  <a:srgbClr val="2072B7"/>
                </a:solidFill>
                <a:latin typeface="Arial Bold"/>
                <a:ea typeface="Arial Bold"/>
                <a:cs typeface="Arial Bold"/>
                <a:sym typeface="Arial Bold"/>
              </a:rPr>
              <a:t> Phá &amp; Chuẩn Hóa Đặc Trưng Thời Gian</a:t>
            </a:r>
          </a:p>
          <a:p>
            <a:pPr algn="l">
              <a:lnSpc>
                <a:spcPts val="5949"/>
              </a:lnSpc>
            </a:pPr>
          </a:p>
        </p:txBody>
      </p:sp>
      <p:sp>
        <p:nvSpPr>
          <p:cNvPr name="TextBox 14" id="14"/>
          <p:cNvSpPr txBox="true"/>
          <p:nvPr/>
        </p:nvSpPr>
        <p:spPr>
          <a:xfrm rot="0">
            <a:off x="857250" y="2324100"/>
            <a:ext cx="17255728" cy="514326"/>
          </a:xfrm>
          <a:prstGeom prst="rect">
            <a:avLst/>
          </a:prstGeom>
        </p:spPr>
        <p:txBody>
          <a:bodyPr anchor="t" rtlCol="false" tIns="0" lIns="0" bIns="0" rIns="0">
            <a:spAutoFit/>
          </a:bodyPr>
          <a:lstStyle/>
          <a:p>
            <a:pPr algn="l">
              <a:lnSpc>
                <a:spcPts val="3838"/>
              </a:lnSpc>
            </a:pPr>
            <a:r>
              <a:rPr lang="en-US" sz="3199" b="true">
                <a:solidFill>
                  <a:srgbClr val="174C7E"/>
                </a:solidFill>
                <a:latin typeface="Arial Bold"/>
                <a:ea typeface="Arial Bold"/>
                <a:cs typeface="Arial Bold"/>
                <a:sym typeface="Arial Bold"/>
              </a:rPr>
              <a:t>Chuyển đổ</a:t>
            </a:r>
            <a:r>
              <a:rPr lang="en-US" sz="3199" b="true">
                <a:solidFill>
                  <a:srgbClr val="174C7E"/>
                </a:solidFill>
                <a:latin typeface="Arial Bold"/>
                <a:ea typeface="Arial Bold"/>
                <a:cs typeface="Arial Bold"/>
                <a:sym typeface="Arial Bold"/>
              </a:rPr>
              <a:t>i định dạng đồng hồ rời rạc thành trục thời gian liên tục cho Machine Learning</a:t>
            </a:r>
          </a:p>
        </p:txBody>
      </p:sp>
      <p:sp>
        <p:nvSpPr>
          <p:cNvPr name="TextBox 15" id="15"/>
          <p:cNvSpPr txBox="true"/>
          <p:nvPr/>
        </p:nvSpPr>
        <p:spPr>
          <a:xfrm rot="0">
            <a:off x="857250" y="3343275"/>
            <a:ext cx="6072188" cy="1181100"/>
          </a:xfrm>
          <a:prstGeom prst="rect">
            <a:avLst/>
          </a:prstGeom>
        </p:spPr>
        <p:txBody>
          <a:bodyPr anchor="t" rtlCol="false" tIns="0" lIns="0" bIns="0" rIns="0">
            <a:spAutoFit/>
          </a:bodyPr>
          <a:lstStyle/>
          <a:p>
            <a:pPr algn="l">
              <a:lnSpc>
                <a:spcPts val="4468"/>
              </a:lnSpc>
            </a:pPr>
            <a:r>
              <a:rPr lang="en-US" sz="3723">
                <a:solidFill>
                  <a:srgbClr val="202D39"/>
                </a:solidFill>
                <a:latin typeface="Arial"/>
                <a:ea typeface="Arial"/>
                <a:cs typeface="Arial"/>
                <a:sym typeface="Arial"/>
              </a:rPr>
              <a:t>HHMM được tách bằng chia 100 và phần dư.</a:t>
            </a:r>
          </a:p>
        </p:txBody>
      </p:sp>
      <p:sp>
        <p:nvSpPr>
          <p:cNvPr name="TextBox 16" id="16"/>
          <p:cNvSpPr txBox="true"/>
          <p:nvPr/>
        </p:nvSpPr>
        <p:spPr>
          <a:xfrm rot="0">
            <a:off x="857250" y="4943475"/>
            <a:ext cx="6072188" cy="1181100"/>
          </a:xfrm>
          <a:prstGeom prst="rect">
            <a:avLst/>
          </a:prstGeom>
        </p:spPr>
        <p:txBody>
          <a:bodyPr anchor="t" rtlCol="false" tIns="0" lIns="0" bIns="0" rIns="0">
            <a:spAutoFit/>
          </a:bodyPr>
          <a:lstStyle/>
          <a:p>
            <a:pPr algn="l">
              <a:lnSpc>
                <a:spcPts val="4468"/>
              </a:lnSpc>
            </a:pPr>
            <a:r>
              <a:rPr lang="en-US" sz="3723">
                <a:solidFill>
                  <a:srgbClr val="202D39"/>
                </a:solidFill>
                <a:latin typeface="Arial"/>
                <a:ea typeface="Arial"/>
                <a:cs typeface="Arial"/>
                <a:sym typeface="Arial"/>
              </a:rPr>
              <a:t>Giờ đi/đến giới hạn trong 0–23.</a:t>
            </a:r>
          </a:p>
        </p:txBody>
      </p:sp>
      <p:grpSp>
        <p:nvGrpSpPr>
          <p:cNvPr name="Group 17" id="17"/>
          <p:cNvGrpSpPr/>
          <p:nvPr/>
        </p:nvGrpSpPr>
        <p:grpSpPr>
          <a:xfrm rot="0">
            <a:off x="7774191" y="3373641"/>
            <a:ext cx="9526191" cy="953691"/>
            <a:chOff x="0" y="0"/>
            <a:chExt cx="12701588" cy="1271588"/>
          </a:xfrm>
        </p:grpSpPr>
        <p:sp>
          <p:nvSpPr>
            <p:cNvPr name="Freeform 18" id="18"/>
            <p:cNvSpPr/>
            <p:nvPr/>
          </p:nvSpPr>
          <p:spPr>
            <a:xfrm flipH="false" flipV="false" rot="0">
              <a:off x="0" y="0"/>
              <a:ext cx="12701651" cy="1271651"/>
            </a:xfrm>
            <a:custGeom>
              <a:avLst/>
              <a:gdLst/>
              <a:ahLst/>
              <a:cxnLst/>
              <a:rect r="r" b="b" t="t" l="l"/>
              <a:pathLst>
                <a:path h="1271651" w="12701651">
                  <a:moveTo>
                    <a:pt x="0" y="0"/>
                  </a:moveTo>
                  <a:lnTo>
                    <a:pt x="12701651" y="0"/>
                  </a:lnTo>
                  <a:lnTo>
                    <a:pt x="12701651" y="1271651"/>
                  </a:lnTo>
                  <a:lnTo>
                    <a:pt x="0" y="1271651"/>
                  </a:lnTo>
                  <a:close/>
                </a:path>
              </a:pathLst>
            </a:custGeom>
            <a:solidFill>
              <a:srgbClr val="2072B7"/>
            </a:solidFill>
            <a:ln w="14288" cap="sq">
              <a:solidFill>
                <a:srgbClr val="2072B7"/>
              </a:solidFill>
              <a:prstDash val="solid"/>
              <a:miter/>
            </a:ln>
          </p:spPr>
        </p:sp>
      </p:grpSp>
      <p:grpSp>
        <p:nvGrpSpPr>
          <p:cNvPr name="Group 19" id="19"/>
          <p:cNvGrpSpPr/>
          <p:nvPr/>
        </p:nvGrpSpPr>
        <p:grpSpPr>
          <a:xfrm rot="0">
            <a:off x="7779544" y="3364706"/>
            <a:ext cx="9515475" cy="957262"/>
            <a:chOff x="0" y="0"/>
            <a:chExt cx="12687300" cy="1276350"/>
          </a:xfrm>
        </p:grpSpPr>
        <p:sp>
          <p:nvSpPr>
            <p:cNvPr name="Freeform 20" id="20"/>
            <p:cNvSpPr/>
            <p:nvPr/>
          </p:nvSpPr>
          <p:spPr>
            <a:xfrm flipH="false" flipV="false" rot="0">
              <a:off x="0" y="0"/>
              <a:ext cx="12687300" cy="1276350"/>
            </a:xfrm>
            <a:custGeom>
              <a:avLst/>
              <a:gdLst/>
              <a:ahLst/>
              <a:cxnLst/>
              <a:rect r="r" b="b" t="t" l="l"/>
              <a:pathLst>
                <a:path h="1276350" w="12687300">
                  <a:moveTo>
                    <a:pt x="0" y="0"/>
                  </a:moveTo>
                  <a:lnTo>
                    <a:pt x="12687300" y="0"/>
                  </a:lnTo>
                  <a:lnTo>
                    <a:pt x="12687300" y="1276350"/>
                  </a:lnTo>
                  <a:lnTo>
                    <a:pt x="0" y="1276350"/>
                  </a:lnTo>
                  <a:close/>
                </a:path>
              </a:pathLst>
            </a:custGeom>
            <a:blipFill>
              <a:blip r:embed="rId5">
                <a:alphaModFix amt="0"/>
              </a:blip>
              <a:stretch>
                <a:fillRect l="0" t="-143687" r="0" b="-143687"/>
              </a:stretch>
            </a:blipFill>
          </p:spPr>
        </p:sp>
        <p:sp>
          <p:nvSpPr>
            <p:cNvPr name="TextBox 21" id="21"/>
            <p:cNvSpPr txBox="true"/>
            <p:nvPr/>
          </p:nvSpPr>
          <p:spPr>
            <a:xfrm>
              <a:off x="0" y="-19050"/>
              <a:ext cx="12687300" cy="1295400"/>
            </a:xfrm>
            <a:prstGeom prst="rect">
              <a:avLst/>
            </a:prstGeom>
          </p:spPr>
          <p:txBody>
            <a:bodyPr anchor="ctr" rtlCol="false" tIns="0" lIns="0" bIns="0" rIns="0"/>
            <a:lstStyle/>
            <a:p>
              <a:pPr algn="ctr">
                <a:lnSpc>
                  <a:spcPts val="4199"/>
                </a:lnSpc>
              </a:pPr>
              <a:r>
                <a:rPr lang="en-US" sz="3498">
                  <a:solidFill>
                    <a:srgbClr val="FFFFFF"/>
                  </a:solidFill>
                  <a:latin typeface="Arial"/>
                  <a:ea typeface="Arial"/>
                  <a:cs typeface="Arial"/>
                  <a:sym typeface="Arial"/>
                </a:rPr>
                <a:t>Ví dụ crs_dep_time = 1730</a:t>
              </a:r>
            </a:p>
          </p:txBody>
        </p:sp>
      </p:grpSp>
      <p:grpSp>
        <p:nvGrpSpPr>
          <p:cNvPr name="Group 22" id="22"/>
          <p:cNvGrpSpPr/>
          <p:nvPr/>
        </p:nvGrpSpPr>
        <p:grpSpPr>
          <a:xfrm rot="0">
            <a:off x="7774191" y="4745241"/>
            <a:ext cx="9526191" cy="953691"/>
            <a:chOff x="0" y="0"/>
            <a:chExt cx="12701588" cy="1271588"/>
          </a:xfrm>
        </p:grpSpPr>
        <p:sp>
          <p:nvSpPr>
            <p:cNvPr name="Freeform 23" id="23"/>
            <p:cNvSpPr/>
            <p:nvPr/>
          </p:nvSpPr>
          <p:spPr>
            <a:xfrm flipH="false" flipV="false" rot="0">
              <a:off x="0" y="0"/>
              <a:ext cx="12701651" cy="1271651"/>
            </a:xfrm>
            <a:custGeom>
              <a:avLst/>
              <a:gdLst/>
              <a:ahLst/>
              <a:cxnLst/>
              <a:rect r="r" b="b" t="t" l="l"/>
              <a:pathLst>
                <a:path h="1271651" w="12701651">
                  <a:moveTo>
                    <a:pt x="0" y="0"/>
                  </a:moveTo>
                  <a:lnTo>
                    <a:pt x="12701651" y="0"/>
                  </a:lnTo>
                  <a:lnTo>
                    <a:pt x="12701651" y="1271651"/>
                  </a:lnTo>
                  <a:lnTo>
                    <a:pt x="0" y="1271651"/>
                  </a:lnTo>
                  <a:close/>
                </a:path>
              </a:pathLst>
            </a:custGeom>
            <a:solidFill>
              <a:srgbClr val="2072B7"/>
            </a:solidFill>
            <a:ln w="14288" cap="sq">
              <a:solidFill>
                <a:srgbClr val="2072B7"/>
              </a:solidFill>
              <a:prstDash val="solid"/>
              <a:miter/>
            </a:ln>
          </p:spPr>
        </p:sp>
      </p:grpSp>
      <p:grpSp>
        <p:nvGrpSpPr>
          <p:cNvPr name="Group 24" id="24"/>
          <p:cNvGrpSpPr/>
          <p:nvPr/>
        </p:nvGrpSpPr>
        <p:grpSpPr>
          <a:xfrm rot="0">
            <a:off x="7779544" y="4736306"/>
            <a:ext cx="9515475" cy="957262"/>
            <a:chOff x="0" y="0"/>
            <a:chExt cx="12687300" cy="1276350"/>
          </a:xfrm>
        </p:grpSpPr>
        <p:sp>
          <p:nvSpPr>
            <p:cNvPr name="Freeform 25" id="25"/>
            <p:cNvSpPr/>
            <p:nvPr/>
          </p:nvSpPr>
          <p:spPr>
            <a:xfrm flipH="false" flipV="false" rot="0">
              <a:off x="0" y="0"/>
              <a:ext cx="12687300" cy="1276350"/>
            </a:xfrm>
            <a:custGeom>
              <a:avLst/>
              <a:gdLst/>
              <a:ahLst/>
              <a:cxnLst/>
              <a:rect r="r" b="b" t="t" l="l"/>
              <a:pathLst>
                <a:path h="1276350" w="12687300">
                  <a:moveTo>
                    <a:pt x="0" y="0"/>
                  </a:moveTo>
                  <a:lnTo>
                    <a:pt x="12687300" y="0"/>
                  </a:lnTo>
                  <a:lnTo>
                    <a:pt x="12687300" y="1276350"/>
                  </a:lnTo>
                  <a:lnTo>
                    <a:pt x="0" y="1276350"/>
                  </a:lnTo>
                  <a:close/>
                </a:path>
              </a:pathLst>
            </a:custGeom>
            <a:blipFill>
              <a:blip r:embed="rId5">
                <a:alphaModFix amt="0"/>
              </a:blip>
              <a:stretch>
                <a:fillRect l="0" t="-143687" r="0" b="-143687"/>
              </a:stretch>
            </a:blipFill>
          </p:spPr>
        </p:sp>
        <p:sp>
          <p:nvSpPr>
            <p:cNvPr name="TextBox 26" id="26"/>
            <p:cNvSpPr txBox="true"/>
            <p:nvPr/>
          </p:nvSpPr>
          <p:spPr>
            <a:xfrm>
              <a:off x="0" y="-19050"/>
              <a:ext cx="12687300" cy="1295400"/>
            </a:xfrm>
            <a:prstGeom prst="rect">
              <a:avLst/>
            </a:prstGeom>
          </p:spPr>
          <p:txBody>
            <a:bodyPr anchor="ctr" rtlCol="false" tIns="0" lIns="0" bIns="0" rIns="0"/>
            <a:lstStyle/>
            <a:p>
              <a:pPr algn="ctr">
                <a:lnSpc>
                  <a:spcPts val="4199"/>
                </a:lnSpc>
              </a:pPr>
              <a:r>
                <a:rPr lang="en-US" sz="3498">
                  <a:solidFill>
                    <a:srgbClr val="FFFFFF"/>
                  </a:solidFill>
                  <a:latin typeface="Arial"/>
                  <a:ea typeface="Arial"/>
                  <a:cs typeface="Arial"/>
                  <a:sym typeface="Arial"/>
                </a:rPr>
                <a:t>dep_hour = 17, dep_min_of_day = 1.050</a:t>
              </a:r>
            </a:p>
          </p:txBody>
        </p:sp>
      </p:grpSp>
      <p:grpSp>
        <p:nvGrpSpPr>
          <p:cNvPr name="Group 27" id="27"/>
          <p:cNvGrpSpPr/>
          <p:nvPr/>
        </p:nvGrpSpPr>
        <p:grpSpPr>
          <a:xfrm rot="0">
            <a:off x="7774191" y="6116841"/>
            <a:ext cx="9526191" cy="953691"/>
            <a:chOff x="0" y="0"/>
            <a:chExt cx="12701588" cy="1271588"/>
          </a:xfrm>
        </p:grpSpPr>
        <p:sp>
          <p:nvSpPr>
            <p:cNvPr name="Freeform 28" id="28"/>
            <p:cNvSpPr/>
            <p:nvPr/>
          </p:nvSpPr>
          <p:spPr>
            <a:xfrm flipH="false" flipV="false" rot="0">
              <a:off x="0" y="0"/>
              <a:ext cx="12701651" cy="1271651"/>
            </a:xfrm>
            <a:custGeom>
              <a:avLst/>
              <a:gdLst/>
              <a:ahLst/>
              <a:cxnLst/>
              <a:rect r="r" b="b" t="t" l="l"/>
              <a:pathLst>
                <a:path h="1271651" w="12701651">
                  <a:moveTo>
                    <a:pt x="0" y="0"/>
                  </a:moveTo>
                  <a:lnTo>
                    <a:pt x="12701651" y="0"/>
                  </a:lnTo>
                  <a:lnTo>
                    <a:pt x="12701651" y="1271651"/>
                  </a:lnTo>
                  <a:lnTo>
                    <a:pt x="0" y="1271651"/>
                  </a:lnTo>
                  <a:close/>
                </a:path>
              </a:pathLst>
            </a:custGeom>
            <a:solidFill>
              <a:srgbClr val="2072B7"/>
            </a:solidFill>
            <a:ln w="14288" cap="sq">
              <a:solidFill>
                <a:srgbClr val="2072B7"/>
              </a:solidFill>
              <a:prstDash val="solid"/>
              <a:miter/>
            </a:ln>
          </p:spPr>
        </p:sp>
      </p:grpSp>
      <p:grpSp>
        <p:nvGrpSpPr>
          <p:cNvPr name="Group 29" id="29"/>
          <p:cNvGrpSpPr/>
          <p:nvPr/>
        </p:nvGrpSpPr>
        <p:grpSpPr>
          <a:xfrm rot="0">
            <a:off x="7779544" y="6107906"/>
            <a:ext cx="9515475" cy="957262"/>
            <a:chOff x="0" y="0"/>
            <a:chExt cx="12687300" cy="1276350"/>
          </a:xfrm>
        </p:grpSpPr>
        <p:sp>
          <p:nvSpPr>
            <p:cNvPr name="Freeform 30" id="30"/>
            <p:cNvSpPr/>
            <p:nvPr/>
          </p:nvSpPr>
          <p:spPr>
            <a:xfrm flipH="false" flipV="false" rot="0">
              <a:off x="0" y="0"/>
              <a:ext cx="12687300" cy="1276350"/>
            </a:xfrm>
            <a:custGeom>
              <a:avLst/>
              <a:gdLst/>
              <a:ahLst/>
              <a:cxnLst/>
              <a:rect r="r" b="b" t="t" l="l"/>
              <a:pathLst>
                <a:path h="1276350" w="12687300">
                  <a:moveTo>
                    <a:pt x="0" y="0"/>
                  </a:moveTo>
                  <a:lnTo>
                    <a:pt x="12687300" y="0"/>
                  </a:lnTo>
                  <a:lnTo>
                    <a:pt x="12687300" y="1276350"/>
                  </a:lnTo>
                  <a:lnTo>
                    <a:pt x="0" y="1276350"/>
                  </a:lnTo>
                  <a:close/>
                </a:path>
              </a:pathLst>
            </a:custGeom>
            <a:blipFill>
              <a:blip r:embed="rId5">
                <a:alphaModFix amt="0"/>
              </a:blip>
              <a:stretch>
                <a:fillRect l="0" t="-143687" r="0" b="-143687"/>
              </a:stretch>
            </a:blipFill>
          </p:spPr>
        </p:sp>
        <p:sp>
          <p:nvSpPr>
            <p:cNvPr name="TextBox 31" id="31"/>
            <p:cNvSpPr txBox="true"/>
            <p:nvPr/>
          </p:nvSpPr>
          <p:spPr>
            <a:xfrm>
              <a:off x="0" y="-19050"/>
              <a:ext cx="12687300" cy="1295400"/>
            </a:xfrm>
            <a:prstGeom prst="rect">
              <a:avLst/>
            </a:prstGeom>
          </p:spPr>
          <p:txBody>
            <a:bodyPr anchor="ctr" rtlCol="false" tIns="0" lIns="0" bIns="0" rIns="0"/>
            <a:lstStyle/>
            <a:p>
              <a:pPr algn="ctr">
                <a:lnSpc>
                  <a:spcPts val="4199"/>
                </a:lnSpc>
              </a:pPr>
              <a:r>
                <a:rPr lang="en-US" sz="3498">
                  <a:solidFill>
                    <a:srgbClr val="FFFFFF"/>
                  </a:solidFill>
                  <a:latin typeface="Arial"/>
                  <a:ea typeface="Arial"/>
                  <a:cs typeface="Arial"/>
                  <a:sym typeface="Arial"/>
                </a:rPr>
                <a:t>dep_time_of_day = Evening</a:t>
              </a:r>
            </a:p>
          </p:txBody>
        </p:sp>
      </p:grpSp>
      <p:sp>
        <p:nvSpPr>
          <p:cNvPr name="TextBox 32" id="32"/>
          <p:cNvSpPr txBox="true"/>
          <p:nvPr/>
        </p:nvSpPr>
        <p:spPr>
          <a:xfrm rot="0">
            <a:off x="7786688" y="7815263"/>
            <a:ext cx="9429750" cy="1143000"/>
          </a:xfrm>
          <a:prstGeom prst="rect">
            <a:avLst/>
          </a:prstGeom>
        </p:spPr>
        <p:txBody>
          <a:bodyPr anchor="t" rtlCol="false" tIns="0" lIns="0" bIns="0" rIns="0">
            <a:spAutoFit/>
          </a:bodyPr>
          <a:lstStyle/>
          <a:p>
            <a:pPr algn="l">
              <a:lnSpc>
                <a:spcPts val="4334"/>
              </a:lnSpc>
            </a:pPr>
            <a:r>
              <a:rPr lang="en-US" sz="3611" b="true">
                <a:solidFill>
                  <a:srgbClr val="2072B7"/>
                </a:solidFill>
                <a:latin typeface="Arial Bold"/>
                <a:ea typeface="Arial Bold"/>
                <a:cs typeface="Arial Bold"/>
                <a:sym typeface="Arial Bold"/>
              </a:rPr>
              <a:t>Morning 05–11h   Afternoon 12–16h</a:t>
            </a:r>
          </a:p>
          <a:p>
            <a:pPr algn="l">
              <a:lnSpc>
                <a:spcPts val="4334"/>
              </a:lnSpc>
            </a:pPr>
            <a:r>
              <a:rPr lang="en-US" sz="3611" b="true">
                <a:solidFill>
                  <a:srgbClr val="2072B7"/>
                </a:solidFill>
                <a:latin typeface="Arial Bold"/>
                <a:ea typeface="Arial Bold"/>
                <a:cs typeface="Arial Bold"/>
                <a:sym typeface="Arial Bold"/>
              </a:rPr>
              <a:t>Evening 17–21h   Night: còn lại</a:t>
            </a:r>
          </a:p>
        </p:txBody>
      </p:sp>
      <p:sp>
        <p:nvSpPr>
          <p:cNvPr name="TextBox 33" id="3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28750"/>
            <a:ext cx="10818495" cy="809677"/>
          </a:xfrm>
          <a:prstGeom prst="rect">
            <a:avLst/>
          </a:prstGeom>
        </p:spPr>
        <p:txBody>
          <a:bodyPr anchor="t" rtlCol="false" tIns="0" lIns="0" bIns="0" rIns="0">
            <a:spAutoFit/>
          </a:bodyPr>
          <a:lstStyle/>
          <a:p>
            <a:pPr algn="l">
              <a:lnSpc>
                <a:spcPts val="6193"/>
              </a:lnSpc>
            </a:pPr>
            <a:r>
              <a:rPr lang="en-US" sz="5162" b="true">
                <a:solidFill>
                  <a:srgbClr val="2072B7"/>
                </a:solidFill>
                <a:latin typeface="Arial Bold"/>
                <a:ea typeface="Arial Bold"/>
                <a:cs typeface="Arial Bold"/>
                <a:sym typeface="Arial Bold"/>
              </a:rPr>
              <a:t>Chuẩn bị đặc trưng khi huấn luyện</a:t>
            </a:r>
          </a:p>
        </p:txBody>
      </p:sp>
      <p:sp>
        <p:nvSpPr>
          <p:cNvPr name="TextBox 12" id="12"/>
          <p:cNvSpPr txBox="true"/>
          <p:nvPr/>
        </p:nvSpPr>
        <p:spPr>
          <a:xfrm rot="0">
            <a:off x="857250" y="2314575"/>
            <a:ext cx="14019252" cy="590527"/>
          </a:xfrm>
          <a:prstGeom prst="rect">
            <a:avLst/>
          </a:prstGeom>
        </p:spPr>
        <p:txBody>
          <a:bodyPr anchor="t" rtlCol="false" tIns="0" lIns="0" bIns="0" rIns="0">
            <a:spAutoFit/>
          </a:bodyPr>
          <a:lstStyle/>
          <a:p>
            <a:pPr algn="l">
              <a:lnSpc>
                <a:spcPts val="4438"/>
              </a:lnSpc>
            </a:pPr>
            <a:r>
              <a:rPr lang="en-US" sz="3699" b="true">
                <a:solidFill>
                  <a:srgbClr val="174C7E"/>
                </a:solidFill>
                <a:latin typeface="Arial Bold"/>
                <a:ea typeface="Arial Bold"/>
                <a:cs typeface="Arial Bold"/>
                <a:sym typeface="Arial Bold"/>
              </a:rPr>
              <a:t>Làm sạch tạo dữ liệu và nhãn; chuẩn bị đặc trưng tạo đầu vào </a:t>
            </a:r>
          </a:p>
        </p:txBody>
      </p:sp>
      <p:graphicFrame>
        <p:nvGraphicFramePr>
          <p:cNvPr name="Table 13" id="13"/>
          <p:cNvGraphicFramePr>
            <a:graphicFrameLocks noGrp="true"/>
          </p:cNvGraphicFramePr>
          <p:nvPr/>
        </p:nvGraphicFramePr>
        <p:xfrm>
          <a:off x="785812" y="3357562"/>
          <a:ext cx="16644938" cy="6462221"/>
        </p:xfrm>
        <a:graphic>
          <a:graphicData uri="http://schemas.openxmlformats.org/drawingml/2006/table">
            <a:tbl>
              <a:tblPr/>
              <a:tblGrid>
                <a:gridCol w="7458124"/>
                <a:gridCol w="9186814"/>
              </a:tblGrid>
              <a:tr h="1154414">
                <a:tc>
                  <a:txBody>
                    <a:bodyPr anchor="t" rtlCol="false"/>
                    <a:lstStyle/>
                    <a:p>
                      <a:pPr algn="l">
                        <a:lnSpc>
                          <a:spcPts val="4304"/>
                        </a:lnSpc>
                        <a:defRPr/>
                      </a:pPr>
                      <a:r>
                        <a:rPr lang="en-US" sz="3587" b="true">
                          <a:solidFill>
                            <a:srgbClr val="FFFFFF"/>
                          </a:solidFill>
                          <a:latin typeface="Arial Bold"/>
                          <a:ea typeface="Arial Bold"/>
                          <a:cs typeface="Arial Bold"/>
                          <a:sym typeface="Arial Bold"/>
                        </a:rPr>
                        <a:t>CPU</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4304"/>
                        </a:lnSpc>
                        <a:defRPr/>
                      </a:pPr>
                      <a:r>
                        <a:rPr lang="en-US" sz="3587" b="true">
                          <a:solidFill>
                            <a:srgbClr val="FFFFFF"/>
                          </a:solidFill>
                          <a:latin typeface="Arial Bold"/>
                          <a:ea typeface="Arial Bold"/>
                          <a:cs typeface="Arial Bold"/>
                          <a:sym typeface="Arial Bold"/>
                        </a:rPr>
                        <a:t>Spark end-to-end</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r>
              <a:tr h="1940518">
                <a:tc>
                  <a:txBody>
                    <a:bodyPr anchor="t" rtlCol="false"/>
                    <a:lstStyle/>
                    <a:p>
                      <a:pPr algn="l">
                        <a:lnSpc>
                          <a:spcPts val="4304"/>
                        </a:lnSpc>
                        <a:defRPr/>
                      </a:pPr>
                      <a:r>
                        <a:rPr lang="en-US" sz="3587">
                          <a:solidFill>
                            <a:srgbClr val="202D39"/>
                          </a:solidFill>
                          <a:latin typeface="Arial"/>
                          <a:ea typeface="Arial"/>
                          <a:cs typeface="Arial"/>
                          <a:sym typeface="Arial"/>
                        </a:rPr>
                        <a:t>Điền 0.0 cho các ô thiếu / lỗi</a:t>
                      </a:r>
                      <a:endParaRPr lang="en-US" sz="1100"/>
                    </a:p>
                    <a:p>
                      <a:pPr algn="l">
                        <a:lnSpc>
                          <a:spcPts val="4304"/>
                        </a:lnSpc>
                      </a:pPr>
                      <a:r>
                        <a:rPr lang="en-US" sz="3587">
                          <a:solidFill>
                            <a:srgbClr val="202D39"/>
                          </a:solidFill>
                          <a:latin typeface="Arial"/>
                          <a:ea typeface="Arial"/>
                          <a:cs typeface="Arial"/>
                          <a:sym typeface="Arial"/>
                        </a:rPr>
                        <a:t>Ép kiểu ma trận số thực float32</a:t>
                      </a:r>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300"/>
                        </a:lnSpc>
                        <a:defRPr/>
                      </a:pPr>
                      <a:r>
                        <a:rPr lang="en-US" sz="3587">
                          <a:solidFill>
                            <a:srgbClr val="202D39"/>
                          </a:solidFill>
                          <a:latin typeface="Arial"/>
                          <a:ea typeface="Arial"/>
                          <a:cs typeface="Arial"/>
                          <a:sym typeface="Arial"/>
                        </a:rPr>
                        <a:t>Ép kiểu </a:t>
                      </a:r>
                      <a:r>
                        <a:rPr lang="en-US" sz="3587">
                          <a:solidFill>
                            <a:srgbClr val="202D39"/>
                          </a:solidFill>
                          <a:latin typeface="Arial"/>
                          <a:ea typeface="Arial"/>
                          <a:cs typeface="Arial"/>
                          <a:sym typeface="Arial"/>
                        </a:rPr>
                        <a:t>trực tiếp từ tầng Spark ETL</a:t>
                      </a:r>
                      <a:endParaRPr lang="en-US" sz="1100"/>
                    </a:p>
                    <a:p>
                      <a:pPr algn="l">
                        <a:lnSpc>
                          <a:spcPts val="4304"/>
                        </a:lnSpc>
                      </a:pPr>
                      <a:r>
                        <a:rPr lang="en-US" sz="3587">
                          <a:solidFill>
                            <a:srgbClr val="202D39"/>
                          </a:solidFill>
                          <a:latin typeface="Arial"/>
                          <a:ea typeface="Arial"/>
                          <a:cs typeface="Arial"/>
                          <a:sym typeface="Arial"/>
                        </a:rPr>
                        <a:t>Tối ưu kiểu số DoubleType</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r h="1955507">
                <a:tc>
                  <a:txBody>
                    <a:bodyPr anchor="t" rtlCol="false"/>
                    <a:lstStyle/>
                    <a:p>
                      <a:pPr algn="l">
                        <a:lnSpc>
                          <a:spcPts val="4304"/>
                        </a:lnSpc>
                        <a:defRPr/>
                      </a:pPr>
                      <a:r>
                        <a:rPr lang="en-US" sz="3587">
                          <a:solidFill>
                            <a:srgbClr val="202D39"/>
                          </a:solidFill>
                          <a:latin typeface="Arial"/>
                          <a:ea typeface="Arial"/>
                          <a:cs typeface="Arial"/>
                          <a:sym typeface="Arial"/>
                        </a:rPr>
                        <a:t>Dùng </a:t>
                      </a:r>
                      <a:r>
                        <a:rPr lang="en-US" sz="3587">
                          <a:solidFill>
                            <a:srgbClr val="202D39"/>
                          </a:solidFill>
                          <a:latin typeface="Arial"/>
                          <a:ea typeface="Arial"/>
                          <a:cs typeface="Arial"/>
                          <a:sym typeface="Arial"/>
                        </a:rPr>
                        <a:t>LabelEncoder cho 4 cột danh mục (Carrier, Origin, Dest, TimeOfDay)</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c>
                  <a:txBody>
                    <a:bodyPr anchor="t" rtlCol="false"/>
                    <a:lstStyle/>
                    <a:p>
                      <a:pPr algn="l">
                        <a:lnSpc>
                          <a:spcPts val="4300"/>
                        </a:lnSpc>
                        <a:defRPr/>
                      </a:pPr>
                      <a:r>
                        <a:rPr lang="en-US" sz="3587">
                          <a:solidFill>
                            <a:srgbClr val="202D39"/>
                          </a:solidFill>
                          <a:latin typeface="Arial"/>
                          <a:ea typeface="Arial"/>
                          <a:cs typeface="Arial"/>
                          <a:sym typeface="Arial"/>
                        </a:rPr>
                        <a:t>Dùng </a:t>
                      </a:r>
                      <a:r>
                        <a:rPr lang="en-US" sz="3587">
                          <a:solidFill>
                            <a:srgbClr val="202D39"/>
                          </a:solidFill>
                          <a:latin typeface="Arial"/>
                          <a:ea typeface="Arial"/>
                          <a:cs typeface="Arial"/>
                          <a:sym typeface="Arial"/>
                        </a:rPr>
                        <a:t>StringIndexer theo tần suất</a:t>
                      </a:r>
                      <a:endParaRPr lang="en-US" sz="1100"/>
                    </a:p>
                    <a:p>
                      <a:pPr algn="l">
                        <a:lnSpc>
                          <a:spcPts val="4304"/>
                        </a:lnSpc>
                      </a:pPr>
                      <a:r>
                        <a:rPr lang="en-US" sz="3587">
                          <a:solidFill>
                            <a:srgbClr val="202D39"/>
                          </a:solidFill>
                          <a:latin typeface="Arial"/>
                          <a:ea typeface="Arial"/>
                          <a:cs typeface="Arial"/>
                          <a:sym typeface="Arial"/>
                        </a:rPr>
                        <a:t>Cơ chế handleInvalid="keep" chống lỗi dữ liệu lạ</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r>
              <a:tr h="1411781">
                <a:tc>
                  <a:txBody>
                    <a:bodyPr anchor="t" rtlCol="false"/>
                    <a:lstStyle/>
                    <a:p>
                      <a:pPr algn="l">
                        <a:lnSpc>
                          <a:spcPts val="4304"/>
                        </a:lnSpc>
                        <a:defRPr/>
                      </a:pPr>
                      <a:r>
                        <a:rPr lang="en-US" sz="3587">
                          <a:solidFill>
                            <a:srgbClr val="202D39"/>
                          </a:solidFill>
                          <a:latin typeface="Arial"/>
                          <a:ea typeface="Arial"/>
                          <a:cs typeface="Arial"/>
                          <a:sym typeface="Arial"/>
                        </a:rPr>
                        <a:t>Ghép thành </a:t>
                      </a:r>
                      <a:r>
                        <a:rPr lang="en-US" sz="3587">
                          <a:solidFill>
                            <a:srgbClr val="202D39"/>
                          </a:solidFill>
                          <a:latin typeface="Arial"/>
                          <a:ea typeface="Arial"/>
                          <a:cs typeface="Arial"/>
                          <a:sym typeface="Arial"/>
                        </a:rPr>
                        <a:t>Ma trận 2 chiều NumPy</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304"/>
                        </a:lnSpc>
                        <a:defRPr/>
                      </a:pPr>
                      <a:r>
                        <a:rPr lang="en-US" sz="3587">
                          <a:solidFill>
                            <a:srgbClr val="202D39"/>
                          </a:solidFill>
                          <a:latin typeface="Arial"/>
                          <a:ea typeface="Arial"/>
                          <a:cs typeface="Arial"/>
                          <a:sym typeface="Arial"/>
                        </a:rPr>
                        <a:t>Dùng </a:t>
                      </a:r>
                      <a:r>
                        <a:rPr lang="en-US" sz="3587">
                          <a:solidFill>
                            <a:srgbClr val="202D39"/>
                          </a:solidFill>
                          <a:latin typeface="Arial"/>
                          <a:ea typeface="Arial"/>
                          <a:cs typeface="Arial"/>
                          <a:sym typeface="Arial"/>
                        </a:rPr>
                        <a:t>VectorAssembler</a:t>
                      </a:r>
                      <a:endParaRPr lang="en-US" sz="1100"/>
                    </a:p>
                    <a:p>
                      <a:pPr algn="l">
                        <a:lnSpc>
                          <a:spcPts val="4304"/>
                        </a:lnSpc>
                      </a:pPr>
                      <a:r>
                        <a:rPr lang="en-US" sz="3587">
                          <a:solidFill>
                            <a:srgbClr val="202D39"/>
                          </a:solidFill>
                          <a:latin typeface="Arial"/>
                          <a:ea typeface="Arial"/>
                          <a:cs typeface="Arial"/>
                          <a:sym typeface="Arial"/>
                        </a:rPr>
                        <a:t>Đóng gói thành cột vector features trên JVM</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bl>
          </a:graphicData>
        </a:graphic>
      </p:graphicFrame>
      <p:sp>
        <p:nvSpPr>
          <p:cNvPr name="TextBox 14" id="14"/>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a:off x="13100646" y="6489783"/>
            <a:ext cx="19053" cy="966790"/>
          </a:xfrm>
          <a:prstGeom prst="line">
            <a:avLst/>
          </a:prstGeom>
          <a:ln cap="rnd" w="19050">
            <a:solidFill>
              <a:srgbClr val="2072B7"/>
            </a:solidFill>
            <a:prstDash val="solid"/>
            <a:headEnd type="none" len="sm" w="sm"/>
            <a:tailEnd type="triangle" len="med" w="lg"/>
          </a:ln>
        </p:spPr>
      </p:sp>
      <p:sp>
        <p:nvSpPr>
          <p:cNvPr name="AutoShape 12" id="12"/>
          <p:cNvSpPr/>
          <p:nvPr/>
        </p:nvSpPr>
        <p:spPr>
          <a:xfrm>
            <a:off x="13100646" y="4599071"/>
            <a:ext cx="19053" cy="966790"/>
          </a:xfrm>
          <a:prstGeom prst="line">
            <a:avLst/>
          </a:prstGeom>
          <a:ln cap="rnd" w="19050">
            <a:solidFill>
              <a:srgbClr val="2072B7"/>
            </a:solidFill>
            <a:prstDash val="solid"/>
            <a:headEnd type="none" len="sm" w="sm"/>
            <a:tailEnd type="triangle" len="med" w="lg"/>
          </a:ln>
        </p:spPr>
      </p:sp>
      <p:sp>
        <p:nvSpPr>
          <p:cNvPr name="TextBox 13" id="13"/>
          <p:cNvSpPr txBox="true"/>
          <p:nvPr/>
        </p:nvSpPr>
        <p:spPr>
          <a:xfrm rot="0">
            <a:off x="857250" y="1447800"/>
            <a:ext cx="14008537" cy="723953"/>
          </a:xfrm>
          <a:prstGeom prst="rect">
            <a:avLst/>
          </a:prstGeom>
        </p:spPr>
        <p:txBody>
          <a:bodyPr anchor="t" rtlCol="false" tIns="0" lIns="0" bIns="0" rIns="0">
            <a:spAutoFit/>
          </a:bodyPr>
          <a:lstStyle/>
          <a:p>
            <a:pPr algn="l">
              <a:lnSpc>
                <a:spcPts val="5593"/>
              </a:lnSpc>
            </a:pPr>
            <a:r>
              <a:rPr lang="en-US" sz="4662" b="true">
                <a:solidFill>
                  <a:srgbClr val="2072B7"/>
                </a:solidFill>
                <a:latin typeface="Arial Bold"/>
                <a:ea typeface="Arial Bold"/>
                <a:cs typeface="Arial Bold"/>
                <a:sym typeface="Arial Bold"/>
              </a:rPr>
              <a:t>Chiến</a:t>
            </a:r>
            <a:r>
              <a:rPr lang="en-US" sz="4662" b="true">
                <a:solidFill>
                  <a:srgbClr val="2072B7"/>
                </a:solidFill>
                <a:latin typeface="Arial Bold"/>
                <a:ea typeface="Arial Bold"/>
                <a:cs typeface="Arial Bold"/>
                <a:sym typeface="Arial Bold"/>
              </a:rPr>
              <a:t> Lược Phân Chia Tập Dữ Liệu Thực Nghiệm</a:t>
            </a:r>
          </a:p>
        </p:txBody>
      </p:sp>
      <p:sp>
        <p:nvSpPr>
          <p:cNvPr name="TextBox 14" id="14"/>
          <p:cNvSpPr txBox="true"/>
          <p:nvPr/>
        </p:nvSpPr>
        <p:spPr>
          <a:xfrm rot="0">
            <a:off x="857250" y="2314575"/>
            <a:ext cx="16296204" cy="514326"/>
          </a:xfrm>
          <a:prstGeom prst="rect">
            <a:avLst/>
          </a:prstGeom>
        </p:spPr>
        <p:txBody>
          <a:bodyPr anchor="t" rtlCol="false" tIns="0" lIns="0" bIns="0" rIns="0">
            <a:spAutoFit/>
          </a:bodyPr>
          <a:lstStyle/>
          <a:p>
            <a:pPr algn="l">
              <a:lnSpc>
                <a:spcPts val="3838"/>
              </a:lnSpc>
            </a:pPr>
            <a:r>
              <a:rPr lang="en-US" sz="3198" b="true">
                <a:solidFill>
                  <a:srgbClr val="174C7E"/>
                </a:solidFill>
                <a:latin typeface="Arial Bold"/>
                <a:ea typeface="Arial Bold"/>
                <a:cs typeface="Arial Bold"/>
                <a:sym typeface="Arial Bold"/>
              </a:rPr>
              <a:t>Đảm bảo</a:t>
            </a:r>
            <a:r>
              <a:rPr lang="en-US" sz="3198" b="true">
                <a:solidFill>
                  <a:srgbClr val="174C7E"/>
                </a:solidFill>
                <a:latin typeface="Arial Bold"/>
                <a:ea typeface="Arial Bold"/>
                <a:cs typeface="Arial Bold"/>
                <a:sym typeface="Arial Bold"/>
              </a:rPr>
              <a:t> tính khách quan và đối sánh công bằng 1-to-1 trên gần 7 triệu dòng dữ liệu</a:t>
            </a:r>
          </a:p>
        </p:txBody>
      </p:sp>
      <p:sp>
        <p:nvSpPr>
          <p:cNvPr name="TextBox 15" id="15"/>
          <p:cNvSpPr txBox="true"/>
          <p:nvPr/>
        </p:nvSpPr>
        <p:spPr>
          <a:xfrm rot="0">
            <a:off x="857250" y="3305175"/>
            <a:ext cx="7190932" cy="1545081"/>
          </a:xfrm>
          <a:prstGeom prst="rect">
            <a:avLst/>
          </a:prstGeom>
        </p:spPr>
        <p:txBody>
          <a:bodyPr anchor="t" rtlCol="false" tIns="0" lIns="0" bIns="0" rIns="0">
            <a:spAutoFit/>
          </a:bodyPr>
          <a:lstStyle/>
          <a:p>
            <a:pPr algn="l">
              <a:lnSpc>
                <a:spcPts val="4109"/>
              </a:lnSpc>
            </a:pPr>
            <a:r>
              <a:rPr lang="en-US" sz="3000">
                <a:solidFill>
                  <a:srgbClr val="202D39"/>
                </a:solidFill>
                <a:latin typeface="Arial"/>
                <a:ea typeface="Arial"/>
                <a:cs typeface="Arial"/>
                <a:sym typeface="Arial"/>
              </a:rPr>
              <a:t>Toàn bộ các mô hình đều đọc chung từ tệp </a:t>
            </a:r>
            <a:r>
              <a:rPr lang="en-US" sz="3000">
                <a:solidFill>
                  <a:srgbClr val="202D39"/>
                </a:solidFill>
                <a:latin typeface="Arial"/>
                <a:ea typeface="Arial"/>
                <a:cs typeface="Arial"/>
                <a:sym typeface="Arial"/>
              </a:rPr>
              <a:t>Parquet phân vùng 12 tháng gồm 6,965,267 chuyến bay sạch</a:t>
            </a:r>
          </a:p>
        </p:txBody>
      </p:sp>
      <p:sp>
        <p:nvSpPr>
          <p:cNvPr name="TextBox 16" id="16"/>
          <p:cNvSpPr txBox="true"/>
          <p:nvPr/>
        </p:nvSpPr>
        <p:spPr>
          <a:xfrm rot="0">
            <a:off x="857250" y="5193156"/>
            <a:ext cx="6072188" cy="1030731"/>
          </a:xfrm>
          <a:prstGeom prst="rect">
            <a:avLst/>
          </a:prstGeom>
        </p:spPr>
        <p:txBody>
          <a:bodyPr anchor="t" rtlCol="false" tIns="0" lIns="0" bIns="0" rIns="0">
            <a:spAutoFit/>
          </a:bodyPr>
          <a:lstStyle/>
          <a:p>
            <a:pPr algn="l">
              <a:lnSpc>
                <a:spcPts val="4109"/>
              </a:lnSpc>
            </a:pPr>
            <a:r>
              <a:rPr lang="en-US" sz="3000">
                <a:solidFill>
                  <a:srgbClr val="202D39"/>
                </a:solidFill>
                <a:latin typeface="Arial"/>
                <a:ea typeface="Arial"/>
                <a:cs typeface="Arial"/>
                <a:sym typeface="Arial"/>
              </a:rPr>
              <a:t>CPU: mã hóa, chia phân tầng 70/15/15, seed = 42.</a:t>
            </a:r>
          </a:p>
        </p:txBody>
      </p:sp>
      <p:sp>
        <p:nvSpPr>
          <p:cNvPr name="TextBox 17" id="17"/>
          <p:cNvSpPr txBox="true"/>
          <p:nvPr/>
        </p:nvSpPr>
        <p:spPr>
          <a:xfrm rot="0">
            <a:off x="857250" y="6505575"/>
            <a:ext cx="6072188" cy="2059431"/>
          </a:xfrm>
          <a:prstGeom prst="rect">
            <a:avLst/>
          </a:prstGeom>
        </p:spPr>
        <p:txBody>
          <a:bodyPr anchor="t" rtlCol="false" tIns="0" lIns="0" bIns="0" rIns="0">
            <a:spAutoFit/>
          </a:bodyPr>
          <a:lstStyle/>
          <a:p>
            <a:pPr algn="l">
              <a:lnSpc>
                <a:spcPts val="4109"/>
              </a:lnSpc>
            </a:pPr>
            <a:r>
              <a:rPr lang="en-US" sz="3000">
                <a:solidFill>
                  <a:srgbClr val="202D39"/>
                </a:solidFill>
                <a:latin typeface="Arial"/>
                <a:ea typeface="Arial"/>
                <a:cs typeface="Arial"/>
                <a:sym typeface="Arial"/>
              </a:rPr>
              <a:t>Spark: nạp Parquet trên Driver bằng PyArrow/Pandas, tạo DataFrame rồi chia randomSplit, seed = 42.</a:t>
            </a:r>
          </a:p>
        </p:txBody>
      </p:sp>
      <p:grpSp>
        <p:nvGrpSpPr>
          <p:cNvPr name="Group 18" id="18"/>
          <p:cNvGrpSpPr/>
          <p:nvPr/>
        </p:nvGrpSpPr>
        <p:grpSpPr>
          <a:xfrm rot="0">
            <a:off x="8347082" y="3660269"/>
            <a:ext cx="9526191" cy="953691"/>
            <a:chOff x="0" y="0"/>
            <a:chExt cx="12701588" cy="1271588"/>
          </a:xfrm>
        </p:grpSpPr>
        <p:sp>
          <p:nvSpPr>
            <p:cNvPr name="Freeform 19" id="19"/>
            <p:cNvSpPr/>
            <p:nvPr/>
          </p:nvSpPr>
          <p:spPr>
            <a:xfrm flipH="false" flipV="false" rot="0">
              <a:off x="0" y="0"/>
              <a:ext cx="12701651" cy="1271651"/>
            </a:xfrm>
            <a:custGeom>
              <a:avLst/>
              <a:gdLst/>
              <a:ahLst/>
              <a:cxnLst/>
              <a:rect r="r" b="b" t="t" l="l"/>
              <a:pathLst>
                <a:path h="1271651" w="12701651">
                  <a:moveTo>
                    <a:pt x="0" y="0"/>
                  </a:moveTo>
                  <a:lnTo>
                    <a:pt x="12701651" y="0"/>
                  </a:lnTo>
                  <a:lnTo>
                    <a:pt x="12701651" y="1271651"/>
                  </a:lnTo>
                  <a:lnTo>
                    <a:pt x="0" y="1271651"/>
                  </a:lnTo>
                  <a:close/>
                </a:path>
              </a:pathLst>
            </a:custGeom>
            <a:solidFill>
              <a:srgbClr val="2072B7"/>
            </a:solidFill>
            <a:ln w="14288" cap="sq">
              <a:solidFill>
                <a:srgbClr val="2072B7"/>
              </a:solidFill>
              <a:prstDash val="solid"/>
              <a:miter/>
            </a:ln>
          </p:spPr>
        </p:sp>
      </p:grpSp>
      <p:grpSp>
        <p:nvGrpSpPr>
          <p:cNvPr name="Group 20" id="20"/>
          <p:cNvGrpSpPr/>
          <p:nvPr/>
        </p:nvGrpSpPr>
        <p:grpSpPr>
          <a:xfrm rot="0">
            <a:off x="8352435" y="3644191"/>
            <a:ext cx="9515475" cy="964406"/>
            <a:chOff x="0" y="0"/>
            <a:chExt cx="12687300" cy="1285875"/>
          </a:xfrm>
        </p:grpSpPr>
        <p:sp>
          <p:nvSpPr>
            <p:cNvPr name="Freeform 21" id="21"/>
            <p:cNvSpPr/>
            <p:nvPr/>
          </p:nvSpPr>
          <p:spPr>
            <a:xfrm flipH="false" flipV="false" rot="0">
              <a:off x="0" y="0"/>
              <a:ext cx="12687300" cy="1285875"/>
            </a:xfrm>
            <a:custGeom>
              <a:avLst/>
              <a:gdLst/>
              <a:ahLst/>
              <a:cxnLst/>
              <a:rect r="r" b="b" t="t" l="l"/>
              <a:pathLst>
                <a:path h="1285875" w="12687300">
                  <a:moveTo>
                    <a:pt x="0" y="0"/>
                  </a:moveTo>
                  <a:lnTo>
                    <a:pt x="12687300" y="0"/>
                  </a:lnTo>
                  <a:lnTo>
                    <a:pt x="12687300" y="1285875"/>
                  </a:lnTo>
                  <a:lnTo>
                    <a:pt x="0" y="1285875"/>
                  </a:lnTo>
                  <a:close/>
                </a:path>
              </a:pathLst>
            </a:custGeom>
            <a:blipFill>
              <a:blip r:embed="rId5">
                <a:alphaModFix amt="0"/>
              </a:blip>
              <a:stretch>
                <a:fillRect l="0" t="-142252" r="0" b="-142252"/>
              </a:stretch>
            </a:blipFill>
          </p:spPr>
        </p:sp>
        <p:sp>
          <p:nvSpPr>
            <p:cNvPr name="TextBox 22" id="22"/>
            <p:cNvSpPr txBox="true"/>
            <p:nvPr/>
          </p:nvSpPr>
          <p:spPr>
            <a:xfrm>
              <a:off x="0" y="-28575"/>
              <a:ext cx="12687300" cy="1314450"/>
            </a:xfrm>
            <a:prstGeom prst="rect">
              <a:avLst/>
            </a:prstGeom>
          </p:spPr>
          <p:txBody>
            <a:bodyPr anchor="ctr" rtlCol="false" tIns="0" lIns="0" bIns="0" rIns="0"/>
            <a:lstStyle/>
            <a:p>
              <a:pPr algn="ctr">
                <a:lnSpc>
                  <a:spcPts val="3838"/>
                </a:lnSpc>
              </a:pPr>
              <a:r>
                <a:rPr lang="en-US" sz="3198">
                  <a:solidFill>
                    <a:srgbClr val="FFFFFF"/>
                  </a:solidFill>
                  <a:latin typeface="Arial"/>
                  <a:ea typeface="Arial"/>
                  <a:cs typeface="Arial"/>
                  <a:sym typeface="Arial"/>
                </a:rPr>
                <a:t>CSV → làm sạch và ghi Parquet theo tháng</a:t>
              </a:r>
            </a:p>
          </p:txBody>
        </p:sp>
      </p:grpSp>
      <p:grpSp>
        <p:nvGrpSpPr>
          <p:cNvPr name="Group 23" id="23"/>
          <p:cNvGrpSpPr/>
          <p:nvPr/>
        </p:nvGrpSpPr>
        <p:grpSpPr>
          <a:xfrm rot="0">
            <a:off x="8347082" y="5550972"/>
            <a:ext cx="9526191" cy="953691"/>
            <a:chOff x="0" y="0"/>
            <a:chExt cx="12701588" cy="1271588"/>
          </a:xfrm>
        </p:grpSpPr>
        <p:sp>
          <p:nvSpPr>
            <p:cNvPr name="Freeform 24" id="24"/>
            <p:cNvSpPr/>
            <p:nvPr/>
          </p:nvSpPr>
          <p:spPr>
            <a:xfrm flipH="false" flipV="false" rot="0">
              <a:off x="0" y="0"/>
              <a:ext cx="12701651" cy="1271651"/>
            </a:xfrm>
            <a:custGeom>
              <a:avLst/>
              <a:gdLst/>
              <a:ahLst/>
              <a:cxnLst/>
              <a:rect r="r" b="b" t="t" l="l"/>
              <a:pathLst>
                <a:path h="1271651" w="12701651">
                  <a:moveTo>
                    <a:pt x="0" y="0"/>
                  </a:moveTo>
                  <a:lnTo>
                    <a:pt x="12701651" y="0"/>
                  </a:lnTo>
                  <a:lnTo>
                    <a:pt x="12701651" y="1271651"/>
                  </a:lnTo>
                  <a:lnTo>
                    <a:pt x="0" y="1271651"/>
                  </a:lnTo>
                  <a:close/>
                </a:path>
              </a:pathLst>
            </a:custGeom>
            <a:solidFill>
              <a:srgbClr val="2072B7"/>
            </a:solidFill>
            <a:ln w="14288" cap="sq">
              <a:solidFill>
                <a:srgbClr val="2072B7"/>
              </a:solidFill>
              <a:prstDash val="solid"/>
              <a:miter/>
            </a:ln>
          </p:spPr>
        </p:sp>
      </p:grpSp>
      <p:grpSp>
        <p:nvGrpSpPr>
          <p:cNvPr name="Group 25" id="25"/>
          <p:cNvGrpSpPr/>
          <p:nvPr/>
        </p:nvGrpSpPr>
        <p:grpSpPr>
          <a:xfrm rot="0">
            <a:off x="8352435" y="5534903"/>
            <a:ext cx="9515475" cy="964406"/>
            <a:chOff x="0" y="0"/>
            <a:chExt cx="12687300" cy="1285875"/>
          </a:xfrm>
        </p:grpSpPr>
        <p:sp>
          <p:nvSpPr>
            <p:cNvPr name="Freeform 26" id="26"/>
            <p:cNvSpPr/>
            <p:nvPr/>
          </p:nvSpPr>
          <p:spPr>
            <a:xfrm flipH="false" flipV="false" rot="0">
              <a:off x="0" y="0"/>
              <a:ext cx="12687300" cy="1285875"/>
            </a:xfrm>
            <a:custGeom>
              <a:avLst/>
              <a:gdLst/>
              <a:ahLst/>
              <a:cxnLst/>
              <a:rect r="r" b="b" t="t" l="l"/>
              <a:pathLst>
                <a:path h="1285875" w="12687300">
                  <a:moveTo>
                    <a:pt x="0" y="0"/>
                  </a:moveTo>
                  <a:lnTo>
                    <a:pt x="12687300" y="0"/>
                  </a:lnTo>
                  <a:lnTo>
                    <a:pt x="12687300" y="1285875"/>
                  </a:lnTo>
                  <a:lnTo>
                    <a:pt x="0" y="1285875"/>
                  </a:lnTo>
                  <a:close/>
                </a:path>
              </a:pathLst>
            </a:custGeom>
            <a:blipFill>
              <a:blip r:embed="rId5">
                <a:alphaModFix amt="0"/>
              </a:blip>
              <a:stretch>
                <a:fillRect l="0" t="-142252" r="0" b="-142252"/>
              </a:stretch>
            </a:blipFill>
          </p:spPr>
        </p:sp>
        <p:sp>
          <p:nvSpPr>
            <p:cNvPr name="TextBox 27" id="27"/>
            <p:cNvSpPr txBox="true"/>
            <p:nvPr/>
          </p:nvSpPr>
          <p:spPr>
            <a:xfrm>
              <a:off x="0" y="-28575"/>
              <a:ext cx="12687300" cy="1314450"/>
            </a:xfrm>
            <a:prstGeom prst="rect">
              <a:avLst/>
            </a:prstGeom>
          </p:spPr>
          <p:txBody>
            <a:bodyPr anchor="ctr" rtlCol="false" tIns="0" lIns="0" bIns="0" rIns="0"/>
            <a:lstStyle/>
            <a:p>
              <a:pPr algn="ctr">
                <a:lnSpc>
                  <a:spcPts val="3838"/>
                </a:lnSpc>
              </a:pPr>
              <a:r>
                <a:rPr lang="en-US" sz="3198">
                  <a:solidFill>
                    <a:srgbClr val="FFFFFF"/>
                  </a:solidFill>
                  <a:latin typeface="Arial"/>
                  <a:ea typeface="Arial"/>
                  <a:cs typeface="Arial"/>
                  <a:sym typeface="Arial"/>
                </a:rPr>
                <a:t>Đọc Parquet → mã hóa và đóng gói đặc trưng</a:t>
              </a:r>
            </a:p>
          </p:txBody>
        </p:sp>
      </p:grpSp>
      <p:grpSp>
        <p:nvGrpSpPr>
          <p:cNvPr name="Group 28" id="28"/>
          <p:cNvGrpSpPr/>
          <p:nvPr/>
        </p:nvGrpSpPr>
        <p:grpSpPr>
          <a:xfrm rot="0">
            <a:off x="8347082" y="7441694"/>
            <a:ext cx="9526191" cy="953691"/>
            <a:chOff x="0" y="0"/>
            <a:chExt cx="12701588" cy="1271588"/>
          </a:xfrm>
        </p:grpSpPr>
        <p:sp>
          <p:nvSpPr>
            <p:cNvPr name="Freeform 29" id="29"/>
            <p:cNvSpPr/>
            <p:nvPr/>
          </p:nvSpPr>
          <p:spPr>
            <a:xfrm flipH="false" flipV="false" rot="0">
              <a:off x="0" y="0"/>
              <a:ext cx="12701651" cy="1271651"/>
            </a:xfrm>
            <a:custGeom>
              <a:avLst/>
              <a:gdLst/>
              <a:ahLst/>
              <a:cxnLst/>
              <a:rect r="r" b="b" t="t" l="l"/>
              <a:pathLst>
                <a:path h="1271651" w="12701651">
                  <a:moveTo>
                    <a:pt x="0" y="0"/>
                  </a:moveTo>
                  <a:lnTo>
                    <a:pt x="12701651" y="0"/>
                  </a:lnTo>
                  <a:lnTo>
                    <a:pt x="12701651" y="1271651"/>
                  </a:lnTo>
                  <a:lnTo>
                    <a:pt x="0" y="1271651"/>
                  </a:lnTo>
                  <a:close/>
                </a:path>
              </a:pathLst>
            </a:custGeom>
            <a:solidFill>
              <a:srgbClr val="2072B7"/>
            </a:solidFill>
            <a:ln w="14288" cap="sq">
              <a:solidFill>
                <a:srgbClr val="2072B7"/>
              </a:solidFill>
              <a:prstDash val="solid"/>
              <a:miter/>
            </a:ln>
          </p:spPr>
        </p:sp>
      </p:grpSp>
      <p:grpSp>
        <p:nvGrpSpPr>
          <p:cNvPr name="Group 30" id="30"/>
          <p:cNvGrpSpPr/>
          <p:nvPr/>
        </p:nvGrpSpPr>
        <p:grpSpPr>
          <a:xfrm rot="0">
            <a:off x="8352435" y="7425616"/>
            <a:ext cx="9515475" cy="964406"/>
            <a:chOff x="0" y="0"/>
            <a:chExt cx="12687300" cy="1285875"/>
          </a:xfrm>
        </p:grpSpPr>
        <p:sp>
          <p:nvSpPr>
            <p:cNvPr name="Freeform 31" id="31"/>
            <p:cNvSpPr/>
            <p:nvPr/>
          </p:nvSpPr>
          <p:spPr>
            <a:xfrm flipH="false" flipV="false" rot="0">
              <a:off x="0" y="0"/>
              <a:ext cx="12687300" cy="1285875"/>
            </a:xfrm>
            <a:custGeom>
              <a:avLst/>
              <a:gdLst/>
              <a:ahLst/>
              <a:cxnLst/>
              <a:rect r="r" b="b" t="t" l="l"/>
              <a:pathLst>
                <a:path h="1285875" w="12687300">
                  <a:moveTo>
                    <a:pt x="0" y="0"/>
                  </a:moveTo>
                  <a:lnTo>
                    <a:pt x="12687300" y="0"/>
                  </a:lnTo>
                  <a:lnTo>
                    <a:pt x="12687300" y="1285875"/>
                  </a:lnTo>
                  <a:lnTo>
                    <a:pt x="0" y="1285875"/>
                  </a:lnTo>
                  <a:close/>
                </a:path>
              </a:pathLst>
            </a:custGeom>
            <a:blipFill>
              <a:blip r:embed="rId5">
                <a:alphaModFix amt="0"/>
              </a:blip>
              <a:stretch>
                <a:fillRect l="0" t="-142252" r="0" b="-142252"/>
              </a:stretch>
            </a:blipFill>
          </p:spPr>
        </p:sp>
        <p:sp>
          <p:nvSpPr>
            <p:cNvPr name="TextBox 32" id="32"/>
            <p:cNvSpPr txBox="true"/>
            <p:nvPr/>
          </p:nvSpPr>
          <p:spPr>
            <a:xfrm>
              <a:off x="0" y="-76200"/>
              <a:ext cx="12687300" cy="1362075"/>
            </a:xfrm>
            <a:prstGeom prst="rect">
              <a:avLst/>
            </a:prstGeom>
          </p:spPr>
          <p:txBody>
            <a:bodyPr anchor="ctr" rtlCol="false" tIns="0" lIns="0" bIns="0" rIns="0"/>
            <a:lstStyle/>
            <a:p>
              <a:pPr algn="ctr">
                <a:lnSpc>
                  <a:spcPts val="3838"/>
                </a:lnSpc>
              </a:pPr>
              <a:r>
                <a:rPr lang="en-US" sz="2700">
                  <a:solidFill>
                    <a:srgbClr val="FFFFFF"/>
                  </a:solidFill>
                  <a:latin typeface="Arial"/>
                  <a:ea typeface="Arial"/>
                  <a:cs typeface="Arial"/>
                  <a:sym typeface="Arial"/>
                </a:rPr>
                <a:t>Chia tập → huấn luyện → đánh giá và lưu kết quả</a:t>
              </a:r>
            </a:p>
          </p:txBody>
        </p:sp>
      </p:grpSp>
      <p:sp>
        <p:nvSpPr>
          <p:cNvPr name="TextBox 33" id="3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F72B6"/>
        </a:solidFill>
      </p:bgPr>
    </p:bg>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17872" r="0" b="-17872"/>
              </a:stretch>
            </a:blipFill>
          </p:spPr>
        </p:sp>
      </p:grpSp>
      <p:sp>
        <p:nvSpPr>
          <p:cNvPr name="TextBox 10" id="10"/>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1" id="11"/>
          <p:cNvSpPr txBox="true"/>
          <p:nvPr/>
        </p:nvSpPr>
        <p:spPr>
          <a:xfrm rot="0">
            <a:off x="3201000" y="4770882"/>
            <a:ext cx="11886000" cy="859536"/>
          </a:xfrm>
          <a:prstGeom prst="rect">
            <a:avLst/>
          </a:prstGeom>
        </p:spPr>
        <p:txBody>
          <a:bodyPr anchor="t" rtlCol="false" tIns="0" lIns="0" bIns="0" rIns="0">
            <a:spAutoFit/>
          </a:bodyPr>
          <a:lstStyle/>
          <a:p>
            <a:pPr algn="ctr">
              <a:lnSpc>
                <a:spcPts val="6910"/>
              </a:lnSpc>
            </a:pPr>
            <a:r>
              <a:rPr lang="en-US" sz="6398" b="true">
                <a:solidFill>
                  <a:srgbClr val="FFFFFF"/>
                </a:solidFill>
                <a:latin typeface="Quicksand Bold"/>
                <a:ea typeface="Quicksand Bold"/>
                <a:cs typeface="Quicksand Bold"/>
                <a:sym typeface="Quicksand Bold"/>
              </a:rPr>
              <a:t>THỰC NGHIỆM VÀ KẾT QUẢ</a:t>
            </a:r>
          </a:p>
        </p:txBody>
      </p:sp>
      <p:sp>
        <p:nvSpPr>
          <p:cNvPr name="TextBox 12" id="1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FFFFFF"/>
                </a:solidFill>
                <a:latin typeface="Noto Sans"/>
                <a:ea typeface="Noto Sans"/>
                <a:cs typeface="Noto Sans"/>
                <a:sym typeface="Noto Sans"/>
              </a:rPr>
              <a:t>22</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Thiết kế thực nghiệm: hai hướng triển khai</a:t>
            </a:r>
          </a:p>
        </p:txBody>
      </p:sp>
      <p:sp>
        <p:nvSpPr>
          <p:cNvPr name="TextBox 5" id="5"/>
          <p:cNvSpPr txBox="true"/>
          <p:nvPr/>
        </p:nvSpPr>
        <p:spPr>
          <a:xfrm rot="0">
            <a:off x="694944" y="1069467"/>
            <a:ext cx="15755112" cy="265557"/>
          </a:xfrm>
          <a:prstGeom prst="rect">
            <a:avLst/>
          </a:prstGeom>
        </p:spPr>
        <p:txBody>
          <a:bodyPr anchor="t" rtlCol="false" tIns="0" lIns="0" bIns="0" rIns="0">
            <a:spAutoFit/>
          </a:bodyPr>
          <a:lstStyle/>
          <a:p>
            <a:pPr algn="l">
              <a:lnSpc>
                <a:spcPts val="1620"/>
              </a:lnSpc>
            </a:pPr>
            <a:r>
              <a:rPr lang="en-US" sz="1350" b="true">
                <a:solidFill>
                  <a:srgbClr val="30A5BE"/>
                </a:solidFill>
                <a:latin typeface="Aptos Bold"/>
                <a:ea typeface="Aptos Bold"/>
                <a:cs typeface="Aptos Bold"/>
                <a:sym typeface="Aptos Bold"/>
              </a:rPr>
              <a:t>01 / THIẾT KẾ THỰC NGHIỆM</a:t>
            </a:r>
          </a:p>
        </p:txBody>
      </p:sp>
      <p:sp>
        <p:nvSpPr>
          <p:cNvPr name="TextBox 6" id="6"/>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02</a:t>
            </a:r>
          </a:p>
        </p:txBody>
      </p:sp>
      <p:sp>
        <p:nvSpPr>
          <p:cNvPr name="TextBox 7" id="7"/>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8" id="8"/>
          <p:cNvGrpSpPr/>
          <p:nvPr/>
        </p:nvGrpSpPr>
        <p:grpSpPr>
          <a:xfrm rot="0">
            <a:off x="815340" y="1844040"/>
            <a:ext cx="8176260" cy="6736080"/>
            <a:chOff x="0" y="0"/>
            <a:chExt cx="10901680" cy="8981440"/>
          </a:xfrm>
        </p:grpSpPr>
        <p:sp>
          <p:nvSpPr>
            <p:cNvPr name="Freeform 9" id="9"/>
            <p:cNvSpPr/>
            <p:nvPr/>
          </p:nvSpPr>
          <p:spPr>
            <a:xfrm flipH="false" flipV="false" rot="0">
              <a:off x="0" y="0"/>
              <a:ext cx="10901680" cy="8981440"/>
            </a:xfrm>
            <a:custGeom>
              <a:avLst/>
              <a:gdLst/>
              <a:ahLst/>
              <a:cxnLst/>
              <a:rect r="r" b="b" t="t" l="l"/>
              <a:pathLst>
                <a:path h="8981440" w="10901680">
                  <a:moveTo>
                    <a:pt x="0" y="1496949"/>
                  </a:moveTo>
                  <a:cubicBezTo>
                    <a:pt x="0" y="670179"/>
                    <a:pt x="670179" y="0"/>
                    <a:pt x="1496949" y="0"/>
                  </a:cubicBezTo>
                  <a:lnTo>
                    <a:pt x="9404731" y="0"/>
                  </a:lnTo>
                  <a:cubicBezTo>
                    <a:pt x="10231501" y="0"/>
                    <a:pt x="10901680" y="670179"/>
                    <a:pt x="10901680" y="1496949"/>
                  </a:cubicBezTo>
                  <a:lnTo>
                    <a:pt x="10901680" y="7484491"/>
                  </a:lnTo>
                  <a:cubicBezTo>
                    <a:pt x="10901680" y="8311261"/>
                    <a:pt x="10231501" y="8981440"/>
                    <a:pt x="9404731" y="8981440"/>
                  </a:cubicBezTo>
                  <a:lnTo>
                    <a:pt x="1496949" y="8981440"/>
                  </a:lnTo>
                  <a:cubicBezTo>
                    <a:pt x="670179" y="8981440"/>
                    <a:pt x="0" y="8311261"/>
                    <a:pt x="0" y="7484491"/>
                  </a:cubicBezTo>
                  <a:close/>
                </a:path>
              </a:pathLst>
            </a:custGeom>
            <a:solidFill>
              <a:srgbClr val="FFFFFF"/>
            </a:solidFill>
            <a:ln w="15240" cap="sq">
              <a:solidFill>
                <a:srgbClr val="DAE4EF"/>
              </a:solidFill>
              <a:prstDash val="solid"/>
              <a:miter/>
            </a:ln>
          </p:spPr>
        </p:sp>
      </p:grpSp>
      <p:sp>
        <p:nvSpPr>
          <p:cNvPr name="TextBox 10" id="10"/>
          <p:cNvSpPr txBox="true"/>
          <p:nvPr/>
        </p:nvSpPr>
        <p:spPr>
          <a:xfrm rot="0">
            <a:off x="1545336" y="2107692"/>
            <a:ext cx="7210044" cy="309496"/>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Hướng A — Chạy thuần (single-node)</a:t>
            </a:r>
          </a:p>
        </p:txBody>
      </p:sp>
      <p:sp>
        <p:nvSpPr>
          <p:cNvPr name="TextBox 11" id="11"/>
          <p:cNvSpPr txBox="true"/>
          <p:nvPr/>
        </p:nvSpPr>
        <p:spPr>
          <a:xfrm rot="0">
            <a:off x="1271016" y="2642616"/>
            <a:ext cx="7196328" cy="383896"/>
          </a:xfrm>
          <a:prstGeom prst="rect">
            <a:avLst/>
          </a:prstGeom>
        </p:spPr>
        <p:txBody>
          <a:bodyPr anchor="t" rtlCol="false" tIns="0" lIns="0" bIns="0" rIns="0">
            <a:spAutoFit/>
          </a:bodyPr>
          <a:lstStyle/>
          <a:p>
            <a:pPr algn="ctr">
              <a:lnSpc>
                <a:spcPts val="2700"/>
              </a:lnSpc>
            </a:pPr>
            <a:r>
              <a:rPr lang="en-US" sz="2250" b="true">
                <a:solidFill>
                  <a:srgbClr val="112B4C"/>
                </a:solidFill>
                <a:latin typeface="Aptos Bold"/>
                <a:ea typeface="Aptos Bold"/>
                <a:cs typeface="Aptos Bold"/>
                <a:sym typeface="Aptos Bold"/>
              </a:rPr>
              <a:t>Một máy trạm • CPU đa lõi</a:t>
            </a:r>
          </a:p>
        </p:txBody>
      </p:sp>
      <p:grpSp>
        <p:nvGrpSpPr>
          <p:cNvPr name="Group 12" id="12"/>
          <p:cNvGrpSpPr/>
          <p:nvPr/>
        </p:nvGrpSpPr>
        <p:grpSpPr>
          <a:xfrm rot="0">
            <a:off x="1295400" y="3627120"/>
            <a:ext cx="7147560" cy="1002792"/>
            <a:chOff x="0" y="0"/>
            <a:chExt cx="9530080" cy="1337056"/>
          </a:xfrm>
        </p:grpSpPr>
        <p:sp>
          <p:nvSpPr>
            <p:cNvPr name="Freeform 13" id="13"/>
            <p:cNvSpPr/>
            <p:nvPr/>
          </p:nvSpPr>
          <p:spPr>
            <a:xfrm flipH="false" flipV="false" rot="0">
              <a:off x="0" y="0"/>
              <a:ext cx="9530080" cy="1337056"/>
            </a:xfrm>
            <a:custGeom>
              <a:avLst/>
              <a:gdLst/>
              <a:ahLst/>
              <a:cxnLst/>
              <a:rect r="r" b="b" t="t" l="l"/>
              <a:pathLst>
                <a:path h="1337056" w="9530080">
                  <a:moveTo>
                    <a:pt x="0" y="222885"/>
                  </a:moveTo>
                  <a:cubicBezTo>
                    <a:pt x="0" y="99822"/>
                    <a:pt x="99822" y="0"/>
                    <a:pt x="222885" y="0"/>
                  </a:cubicBezTo>
                  <a:lnTo>
                    <a:pt x="9307195" y="0"/>
                  </a:lnTo>
                  <a:cubicBezTo>
                    <a:pt x="9430258" y="0"/>
                    <a:pt x="9530080" y="99822"/>
                    <a:pt x="9530080" y="222885"/>
                  </a:cubicBezTo>
                  <a:lnTo>
                    <a:pt x="9530080" y="1114171"/>
                  </a:lnTo>
                  <a:cubicBezTo>
                    <a:pt x="9530080" y="1237234"/>
                    <a:pt x="9430258" y="1337056"/>
                    <a:pt x="9307195" y="1337056"/>
                  </a:cubicBezTo>
                  <a:lnTo>
                    <a:pt x="222885" y="1337056"/>
                  </a:lnTo>
                  <a:cubicBezTo>
                    <a:pt x="99822" y="1337056"/>
                    <a:pt x="0" y="1237234"/>
                    <a:pt x="0" y="1114171"/>
                  </a:cubicBezTo>
                  <a:close/>
                </a:path>
              </a:pathLst>
            </a:custGeom>
            <a:solidFill>
              <a:srgbClr val="E6F1FC"/>
            </a:solidFill>
            <a:ln w="15240" cap="sq">
              <a:solidFill>
                <a:srgbClr val="E6F1FC"/>
              </a:solidFill>
              <a:prstDash val="solid"/>
              <a:miter/>
            </a:ln>
          </p:spPr>
        </p:sp>
      </p:grpSp>
      <p:sp>
        <p:nvSpPr>
          <p:cNvPr name="TextBox 14" id="14"/>
          <p:cNvSpPr txBox="true"/>
          <p:nvPr/>
        </p:nvSpPr>
        <p:spPr>
          <a:xfrm rot="0">
            <a:off x="1545336" y="3753612"/>
            <a:ext cx="1696212" cy="283464"/>
          </a:xfrm>
          <a:prstGeom prst="rect">
            <a:avLst/>
          </a:prstGeom>
        </p:spPr>
        <p:txBody>
          <a:bodyPr anchor="t" rtlCol="false" tIns="0" lIns="0" bIns="0" rIns="0">
            <a:spAutoFit/>
          </a:bodyPr>
          <a:lstStyle/>
          <a:p>
            <a:pPr algn="l">
              <a:lnSpc>
                <a:spcPts val="1980"/>
              </a:lnSpc>
            </a:pPr>
            <a:r>
              <a:rPr lang="en-US" sz="1650" b="true">
                <a:solidFill>
                  <a:srgbClr val="2A69AA"/>
                </a:solidFill>
                <a:latin typeface="Aptos Bold"/>
                <a:ea typeface="Aptos Bold"/>
                <a:cs typeface="Aptos Bold"/>
                <a:sym typeface="Aptos Bold"/>
              </a:rPr>
              <a:t>6 mô hình</a:t>
            </a:r>
          </a:p>
        </p:txBody>
      </p:sp>
      <p:sp>
        <p:nvSpPr>
          <p:cNvPr name="TextBox 15" id="15"/>
          <p:cNvSpPr txBox="true"/>
          <p:nvPr/>
        </p:nvSpPr>
        <p:spPr>
          <a:xfrm rot="0">
            <a:off x="3095244" y="3753612"/>
            <a:ext cx="5084064" cy="640080"/>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Logistic Regression, Decision Tree, Random Forest</a:t>
            </a:r>
          </a:p>
        </p:txBody>
      </p:sp>
      <p:grpSp>
        <p:nvGrpSpPr>
          <p:cNvPr name="Group 16" id="16"/>
          <p:cNvGrpSpPr/>
          <p:nvPr/>
        </p:nvGrpSpPr>
        <p:grpSpPr>
          <a:xfrm rot="0">
            <a:off x="1295400" y="4998720"/>
            <a:ext cx="7147560" cy="1002792"/>
            <a:chOff x="0" y="0"/>
            <a:chExt cx="9530080" cy="1337056"/>
          </a:xfrm>
        </p:grpSpPr>
        <p:sp>
          <p:nvSpPr>
            <p:cNvPr name="Freeform 17" id="17"/>
            <p:cNvSpPr/>
            <p:nvPr/>
          </p:nvSpPr>
          <p:spPr>
            <a:xfrm flipH="false" flipV="false" rot="0">
              <a:off x="0" y="0"/>
              <a:ext cx="9530080" cy="1337056"/>
            </a:xfrm>
            <a:custGeom>
              <a:avLst/>
              <a:gdLst/>
              <a:ahLst/>
              <a:cxnLst/>
              <a:rect r="r" b="b" t="t" l="l"/>
              <a:pathLst>
                <a:path h="1337056" w="9530080">
                  <a:moveTo>
                    <a:pt x="0" y="222885"/>
                  </a:moveTo>
                  <a:cubicBezTo>
                    <a:pt x="0" y="99822"/>
                    <a:pt x="99822" y="0"/>
                    <a:pt x="222885" y="0"/>
                  </a:cubicBezTo>
                  <a:lnTo>
                    <a:pt x="9307195" y="0"/>
                  </a:lnTo>
                  <a:cubicBezTo>
                    <a:pt x="9430258" y="0"/>
                    <a:pt x="9530080" y="99822"/>
                    <a:pt x="9530080" y="222885"/>
                  </a:cubicBezTo>
                  <a:lnTo>
                    <a:pt x="9530080" y="1114171"/>
                  </a:lnTo>
                  <a:cubicBezTo>
                    <a:pt x="9530080" y="1237234"/>
                    <a:pt x="9430258" y="1337056"/>
                    <a:pt x="9307195" y="1337056"/>
                  </a:cubicBezTo>
                  <a:lnTo>
                    <a:pt x="222885" y="1337056"/>
                  </a:lnTo>
                  <a:cubicBezTo>
                    <a:pt x="99822" y="1337056"/>
                    <a:pt x="0" y="1237234"/>
                    <a:pt x="0" y="1114171"/>
                  </a:cubicBezTo>
                  <a:close/>
                </a:path>
              </a:pathLst>
            </a:custGeom>
            <a:solidFill>
              <a:srgbClr val="E6F1FC"/>
            </a:solidFill>
            <a:ln w="15240" cap="sq">
              <a:solidFill>
                <a:srgbClr val="E6F1FC"/>
              </a:solidFill>
              <a:prstDash val="solid"/>
              <a:miter/>
            </a:ln>
          </p:spPr>
        </p:sp>
      </p:grpSp>
      <p:sp>
        <p:nvSpPr>
          <p:cNvPr name="TextBox 18" id="18"/>
          <p:cNvSpPr txBox="true"/>
          <p:nvPr/>
        </p:nvSpPr>
        <p:spPr>
          <a:xfrm rot="0">
            <a:off x="1545336" y="5125212"/>
            <a:ext cx="1696212" cy="283464"/>
          </a:xfrm>
          <a:prstGeom prst="rect">
            <a:avLst/>
          </a:prstGeom>
        </p:spPr>
        <p:txBody>
          <a:bodyPr anchor="t" rtlCol="false" tIns="0" lIns="0" bIns="0" rIns="0">
            <a:spAutoFit/>
          </a:bodyPr>
          <a:lstStyle/>
          <a:p>
            <a:pPr algn="l">
              <a:lnSpc>
                <a:spcPts val="1980"/>
              </a:lnSpc>
            </a:pPr>
            <a:r>
              <a:rPr lang="en-US" sz="1650" b="true">
                <a:solidFill>
                  <a:srgbClr val="2A69AA"/>
                </a:solidFill>
                <a:latin typeface="Aptos Bold"/>
                <a:ea typeface="Aptos Bold"/>
                <a:cs typeface="Aptos Bold"/>
                <a:sym typeface="Aptos Bold"/>
              </a:rPr>
              <a:t>Boosting</a:t>
            </a:r>
          </a:p>
        </p:txBody>
      </p:sp>
      <p:sp>
        <p:nvSpPr>
          <p:cNvPr name="TextBox 19" id="19"/>
          <p:cNvSpPr txBox="true"/>
          <p:nvPr/>
        </p:nvSpPr>
        <p:spPr>
          <a:xfrm rot="0">
            <a:off x="3095244" y="5125212"/>
            <a:ext cx="5084064" cy="640080"/>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LightGBM, XGBoost, CatBoost</a:t>
            </a:r>
          </a:p>
        </p:txBody>
      </p:sp>
      <p:grpSp>
        <p:nvGrpSpPr>
          <p:cNvPr name="Group 20" id="20"/>
          <p:cNvGrpSpPr/>
          <p:nvPr/>
        </p:nvGrpSpPr>
        <p:grpSpPr>
          <a:xfrm rot="0">
            <a:off x="1295400" y="6370320"/>
            <a:ext cx="7147560" cy="1002792"/>
            <a:chOff x="0" y="0"/>
            <a:chExt cx="9530080" cy="1337056"/>
          </a:xfrm>
        </p:grpSpPr>
        <p:sp>
          <p:nvSpPr>
            <p:cNvPr name="Freeform 21" id="21"/>
            <p:cNvSpPr/>
            <p:nvPr/>
          </p:nvSpPr>
          <p:spPr>
            <a:xfrm flipH="false" flipV="false" rot="0">
              <a:off x="0" y="0"/>
              <a:ext cx="9530080" cy="1337056"/>
            </a:xfrm>
            <a:custGeom>
              <a:avLst/>
              <a:gdLst/>
              <a:ahLst/>
              <a:cxnLst/>
              <a:rect r="r" b="b" t="t" l="l"/>
              <a:pathLst>
                <a:path h="1337056" w="9530080">
                  <a:moveTo>
                    <a:pt x="0" y="222885"/>
                  </a:moveTo>
                  <a:cubicBezTo>
                    <a:pt x="0" y="99822"/>
                    <a:pt x="99822" y="0"/>
                    <a:pt x="222885" y="0"/>
                  </a:cubicBezTo>
                  <a:lnTo>
                    <a:pt x="9307195" y="0"/>
                  </a:lnTo>
                  <a:cubicBezTo>
                    <a:pt x="9430258" y="0"/>
                    <a:pt x="9530080" y="99822"/>
                    <a:pt x="9530080" y="222885"/>
                  </a:cubicBezTo>
                  <a:lnTo>
                    <a:pt x="9530080" y="1114171"/>
                  </a:lnTo>
                  <a:cubicBezTo>
                    <a:pt x="9530080" y="1237234"/>
                    <a:pt x="9430258" y="1337056"/>
                    <a:pt x="9307195" y="1337056"/>
                  </a:cubicBezTo>
                  <a:lnTo>
                    <a:pt x="222885" y="1337056"/>
                  </a:lnTo>
                  <a:cubicBezTo>
                    <a:pt x="99822" y="1337056"/>
                    <a:pt x="0" y="1237234"/>
                    <a:pt x="0" y="1114171"/>
                  </a:cubicBezTo>
                  <a:close/>
                </a:path>
              </a:pathLst>
            </a:custGeom>
            <a:solidFill>
              <a:srgbClr val="E6F1FC"/>
            </a:solidFill>
            <a:ln w="15240" cap="sq">
              <a:solidFill>
                <a:srgbClr val="E6F1FC"/>
              </a:solidFill>
              <a:prstDash val="solid"/>
              <a:miter/>
            </a:ln>
          </p:spPr>
        </p:sp>
      </p:grpSp>
      <p:sp>
        <p:nvSpPr>
          <p:cNvPr name="TextBox 22" id="22"/>
          <p:cNvSpPr txBox="true"/>
          <p:nvPr/>
        </p:nvSpPr>
        <p:spPr>
          <a:xfrm rot="0">
            <a:off x="1545336" y="6496812"/>
            <a:ext cx="1696212" cy="283464"/>
          </a:xfrm>
          <a:prstGeom prst="rect">
            <a:avLst/>
          </a:prstGeom>
        </p:spPr>
        <p:txBody>
          <a:bodyPr anchor="t" rtlCol="false" tIns="0" lIns="0" bIns="0" rIns="0">
            <a:spAutoFit/>
          </a:bodyPr>
          <a:lstStyle/>
          <a:p>
            <a:pPr algn="l">
              <a:lnSpc>
                <a:spcPts val="1980"/>
              </a:lnSpc>
            </a:pPr>
            <a:r>
              <a:rPr lang="en-US" sz="1650" b="true">
                <a:solidFill>
                  <a:srgbClr val="2A69AA"/>
                </a:solidFill>
                <a:latin typeface="Aptos Bold"/>
                <a:ea typeface="Aptos Bold"/>
                <a:cs typeface="Aptos Bold"/>
                <a:sym typeface="Aptos Bold"/>
              </a:rPr>
              <a:t>Đo lường</a:t>
            </a:r>
          </a:p>
        </p:txBody>
      </p:sp>
      <p:sp>
        <p:nvSpPr>
          <p:cNvPr name="TextBox 23" id="23"/>
          <p:cNvSpPr txBox="true"/>
          <p:nvPr/>
        </p:nvSpPr>
        <p:spPr>
          <a:xfrm rot="0">
            <a:off x="3095244" y="6496812"/>
            <a:ext cx="5084064" cy="238125"/>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Accuracy, F1, train time, latency</a:t>
            </a:r>
          </a:p>
        </p:txBody>
      </p:sp>
      <p:grpSp>
        <p:nvGrpSpPr>
          <p:cNvPr name="Group 24" id="24"/>
          <p:cNvGrpSpPr/>
          <p:nvPr/>
        </p:nvGrpSpPr>
        <p:grpSpPr>
          <a:xfrm rot="0">
            <a:off x="9319260" y="1844040"/>
            <a:ext cx="8176260" cy="6736080"/>
            <a:chOff x="0" y="0"/>
            <a:chExt cx="10901680" cy="8981440"/>
          </a:xfrm>
        </p:grpSpPr>
        <p:sp>
          <p:nvSpPr>
            <p:cNvPr name="Freeform 25" id="25"/>
            <p:cNvSpPr/>
            <p:nvPr/>
          </p:nvSpPr>
          <p:spPr>
            <a:xfrm flipH="false" flipV="false" rot="0">
              <a:off x="0" y="0"/>
              <a:ext cx="10901680" cy="8981440"/>
            </a:xfrm>
            <a:custGeom>
              <a:avLst/>
              <a:gdLst/>
              <a:ahLst/>
              <a:cxnLst/>
              <a:rect r="r" b="b" t="t" l="l"/>
              <a:pathLst>
                <a:path h="8981440" w="10901680">
                  <a:moveTo>
                    <a:pt x="0" y="1496949"/>
                  </a:moveTo>
                  <a:cubicBezTo>
                    <a:pt x="0" y="670179"/>
                    <a:pt x="670179" y="0"/>
                    <a:pt x="1496949" y="0"/>
                  </a:cubicBezTo>
                  <a:lnTo>
                    <a:pt x="9404731" y="0"/>
                  </a:lnTo>
                  <a:cubicBezTo>
                    <a:pt x="10231501" y="0"/>
                    <a:pt x="10901680" y="670179"/>
                    <a:pt x="10901680" y="1496949"/>
                  </a:cubicBezTo>
                  <a:lnTo>
                    <a:pt x="10901680" y="7484491"/>
                  </a:lnTo>
                  <a:cubicBezTo>
                    <a:pt x="10901680" y="8311261"/>
                    <a:pt x="10231501" y="8981440"/>
                    <a:pt x="9404731" y="8981440"/>
                  </a:cubicBezTo>
                  <a:lnTo>
                    <a:pt x="1496949" y="8981440"/>
                  </a:lnTo>
                  <a:cubicBezTo>
                    <a:pt x="670179" y="8981440"/>
                    <a:pt x="0" y="8311261"/>
                    <a:pt x="0" y="7484491"/>
                  </a:cubicBezTo>
                  <a:close/>
                </a:path>
              </a:pathLst>
            </a:custGeom>
            <a:solidFill>
              <a:srgbClr val="FFFFFF"/>
            </a:solidFill>
            <a:ln w="15240" cap="sq">
              <a:solidFill>
                <a:srgbClr val="DAE4EF"/>
              </a:solidFill>
              <a:prstDash val="solid"/>
              <a:miter/>
            </a:ln>
          </p:spPr>
        </p:sp>
      </p:grpSp>
      <p:sp>
        <p:nvSpPr>
          <p:cNvPr name="TextBox 26" id="26"/>
          <p:cNvSpPr txBox="true"/>
          <p:nvPr/>
        </p:nvSpPr>
        <p:spPr>
          <a:xfrm rot="0">
            <a:off x="9939528" y="2121408"/>
            <a:ext cx="7319772" cy="309496"/>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Hướng B — Spark phân tán</a:t>
            </a:r>
          </a:p>
        </p:txBody>
      </p:sp>
      <p:sp>
        <p:nvSpPr>
          <p:cNvPr name="TextBox 27" id="27"/>
          <p:cNvSpPr txBox="true"/>
          <p:nvPr/>
        </p:nvSpPr>
        <p:spPr>
          <a:xfrm rot="0">
            <a:off x="9774936" y="2633091"/>
            <a:ext cx="7264908" cy="370342"/>
          </a:xfrm>
          <a:prstGeom prst="rect">
            <a:avLst/>
          </a:prstGeom>
        </p:spPr>
        <p:txBody>
          <a:bodyPr anchor="t" rtlCol="false" tIns="0" lIns="0" bIns="0" rIns="0">
            <a:spAutoFit/>
          </a:bodyPr>
          <a:lstStyle/>
          <a:p>
            <a:pPr algn="ctr">
              <a:lnSpc>
                <a:spcPts val="2520"/>
              </a:lnSpc>
            </a:pPr>
            <a:r>
              <a:rPr lang="en-US" sz="2100" b="true">
                <a:solidFill>
                  <a:srgbClr val="112B4C"/>
                </a:solidFill>
                <a:latin typeface="Aptos Bold"/>
                <a:ea typeface="Aptos Bold"/>
                <a:cs typeface="Aptos Bold"/>
                <a:sym typeface="Aptos Bold"/>
              </a:rPr>
              <a:t>Cụm 3 laptop • Tailscale Mesh VPN</a:t>
            </a:r>
          </a:p>
        </p:txBody>
      </p:sp>
      <p:grpSp>
        <p:nvGrpSpPr>
          <p:cNvPr name="Group 28" id="28"/>
          <p:cNvGrpSpPr/>
          <p:nvPr/>
        </p:nvGrpSpPr>
        <p:grpSpPr>
          <a:xfrm rot="0">
            <a:off x="9799320" y="3627120"/>
            <a:ext cx="7147560" cy="1002792"/>
            <a:chOff x="0" y="0"/>
            <a:chExt cx="9530080" cy="1337056"/>
          </a:xfrm>
        </p:grpSpPr>
        <p:sp>
          <p:nvSpPr>
            <p:cNvPr name="Freeform 29" id="29"/>
            <p:cNvSpPr/>
            <p:nvPr/>
          </p:nvSpPr>
          <p:spPr>
            <a:xfrm flipH="false" flipV="false" rot="0">
              <a:off x="0" y="0"/>
              <a:ext cx="9530080" cy="1337056"/>
            </a:xfrm>
            <a:custGeom>
              <a:avLst/>
              <a:gdLst/>
              <a:ahLst/>
              <a:cxnLst/>
              <a:rect r="r" b="b" t="t" l="l"/>
              <a:pathLst>
                <a:path h="1337056" w="9530080">
                  <a:moveTo>
                    <a:pt x="0" y="222885"/>
                  </a:moveTo>
                  <a:cubicBezTo>
                    <a:pt x="0" y="99822"/>
                    <a:pt x="99822" y="0"/>
                    <a:pt x="222885" y="0"/>
                  </a:cubicBezTo>
                  <a:lnTo>
                    <a:pt x="9307195" y="0"/>
                  </a:lnTo>
                  <a:cubicBezTo>
                    <a:pt x="9430258" y="0"/>
                    <a:pt x="9530080" y="99822"/>
                    <a:pt x="9530080" y="222885"/>
                  </a:cubicBezTo>
                  <a:lnTo>
                    <a:pt x="9530080" y="1114171"/>
                  </a:lnTo>
                  <a:cubicBezTo>
                    <a:pt x="9530080" y="1237234"/>
                    <a:pt x="9430258" y="1337056"/>
                    <a:pt x="9307195" y="1337056"/>
                  </a:cubicBezTo>
                  <a:lnTo>
                    <a:pt x="222885" y="1337056"/>
                  </a:lnTo>
                  <a:cubicBezTo>
                    <a:pt x="99822" y="1337056"/>
                    <a:pt x="0" y="1237234"/>
                    <a:pt x="0" y="1114171"/>
                  </a:cubicBezTo>
                  <a:close/>
                </a:path>
              </a:pathLst>
            </a:custGeom>
            <a:solidFill>
              <a:srgbClr val="E6F5ED"/>
            </a:solidFill>
            <a:ln w="15240" cap="sq">
              <a:solidFill>
                <a:srgbClr val="E6F5ED"/>
              </a:solidFill>
              <a:prstDash val="solid"/>
              <a:miter/>
            </a:ln>
          </p:spPr>
        </p:sp>
      </p:grpSp>
      <p:sp>
        <p:nvSpPr>
          <p:cNvPr name="TextBox 30" id="30"/>
          <p:cNvSpPr txBox="true"/>
          <p:nvPr/>
        </p:nvSpPr>
        <p:spPr>
          <a:xfrm rot="0">
            <a:off x="10049256" y="3753612"/>
            <a:ext cx="1833372" cy="283464"/>
          </a:xfrm>
          <a:prstGeom prst="rect">
            <a:avLst/>
          </a:prstGeom>
        </p:spPr>
        <p:txBody>
          <a:bodyPr anchor="t" rtlCol="false" tIns="0" lIns="0" bIns="0" rIns="0">
            <a:spAutoFit/>
          </a:bodyPr>
          <a:lstStyle/>
          <a:p>
            <a:pPr algn="l">
              <a:lnSpc>
                <a:spcPts val="1889"/>
              </a:lnSpc>
            </a:pPr>
            <a:r>
              <a:rPr lang="en-US" sz="1575" b="true">
                <a:solidFill>
                  <a:srgbClr val="238765"/>
                </a:solidFill>
                <a:latin typeface="Aptos Bold"/>
                <a:ea typeface="Aptos Bold"/>
                <a:cs typeface="Aptos Bold"/>
                <a:sym typeface="Aptos Bold"/>
              </a:rPr>
              <a:t>Spark ETL</a:t>
            </a:r>
          </a:p>
        </p:txBody>
      </p:sp>
      <p:sp>
        <p:nvSpPr>
          <p:cNvPr name="TextBox 31" id="31"/>
          <p:cNvSpPr txBox="true"/>
          <p:nvPr/>
        </p:nvSpPr>
        <p:spPr>
          <a:xfrm rot="0">
            <a:off x="11804904" y="3753612"/>
            <a:ext cx="4850892" cy="640080"/>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Làm sạch 7,079,081 dòng và ghi Parquet</a:t>
            </a:r>
          </a:p>
        </p:txBody>
      </p:sp>
      <p:grpSp>
        <p:nvGrpSpPr>
          <p:cNvPr name="Group 32" id="32"/>
          <p:cNvGrpSpPr/>
          <p:nvPr/>
        </p:nvGrpSpPr>
        <p:grpSpPr>
          <a:xfrm rot="0">
            <a:off x="9799320" y="4998720"/>
            <a:ext cx="7147560" cy="1002792"/>
            <a:chOff x="0" y="0"/>
            <a:chExt cx="9530080" cy="1337056"/>
          </a:xfrm>
        </p:grpSpPr>
        <p:sp>
          <p:nvSpPr>
            <p:cNvPr name="Freeform 33" id="33"/>
            <p:cNvSpPr/>
            <p:nvPr/>
          </p:nvSpPr>
          <p:spPr>
            <a:xfrm flipH="false" flipV="false" rot="0">
              <a:off x="0" y="0"/>
              <a:ext cx="9530080" cy="1337056"/>
            </a:xfrm>
            <a:custGeom>
              <a:avLst/>
              <a:gdLst/>
              <a:ahLst/>
              <a:cxnLst/>
              <a:rect r="r" b="b" t="t" l="l"/>
              <a:pathLst>
                <a:path h="1337056" w="9530080">
                  <a:moveTo>
                    <a:pt x="0" y="222885"/>
                  </a:moveTo>
                  <a:cubicBezTo>
                    <a:pt x="0" y="99822"/>
                    <a:pt x="99822" y="0"/>
                    <a:pt x="222885" y="0"/>
                  </a:cubicBezTo>
                  <a:lnTo>
                    <a:pt x="9307195" y="0"/>
                  </a:lnTo>
                  <a:cubicBezTo>
                    <a:pt x="9430258" y="0"/>
                    <a:pt x="9530080" y="99822"/>
                    <a:pt x="9530080" y="222885"/>
                  </a:cubicBezTo>
                  <a:lnTo>
                    <a:pt x="9530080" y="1114171"/>
                  </a:lnTo>
                  <a:cubicBezTo>
                    <a:pt x="9530080" y="1237234"/>
                    <a:pt x="9430258" y="1337056"/>
                    <a:pt x="9307195" y="1337056"/>
                  </a:cubicBezTo>
                  <a:lnTo>
                    <a:pt x="222885" y="1337056"/>
                  </a:lnTo>
                  <a:cubicBezTo>
                    <a:pt x="99822" y="1337056"/>
                    <a:pt x="0" y="1237234"/>
                    <a:pt x="0" y="1114171"/>
                  </a:cubicBezTo>
                  <a:close/>
                </a:path>
              </a:pathLst>
            </a:custGeom>
            <a:solidFill>
              <a:srgbClr val="E6F5ED"/>
            </a:solidFill>
            <a:ln w="15240" cap="sq">
              <a:solidFill>
                <a:srgbClr val="E6F5ED"/>
              </a:solidFill>
              <a:prstDash val="solid"/>
              <a:miter/>
            </a:ln>
          </p:spPr>
        </p:sp>
      </p:grpSp>
      <p:sp>
        <p:nvSpPr>
          <p:cNvPr name="TextBox 34" id="34"/>
          <p:cNvSpPr txBox="true"/>
          <p:nvPr/>
        </p:nvSpPr>
        <p:spPr>
          <a:xfrm rot="0">
            <a:off x="10049256" y="5125212"/>
            <a:ext cx="1833372" cy="283464"/>
          </a:xfrm>
          <a:prstGeom prst="rect">
            <a:avLst/>
          </a:prstGeom>
        </p:spPr>
        <p:txBody>
          <a:bodyPr anchor="t" rtlCol="false" tIns="0" lIns="0" bIns="0" rIns="0">
            <a:spAutoFit/>
          </a:bodyPr>
          <a:lstStyle/>
          <a:p>
            <a:pPr algn="l">
              <a:lnSpc>
                <a:spcPts val="1889"/>
              </a:lnSpc>
            </a:pPr>
            <a:r>
              <a:rPr lang="en-US" sz="1575" b="true">
                <a:solidFill>
                  <a:srgbClr val="238765"/>
                </a:solidFill>
                <a:latin typeface="Aptos Bold"/>
                <a:ea typeface="Aptos Bold"/>
                <a:cs typeface="Aptos Bold"/>
                <a:sym typeface="Aptos Bold"/>
              </a:rPr>
              <a:t>3 mô hình MLlib</a:t>
            </a:r>
          </a:p>
        </p:txBody>
      </p:sp>
      <p:sp>
        <p:nvSpPr>
          <p:cNvPr name="TextBox 35" id="35"/>
          <p:cNvSpPr txBox="true"/>
          <p:nvPr/>
        </p:nvSpPr>
        <p:spPr>
          <a:xfrm rot="0">
            <a:off x="11804904" y="5125212"/>
            <a:ext cx="4850892" cy="640080"/>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Logistic Regression, Decision Tree, Random Forest</a:t>
            </a:r>
          </a:p>
        </p:txBody>
      </p:sp>
      <p:grpSp>
        <p:nvGrpSpPr>
          <p:cNvPr name="Group 36" id="36"/>
          <p:cNvGrpSpPr/>
          <p:nvPr/>
        </p:nvGrpSpPr>
        <p:grpSpPr>
          <a:xfrm rot="0">
            <a:off x="9799320" y="6370320"/>
            <a:ext cx="7147560" cy="1002792"/>
            <a:chOff x="0" y="0"/>
            <a:chExt cx="9530080" cy="1337056"/>
          </a:xfrm>
        </p:grpSpPr>
        <p:sp>
          <p:nvSpPr>
            <p:cNvPr name="Freeform 37" id="37"/>
            <p:cNvSpPr/>
            <p:nvPr/>
          </p:nvSpPr>
          <p:spPr>
            <a:xfrm flipH="false" flipV="false" rot="0">
              <a:off x="0" y="0"/>
              <a:ext cx="9530080" cy="1337056"/>
            </a:xfrm>
            <a:custGeom>
              <a:avLst/>
              <a:gdLst/>
              <a:ahLst/>
              <a:cxnLst/>
              <a:rect r="r" b="b" t="t" l="l"/>
              <a:pathLst>
                <a:path h="1337056" w="9530080">
                  <a:moveTo>
                    <a:pt x="0" y="222885"/>
                  </a:moveTo>
                  <a:cubicBezTo>
                    <a:pt x="0" y="99822"/>
                    <a:pt x="99822" y="0"/>
                    <a:pt x="222885" y="0"/>
                  </a:cubicBezTo>
                  <a:lnTo>
                    <a:pt x="9307195" y="0"/>
                  </a:lnTo>
                  <a:cubicBezTo>
                    <a:pt x="9430258" y="0"/>
                    <a:pt x="9530080" y="99822"/>
                    <a:pt x="9530080" y="222885"/>
                  </a:cubicBezTo>
                  <a:lnTo>
                    <a:pt x="9530080" y="1114171"/>
                  </a:lnTo>
                  <a:cubicBezTo>
                    <a:pt x="9530080" y="1237234"/>
                    <a:pt x="9430258" y="1337056"/>
                    <a:pt x="9307195" y="1337056"/>
                  </a:cubicBezTo>
                  <a:lnTo>
                    <a:pt x="222885" y="1337056"/>
                  </a:lnTo>
                  <a:cubicBezTo>
                    <a:pt x="99822" y="1337056"/>
                    <a:pt x="0" y="1237234"/>
                    <a:pt x="0" y="1114171"/>
                  </a:cubicBezTo>
                  <a:close/>
                </a:path>
              </a:pathLst>
            </a:custGeom>
            <a:solidFill>
              <a:srgbClr val="E6F5ED"/>
            </a:solidFill>
            <a:ln w="15240" cap="sq">
              <a:solidFill>
                <a:srgbClr val="E6F5ED"/>
              </a:solidFill>
              <a:prstDash val="solid"/>
              <a:miter/>
            </a:ln>
          </p:spPr>
        </p:sp>
      </p:grpSp>
      <p:sp>
        <p:nvSpPr>
          <p:cNvPr name="TextBox 38" id="38"/>
          <p:cNvSpPr txBox="true"/>
          <p:nvPr/>
        </p:nvSpPr>
        <p:spPr>
          <a:xfrm rot="0">
            <a:off x="10049256" y="6496812"/>
            <a:ext cx="1833372" cy="283464"/>
          </a:xfrm>
          <a:prstGeom prst="rect">
            <a:avLst/>
          </a:prstGeom>
        </p:spPr>
        <p:txBody>
          <a:bodyPr anchor="t" rtlCol="false" tIns="0" lIns="0" bIns="0" rIns="0">
            <a:spAutoFit/>
          </a:bodyPr>
          <a:lstStyle/>
          <a:p>
            <a:pPr algn="l">
              <a:lnSpc>
                <a:spcPts val="1889"/>
              </a:lnSpc>
            </a:pPr>
            <a:r>
              <a:rPr lang="en-US" sz="1575" b="true">
                <a:solidFill>
                  <a:srgbClr val="238765"/>
                </a:solidFill>
                <a:latin typeface="Aptos Bold"/>
                <a:ea typeface="Aptos Bold"/>
                <a:cs typeface="Aptos Bold"/>
                <a:sym typeface="Aptos Bold"/>
              </a:rPr>
              <a:t>Đo lường</a:t>
            </a:r>
          </a:p>
        </p:txBody>
      </p:sp>
      <p:sp>
        <p:nvSpPr>
          <p:cNvPr name="TextBox 39" id="39"/>
          <p:cNvSpPr txBox="true"/>
          <p:nvPr/>
        </p:nvSpPr>
        <p:spPr>
          <a:xfrm rot="0">
            <a:off x="11804904" y="6496812"/>
            <a:ext cx="4850892" cy="640080"/>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Thời gian Spark thuần, thời gian gồm Wi-Fi, latency, RAM</a:t>
            </a:r>
          </a:p>
        </p:txBody>
      </p:sp>
      <p:grpSp>
        <p:nvGrpSpPr>
          <p:cNvPr name="Group 40" id="40"/>
          <p:cNvGrpSpPr/>
          <p:nvPr/>
        </p:nvGrpSpPr>
        <p:grpSpPr>
          <a:xfrm rot="0">
            <a:off x="1089660" y="8839200"/>
            <a:ext cx="16131540" cy="591312"/>
            <a:chOff x="0" y="0"/>
            <a:chExt cx="21508720" cy="788416"/>
          </a:xfrm>
        </p:grpSpPr>
        <p:sp>
          <p:nvSpPr>
            <p:cNvPr name="Freeform 41" id="41"/>
            <p:cNvSpPr/>
            <p:nvPr/>
          </p:nvSpPr>
          <p:spPr>
            <a:xfrm flipH="false" flipV="false" rot="0">
              <a:off x="0" y="0"/>
              <a:ext cx="21508720" cy="788416"/>
            </a:xfrm>
            <a:custGeom>
              <a:avLst/>
              <a:gdLst/>
              <a:ahLst/>
              <a:cxnLst/>
              <a:rect r="r" b="b" t="t" l="l"/>
              <a:pathLst>
                <a:path h="788416" w="21508720">
                  <a:moveTo>
                    <a:pt x="0" y="131445"/>
                  </a:moveTo>
                  <a:cubicBezTo>
                    <a:pt x="0" y="58801"/>
                    <a:pt x="58801" y="0"/>
                    <a:pt x="131445" y="0"/>
                  </a:cubicBezTo>
                  <a:lnTo>
                    <a:pt x="21377275" y="0"/>
                  </a:lnTo>
                  <a:cubicBezTo>
                    <a:pt x="21449792" y="0"/>
                    <a:pt x="21508720" y="58801"/>
                    <a:pt x="21508720" y="131445"/>
                  </a:cubicBezTo>
                  <a:lnTo>
                    <a:pt x="21508720" y="656971"/>
                  </a:lnTo>
                  <a:cubicBezTo>
                    <a:pt x="21508720" y="729488"/>
                    <a:pt x="21449919" y="788416"/>
                    <a:pt x="21377275" y="788416"/>
                  </a:cubicBezTo>
                  <a:lnTo>
                    <a:pt x="131445" y="788416"/>
                  </a:lnTo>
                  <a:cubicBezTo>
                    <a:pt x="58801" y="788416"/>
                    <a:pt x="0" y="729615"/>
                    <a:pt x="0" y="656971"/>
                  </a:cubicBezTo>
                  <a:close/>
                </a:path>
              </a:pathLst>
            </a:custGeom>
            <a:solidFill>
              <a:srgbClr val="FFF4E0"/>
            </a:solidFill>
            <a:ln w="15240" cap="sq">
              <a:solidFill>
                <a:srgbClr val="FFF4E0"/>
              </a:solidFill>
              <a:prstDash val="solid"/>
              <a:miter/>
            </a:ln>
          </p:spPr>
        </p:sp>
      </p:grpSp>
      <p:sp>
        <p:nvSpPr>
          <p:cNvPr name="TextBox 42" id="42"/>
          <p:cNvSpPr txBox="true"/>
          <p:nvPr/>
        </p:nvSpPr>
        <p:spPr>
          <a:xfrm rot="0">
            <a:off x="1298448" y="8938260"/>
            <a:ext cx="15713964" cy="297180"/>
          </a:xfrm>
          <a:prstGeom prst="rect">
            <a:avLst/>
          </a:prstGeom>
        </p:spPr>
        <p:txBody>
          <a:bodyPr anchor="t" rtlCol="false" tIns="0" lIns="0" bIns="0" rIns="0">
            <a:spAutoFit/>
          </a:bodyPr>
          <a:lstStyle/>
          <a:p>
            <a:pPr algn="l">
              <a:lnSpc>
                <a:spcPts val="2160"/>
              </a:lnSpc>
            </a:pPr>
            <a:r>
              <a:rPr lang="en-US" sz="1800" b="true">
                <a:solidFill>
                  <a:srgbClr val="DA8F23"/>
                </a:solidFill>
                <a:latin typeface="Aptos Bold"/>
                <a:ea typeface="Aptos Bold"/>
                <a:cs typeface="Aptos Bold"/>
                <a:sym typeface="Aptos Bold"/>
              </a:rPr>
              <a:t>Mục tiêu</a:t>
            </a:r>
          </a:p>
        </p:txBody>
      </p:sp>
      <p:sp>
        <p:nvSpPr>
          <p:cNvPr name="TextBox 43" id="43"/>
          <p:cNvSpPr txBox="true"/>
          <p:nvPr/>
        </p:nvSpPr>
        <p:spPr>
          <a:xfrm rot="0">
            <a:off x="1298448" y="9294876"/>
            <a:ext cx="15713964" cy="77724"/>
          </a:xfrm>
          <a:prstGeom prst="rect">
            <a:avLst/>
          </a:prstGeom>
        </p:spPr>
        <p:txBody>
          <a:bodyPr anchor="t" rtlCol="false" tIns="0" lIns="0" bIns="0" rIns="0">
            <a:spAutoFit/>
          </a:bodyPr>
          <a:lstStyle/>
          <a:p>
            <a:pPr algn="l">
              <a:lnSpc>
                <a:spcPts val="1800"/>
              </a:lnSpc>
            </a:pPr>
            <a:r>
              <a:rPr lang="en-US" sz="1500">
                <a:solidFill>
                  <a:srgbClr val="233141"/>
                </a:solidFill>
                <a:latin typeface="Aptos"/>
                <a:ea typeface="Aptos"/>
                <a:cs typeface="Aptos"/>
                <a:sym typeface="Aptos"/>
              </a:rPr>
              <a:t>Đối chiếu chất lượng dự đoán, thời gian xử lý và tài nguyên của hai hướng triển khai.</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23444"/>
            <a:chOff x="0" y="0"/>
            <a:chExt cx="24383390" cy="164592"/>
          </a:xfrm>
        </p:grpSpPr>
        <p:sp>
          <p:nvSpPr>
            <p:cNvPr name="Freeform 3" id="3"/>
            <p:cNvSpPr/>
            <p:nvPr/>
          </p:nvSpPr>
          <p:spPr>
            <a:xfrm flipH="false" flipV="false" rot="0">
              <a:off x="0" y="0"/>
              <a:ext cx="24383364" cy="164592"/>
            </a:xfrm>
            <a:custGeom>
              <a:avLst/>
              <a:gdLst/>
              <a:ahLst/>
              <a:cxnLst/>
              <a:rect r="r" b="b" t="t" l="l"/>
              <a:pathLst>
                <a:path h="164592" w="24383364">
                  <a:moveTo>
                    <a:pt x="0" y="0"/>
                  </a:moveTo>
                  <a:lnTo>
                    <a:pt x="24383364" y="0"/>
                  </a:lnTo>
                  <a:lnTo>
                    <a:pt x="24383364" y="164592"/>
                  </a:lnTo>
                  <a:lnTo>
                    <a:pt x="0" y="164592"/>
                  </a:lnTo>
                  <a:close/>
                </a:path>
              </a:pathLst>
            </a:custGeom>
            <a:solidFill>
              <a:srgbClr val="2D6699"/>
            </a:solidFill>
          </p:spPr>
        </p:sp>
      </p:grpSp>
      <p:sp>
        <p:nvSpPr>
          <p:cNvPr name="TextBox 4" id="4"/>
          <p:cNvSpPr txBox="true"/>
          <p:nvPr/>
        </p:nvSpPr>
        <p:spPr>
          <a:xfrm rot="0">
            <a:off x="790956" y="402336"/>
            <a:ext cx="16660368" cy="347472"/>
          </a:xfrm>
          <a:prstGeom prst="rect">
            <a:avLst/>
          </a:prstGeom>
        </p:spPr>
        <p:txBody>
          <a:bodyPr anchor="t" rtlCol="false" tIns="0" lIns="0" bIns="0" rIns="0">
            <a:spAutoFit/>
          </a:bodyPr>
          <a:lstStyle/>
          <a:p>
            <a:pPr algn="l">
              <a:lnSpc>
                <a:spcPts val="1800"/>
              </a:lnSpc>
            </a:pPr>
            <a:r>
              <a:rPr lang="en-US" sz="1500" b="true">
                <a:solidFill>
                  <a:srgbClr val="2D6699"/>
                </a:solidFill>
                <a:latin typeface="Aptos Bold"/>
                <a:ea typeface="Aptos Bold"/>
                <a:cs typeface="Aptos Bold"/>
                <a:sym typeface="Aptos Bold"/>
              </a:rPr>
              <a:t>PHẦN I</a:t>
            </a:r>
          </a:p>
        </p:txBody>
      </p:sp>
      <p:sp>
        <p:nvSpPr>
          <p:cNvPr name="TextBox 5" id="5"/>
          <p:cNvSpPr txBox="true"/>
          <p:nvPr/>
        </p:nvSpPr>
        <p:spPr>
          <a:xfrm rot="0">
            <a:off x="790956" y="868680"/>
            <a:ext cx="16660368" cy="758952"/>
          </a:xfrm>
          <a:prstGeom prst="rect">
            <a:avLst/>
          </a:prstGeom>
        </p:spPr>
        <p:txBody>
          <a:bodyPr anchor="t" rtlCol="false" tIns="0" lIns="0" bIns="0" rIns="0">
            <a:spAutoFit/>
          </a:bodyPr>
          <a:lstStyle/>
          <a:p>
            <a:pPr algn="l">
              <a:lnSpc>
                <a:spcPts val="4680"/>
              </a:lnSpc>
            </a:pPr>
            <a:r>
              <a:rPr lang="en-US" sz="3900" b="true">
                <a:solidFill>
                  <a:srgbClr val="19314F"/>
                </a:solidFill>
                <a:latin typeface="Aptos Bold"/>
                <a:ea typeface="Aptos Bold"/>
                <a:cs typeface="Aptos Bold"/>
                <a:sym typeface="Aptos Bold"/>
              </a:rPr>
              <a:t>PHẦN I — THỰC NGHIỆM THUẦN CPU</a:t>
            </a:r>
          </a:p>
        </p:txBody>
      </p:sp>
      <p:sp>
        <p:nvSpPr>
          <p:cNvPr name="TextBox 6" id="6"/>
          <p:cNvSpPr txBox="true"/>
          <p:nvPr/>
        </p:nvSpPr>
        <p:spPr>
          <a:xfrm rot="0">
            <a:off x="832104" y="1705356"/>
            <a:ext cx="16523208" cy="717804"/>
          </a:xfrm>
          <a:prstGeom prst="rect">
            <a:avLst/>
          </a:prstGeom>
        </p:spPr>
        <p:txBody>
          <a:bodyPr anchor="t" rtlCol="false" tIns="0" lIns="0" bIns="0" rIns="0">
            <a:spAutoFit/>
          </a:bodyPr>
          <a:lstStyle/>
          <a:p>
            <a:pPr algn="l">
              <a:lnSpc>
                <a:spcPts val="2340"/>
              </a:lnSpc>
            </a:pPr>
            <a:r>
              <a:rPr lang="en-US" sz="1950">
                <a:solidFill>
                  <a:srgbClr val="555F6C"/>
                </a:solidFill>
                <a:latin typeface="Aptos"/>
                <a:ea typeface="Aptos"/>
                <a:cs typeface="Aptos"/>
                <a:sym typeface="Aptos"/>
              </a:rPr>
              <a:t>Chỉ xét các mô hình được thực nghiệm thuần CPU.</a:t>
            </a:r>
          </a:p>
        </p:txBody>
      </p:sp>
      <p:sp>
        <p:nvSpPr>
          <p:cNvPr name="TextBox 7" id="7"/>
          <p:cNvSpPr txBox="true"/>
          <p:nvPr/>
        </p:nvSpPr>
        <p:spPr>
          <a:xfrm rot="0">
            <a:off x="790956" y="9788271"/>
            <a:ext cx="16111728" cy="219837"/>
          </a:xfrm>
          <a:prstGeom prst="rect">
            <a:avLst/>
          </a:prstGeom>
        </p:spPr>
        <p:txBody>
          <a:bodyPr anchor="t" rtlCol="false" tIns="0" lIns="0" bIns="0" rIns="0">
            <a:spAutoFit/>
          </a:bodyPr>
          <a:lstStyle/>
          <a:p>
            <a:pPr algn="l">
              <a:lnSpc>
                <a:spcPts val="1620"/>
              </a:lnSpc>
            </a:pPr>
            <a:r>
              <a:rPr lang="en-US" sz="1350">
                <a:solidFill>
                  <a:srgbClr val="555F6C"/>
                </a:solidFill>
                <a:latin typeface="Aptos"/>
                <a:ea typeface="Aptos"/>
                <a:cs typeface="Aptos"/>
                <a:sym typeface="Aptos"/>
              </a:rPr>
              <a:t>Đồ án Big Data • Nhóm 6</a:t>
            </a:r>
          </a:p>
        </p:txBody>
      </p:sp>
      <p:sp>
        <p:nvSpPr>
          <p:cNvPr name="TextBox 8" id="8"/>
          <p:cNvSpPr txBox="true"/>
          <p:nvPr/>
        </p:nvSpPr>
        <p:spPr>
          <a:xfrm rot="0">
            <a:off x="16770096" y="9747123"/>
            <a:ext cx="681228" cy="247269"/>
          </a:xfrm>
          <a:prstGeom prst="rect">
            <a:avLst/>
          </a:prstGeom>
        </p:spPr>
        <p:txBody>
          <a:bodyPr anchor="t" rtlCol="false" tIns="0" lIns="0" bIns="0" rIns="0">
            <a:spAutoFit/>
          </a:bodyPr>
          <a:lstStyle/>
          <a:p>
            <a:pPr algn="r">
              <a:lnSpc>
                <a:spcPts val="1620"/>
              </a:lnSpc>
            </a:pPr>
            <a:r>
              <a:rPr lang="en-US" sz="1350">
                <a:solidFill>
                  <a:srgbClr val="555F6C"/>
                </a:solidFill>
                <a:latin typeface="Aptos"/>
                <a:ea typeface="Aptos"/>
                <a:cs typeface="Aptos"/>
                <a:sym typeface="Aptos"/>
              </a:rPr>
              <a:t>3</a:t>
            </a:r>
          </a:p>
        </p:txBody>
      </p:sp>
      <p:sp>
        <p:nvSpPr>
          <p:cNvPr name="TextBox 9" id="9"/>
          <p:cNvSpPr txBox="true"/>
          <p:nvPr/>
        </p:nvSpPr>
        <p:spPr>
          <a:xfrm rot="0">
            <a:off x="1408176" y="3104388"/>
            <a:ext cx="15288768" cy="992124"/>
          </a:xfrm>
          <a:prstGeom prst="rect">
            <a:avLst/>
          </a:prstGeom>
        </p:spPr>
        <p:txBody>
          <a:bodyPr anchor="t" rtlCol="false" tIns="0" lIns="0" bIns="0" rIns="0">
            <a:spAutoFit/>
          </a:bodyPr>
          <a:lstStyle/>
          <a:p>
            <a:pPr algn="ctr">
              <a:lnSpc>
                <a:spcPts val="3779"/>
              </a:lnSpc>
            </a:pPr>
            <a:r>
              <a:rPr lang="en-US" sz="3150" b="true">
                <a:solidFill>
                  <a:srgbClr val="19314F"/>
                </a:solidFill>
                <a:latin typeface="Aptos Bold"/>
                <a:ea typeface="Aptos Bold"/>
                <a:cs typeface="Aptos Bold"/>
                <a:sym typeface="Aptos Bold"/>
              </a:rPr>
              <a:t>Mục tiêu: xác lập baseline về chất lượng dự đoán và chi phí tính toán trước khi xem kết quả Spark.</a:t>
            </a:r>
          </a:p>
        </p:txBody>
      </p:sp>
      <p:sp>
        <p:nvSpPr>
          <p:cNvPr name="TextBox 10" id="10"/>
          <p:cNvSpPr txBox="true"/>
          <p:nvPr/>
        </p:nvSpPr>
        <p:spPr>
          <a:xfrm rot="0">
            <a:off x="1956816" y="4887468"/>
            <a:ext cx="14328648" cy="1609344"/>
          </a:xfrm>
          <a:prstGeom prst="rect">
            <a:avLst/>
          </a:prstGeom>
        </p:spPr>
        <p:txBody>
          <a:bodyPr anchor="t" rtlCol="false" tIns="0" lIns="0" bIns="0" rIns="0">
            <a:spAutoFit/>
          </a:bodyPr>
          <a:lstStyle/>
          <a:p>
            <a:pPr algn="ctr">
              <a:lnSpc>
                <a:spcPts val="3240"/>
              </a:lnSpc>
            </a:pPr>
            <a:r>
              <a:rPr lang="en-US" sz="2700">
                <a:solidFill>
                  <a:srgbClr val="555F6C"/>
                </a:solidFill>
                <a:latin typeface="Aptos"/>
                <a:ea typeface="Aptos"/>
                <a:cs typeface="Aptos"/>
                <a:sym typeface="Aptos"/>
              </a:rPr>
              <a:t>Logistic Regression • Decision Tree • Random Forest</a:t>
            </a:r>
          </a:p>
          <a:p>
            <a:pPr algn="ctr">
              <a:lnSpc>
                <a:spcPts val="3240"/>
              </a:lnSpc>
            </a:pPr>
            <a:r>
              <a:rPr lang="en-US" sz="2700">
                <a:solidFill>
                  <a:srgbClr val="555F6C"/>
                </a:solidFill>
                <a:latin typeface="Aptos"/>
                <a:ea typeface="Aptos"/>
                <a:cs typeface="Aptos"/>
                <a:sym typeface="Aptos"/>
              </a:rPr>
              <a:t>LightGBM • XGBoost • CatBoost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Phân bố nhãn: bối cảnh để đọc các chỉ số</a:t>
            </a:r>
          </a:p>
        </p:txBody>
      </p:sp>
      <p:sp>
        <p:nvSpPr>
          <p:cNvPr name="TextBox 5" id="5"/>
          <p:cNvSpPr txBox="true"/>
          <p:nvPr/>
        </p:nvSpPr>
        <p:spPr>
          <a:xfrm rot="0">
            <a:off x="694944" y="1069467"/>
            <a:ext cx="15755112" cy="265557"/>
          </a:xfrm>
          <a:prstGeom prst="rect">
            <a:avLst/>
          </a:prstGeom>
        </p:spPr>
        <p:txBody>
          <a:bodyPr anchor="t" rtlCol="false" tIns="0" lIns="0" bIns="0" rIns="0">
            <a:spAutoFit/>
          </a:bodyPr>
          <a:lstStyle/>
          <a:p>
            <a:pPr algn="l">
              <a:lnSpc>
                <a:spcPts val="1620"/>
              </a:lnSpc>
            </a:pPr>
            <a:r>
              <a:rPr lang="en-US" sz="1350" b="true">
                <a:solidFill>
                  <a:srgbClr val="30A5BE"/>
                </a:solidFill>
                <a:latin typeface="Aptos Bold"/>
                <a:ea typeface="Aptos Bold"/>
                <a:cs typeface="Aptos Bold"/>
                <a:sym typeface="Aptos Bold"/>
              </a:rPr>
              <a:t>02 / DỮ LIỆU VÀ ĐÁNH GIÁ</a:t>
            </a:r>
          </a:p>
        </p:txBody>
      </p:sp>
      <p:sp>
        <p:nvSpPr>
          <p:cNvPr name="TextBox 6" id="6"/>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03</a:t>
            </a:r>
          </a:p>
        </p:txBody>
      </p:sp>
      <p:sp>
        <p:nvSpPr>
          <p:cNvPr name="TextBox 7" id="7"/>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8" id="8"/>
          <p:cNvGrpSpPr/>
          <p:nvPr/>
        </p:nvGrpSpPr>
        <p:grpSpPr>
          <a:xfrm rot="0">
            <a:off x="746760" y="1775460"/>
            <a:ext cx="9890760" cy="7833360"/>
            <a:chOff x="0" y="0"/>
            <a:chExt cx="13187680" cy="10444480"/>
          </a:xfrm>
        </p:grpSpPr>
        <p:sp>
          <p:nvSpPr>
            <p:cNvPr name="Freeform 9" id="9"/>
            <p:cNvSpPr/>
            <p:nvPr/>
          </p:nvSpPr>
          <p:spPr>
            <a:xfrm flipH="false" flipV="false" rot="0">
              <a:off x="0" y="0"/>
              <a:ext cx="13187680" cy="10444480"/>
            </a:xfrm>
            <a:custGeom>
              <a:avLst/>
              <a:gdLst/>
              <a:ahLst/>
              <a:cxnLst/>
              <a:rect r="r" b="b" t="t" l="l"/>
              <a:pathLst>
                <a:path h="10444480" w="13187680">
                  <a:moveTo>
                    <a:pt x="0" y="1740789"/>
                  </a:moveTo>
                  <a:cubicBezTo>
                    <a:pt x="0" y="779399"/>
                    <a:pt x="779399" y="0"/>
                    <a:pt x="1740789" y="0"/>
                  </a:cubicBezTo>
                  <a:lnTo>
                    <a:pt x="11446891" y="0"/>
                  </a:lnTo>
                  <a:cubicBezTo>
                    <a:pt x="12408281" y="0"/>
                    <a:pt x="13187680" y="779399"/>
                    <a:pt x="13187680" y="1740789"/>
                  </a:cubicBezTo>
                  <a:lnTo>
                    <a:pt x="13187680" y="8703691"/>
                  </a:lnTo>
                  <a:cubicBezTo>
                    <a:pt x="13187680" y="9665081"/>
                    <a:pt x="12408281" y="10444480"/>
                    <a:pt x="11446891" y="10444480"/>
                  </a:cubicBezTo>
                  <a:lnTo>
                    <a:pt x="1740789" y="10444480"/>
                  </a:lnTo>
                  <a:cubicBezTo>
                    <a:pt x="779399" y="10444480"/>
                    <a:pt x="0" y="9665081"/>
                    <a:pt x="0" y="8703691"/>
                  </a:cubicBezTo>
                  <a:close/>
                </a:path>
              </a:pathLst>
            </a:custGeom>
            <a:solidFill>
              <a:srgbClr val="FFFFFF"/>
            </a:solidFill>
            <a:ln w="15240" cap="sq">
              <a:solidFill>
                <a:srgbClr val="DAE4EF"/>
              </a:solidFill>
              <a:prstDash val="solid"/>
              <a:miter/>
            </a:ln>
          </p:spPr>
        </p:sp>
      </p:grpSp>
      <p:sp>
        <p:nvSpPr>
          <p:cNvPr name="TextBox 10" id="10"/>
          <p:cNvSpPr txBox="true"/>
          <p:nvPr/>
        </p:nvSpPr>
        <p:spPr>
          <a:xfrm rot="0">
            <a:off x="1531620" y="2121408"/>
            <a:ext cx="941832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Phân bố lớp từ kết quả gốc</a:t>
            </a:r>
          </a:p>
        </p:txBody>
      </p:sp>
      <p:grpSp>
        <p:nvGrpSpPr>
          <p:cNvPr name="Group 11" id="11"/>
          <p:cNvGrpSpPr/>
          <p:nvPr/>
        </p:nvGrpSpPr>
        <p:grpSpPr>
          <a:xfrm rot="0">
            <a:off x="987552" y="2803989"/>
            <a:ext cx="9395460" cy="5433403"/>
            <a:chOff x="0" y="0"/>
            <a:chExt cx="12527280" cy="7244537"/>
          </a:xfrm>
        </p:grpSpPr>
        <p:sp>
          <p:nvSpPr>
            <p:cNvPr name="Freeform 12" id="12" descr="delay_distribution_7m_pie.png"/>
            <p:cNvSpPr/>
            <p:nvPr/>
          </p:nvSpPr>
          <p:spPr>
            <a:xfrm flipH="false" flipV="false" rot="0">
              <a:off x="0" y="0"/>
              <a:ext cx="12527280" cy="7244588"/>
            </a:xfrm>
            <a:custGeom>
              <a:avLst/>
              <a:gdLst/>
              <a:ahLst/>
              <a:cxnLst/>
              <a:rect r="r" b="b" t="t" l="l"/>
              <a:pathLst>
                <a:path h="7244588" w="12527280">
                  <a:moveTo>
                    <a:pt x="0" y="0"/>
                  </a:moveTo>
                  <a:lnTo>
                    <a:pt x="12527280" y="0"/>
                  </a:lnTo>
                  <a:lnTo>
                    <a:pt x="12527280" y="7244588"/>
                  </a:lnTo>
                  <a:lnTo>
                    <a:pt x="0" y="7244588"/>
                  </a:lnTo>
                  <a:lnTo>
                    <a:pt x="0" y="0"/>
                  </a:lnTo>
                  <a:close/>
                </a:path>
              </a:pathLst>
            </a:custGeom>
            <a:blipFill>
              <a:blip r:embed="rId2"/>
              <a:stretch>
                <a:fillRect l="0" t="0" r="0" b="0"/>
              </a:stretch>
            </a:blipFill>
          </p:spPr>
        </p:sp>
      </p:grpSp>
      <p:grpSp>
        <p:nvGrpSpPr>
          <p:cNvPr name="Group 13" id="13"/>
          <p:cNvGrpSpPr/>
          <p:nvPr/>
        </p:nvGrpSpPr>
        <p:grpSpPr>
          <a:xfrm rot="0">
            <a:off x="10896600" y="2118360"/>
            <a:ext cx="6393180" cy="1455420"/>
            <a:chOff x="0" y="0"/>
            <a:chExt cx="8524240" cy="1940560"/>
          </a:xfrm>
        </p:grpSpPr>
        <p:sp>
          <p:nvSpPr>
            <p:cNvPr name="Freeform 14" id="14"/>
            <p:cNvSpPr/>
            <p:nvPr/>
          </p:nvSpPr>
          <p:spPr>
            <a:xfrm flipH="false" flipV="false" rot="0">
              <a:off x="0" y="0"/>
              <a:ext cx="8524240" cy="1940560"/>
            </a:xfrm>
            <a:custGeom>
              <a:avLst/>
              <a:gdLst/>
              <a:ahLst/>
              <a:cxnLst/>
              <a:rect r="r" b="b" t="t" l="l"/>
              <a:pathLst>
                <a:path h="1940560" w="8524240">
                  <a:moveTo>
                    <a:pt x="0" y="323469"/>
                  </a:moveTo>
                  <a:cubicBezTo>
                    <a:pt x="0" y="144780"/>
                    <a:pt x="144780" y="0"/>
                    <a:pt x="323469" y="0"/>
                  </a:cubicBezTo>
                  <a:lnTo>
                    <a:pt x="8200771" y="0"/>
                  </a:lnTo>
                  <a:cubicBezTo>
                    <a:pt x="8379460" y="0"/>
                    <a:pt x="8524240" y="144780"/>
                    <a:pt x="8524240" y="323469"/>
                  </a:cubicBezTo>
                  <a:lnTo>
                    <a:pt x="8524240" y="1617091"/>
                  </a:lnTo>
                  <a:cubicBezTo>
                    <a:pt x="8524240" y="1795780"/>
                    <a:pt x="8379460" y="1940560"/>
                    <a:pt x="8200772" y="1940560"/>
                  </a:cubicBezTo>
                  <a:lnTo>
                    <a:pt x="323469" y="1940560"/>
                  </a:lnTo>
                  <a:cubicBezTo>
                    <a:pt x="144780" y="1940560"/>
                    <a:pt x="0" y="1795780"/>
                    <a:pt x="0" y="1617091"/>
                  </a:cubicBezTo>
                  <a:close/>
                </a:path>
              </a:pathLst>
            </a:custGeom>
            <a:solidFill>
              <a:srgbClr val="E6F1FC"/>
            </a:solidFill>
            <a:ln w="15240" cap="sq">
              <a:solidFill>
                <a:srgbClr val="E6F1FC"/>
              </a:solidFill>
              <a:prstDash val="solid"/>
              <a:miter/>
            </a:ln>
          </p:spPr>
        </p:sp>
      </p:grpSp>
      <p:sp>
        <p:nvSpPr>
          <p:cNvPr name="TextBox 15" id="15"/>
          <p:cNvSpPr txBox="true"/>
          <p:nvPr/>
        </p:nvSpPr>
        <p:spPr>
          <a:xfrm rot="0">
            <a:off x="11105388" y="2217420"/>
            <a:ext cx="5975604" cy="29718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Lớp chiếm ưu thế</a:t>
            </a:r>
          </a:p>
        </p:txBody>
      </p:sp>
      <p:sp>
        <p:nvSpPr>
          <p:cNvPr name="TextBox 16" id="16"/>
          <p:cNvSpPr txBox="true"/>
          <p:nvPr/>
        </p:nvSpPr>
        <p:spPr>
          <a:xfrm rot="0">
            <a:off x="11105388" y="2574036"/>
            <a:ext cx="5975604" cy="941832"/>
          </a:xfrm>
          <a:prstGeom prst="rect">
            <a:avLst/>
          </a:prstGeom>
        </p:spPr>
        <p:txBody>
          <a:bodyPr anchor="t" rtlCol="false" tIns="0" lIns="0" bIns="0" rIns="0">
            <a:spAutoFit/>
          </a:bodyPr>
          <a:lstStyle/>
          <a:p>
            <a:pPr algn="l">
              <a:lnSpc>
                <a:spcPts val="1980"/>
              </a:lnSpc>
            </a:pPr>
            <a:r>
              <a:rPr lang="en-US" sz="1650">
                <a:solidFill>
                  <a:srgbClr val="233141"/>
                </a:solidFill>
                <a:latin typeface="Aptos"/>
                <a:ea typeface="Aptos"/>
                <a:cs typeface="Aptos"/>
                <a:sym typeface="Aptos"/>
              </a:rPr>
              <a:t>OnTime chiếm khoảng 79,2% dữ liệu.</a:t>
            </a:r>
          </a:p>
        </p:txBody>
      </p:sp>
      <p:grpSp>
        <p:nvGrpSpPr>
          <p:cNvPr name="Group 17" id="17"/>
          <p:cNvGrpSpPr/>
          <p:nvPr/>
        </p:nvGrpSpPr>
        <p:grpSpPr>
          <a:xfrm rot="0">
            <a:off x="10896600" y="3901440"/>
            <a:ext cx="6393180" cy="1729740"/>
            <a:chOff x="0" y="0"/>
            <a:chExt cx="8524240" cy="2306320"/>
          </a:xfrm>
        </p:grpSpPr>
        <p:sp>
          <p:nvSpPr>
            <p:cNvPr name="Freeform 18" id="18"/>
            <p:cNvSpPr/>
            <p:nvPr/>
          </p:nvSpPr>
          <p:spPr>
            <a:xfrm flipH="false" flipV="false" rot="0">
              <a:off x="0" y="0"/>
              <a:ext cx="8524240" cy="2306320"/>
            </a:xfrm>
            <a:custGeom>
              <a:avLst/>
              <a:gdLst/>
              <a:ahLst/>
              <a:cxnLst/>
              <a:rect r="r" b="b" t="t" l="l"/>
              <a:pathLst>
                <a:path h="2306320" w="8524240">
                  <a:moveTo>
                    <a:pt x="0" y="384429"/>
                  </a:moveTo>
                  <a:cubicBezTo>
                    <a:pt x="0" y="172085"/>
                    <a:pt x="172085" y="0"/>
                    <a:pt x="384429" y="0"/>
                  </a:cubicBezTo>
                  <a:lnTo>
                    <a:pt x="8139811" y="0"/>
                  </a:lnTo>
                  <a:cubicBezTo>
                    <a:pt x="8352155" y="0"/>
                    <a:pt x="8524240" y="172085"/>
                    <a:pt x="8524240" y="384429"/>
                  </a:cubicBezTo>
                  <a:lnTo>
                    <a:pt x="8524240" y="1921891"/>
                  </a:lnTo>
                  <a:cubicBezTo>
                    <a:pt x="8524240" y="2134235"/>
                    <a:pt x="8352155" y="2306320"/>
                    <a:pt x="8139811" y="2306320"/>
                  </a:cubicBezTo>
                  <a:lnTo>
                    <a:pt x="384429" y="2306320"/>
                  </a:lnTo>
                  <a:cubicBezTo>
                    <a:pt x="172085" y="2306320"/>
                    <a:pt x="0" y="2134235"/>
                    <a:pt x="0" y="1921891"/>
                  </a:cubicBezTo>
                  <a:close/>
                </a:path>
              </a:pathLst>
            </a:custGeom>
            <a:solidFill>
              <a:srgbClr val="FFF4E0"/>
            </a:solidFill>
            <a:ln w="15240" cap="sq">
              <a:solidFill>
                <a:srgbClr val="FFF4E0"/>
              </a:solidFill>
              <a:prstDash val="solid"/>
              <a:miter/>
            </a:ln>
          </p:spPr>
        </p:sp>
      </p:grpSp>
      <p:sp>
        <p:nvSpPr>
          <p:cNvPr name="TextBox 19" id="19"/>
          <p:cNvSpPr txBox="true"/>
          <p:nvPr/>
        </p:nvSpPr>
        <p:spPr>
          <a:xfrm rot="0">
            <a:off x="11105388" y="4000500"/>
            <a:ext cx="5975604" cy="297180"/>
          </a:xfrm>
          <a:prstGeom prst="rect">
            <a:avLst/>
          </a:prstGeom>
        </p:spPr>
        <p:txBody>
          <a:bodyPr anchor="t" rtlCol="false" tIns="0" lIns="0" bIns="0" rIns="0">
            <a:spAutoFit/>
          </a:bodyPr>
          <a:lstStyle/>
          <a:p>
            <a:pPr algn="l">
              <a:lnSpc>
                <a:spcPts val="2160"/>
              </a:lnSpc>
            </a:pPr>
            <a:r>
              <a:rPr lang="en-US" sz="1800" b="true">
                <a:solidFill>
                  <a:srgbClr val="DA8F23"/>
                </a:solidFill>
                <a:latin typeface="Aptos Bold"/>
                <a:ea typeface="Aptos Bold"/>
                <a:cs typeface="Aptos Bold"/>
                <a:sym typeface="Aptos Bold"/>
              </a:rPr>
              <a:t>Hệ quả khi đánh giá</a:t>
            </a:r>
          </a:p>
        </p:txBody>
      </p:sp>
      <p:sp>
        <p:nvSpPr>
          <p:cNvPr name="TextBox 20" id="20"/>
          <p:cNvSpPr txBox="true"/>
          <p:nvPr/>
        </p:nvSpPr>
        <p:spPr>
          <a:xfrm rot="0">
            <a:off x="11105388" y="4357116"/>
            <a:ext cx="5975604" cy="1216152"/>
          </a:xfrm>
          <a:prstGeom prst="rect">
            <a:avLst/>
          </a:prstGeom>
        </p:spPr>
        <p:txBody>
          <a:bodyPr anchor="t" rtlCol="false" tIns="0" lIns="0" bIns="0" rIns="0">
            <a:spAutoFit/>
          </a:bodyPr>
          <a:lstStyle/>
          <a:p>
            <a:pPr algn="l">
              <a:lnSpc>
                <a:spcPts val="1980"/>
              </a:lnSpc>
            </a:pPr>
            <a:r>
              <a:rPr lang="en-US" sz="1650">
                <a:solidFill>
                  <a:srgbClr val="233141"/>
                </a:solidFill>
                <a:latin typeface="Aptos"/>
                <a:ea typeface="Aptos"/>
                <a:cs typeface="Aptos"/>
                <a:sym typeface="Aptos"/>
              </a:rPr>
              <a:t>Accuracy có thể cao khi mô hình dự đoán tốt lớp đông, nhưng nhận diện lớp ít mẫu còn yếu.</a:t>
            </a:r>
          </a:p>
        </p:txBody>
      </p:sp>
      <p:grpSp>
        <p:nvGrpSpPr>
          <p:cNvPr name="Group 21" id="21"/>
          <p:cNvGrpSpPr/>
          <p:nvPr/>
        </p:nvGrpSpPr>
        <p:grpSpPr>
          <a:xfrm rot="0">
            <a:off x="10896600" y="5958840"/>
            <a:ext cx="6393180" cy="1729740"/>
            <a:chOff x="0" y="0"/>
            <a:chExt cx="8524240" cy="2306320"/>
          </a:xfrm>
        </p:grpSpPr>
        <p:sp>
          <p:nvSpPr>
            <p:cNvPr name="Freeform 22" id="22"/>
            <p:cNvSpPr/>
            <p:nvPr/>
          </p:nvSpPr>
          <p:spPr>
            <a:xfrm flipH="false" flipV="false" rot="0">
              <a:off x="0" y="0"/>
              <a:ext cx="8524240" cy="2306320"/>
            </a:xfrm>
            <a:custGeom>
              <a:avLst/>
              <a:gdLst/>
              <a:ahLst/>
              <a:cxnLst/>
              <a:rect r="r" b="b" t="t" l="l"/>
              <a:pathLst>
                <a:path h="2306320" w="8524240">
                  <a:moveTo>
                    <a:pt x="0" y="384429"/>
                  </a:moveTo>
                  <a:cubicBezTo>
                    <a:pt x="0" y="172085"/>
                    <a:pt x="172085" y="0"/>
                    <a:pt x="384429" y="0"/>
                  </a:cubicBezTo>
                  <a:lnTo>
                    <a:pt x="8139811" y="0"/>
                  </a:lnTo>
                  <a:cubicBezTo>
                    <a:pt x="8352155" y="0"/>
                    <a:pt x="8524240" y="172085"/>
                    <a:pt x="8524240" y="384429"/>
                  </a:cubicBezTo>
                  <a:lnTo>
                    <a:pt x="8524240" y="1921891"/>
                  </a:lnTo>
                  <a:cubicBezTo>
                    <a:pt x="8524240" y="2134235"/>
                    <a:pt x="8352155" y="2306320"/>
                    <a:pt x="8139811" y="2306320"/>
                  </a:cubicBezTo>
                  <a:lnTo>
                    <a:pt x="384429" y="2306320"/>
                  </a:lnTo>
                  <a:cubicBezTo>
                    <a:pt x="172085" y="2306320"/>
                    <a:pt x="0" y="2134235"/>
                    <a:pt x="0" y="1921891"/>
                  </a:cubicBezTo>
                  <a:close/>
                </a:path>
              </a:pathLst>
            </a:custGeom>
            <a:solidFill>
              <a:srgbClr val="E6F5ED"/>
            </a:solidFill>
            <a:ln w="15240" cap="sq">
              <a:solidFill>
                <a:srgbClr val="E6F5ED"/>
              </a:solidFill>
              <a:prstDash val="solid"/>
              <a:miter/>
            </a:ln>
          </p:spPr>
        </p:sp>
      </p:grpSp>
      <p:sp>
        <p:nvSpPr>
          <p:cNvPr name="TextBox 23" id="23"/>
          <p:cNvSpPr txBox="true"/>
          <p:nvPr/>
        </p:nvSpPr>
        <p:spPr>
          <a:xfrm rot="0">
            <a:off x="11105388" y="6057900"/>
            <a:ext cx="5975604" cy="297180"/>
          </a:xfrm>
          <a:prstGeom prst="rect">
            <a:avLst/>
          </a:prstGeom>
        </p:spPr>
        <p:txBody>
          <a:bodyPr anchor="t" rtlCol="false" tIns="0" lIns="0" bIns="0" rIns="0">
            <a:spAutoFit/>
          </a:bodyPr>
          <a:lstStyle/>
          <a:p>
            <a:pPr algn="l">
              <a:lnSpc>
                <a:spcPts val="2160"/>
              </a:lnSpc>
            </a:pPr>
            <a:r>
              <a:rPr lang="en-US" sz="1800" b="true">
                <a:solidFill>
                  <a:srgbClr val="238765"/>
                </a:solidFill>
                <a:latin typeface="Aptos Bold"/>
                <a:ea typeface="Aptos Bold"/>
                <a:cs typeface="Aptos Bold"/>
                <a:sym typeface="Aptos Bold"/>
              </a:rPr>
              <a:t>Cách đọc kết quả</a:t>
            </a:r>
          </a:p>
        </p:txBody>
      </p:sp>
      <p:sp>
        <p:nvSpPr>
          <p:cNvPr name="TextBox 24" id="24"/>
          <p:cNvSpPr txBox="true"/>
          <p:nvPr/>
        </p:nvSpPr>
        <p:spPr>
          <a:xfrm rot="0">
            <a:off x="11105388" y="6414516"/>
            <a:ext cx="5975604" cy="1216152"/>
          </a:xfrm>
          <a:prstGeom prst="rect">
            <a:avLst/>
          </a:prstGeom>
        </p:spPr>
        <p:txBody>
          <a:bodyPr anchor="t" rtlCol="false" tIns="0" lIns="0" bIns="0" rIns="0">
            <a:spAutoFit/>
          </a:bodyPr>
          <a:lstStyle/>
          <a:p>
            <a:pPr algn="l">
              <a:lnSpc>
                <a:spcPts val="1980"/>
              </a:lnSpc>
            </a:pPr>
            <a:r>
              <a:rPr lang="en-US" sz="1650">
                <a:solidFill>
                  <a:srgbClr val="233141"/>
                </a:solidFill>
                <a:latin typeface="Aptos"/>
                <a:ea typeface="Aptos"/>
                <a:cs typeface="Aptos"/>
                <a:sym typeface="Aptos"/>
              </a:rPr>
              <a:t>Xem đồng thời Weighted F1, Macro F1 và ma trận nhầm lẫn theo từng lớp.</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Chất lượng dự đoán: sáu mô hình chạy thuần</a:t>
            </a:r>
          </a:p>
        </p:txBody>
      </p:sp>
      <p:sp>
        <p:nvSpPr>
          <p:cNvPr name="TextBox 5" id="5"/>
          <p:cNvSpPr txBox="true"/>
          <p:nvPr/>
        </p:nvSpPr>
        <p:spPr>
          <a:xfrm rot="0">
            <a:off x="694944" y="1069467"/>
            <a:ext cx="15755112" cy="265557"/>
          </a:xfrm>
          <a:prstGeom prst="rect">
            <a:avLst/>
          </a:prstGeom>
        </p:spPr>
        <p:txBody>
          <a:bodyPr anchor="t" rtlCol="false" tIns="0" lIns="0" bIns="0" rIns="0">
            <a:spAutoFit/>
          </a:bodyPr>
          <a:lstStyle/>
          <a:p>
            <a:pPr algn="l">
              <a:lnSpc>
                <a:spcPts val="1620"/>
              </a:lnSpc>
            </a:pPr>
            <a:r>
              <a:rPr lang="en-US" sz="1350" b="true">
                <a:solidFill>
                  <a:srgbClr val="30A5BE"/>
                </a:solidFill>
                <a:latin typeface="Aptos Bold"/>
                <a:ea typeface="Aptos Bold"/>
                <a:cs typeface="Aptos Bold"/>
                <a:sym typeface="Aptos Bold"/>
              </a:rPr>
              <a:t>03 / KẾT QUẢ CHẠY THUẦN</a:t>
            </a:r>
          </a:p>
        </p:txBody>
      </p:sp>
      <p:sp>
        <p:nvSpPr>
          <p:cNvPr name="TextBox 6" id="6"/>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04</a:t>
            </a:r>
          </a:p>
        </p:txBody>
      </p:sp>
      <p:sp>
        <p:nvSpPr>
          <p:cNvPr name="TextBox 7" id="7"/>
          <p:cNvSpPr txBox="true"/>
          <p:nvPr/>
        </p:nvSpPr>
        <p:spPr>
          <a:xfrm rot="0">
            <a:off x="850392" y="9706356"/>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8" id="8"/>
          <p:cNvGrpSpPr/>
          <p:nvPr/>
        </p:nvGrpSpPr>
        <p:grpSpPr>
          <a:xfrm rot="0">
            <a:off x="746760" y="1775460"/>
            <a:ext cx="16817340" cy="7833360"/>
            <a:chOff x="0" y="0"/>
            <a:chExt cx="22423120" cy="10444480"/>
          </a:xfrm>
        </p:grpSpPr>
        <p:sp>
          <p:nvSpPr>
            <p:cNvPr name="Freeform 9" id="9"/>
            <p:cNvSpPr/>
            <p:nvPr/>
          </p:nvSpPr>
          <p:spPr>
            <a:xfrm flipH="false" flipV="false" rot="0">
              <a:off x="0" y="0"/>
              <a:ext cx="22423121" cy="10444480"/>
            </a:xfrm>
            <a:custGeom>
              <a:avLst/>
              <a:gdLst/>
              <a:ahLst/>
              <a:cxnLst/>
              <a:rect r="r" b="b" t="t" l="l"/>
              <a:pathLst>
                <a:path h="10444480" w="22423121">
                  <a:moveTo>
                    <a:pt x="0" y="1740789"/>
                  </a:moveTo>
                  <a:cubicBezTo>
                    <a:pt x="0" y="779399"/>
                    <a:pt x="779399" y="0"/>
                    <a:pt x="1740789" y="0"/>
                  </a:cubicBezTo>
                  <a:lnTo>
                    <a:pt x="20682331" y="0"/>
                  </a:lnTo>
                  <a:cubicBezTo>
                    <a:pt x="21643721" y="0"/>
                    <a:pt x="22423121" y="779399"/>
                    <a:pt x="22423121" y="1740789"/>
                  </a:cubicBezTo>
                  <a:lnTo>
                    <a:pt x="22423121" y="8703691"/>
                  </a:lnTo>
                  <a:cubicBezTo>
                    <a:pt x="22423121" y="9665081"/>
                    <a:pt x="21643721" y="10444480"/>
                    <a:pt x="20682331" y="10444480"/>
                  </a:cubicBezTo>
                  <a:lnTo>
                    <a:pt x="1740789" y="10444480"/>
                  </a:lnTo>
                  <a:cubicBezTo>
                    <a:pt x="779399" y="10444480"/>
                    <a:pt x="0" y="9665081"/>
                    <a:pt x="0" y="8703691"/>
                  </a:cubicBezTo>
                  <a:close/>
                </a:path>
              </a:pathLst>
            </a:custGeom>
            <a:solidFill>
              <a:srgbClr val="FFFFFF"/>
            </a:solidFill>
            <a:ln w="15240" cap="sq">
              <a:solidFill>
                <a:srgbClr val="DAE4EF"/>
              </a:solidFill>
              <a:prstDash val="solid"/>
              <a:miter/>
            </a:ln>
          </p:spPr>
        </p:sp>
      </p:grpSp>
      <p:grpSp>
        <p:nvGrpSpPr>
          <p:cNvPr name="Group 10" id="10"/>
          <p:cNvGrpSpPr/>
          <p:nvPr/>
        </p:nvGrpSpPr>
        <p:grpSpPr>
          <a:xfrm rot="0">
            <a:off x="2657465" y="2167128"/>
            <a:ext cx="12982213" cy="6515100"/>
            <a:chOff x="0" y="0"/>
            <a:chExt cx="17309617" cy="8686800"/>
          </a:xfrm>
        </p:grpSpPr>
        <p:sp>
          <p:nvSpPr>
            <p:cNvPr name="Freeform 11" id="11" descr="models_grouped_bar_7m.png"/>
            <p:cNvSpPr/>
            <p:nvPr/>
          </p:nvSpPr>
          <p:spPr>
            <a:xfrm flipH="false" flipV="false" rot="0">
              <a:off x="0" y="0"/>
              <a:ext cx="17309592" cy="8686800"/>
            </a:xfrm>
            <a:custGeom>
              <a:avLst/>
              <a:gdLst/>
              <a:ahLst/>
              <a:cxnLst/>
              <a:rect r="r" b="b" t="t" l="l"/>
              <a:pathLst>
                <a:path h="8686800" w="17309592">
                  <a:moveTo>
                    <a:pt x="0" y="0"/>
                  </a:moveTo>
                  <a:lnTo>
                    <a:pt x="17309592" y="0"/>
                  </a:lnTo>
                  <a:lnTo>
                    <a:pt x="17309592" y="8686800"/>
                  </a:lnTo>
                  <a:lnTo>
                    <a:pt x="0" y="8686800"/>
                  </a:lnTo>
                  <a:lnTo>
                    <a:pt x="0" y="0"/>
                  </a:lnTo>
                  <a:close/>
                </a:path>
              </a:pathLst>
            </a:custGeom>
            <a:blipFill>
              <a:blip r:embed="rId2"/>
              <a:stretch>
                <a:fillRect l="0" t="0" r="0" b="0"/>
              </a:stretch>
            </a:blipFill>
          </p:spPr>
        </p:sp>
      </p:grpSp>
      <p:grpSp>
        <p:nvGrpSpPr>
          <p:cNvPr name="Group 12" id="12"/>
          <p:cNvGrpSpPr/>
          <p:nvPr/>
        </p:nvGrpSpPr>
        <p:grpSpPr>
          <a:xfrm rot="0">
            <a:off x="1213104" y="8560308"/>
            <a:ext cx="16200120" cy="870204"/>
            <a:chOff x="0" y="0"/>
            <a:chExt cx="21600160" cy="1160272"/>
          </a:xfrm>
        </p:grpSpPr>
        <p:sp>
          <p:nvSpPr>
            <p:cNvPr name="Freeform 13" id="13"/>
            <p:cNvSpPr/>
            <p:nvPr/>
          </p:nvSpPr>
          <p:spPr>
            <a:xfrm flipH="false" flipV="false" rot="0">
              <a:off x="0" y="0"/>
              <a:ext cx="21600159" cy="1160272"/>
            </a:xfrm>
            <a:custGeom>
              <a:avLst/>
              <a:gdLst/>
              <a:ahLst/>
              <a:cxnLst/>
              <a:rect r="r" b="b" t="t" l="l"/>
              <a:pathLst>
                <a:path h="1160272" w="21600159">
                  <a:moveTo>
                    <a:pt x="0" y="193421"/>
                  </a:moveTo>
                  <a:cubicBezTo>
                    <a:pt x="0" y="86614"/>
                    <a:pt x="86614" y="0"/>
                    <a:pt x="193421" y="0"/>
                  </a:cubicBezTo>
                  <a:lnTo>
                    <a:pt x="21406738" y="0"/>
                  </a:lnTo>
                  <a:cubicBezTo>
                    <a:pt x="21513546" y="0"/>
                    <a:pt x="21600159" y="86614"/>
                    <a:pt x="21600159" y="193421"/>
                  </a:cubicBezTo>
                  <a:lnTo>
                    <a:pt x="21600159" y="966851"/>
                  </a:lnTo>
                  <a:cubicBezTo>
                    <a:pt x="21600159" y="1073658"/>
                    <a:pt x="21513546" y="1160272"/>
                    <a:pt x="21406738" y="1160272"/>
                  </a:cubicBezTo>
                  <a:lnTo>
                    <a:pt x="193421" y="1160272"/>
                  </a:lnTo>
                  <a:cubicBezTo>
                    <a:pt x="86614" y="1160272"/>
                    <a:pt x="0" y="1073658"/>
                    <a:pt x="0" y="966851"/>
                  </a:cubicBezTo>
                  <a:close/>
                </a:path>
              </a:pathLst>
            </a:custGeom>
            <a:solidFill>
              <a:srgbClr val="E6F1FC"/>
            </a:solidFill>
            <a:ln w="15240" cap="sq">
              <a:solidFill>
                <a:srgbClr val="E6F1FC"/>
              </a:solidFill>
              <a:prstDash val="solid"/>
              <a:miter/>
            </a:ln>
          </p:spPr>
        </p:sp>
      </p:grpSp>
      <p:sp>
        <p:nvSpPr>
          <p:cNvPr name="TextBox 14" id="14"/>
          <p:cNvSpPr txBox="true"/>
          <p:nvPr/>
        </p:nvSpPr>
        <p:spPr>
          <a:xfrm rot="0">
            <a:off x="1421892" y="8659368"/>
            <a:ext cx="15782544" cy="29718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Kết quả chính</a:t>
            </a:r>
          </a:p>
        </p:txBody>
      </p:sp>
      <p:sp>
        <p:nvSpPr>
          <p:cNvPr name="TextBox 15" id="15"/>
          <p:cNvSpPr txBox="true"/>
          <p:nvPr/>
        </p:nvSpPr>
        <p:spPr>
          <a:xfrm rot="0">
            <a:off x="1421892" y="9015984"/>
            <a:ext cx="15782544" cy="77724"/>
          </a:xfrm>
          <a:prstGeom prst="rect">
            <a:avLst/>
          </a:prstGeom>
        </p:spPr>
        <p:txBody>
          <a:bodyPr anchor="t" rtlCol="false" tIns="0" lIns="0" bIns="0" rIns="0">
            <a:spAutoFit/>
          </a:bodyPr>
          <a:lstStyle/>
          <a:p>
            <a:pPr algn="l">
              <a:lnSpc>
                <a:spcPts val="1764"/>
              </a:lnSpc>
            </a:pPr>
            <a:r>
              <a:rPr lang="en-US" sz="1470">
                <a:solidFill>
                  <a:srgbClr val="233141"/>
                </a:solidFill>
                <a:latin typeface="Aptos"/>
                <a:ea typeface="Aptos"/>
                <a:cs typeface="Aptos"/>
                <a:sym typeface="Aptos"/>
              </a:rPr>
              <a:t>XGBoost và CatBoost đạt Accuracy cao nhất (79,26%); CatBoost có Weighted F1 cao nhất (70,50%); LightGBM có Macro F1 cao nhất (15,87%).</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Tốc độ trên máy đơn: huấn luyện và suy luận</a:t>
            </a:r>
          </a:p>
        </p:txBody>
      </p:sp>
      <p:sp>
        <p:nvSpPr>
          <p:cNvPr name="TextBox 5" id="5"/>
          <p:cNvSpPr txBox="true"/>
          <p:nvPr/>
        </p:nvSpPr>
        <p:spPr>
          <a:xfrm rot="0">
            <a:off x="694944" y="1069467"/>
            <a:ext cx="15755112" cy="265557"/>
          </a:xfrm>
          <a:prstGeom prst="rect">
            <a:avLst/>
          </a:prstGeom>
        </p:spPr>
        <p:txBody>
          <a:bodyPr anchor="t" rtlCol="false" tIns="0" lIns="0" bIns="0" rIns="0">
            <a:spAutoFit/>
          </a:bodyPr>
          <a:lstStyle/>
          <a:p>
            <a:pPr algn="l">
              <a:lnSpc>
                <a:spcPts val="1620"/>
              </a:lnSpc>
            </a:pPr>
            <a:r>
              <a:rPr lang="en-US" sz="1350" b="true">
                <a:solidFill>
                  <a:srgbClr val="30A5BE"/>
                </a:solidFill>
                <a:latin typeface="Aptos Bold"/>
                <a:ea typeface="Aptos Bold"/>
                <a:cs typeface="Aptos Bold"/>
                <a:sym typeface="Aptos Bold"/>
              </a:rPr>
              <a:t>03 / KẾT QUẢ CHẠY THUẦN</a:t>
            </a:r>
          </a:p>
        </p:txBody>
      </p:sp>
      <p:sp>
        <p:nvSpPr>
          <p:cNvPr name="TextBox 6" id="6"/>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05</a:t>
            </a:r>
          </a:p>
        </p:txBody>
      </p:sp>
      <p:sp>
        <p:nvSpPr>
          <p:cNvPr name="TextBox 7" id="7"/>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8" id="8"/>
          <p:cNvGrpSpPr/>
          <p:nvPr/>
        </p:nvGrpSpPr>
        <p:grpSpPr>
          <a:xfrm rot="0">
            <a:off x="746760" y="1775460"/>
            <a:ext cx="8313420" cy="7764780"/>
            <a:chOff x="0" y="0"/>
            <a:chExt cx="11084560" cy="10353040"/>
          </a:xfrm>
        </p:grpSpPr>
        <p:sp>
          <p:nvSpPr>
            <p:cNvPr name="Freeform 9" id="9"/>
            <p:cNvSpPr/>
            <p:nvPr/>
          </p:nvSpPr>
          <p:spPr>
            <a:xfrm flipH="false" flipV="false" rot="0">
              <a:off x="0" y="0"/>
              <a:ext cx="11084560" cy="10353040"/>
            </a:xfrm>
            <a:custGeom>
              <a:avLst/>
              <a:gdLst/>
              <a:ahLst/>
              <a:cxnLst/>
              <a:rect r="r" b="b" t="t" l="l"/>
              <a:pathLst>
                <a:path h="10353040" w="11084560">
                  <a:moveTo>
                    <a:pt x="0" y="1725549"/>
                  </a:moveTo>
                  <a:cubicBezTo>
                    <a:pt x="0" y="772541"/>
                    <a:pt x="772541" y="0"/>
                    <a:pt x="1725549" y="0"/>
                  </a:cubicBezTo>
                  <a:lnTo>
                    <a:pt x="9359011" y="0"/>
                  </a:lnTo>
                  <a:cubicBezTo>
                    <a:pt x="10312019" y="0"/>
                    <a:pt x="11084560" y="772541"/>
                    <a:pt x="11084560" y="1725549"/>
                  </a:cubicBezTo>
                  <a:lnTo>
                    <a:pt x="11084560" y="8627491"/>
                  </a:lnTo>
                  <a:cubicBezTo>
                    <a:pt x="11084560" y="9580499"/>
                    <a:pt x="10312019" y="10353040"/>
                    <a:pt x="9359011" y="10353040"/>
                  </a:cubicBezTo>
                  <a:lnTo>
                    <a:pt x="1725549" y="10353040"/>
                  </a:lnTo>
                  <a:cubicBezTo>
                    <a:pt x="772541" y="10353040"/>
                    <a:pt x="0" y="9580499"/>
                    <a:pt x="0" y="8627491"/>
                  </a:cubicBezTo>
                  <a:close/>
                </a:path>
              </a:pathLst>
            </a:custGeom>
            <a:solidFill>
              <a:srgbClr val="FFFFFF"/>
            </a:solidFill>
            <a:ln w="15240" cap="sq">
              <a:solidFill>
                <a:srgbClr val="DAE4EF"/>
              </a:solidFill>
              <a:prstDash val="solid"/>
              <a:miter/>
            </a:ln>
          </p:spPr>
        </p:sp>
      </p:grpSp>
      <p:sp>
        <p:nvSpPr>
          <p:cNvPr name="TextBox 10" id="10"/>
          <p:cNvSpPr txBox="true"/>
          <p:nvPr/>
        </p:nvSpPr>
        <p:spPr>
          <a:xfrm rot="0">
            <a:off x="982980" y="1929384"/>
            <a:ext cx="78409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Thời gian huấn luyện</a:t>
            </a:r>
          </a:p>
        </p:txBody>
      </p:sp>
      <p:grpSp>
        <p:nvGrpSpPr>
          <p:cNvPr name="Group 11" id="11"/>
          <p:cNvGrpSpPr/>
          <p:nvPr/>
        </p:nvGrpSpPr>
        <p:grpSpPr>
          <a:xfrm rot="0">
            <a:off x="960120" y="3333521"/>
            <a:ext cx="7886700" cy="4319473"/>
            <a:chOff x="0" y="0"/>
            <a:chExt cx="10515600" cy="5759298"/>
          </a:xfrm>
        </p:grpSpPr>
        <p:sp>
          <p:nvSpPr>
            <p:cNvPr name="Freeform 12" id="12" descr="models_training_time_horizontal_bar_7m.png"/>
            <p:cNvSpPr/>
            <p:nvPr/>
          </p:nvSpPr>
          <p:spPr>
            <a:xfrm flipH="false" flipV="false" rot="0">
              <a:off x="0" y="0"/>
              <a:ext cx="10515600" cy="5759323"/>
            </a:xfrm>
            <a:custGeom>
              <a:avLst/>
              <a:gdLst/>
              <a:ahLst/>
              <a:cxnLst/>
              <a:rect r="r" b="b" t="t" l="l"/>
              <a:pathLst>
                <a:path h="5759323" w="10515600">
                  <a:moveTo>
                    <a:pt x="0" y="0"/>
                  </a:moveTo>
                  <a:lnTo>
                    <a:pt x="10515600" y="0"/>
                  </a:lnTo>
                  <a:lnTo>
                    <a:pt x="10515600" y="5759323"/>
                  </a:lnTo>
                  <a:lnTo>
                    <a:pt x="0" y="5759323"/>
                  </a:lnTo>
                  <a:lnTo>
                    <a:pt x="0" y="0"/>
                  </a:lnTo>
                  <a:close/>
                </a:path>
              </a:pathLst>
            </a:custGeom>
            <a:blipFill>
              <a:blip r:embed="rId2"/>
              <a:stretch>
                <a:fillRect l="0" t="0" r="0" b="0"/>
              </a:stretch>
            </a:blipFill>
          </p:spPr>
        </p:sp>
      </p:grpSp>
      <p:grpSp>
        <p:nvGrpSpPr>
          <p:cNvPr name="Group 13" id="13"/>
          <p:cNvGrpSpPr/>
          <p:nvPr/>
        </p:nvGrpSpPr>
        <p:grpSpPr>
          <a:xfrm rot="0">
            <a:off x="9250680" y="1775460"/>
            <a:ext cx="8313420" cy="7764780"/>
            <a:chOff x="0" y="0"/>
            <a:chExt cx="11084560" cy="10353040"/>
          </a:xfrm>
        </p:grpSpPr>
        <p:sp>
          <p:nvSpPr>
            <p:cNvPr name="Freeform 14" id="14"/>
            <p:cNvSpPr/>
            <p:nvPr/>
          </p:nvSpPr>
          <p:spPr>
            <a:xfrm flipH="false" flipV="false" rot="0">
              <a:off x="0" y="0"/>
              <a:ext cx="11084560" cy="10353040"/>
            </a:xfrm>
            <a:custGeom>
              <a:avLst/>
              <a:gdLst/>
              <a:ahLst/>
              <a:cxnLst/>
              <a:rect r="r" b="b" t="t" l="l"/>
              <a:pathLst>
                <a:path h="10353040" w="11084560">
                  <a:moveTo>
                    <a:pt x="0" y="1725549"/>
                  </a:moveTo>
                  <a:cubicBezTo>
                    <a:pt x="0" y="772541"/>
                    <a:pt x="772541" y="0"/>
                    <a:pt x="1725549" y="0"/>
                  </a:cubicBezTo>
                  <a:lnTo>
                    <a:pt x="9359011" y="0"/>
                  </a:lnTo>
                  <a:cubicBezTo>
                    <a:pt x="10312019" y="0"/>
                    <a:pt x="11084560" y="772541"/>
                    <a:pt x="11084560" y="1725549"/>
                  </a:cubicBezTo>
                  <a:lnTo>
                    <a:pt x="11084560" y="8627491"/>
                  </a:lnTo>
                  <a:cubicBezTo>
                    <a:pt x="11084560" y="9580499"/>
                    <a:pt x="10312019" y="10353040"/>
                    <a:pt x="9359011" y="10353040"/>
                  </a:cubicBezTo>
                  <a:lnTo>
                    <a:pt x="1725549" y="10353040"/>
                  </a:lnTo>
                  <a:cubicBezTo>
                    <a:pt x="772541" y="10353040"/>
                    <a:pt x="0" y="9580499"/>
                    <a:pt x="0" y="8627491"/>
                  </a:cubicBezTo>
                  <a:close/>
                </a:path>
              </a:pathLst>
            </a:custGeom>
            <a:solidFill>
              <a:srgbClr val="FFFFFF"/>
            </a:solidFill>
            <a:ln w="15240" cap="sq">
              <a:solidFill>
                <a:srgbClr val="DAE4EF"/>
              </a:solidFill>
              <a:prstDash val="solid"/>
              <a:miter/>
            </a:ln>
          </p:spPr>
        </p:sp>
      </p:grpSp>
      <p:sp>
        <p:nvSpPr>
          <p:cNvPr name="TextBox 15" id="15"/>
          <p:cNvSpPr txBox="true"/>
          <p:nvPr/>
        </p:nvSpPr>
        <p:spPr>
          <a:xfrm rot="0">
            <a:off x="9486900" y="1929384"/>
            <a:ext cx="78409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Độ trễ suy luận</a:t>
            </a:r>
          </a:p>
        </p:txBody>
      </p:sp>
      <p:grpSp>
        <p:nvGrpSpPr>
          <p:cNvPr name="Group 16" id="16"/>
          <p:cNvGrpSpPr/>
          <p:nvPr/>
        </p:nvGrpSpPr>
        <p:grpSpPr>
          <a:xfrm rot="0">
            <a:off x="9464040" y="3516087"/>
            <a:ext cx="7886700" cy="3954342"/>
            <a:chOff x="0" y="0"/>
            <a:chExt cx="10515600" cy="5272456"/>
          </a:xfrm>
        </p:grpSpPr>
        <p:sp>
          <p:nvSpPr>
            <p:cNvPr name="Freeform 17" id="17" descr="models_latency_bar_7m.png"/>
            <p:cNvSpPr/>
            <p:nvPr/>
          </p:nvSpPr>
          <p:spPr>
            <a:xfrm flipH="false" flipV="false" rot="0">
              <a:off x="0" y="0"/>
              <a:ext cx="10515600" cy="5272405"/>
            </a:xfrm>
            <a:custGeom>
              <a:avLst/>
              <a:gdLst/>
              <a:ahLst/>
              <a:cxnLst/>
              <a:rect r="r" b="b" t="t" l="l"/>
              <a:pathLst>
                <a:path h="5272405" w="10515600">
                  <a:moveTo>
                    <a:pt x="0" y="0"/>
                  </a:moveTo>
                  <a:lnTo>
                    <a:pt x="10515600" y="0"/>
                  </a:lnTo>
                  <a:lnTo>
                    <a:pt x="10515600" y="5272405"/>
                  </a:lnTo>
                  <a:lnTo>
                    <a:pt x="0" y="5272405"/>
                  </a:lnTo>
                  <a:lnTo>
                    <a:pt x="0" y="0"/>
                  </a:lnTo>
                  <a:close/>
                </a:path>
              </a:pathLst>
            </a:custGeom>
            <a:blipFill>
              <a:blip r:embed="rId3"/>
              <a:stretch>
                <a:fillRect l="0" t="0" r="0" b="0"/>
              </a:stretch>
            </a:blipFill>
          </p:spPr>
        </p:sp>
      </p:grpSp>
      <p:grpSp>
        <p:nvGrpSpPr>
          <p:cNvPr name="Group 18" id="18"/>
          <p:cNvGrpSpPr/>
          <p:nvPr/>
        </p:nvGrpSpPr>
        <p:grpSpPr>
          <a:xfrm rot="0">
            <a:off x="979932" y="8880348"/>
            <a:ext cx="16337280" cy="742188"/>
            <a:chOff x="0" y="0"/>
            <a:chExt cx="21783040" cy="989584"/>
          </a:xfrm>
        </p:grpSpPr>
        <p:sp>
          <p:nvSpPr>
            <p:cNvPr name="Freeform 19" id="19"/>
            <p:cNvSpPr/>
            <p:nvPr/>
          </p:nvSpPr>
          <p:spPr>
            <a:xfrm flipH="false" flipV="false" rot="0">
              <a:off x="0" y="0"/>
              <a:ext cx="21783039" cy="989584"/>
            </a:xfrm>
            <a:custGeom>
              <a:avLst/>
              <a:gdLst/>
              <a:ahLst/>
              <a:cxnLst/>
              <a:rect r="r" b="b" t="t" l="l"/>
              <a:pathLst>
                <a:path h="989584" w="21783039">
                  <a:moveTo>
                    <a:pt x="0" y="164973"/>
                  </a:moveTo>
                  <a:cubicBezTo>
                    <a:pt x="0" y="73787"/>
                    <a:pt x="73787" y="0"/>
                    <a:pt x="164973" y="0"/>
                  </a:cubicBezTo>
                  <a:lnTo>
                    <a:pt x="21618067" y="0"/>
                  </a:lnTo>
                  <a:cubicBezTo>
                    <a:pt x="21709126" y="0"/>
                    <a:pt x="21783039" y="73787"/>
                    <a:pt x="21783039" y="164973"/>
                  </a:cubicBezTo>
                  <a:lnTo>
                    <a:pt x="21783039" y="824611"/>
                  </a:lnTo>
                  <a:cubicBezTo>
                    <a:pt x="21783039" y="915670"/>
                    <a:pt x="21709253" y="989584"/>
                    <a:pt x="21618067" y="989584"/>
                  </a:cubicBezTo>
                  <a:lnTo>
                    <a:pt x="164973" y="989584"/>
                  </a:lnTo>
                  <a:cubicBezTo>
                    <a:pt x="73787" y="989584"/>
                    <a:pt x="0" y="915797"/>
                    <a:pt x="0" y="824611"/>
                  </a:cubicBezTo>
                  <a:close/>
                </a:path>
              </a:pathLst>
            </a:custGeom>
            <a:solidFill>
              <a:srgbClr val="E6F1FC"/>
            </a:solidFill>
            <a:ln w="15240" cap="sq">
              <a:solidFill>
                <a:srgbClr val="E6F1FC"/>
              </a:solidFill>
              <a:prstDash val="solid"/>
              <a:miter/>
            </a:ln>
          </p:spPr>
        </p:sp>
      </p:grpSp>
      <p:sp>
        <p:nvSpPr>
          <p:cNvPr name="TextBox 20" id="20"/>
          <p:cNvSpPr txBox="true"/>
          <p:nvPr/>
        </p:nvSpPr>
        <p:spPr>
          <a:xfrm rot="0">
            <a:off x="1188720" y="8979408"/>
            <a:ext cx="15919704" cy="29718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Điểm nổi bật</a:t>
            </a:r>
          </a:p>
        </p:txBody>
      </p:sp>
      <p:sp>
        <p:nvSpPr>
          <p:cNvPr name="TextBox 21" id="21"/>
          <p:cNvSpPr txBox="true"/>
          <p:nvPr/>
        </p:nvSpPr>
        <p:spPr>
          <a:xfrm rot="0">
            <a:off x="1188720" y="9336024"/>
            <a:ext cx="15919704" cy="22860"/>
          </a:xfrm>
          <a:prstGeom prst="rect">
            <a:avLst/>
          </a:prstGeom>
        </p:spPr>
        <p:txBody>
          <a:bodyPr anchor="t" rtlCol="false" tIns="0" lIns="0" bIns="0" rIns="0">
            <a:spAutoFit/>
          </a:bodyPr>
          <a:lstStyle/>
          <a:p>
            <a:pPr algn="l">
              <a:lnSpc>
                <a:spcPts val="1709"/>
              </a:lnSpc>
            </a:pPr>
            <a:r>
              <a:rPr lang="en-US" sz="1425">
                <a:solidFill>
                  <a:srgbClr val="233141"/>
                </a:solidFill>
                <a:latin typeface="Aptos"/>
                <a:ea typeface="Aptos"/>
                <a:cs typeface="Aptos"/>
                <a:sym typeface="Aptos"/>
              </a:rPr>
              <a:t>Logistic Regression train nhanh nhất trong CPU (11,03 s); Decision Tree có latency thấp nhất (0,70 ms/1.000 mẫu).</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Ma trận nhầm lẫn CPU (1/2)</a:t>
            </a:r>
          </a:p>
        </p:txBody>
      </p:sp>
      <p:sp>
        <p:nvSpPr>
          <p:cNvPr name="TextBox 5" id="5"/>
          <p:cNvSpPr txBox="true"/>
          <p:nvPr/>
        </p:nvSpPr>
        <p:spPr>
          <a:xfrm rot="0">
            <a:off x="694944" y="1069467"/>
            <a:ext cx="15755112" cy="265557"/>
          </a:xfrm>
          <a:prstGeom prst="rect">
            <a:avLst/>
          </a:prstGeom>
        </p:spPr>
        <p:txBody>
          <a:bodyPr anchor="t" rtlCol="false" tIns="0" lIns="0" bIns="0" rIns="0">
            <a:spAutoFit/>
          </a:bodyPr>
          <a:lstStyle/>
          <a:p>
            <a:pPr algn="l">
              <a:lnSpc>
                <a:spcPts val="1620"/>
              </a:lnSpc>
            </a:pPr>
            <a:r>
              <a:rPr lang="en-US" sz="1350" b="true">
                <a:solidFill>
                  <a:srgbClr val="30A5BE"/>
                </a:solidFill>
                <a:latin typeface="Aptos Bold"/>
                <a:ea typeface="Aptos Bold"/>
                <a:cs typeface="Aptos Bold"/>
                <a:sym typeface="Aptos Bold"/>
              </a:rPr>
              <a:t>03 / KẾT QUẢ CHẠY THUẦN</a:t>
            </a:r>
          </a:p>
        </p:txBody>
      </p:sp>
      <p:sp>
        <p:nvSpPr>
          <p:cNvPr name="TextBox 6" id="6"/>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07</a:t>
            </a:r>
          </a:p>
        </p:txBody>
      </p:sp>
      <p:sp>
        <p:nvSpPr>
          <p:cNvPr name="TextBox 7" id="7"/>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8" id="8"/>
          <p:cNvGrpSpPr/>
          <p:nvPr/>
        </p:nvGrpSpPr>
        <p:grpSpPr>
          <a:xfrm rot="0">
            <a:off x="746760" y="1844040"/>
            <a:ext cx="5227320" cy="6804660"/>
            <a:chOff x="0" y="0"/>
            <a:chExt cx="6969760" cy="9072880"/>
          </a:xfrm>
        </p:grpSpPr>
        <p:sp>
          <p:nvSpPr>
            <p:cNvPr name="Freeform 9" id="9"/>
            <p:cNvSpPr/>
            <p:nvPr/>
          </p:nvSpPr>
          <p:spPr>
            <a:xfrm flipH="false" flipV="false" rot="0">
              <a:off x="0" y="0"/>
              <a:ext cx="6969760" cy="9072880"/>
            </a:xfrm>
            <a:custGeom>
              <a:avLst/>
              <a:gdLst/>
              <a:ahLst/>
              <a:cxnLst/>
              <a:rect r="r" b="b" t="t" l="l"/>
              <a:pathLst>
                <a:path h="9072880" w="6969760">
                  <a:moveTo>
                    <a:pt x="0" y="1161669"/>
                  </a:moveTo>
                  <a:cubicBezTo>
                    <a:pt x="0" y="520065"/>
                    <a:pt x="520065" y="0"/>
                    <a:pt x="1161669" y="0"/>
                  </a:cubicBezTo>
                  <a:lnTo>
                    <a:pt x="5808091" y="0"/>
                  </a:lnTo>
                  <a:cubicBezTo>
                    <a:pt x="6449695" y="0"/>
                    <a:pt x="6969760" y="520065"/>
                    <a:pt x="6969760" y="1161669"/>
                  </a:cubicBezTo>
                  <a:lnTo>
                    <a:pt x="6969760" y="7911211"/>
                  </a:lnTo>
                  <a:cubicBezTo>
                    <a:pt x="6969760" y="8552815"/>
                    <a:pt x="6449695" y="9072880"/>
                    <a:pt x="5808091" y="9072880"/>
                  </a:cubicBezTo>
                  <a:lnTo>
                    <a:pt x="1161669" y="9072880"/>
                  </a:lnTo>
                  <a:cubicBezTo>
                    <a:pt x="520065" y="9072880"/>
                    <a:pt x="0" y="8552815"/>
                    <a:pt x="0" y="7911211"/>
                  </a:cubicBezTo>
                  <a:close/>
                </a:path>
              </a:pathLst>
            </a:custGeom>
            <a:solidFill>
              <a:srgbClr val="FFFFFF"/>
            </a:solidFill>
            <a:ln w="15240" cap="sq">
              <a:solidFill>
                <a:srgbClr val="DAE4EF"/>
              </a:solidFill>
              <a:prstDash val="solid"/>
              <a:miter/>
            </a:ln>
          </p:spPr>
        </p:sp>
      </p:grpSp>
      <p:sp>
        <p:nvSpPr>
          <p:cNvPr name="TextBox 10" id="10"/>
          <p:cNvSpPr txBox="true"/>
          <p:nvPr/>
        </p:nvSpPr>
        <p:spPr>
          <a:xfrm rot="0">
            <a:off x="1161288" y="2057038"/>
            <a:ext cx="47548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Logistic Regression</a:t>
            </a:r>
          </a:p>
        </p:txBody>
      </p:sp>
      <p:grpSp>
        <p:nvGrpSpPr>
          <p:cNvPr name="Group 11" id="11"/>
          <p:cNvGrpSpPr/>
          <p:nvPr/>
        </p:nvGrpSpPr>
        <p:grpSpPr>
          <a:xfrm rot="0">
            <a:off x="918972" y="3296050"/>
            <a:ext cx="4882896" cy="4106389"/>
            <a:chOff x="0" y="0"/>
            <a:chExt cx="6510528" cy="5475186"/>
          </a:xfrm>
        </p:grpSpPr>
        <p:sp>
          <p:nvSpPr>
            <p:cNvPr name="Freeform 12" id="12" descr="cm_logistic_regression_7m.png"/>
            <p:cNvSpPr/>
            <p:nvPr/>
          </p:nvSpPr>
          <p:spPr>
            <a:xfrm flipH="false" flipV="false" rot="0">
              <a:off x="0" y="0"/>
              <a:ext cx="6510528" cy="5475224"/>
            </a:xfrm>
            <a:custGeom>
              <a:avLst/>
              <a:gdLst/>
              <a:ahLst/>
              <a:cxnLst/>
              <a:rect r="r" b="b" t="t" l="l"/>
              <a:pathLst>
                <a:path h="5475224" w="6510528">
                  <a:moveTo>
                    <a:pt x="0" y="0"/>
                  </a:moveTo>
                  <a:lnTo>
                    <a:pt x="6510528" y="0"/>
                  </a:lnTo>
                  <a:lnTo>
                    <a:pt x="6510528" y="5475224"/>
                  </a:lnTo>
                  <a:lnTo>
                    <a:pt x="0" y="5475224"/>
                  </a:lnTo>
                  <a:lnTo>
                    <a:pt x="0" y="0"/>
                  </a:lnTo>
                  <a:close/>
                </a:path>
              </a:pathLst>
            </a:custGeom>
            <a:blipFill>
              <a:blip r:embed="rId2"/>
              <a:stretch>
                <a:fillRect l="0" t="0" r="0" b="0"/>
              </a:stretch>
            </a:blipFill>
          </p:spPr>
        </p:sp>
      </p:grpSp>
      <p:grpSp>
        <p:nvGrpSpPr>
          <p:cNvPr name="Group 13" id="13"/>
          <p:cNvGrpSpPr/>
          <p:nvPr/>
        </p:nvGrpSpPr>
        <p:grpSpPr>
          <a:xfrm rot="0">
            <a:off x="6548628" y="1844040"/>
            <a:ext cx="5227320" cy="6804660"/>
            <a:chOff x="0" y="0"/>
            <a:chExt cx="6969760" cy="9072880"/>
          </a:xfrm>
        </p:grpSpPr>
        <p:sp>
          <p:nvSpPr>
            <p:cNvPr name="Freeform 14" id="14"/>
            <p:cNvSpPr/>
            <p:nvPr/>
          </p:nvSpPr>
          <p:spPr>
            <a:xfrm flipH="false" flipV="false" rot="0">
              <a:off x="0" y="0"/>
              <a:ext cx="6969760" cy="9072880"/>
            </a:xfrm>
            <a:custGeom>
              <a:avLst/>
              <a:gdLst/>
              <a:ahLst/>
              <a:cxnLst/>
              <a:rect r="r" b="b" t="t" l="l"/>
              <a:pathLst>
                <a:path h="9072880" w="6969760">
                  <a:moveTo>
                    <a:pt x="0" y="1161669"/>
                  </a:moveTo>
                  <a:cubicBezTo>
                    <a:pt x="0" y="520065"/>
                    <a:pt x="520065" y="0"/>
                    <a:pt x="1161669" y="0"/>
                  </a:cubicBezTo>
                  <a:lnTo>
                    <a:pt x="5808091" y="0"/>
                  </a:lnTo>
                  <a:cubicBezTo>
                    <a:pt x="6449695" y="0"/>
                    <a:pt x="6969760" y="520065"/>
                    <a:pt x="6969760" y="1161669"/>
                  </a:cubicBezTo>
                  <a:lnTo>
                    <a:pt x="6969760" y="7911211"/>
                  </a:lnTo>
                  <a:cubicBezTo>
                    <a:pt x="6969760" y="8552815"/>
                    <a:pt x="6449695" y="9072880"/>
                    <a:pt x="5808091" y="9072880"/>
                  </a:cubicBezTo>
                  <a:lnTo>
                    <a:pt x="1161669" y="9072880"/>
                  </a:lnTo>
                  <a:cubicBezTo>
                    <a:pt x="520065" y="9072880"/>
                    <a:pt x="0" y="8552815"/>
                    <a:pt x="0" y="7911211"/>
                  </a:cubicBezTo>
                  <a:close/>
                </a:path>
              </a:pathLst>
            </a:custGeom>
            <a:solidFill>
              <a:srgbClr val="FFFFFF"/>
            </a:solidFill>
            <a:ln w="15240" cap="sq">
              <a:solidFill>
                <a:srgbClr val="DAE4EF"/>
              </a:solidFill>
              <a:prstDash val="solid"/>
              <a:miter/>
            </a:ln>
          </p:spPr>
        </p:sp>
      </p:grpSp>
      <p:sp>
        <p:nvSpPr>
          <p:cNvPr name="TextBox 15" id="15"/>
          <p:cNvSpPr txBox="true"/>
          <p:nvPr/>
        </p:nvSpPr>
        <p:spPr>
          <a:xfrm rot="0">
            <a:off x="6839712" y="2187578"/>
            <a:ext cx="47548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Decision Tree</a:t>
            </a:r>
          </a:p>
        </p:txBody>
      </p:sp>
      <p:grpSp>
        <p:nvGrpSpPr>
          <p:cNvPr name="Group 16" id="16"/>
          <p:cNvGrpSpPr/>
          <p:nvPr/>
        </p:nvGrpSpPr>
        <p:grpSpPr>
          <a:xfrm rot="0">
            <a:off x="6720840" y="3273304"/>
            <a:ext cx="4882896" cy="4151862"/>
            <a:chOff x="0" y="0"/>
            <a:chExt cx="6510528" cy="5535816"/>
          </a:xfrm>
        </p:grpSpPr>
        <p:sp>
          <p:nvSpPr>
            <p:cNvPr name="Freeform 17" id="17" descr="cm_decision_tree_7m.png"/>
            <p:cNvSpPr/>
            <p:nvPr/>
          </p:nvSpPr>
          <p:spPr>
            <a:xfrm flipH="false" flipV="false" rot="0">
              <a:off x="0" y="0"/>
              <a:ext cx="6510528" cy="5535803"/>
            </a:xfrm>
            <a:custGeom>
              <a:avLst/>
              <a:gdLst/>
              <a:ahLst/>
              <a:cxnLst/>
              <a:rect r="r" b="b" t="t" l="l"/>
              <a:pathLst>
                <a:path h="5535803" w="6510528">
                  <a:moveTo>
                    <a:pt x="0" y="0"/>
                  </a:moveTo>
                  <a:lnTo>
                    <a:pt x="6510528" y="0"/>
                  </a:lnTo>
                  <a:lnTo>
                    <a:pt x="6510528" y="5535803"/>
                  </a:lnTo>
                  <a:lnTo>
                    <a:pt x="0" y="5535803"/>
                  </a:lnTo>
                  <a:lnTo>
                    <a:pt x="0" y="0"/>
                  </a:lnTo>
                  <a:close/>
                </a:path>
              </a:pathLst>
            </a:custGeom>
            <a:blipFill>
              <a:blip r:embed="rId3"/>
              <a:stretch>
                <a:fillRect l="0" t="0" r="0" b="0"/>
              </a:stretch>
            </a:blipFill>
          </p:spPr>
        </p:sp>
      </p:grpSp>
      <p:grpSp>
        <p:nvGrpSpPr>
          <p:cNvPr name="Group 18" id="18"/>
          <p:cNvGrpSpPr/>
          <p:nvPr/>
        </p:nvGrpSpPr>
        <p:grpSpPr>
          <a:xfrm rot="0">
            <a:off x="12309348" y="1844040"/>
            <a:ext cx="5227320" cy="6804660"/>
            <a:chOff x="0" y="0"/>
            <a:chExt cx="6969760" cy="9072880"/>
          </a:xfrm>
        </p:grpSpPr>
        <p:sp>
          <p:nvSpPr>
            <p:cNvPr name="Freeform 19" id="19"/>
            <p:cNvSpPr/>
            <p:nvPr/>
          </p:nvSpPr>
          <p:spPr>
            <a:xfrm flipH="false" flipV="false" rot="0">
              <a:off x="0" y="0"/>
              <a:ext cx="6969760" cy="9072880"/>
            </a:xfrm>
            <a:custGeom>
              <a:avLst/>
              <a:gdLst/>
              <a:ahLst/>
              <a:cxnLst/>
              <a:rect r="r" b="b" t="t" l="l"/>
              <a:pathLst>
                <a:path h="9072880" w="6969760">
                  <a:moveTo>
                    <a:pt x="0" y="1161669"/>
                  </a:moveTo>
                  <a:cubicBezTo>
                    <a:pt x="0" y="520065"/>
                    <a:pt x="520065" y="0"/>
                    <a:pt x="1161669" y="0"/>
                  </a:cubicBezTo>
                  <a:lnTo>
                    <a:pt x="5808091" y="0"/>
                  </a:lnTo>
                  <a:cubicBezTo>
                    <a:pt x="6449695" y="0"/>
                    <a:pt x="6969760" y="520065"/>
                    <a:pt x="6969760" y="1161669"/>
                  </a:cubicBezTo>
                  <a:lnTo>
                    <a:pt x="6969760" y="7911211"/>
                  </a:lnTo>
                  <a:cubicBezTo>
                    <a:pt x="6969760" y="8552815"/>
                    <a:pt x="6449695" y="9072880"/>
                    <a:pt x="5808091" y="9072880"/>
                  </a:cubicBezTo>
                  <a:lnTo>
                    <a:pt x="1161669" y="9072880"/>
                  </a:lnTo>
                  <a:cubicBezTo>
                    <a:pt x="520065" y="9072880"/>
                    <a:pt x="0" y="8552815"/>
                    <a:pt x="0" y="7911211"/>
                  </a:cubicBezTo>
                  <a:close/>
                </a:path>
              </a:pathLst>
            </a:custGeom>
            <a:solidFill>
              <a:srgbClr val="FFFFFF"/>
            </a:solidFill>
            <a:ln w="15240" cap="sq">
              <a:solidFill>
                <a:srgbClr val="DAE4EF"/>
              </a:solidFill>
              <a:prstDash val="solid"/>
              <a:miter/>
            </a:ln>
          </p:spPr>
        </p:sp>
      </p:grpSp>
      <p:sp>
        <p:nvSpPr>
          <p:cNvPr name="TextBox 20" id="20"/>
          <p:cNvSpPr txBox="true"/>
          <p:nvPr/>
        </p:nvSpPr>
        <p:spPr>
          <a:xfrm rot="0">
            <a:off x="12765024" y="2111902"/>
            <a:ext cx="47548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Random Forest</a:t>
            </a:r>
          </a:p>
        </p:txBody>
      </p:sp>
      <p:grpSp>
        <p:nvGrpSpPr>
          <p:cNvPr name="Group 21" id="21"/>
          <p:cNvGrpSpPr/>
          <p:nvPr/>
        </p:nvGrpSpPr>
        <p:grpSpPr>
          <a:xfrm rot="0">
            <a:off x="12481560" y="3296050"/>
            <a:ext cx="4882896" cy="4106389"/>
            <a:chOff x="0" y="0"/>
            <a:chExt cx="6510528" cy="5475186"/>
          </a:xfrm>
        </p:grpSpPr>
        <p:sp>
          <p:nvSpPr>
            <p:cNvPr name="Freeform 22" id="22" descr="cm_random_forest_cpu_7m.png"/>
            <p:cNvSpPr/>
            <p:nvPr/>
          </p:nvSpPr>
          <p:spPr>
            <a:xfrm flipH="false" flipV="false" rot="0">
              <a:off x="0" y="0"/>
              <a:ext cx="6510528" cy="5475224"/>
            </a:xfrm>
            <a:custGeom>
              <a:avLst/>
              <a:gdLst/>
              <a:ahLst/>
              <a:cxnLst/>
              <a:rect r="r" b="b" t="t" l="l"/>
              <a:pathLst>
                <a:path h="5475224" w="6510528">
                  <a:moveTo>
                    <a:pt x="0" y="0"/>
                  </a:moveTo>
                  <a:lnTo>
                    <a:pt x="6510528" y="0"/>
                  </a:lnTo>
                  <a:lnTo>
                    <a:pt x="6510528" y="5475224"/>
                  </a:lnTo>
                  <a:lnTo>
                    <a:pt x="0" y="5475224"/>
                  </a:lnTo>
                  <a:lnTo>
                    <a:pt x="0" y="0"/>
                  </a:lnTo>
                  <a:close/>
                </a:path>
              </a:pathLst>
            </a:custGeom>
            <a:blipFill>
              <a:blip r:embed="rId4"/>
              <a:stretch>
                <a:fillRect l="0" t="0" r="0" b="0"/>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Ma trận nhầm lẫn CPU (2/2)</a:t>
            </a:r>
          </a:p>
        </p:txBody>
      </p:sp>
      <p:sp>
        <p:nvSpPr>
          <p:cNvPr name="TextBox 5" id="5"/>
          <p:cNvSpPr txBox="true"/>
          <p:nvPr/>
        </p:nvSpPr>
        <p:spPr>
          <a:xfrm rot="0">
            <a:off x="694944" y="1069467"/>
            <a:ext cx="15755112" cy="265557"/>
          </a:xfrm>
          <a:prstGeom prst="rect">
            <a:avLst/>
          </a:prstGeom>
        </p:spPr>
        <p:txBody>
          <a:bodyPr anchor="t" rtlCol="false" tIns="0" lIns="0" bIns="0" rIns="0">
            <a:spAutoFit/>
          </a:bodyPr>
          <a:lstStyle/>
          <a:p>
            <a:pPr algn="l">
              <a:lnSpc>
                <a:spcPts val="1620"/>
              </a:lnSpc>
            </a:pPr>
            <a:r>
              <a:rPr lang="en-US" sz="1350" b="true">
                <a:solidFill>
                  <a:srgbClr val="30A5BE"/>
                </a:solidFill>
                <a:latin typeface="Aptos Bold"/>
                <a:ea typeface="Aptos Bold"/>
                <a:cs typeface="Aptos Bold"/>
                <a:sym typeface="Aptos Bold"/>
              </a:rPr>
              <a:t>03 / KẾT QUẢ CHẠY THUẦN</a:t>
            </a:r>
          </a:p>
        </p:txBody>
      </p:sp>
      <p:sp>
        <p:nvSpPr>
          <p:cNvPr name="TextBox 6" id="6"/>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08</a:t>
            </a:r>
          </a:p>
        </p:txBody>
      </p:sp>
      <p:sp>
        <p:nvSpPr>
          <p:cNvPr name="TextBox 7" id="7"/>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8" id="8"/>
          <p:cNvGrpSpPr/>
          <p:nvPr/>
        </p:nvGrpSpPr>
        <p:grpSpPr>
          <a:xfrm rot="0">
            <a:off x="746760" y="1844040"/>
            <a:ext cx="5227320" cy="6804660"/>
            <a:chOff x="0" y="0"/>
            <a:chExt cx="6969760" cy="9072880"/>
          </a:xfrm>
        </p:grpSpPr>
        <p:sp>
          <p:nvSpPr>
            <p:cNvPr name="Freeform 9" id="9"/>
            <p:cNvSpPr/>
            <p:nvPr/>
          </p:nvSpPr>
          <p:spPr>
            <a:xfrm flipH="false" flipV="false" rot="0">
              <a:off x="0" y="0"/>
              <a:ext cx="6969760" cy="9072880"/>
            </a:xfrm>
            <a:custGeom>
              <a:avLst/>
              <a:gdLst/>
              <a:ahLst/>
              <a:cxnLst/>
              <a:rect r="r" b="b" t="t" l="l"/>
              <a:pathLst>
                <a:path h="9072880" w="6969760">
                  <a:moveTo>
                    <a:pt x="0" y="1161669"/>
                  </a:moveTo>
                  <a:cubicBezTo>
                    <a:pt x="0" y="520065"/>
                    <a:pt x="520065" y="0"/>
                    <a:pt x="1161669" y="0"/>
                  </a:cubicBezTo>
                  <a:lnTo>
                    <a:pt x="5808091" y="0"/>
                  </a:lnTo>
                  <a:cubicBezTo>
                    <a:pt x="6449695" y="0"/>
                    <a:pt x="6969760" y="520065"/>
                    <a:pt x="6969760" y="1161669"/>
                  </a:cubicBezTo>
                  <a:lnTo>
                    <a:pt x="6969760" y="7911211"/>
                  </a:lnTo>
                  <a:cubicBezTo>
                    <a:pt x="6969760" y="8552815"/>
                    <a:pt x="6449695" y="9072880"/>
                    <a:pt x="5808091" y="9072880"/>
                  </a:cubicBezTo>
                  <a:lnTo>
                    <a:pt x="1161669" y="9072880"/>
                  </a:lnTo>
                  <a:cubicBezTo>
                    <a:pt x="520065" y="9072880"/>
                    <a:pt x="0" y="8552815"/>
                    <a:pt x="0" y="7911211"/>
                  </a:cubicBezTo>
                  <a:close/>
                </a:path>
              </a:pathLst>
            </a:custGeom>
            <a:solidFill>
              <a:srgbClr val="FFFFFF"/>
            </a:solidFill>
            <a:ln w="15240" cap="sq">
              <a:solidFill>
                <a:srgbClr val="DAE4EF"/>
              </a:solidFill>
              <a:prstDash val="solid"/>
              <a:miter/>
            </a:ln>
          </p:spPr>
        </p:sp>
      </p:grpSp>
      <p:sp>
        <p:nvSpPr>
          <p:cNvPr name="TextBox 10" id="10"/>
          <p:cNvSpPr txBox="true"/>
          <p:nvPr/>
        </p:nvSpPr>
        <p:spPr>
          <a:xfrm rot="0">
            <a:off x="1312164" y="2112264"/>
            <a:ext cx="47548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LightGBM</a:t>
            </a:r>
          </a:p>
        </p:txBody>
      </p:sp>
      <p:grpSp>
        <p:nvGrpSpPr>
          <p:cNvPr name="Group 11" id="11"/>
          <p:cNvGrpSpPr/>
          <p:nvPr/>
        </p:nvGrpSpPr>
        <p:grpSpPr>
          <a:xfrm rot="0">
            <a:off x="918972" y="3273304"/>
            <a:ext cx="4882896" cy="4151862"/>
            <a:chOff x="0" y="0"/>
            <a:chExt cx="6510528" cy="5535816"/>
          </a:xfrm>
        </p:grpSpPr>
        <p:sp>
          <p:nvSpPr>
            <p:cNvPr name="Freeform 12" id="12" descr="cm_lightgbm_7m.png"/>
            <p:cNvSpPr/>
            <p:nvPr/>
          </p:nvSpPr>
          <p:spPr>
            <a:xfrm flipH="false" flipV="false" rot="0">
              <a:off x="0" y="0"/>
              <a:ext cx="6510528" cy="5535803"/>
            </a:xfrm>
            <a:custGeom>
              <a:avLst/>
              <a:gdLst/>
              <a:ahLst/>
              <a:cxnLst/>
              <a:rect r="r" b="b" t="t" l="l"/>
              <a:pathLst>
                <a:path h="5535803" w="6510528">
                  <a:moveTo>
                    <a:pt x="0" y="0"/>
                  </a:moveTo>
                  <a:lnTo>
                    <a:pt x="6510528" y="0"/>
                  </a:lnTo>
                  <a:lnTo>
                    <a:pt x="6510528" y="5535803"/>
                  </a:lnTo>
                  <a:lnTo>
                    <a:pt x="0" y="5535803"/>
                  </a:lnTo>
                  <a:lnTo>
                    <a:pt x="0" y="0"/>
                  </a:lnTo>
                  <a:close/>
                </a:path>
              </a:pathLst>
            </a:custGeom>
            <a:blipFill>
              <a:blip r:embed="rId2"/>
              <a:stretch>
                <a:fillRect l="0" t="0" r="0" b="0"/>
              </a:stretch>
            </a:blipFill>
          </p:spPr>
        </p:sp>
      </p:grpSp>
      <p:grpSp>
        <p:nvGrpSpPr>
          <p:cNvPr name="Group 13" id="13"/>
          <p:cNvGrpSpPr/>
          <p:nvPr/>
        </p:nvGrpSpPr>
        <p:grpSpPr>
          <a:xfrm rot="0">
            <a:off x="6548628" y="1844040"/>
            <a:ext cx="5227320" cy="6804660"/>
            <a:chOff x="0" y="0"/>
            <a:chExt cx="6969760" cy="9072880"/>
          </a:xfrm>
        </p:grpSpPr>
        <p:sp>
          <p:nvSpPr>
            <p:cNvPr name="Freeform 14" id="14"/>
            <p:cNvSpPr/>
            <p:nvPr/>
          </p:nvSpPr>
          <p:spPr>
            <a:xfrm flipH="false" flipV="false" rot="0">
              <a:off x="0" y="0"/>
              <a:ext cx="6969760" cy="9072880"/>
            </a:xfrm>
            <a:custGeom>
              <a:avLst/>
              <a:gdLst/>
              <a:ahLst/>
              <a:cxnLst/>
              <a:rect r="r" b="b" t="t" l="l"/>
              <a:pathLst>
                <a:path h="9072880" w="6969760">
                  <a:moveTo>
                    <a:pt x="0" y="1161669"/>
                  </a:moveTo>
                  <a:cubicBezTo>
                    <a:pt x="0" y="520065"/>
                    <a:pt x="520065" y="0"/>
                    <a:pt x="1161669" y="0"/>
                  </a:cubicBezTo>
                  <a:lnTo>
                    <a:pt x="5808091" y="0"/>
                  </a:lnTo>
                  <a:cubicBezTo>
                    <a:pt x="6449695" y="0"/>
                    <a:pt x="6969760" y="520065"/>
                    <a:pt x="6969760" y="1161669"/>
                  </a:cubicBezTo>
                  <a:lnTo>
                    <a:pt x="6969760" y="7911211"/>
                  </a:lnTo>
                  <a:cubicBezTo>
                    <a:pt x="6969760" y="8552815"/>
                    <a:pt x="6449695" y="9072880"/>
                    <a:pt x="5808091" y="9072880"/>
                  </a:cubicBezTo>
                  <a:lnTo>
                    <a:pt x="1161669" y="9072880"/>
                  </a:lnTo>
                  <a:cubicBezTo>
                    <a:pt x="520065" y="9072880"/>
                    <a:pt x="0" y="8552815"/>
                    <a:pt x="0" y="7911211"/>
                  </a:cubicBezTo>
                  <a:close/>
                </a:path>
              </a:pathLst>
            </a:custGeom>
            <a:solidFill>
              <a:srgbClr val="FFFFFF"/>
            </a:solidFill>
            <a:ln w="15240" cap="sq">
              <a:solidFill>
                <a:srgbClr val="DAE4EF"/>
              </a:solidFill>
              <a:prstDash val="solid"/>
              <a:miter/>
            </a:ln>
          </p:spPr>
        </p:sp>
      </p:grpSp>
      <p:sp>
        <p:nvSpPr>
          <p:cNvPr name="TextBox 15" id="15"/>
          <p:cNvSpPr txBox="true"/>
          <p:nvPr/>
        </p:nvSpPr>
        <p:spPr>
          <a:xfrm rot="0">
            <a:off x="7004304" y="2112264"/>
            <a:ext cx="47548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XGBoost</a:t>
            </a:r>
          </a:p>
        </p:txBody>
      </p:sp>
      <p:grpSp>
        <p:nvGrpSpPr>
          <p:cNvPr name="Group 16" id="16"/>
          <p:cNvGrpSpPr/>
          <p:nvPr/>
        </p:nvGrpSpPr>
        <p:grpSpPr>
          <a:xfrm rot="0">
            <a:off x="6720840" y="3273304"/>
            <a:ext cx="4882896" cy="4151862"/>
            <a:chOff x="0" y="0"/>
            <a:chExt cx="6510528" cy="5535816"/>
          </a:xfrm>
        </p:grpSpPr>
        <p:sp>
          <p:nvSpPr>
            <p:cNvPr name="Freeform 17" id="17" descr="cm_xgboost_7m.png"/>
            <p:cNvSpPr/>
            <p:nvPr/>
          </p:nvSpPr>
          <p:spPr>
            <a:xfrm flipH="false" flipV="false" rot="0">
              <a:off x="0" y="0"/>
              <a:ext cx="6510528" cy="5535803"/>
            </a:xfrm>
            <a:custGeom>
              <a:avLst/>
              <a:gdLst/>
              <a:ahLst/>
              <a:cxnLst/>
              <a:rect r="r" b="b" t="t" l="l"/>
              <a:pathLst>
                <a:path h="5535803" w="6510528">
                  <a:moveTo>
                    <a:pt x="0" y="0"/>
                  </a:moveTo>
                  <a:lnTo>
                    <a:pt x="6510528" y="0"/>
                  </a:lnTo>
                  <a:lnTo>
                    <a:pt x="6510528" y="5535803"/>
                  </a:lnTo>
                  <a:lnTo>
                    <a:pt x="0" y="5535803"/>
                  </a:lnTo>
                  <a:lnTo>
                    <a:pt x="0" y="0"/>
                  </a:lnTo>
                  <a:close/>
                </a:path>
              </a:pathLst>
            </a:custGeom>
            <a:blipFill>
              <a:blip r:embed="rId3"/>
              <a:stretch>
                <a:fillRect l="0" t="0" r="0" b="0"/>
              </a:stretch>
            </a:blipFill>
          </p:spPr>
        </p:sp>
      </p:grpSp>
      <p:grpSp>
        <p:nvGrpSpPr>
          <p:cNvPr name="Group 18" id="18"/>
          <p:cNvGrpSpPr/>
          <p:nvPr/>
        </p:nvGrpSpPr>
        <p:grpSpPr>
          <a:xfrm rot="0">
            <a:off x="12309348" y="1844040"/>
            <a:ext cx="5227320" cy="6804660"/>
            <a:chOff x="0" y="0"/>
            <a:chExt cx="6969760" cy="9072880"/>
          </a:xfrm>
        </p:grpSpPr>
        <p:sp>
          <p:nvSpPr>
            <p:cNvPr name="Freeform 19" id="19"/>
            <p:cNvSpPr/>
            <p:nvPr/>
          </p:nvSpPr>
          <p:spPr>
            <a:xfrm flipH="false" flipV="false" rot="0">
              <a:off x="0" y="0"/>
              <a:ext cx="6969760" cy="9072880"/>
            </a:xfrm>
            <a:custGeom>
              <a:avLst/>
              <a:gdLst/>
              <a:ahLst/>
              <a:cxnLst/>
              <a:rect r="r" b="b" t="t" l="l"/>
              <a:pathLst>
                <a:path h="9072880" w="6969760">
                  <a:moveTo>
                    <a:pt x="0" y="1161669"/>
                  </a:moveTo>
                  <a:cubicBezTo>
                    <a:pt x="0" y="520065"/>
                    <a:pt x="520065" y="0"/>
                    <a:pt x="1161669" y="0"/>
                  </a:cubicBezTo>
                  <a:lnTo>
                    <a:pt x="5808091" y="0"/>
                  </a:lnTo>
                  <a:cubicBezTo>
                    <a:pt x="6449695" y="0"/>
                    <a:pt x="6969760" y="520065"/>
                    <a:pt x="6969760" y="1161669"/>
                  </a:cubicBezTo>
                  <a:lnTo>
                    <a:pt x="6969760" y="7911211"/>
                  </a:lnTo>
                  <a:cubicBezTo>
                    <a:pt x="6969760" y="8552815"/>
                    <a:pt x="6449695" y="9072880"/>
                    <a:pt x="5808091" y="9072880"/>
                  </a:cubicBezTo>
                  <a:lnTo>
                    <a:pt x="1161669" y="9072880"/>
                  </a:lnTo>
                  <a:cubicBezTo>
                    <a:pt x="520065" y="9072880"/>
                    <a:pt x="0" y="8552815"/>
                    <a:pt x="0" y="7911211"/>
                  </a:cubicBezTo>
                  <a:close/>
                </a:path>
              </a:pathLst>
            </a:custGeom>
            <a:solidFill>
              <a:srgbClr val="FFFFFF"/>
            </a:solidFill>
            <a:ln w="15240" cap="sq">
              <a:solidFill>
                <a:srgbClr val="DAE4EF"/>
              </a:solidFill>
              <a:prstDash val="solid"/>
              <a:miter/>
            </a:ln>
          </p:spPr>
        </p:sp>
      </p:grpSp>
      <p:sp>
        <p:nvSpPr>
          <p:cNvPr name="TextBox 20" id="20"/>
          <p:cNvSpPr txBox="true"/>
          <p:nvPr/>
        </p:nvSpPr>
        <p:spPr>
          <a:xfrm rot="0">
            <a:off x="12641580" y="2162556"/>
            <a:ext cx="47548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CatBoost</a:t>
            </a:r>
          </a:p>
        </p:txBody>
      </p:sp>
      <p:grpSp>
        <p:nvGrpSpPr>
          <p:cNvPr name="Group 21" id="21"/>
          <p:cNvGrpSpPr/>
          <p:nvPr/>
        </p:nvGrpSpPr>
        <p:grpSpPr>
          <a:xfrm rot="0">
            <a:off x="12481560" y="3273304"/>
            <a:ext cx="4882896" cy="4151862"/>
            <a:chOff x="0" y="0"/>
            <a:chExt cx="6510528" cy="5535816"/>
          </a:xfrm>
        </p:grpSpPr>
        <p:sp>
          <p:nvSpPr>
            <p:cNvPr name="Freeform 22" id="22" descr="cm_catboost_7m.png"/>
            <p:cNvSpPr/>
            <p:nvPr/>
          </p:nvSpPr>
          <p:spPr>
            <a:xfrm flipH="false" flipV="false" rot="0">
              <a:off x="0" y="0"/>
              <a:ext cx="6510528" cy="5535803"/>
            </a:xfrm>
            <a:custGeom>
              <a:avLst/>
              <a:gdLst/>
              <a:ahLst/>
              <a:cxnLst/>
              <a:rect r="r" b="b" t="t" l="l"/>
              <a:pathLst>
                <a:path h="5535803" w="6510528">
                  <a:moveTo>
                    <a:pt x="0" y="0"/>
                  </a:moveTo>
                  <a:lnTo>
                    <a:pt x="6510528" y="0"/>
                  </a:lnTo>
                  <a:lnTo>
                    <a:pt x="6510528" y="5535803"/>
                  </a:lnTo>
                  <a:lnTo>
                    <a:pt x="0" y="5535803"/>
                  </a:lnTo>
                  <a:lnTo>
                    <a:pt x="0" y="0"/>
                  </a:lnTo>
                  <a:close/>
                </a:path>
              </a:pathLst>
            </a:custGeom>
            <a:blipFill>
              <a:blip r:embed="rId4"/>
              <a:stretch>
                <a:fillRect l="0" t="0" r="0" b="0"/>
              </a:stretch>
            </a:blipFill>
          </p:spPr>
        </p:sp>
      </p:grpSp>
      <p:grpSp>
        <p:nvGrpSpPr>
          <p:cNvPr name="Group 23" id="23"/>
          <p:cNvGrpSpPr/>
          <p:nvPr/>
        </p:nvGrpSpPr>
        <p:grpSpPr>
          <a:xfrm rot="0">
            <a:off x="952500" y="8880348"/>
            <a:ext cx="16405860" cy="1030224"/>
            <a:chOff x="0" y="0"/>
            <a:chExt cx="21874480" cy="1373632"/>
          </a:xfrm>
        </p:grpSpPr>
        <p:sp>
          <p:nvSpPr>
            <p:cNvPr name="Freeform 24" id="24"/>
            <p:cNvSpPr/>
            <p:nvPr/>
          </p:nvSpPr>
          <p:spPr>
            <a:xfrm flipH="false" flipV="false" rot="0">
              <a:off x="0" y="0"/>
              <a:ext cx="21874480" cy="1373632"/>
            </a:xfrm>
            <a:custGeom>
              <a:avLst/>
              <a:gdLst/>
              <a:ahLst/>
              <a:cxnLst/>
              <a:rect r="r" b="b" t="t" l="l"/>
              <a:pathLst>
                <a:path h="1373632" w="21874480">
                  <a:moveTo>
                    <a:pt x="0" y="228981"/>
                  </a:moveTo>
                  <a:cubicBezTo>
                    <a:pt x="0" y="102489"/>
                    <a:pt x="102489" y="0"/>
                    <a:pt x="228981" y="0"/>
                  </a:cubicBezTo>
                  <a:lnTo>
                    <a:pt x="21645499" y="0"/>
                  </a:lnTo>
                  <a:cubicBezTo>
                    <a:pt x="21771990" y="0"/>
                    <a:pt x="21874480" y="102489"/>
                    <a:pt x="21874480" y="228981"/>
                  </a:cubicBezTo>
                  <a:lnTo>
                    <a:pt x="21874480" y="1144651"/>
                  </a:lnTo>
                  <a:cubicBezTo>
                    <a:pt x="21874480" y="1271143"/>
                    <a:pt x="21771990" y="1373632"/>
                    <a:pt x="21645499" y="1373632"/>
                  </a:cubicBezTo>
                  <a:lnTo>
                    <a:pt x="228981" y="1373632"/>
                  </a:lnTo>
                  <a:cubicBezTo>
                    <a:pt x="102489" y="1373632"/>
                    <a:pt x="0" y="1271143"/>
                    <a:pt x="0" y="1144651"/>
                  </a:cubicBezTo>
                  <a:close/>
                </a:path>
              </a:pathLst>
            </a:custGeom>
            <a:solidFill>
              <a:srgbClr val="E6F1FC"/>
            </a:solidFill>
            <a:ln w="15240" cap="sq">
              <a:solidFill>
                <a:srgbClr val="E6F1FC"/>
              </a:solidFill>
              <a:prstDash val="solid"/>
              <a:miter/>
            </a:ln>
          </p:spPr>
        </p:sp>
      </p:grpSp>
      <p:sp>
        <p:nvSpPr>
          <p:cNvPr name="TextBox 25" id="25"/>
          <p:cNvSpPr txBox="true"/>
          <p:nvPr/>
        </p:nvSpPr>
        <p:spPr>
          <a:xfrm rot="0">
            <a:off x="1161288" y="8979408"/>
            <a:ext cx="15988284" cy="29718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Kết luận</a:t>
            </a:r>
          </a:p>
        </p:txBody>
      </p:sp>
      <p:sp>
        <p:nvSpPr>
          <p:cNvPr name="TextBox 26" id="26"/>
          <p:cNvSpPr txBox="true"/>
          <p:nvPr/>
        </p:nvSpPr>
        <p:spPr>
          <a:xfrm rot="0">
            <a:off x="1161288" y="9336024"/>
            <a:ext cx="15988284" cy="447989"/>
          </a:xfrm>
          <a:prstGeom prst="rect">
            <a:avLst/>
          </a:prstGeom>
        </p:spPr>
        <p:txBody>
          <a:bodyPr anchor="t" rtlCol="false" tIns="0" lIns="0" bIns="0" rIns="0">
            <a:spAutoFit/>
          </a:bodyPr>
          <a:lstStyle/>
          <a:p>
            <a:pPr algn="l">
              <a:lnSpc>
                <a:spcPts val="1709"/>
              </a:lnSpc>
            </a:pPr>
            <a:r>
              <a:rPr lang="en-US" sz="1425">
                <a:solidFill>
                  <a:srgbClr val="233141"/>
                </a:solidFill>
                <a:latin typeface="Aptos"/>
                <a:ea typeface="Aptos"/>
                <a:cs typeface="Aptos"/>
                <a:sym typeface="Aptos"/>
              </a:rPr>
              <a:t>Gần như phần lớn các lớp đều bị dự đoán thành OnTime do nhãn này đã chiếm phần lớn trong mặc dữ liệu, Micro F1 nhỏ cho thấy ko phản ánh hết các lớp, cho thấy mô hình vẫn còn rất hạn chế trong khả năng dự đoán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23444"/>
            <a:chOff x="0" y="0"/>
            <a:chExt cx="24383390" cy="164592"/>
          </a:xfrm>
        </p:grpSpPr>
        <p:sp>
          <p:nvSpPr>
            <p:cNvPr name="Freeform 3" id="3"/>
            <p:cNvSpPr/>
            <p:nvPr/>
          </p:nvSpPr>
          <p:spPr>
            <a:xfrm flipH="false" flipV="false" rot="0">
              <a:off x="0" y="0"/>
              <a:ext cx="24383364" cy="164592"/>
            </a:xfrm>
            <a:custGeom>
              <a:avLst/>
              <a:gdLst/>
              <a:ahLst/>
              <a:cxnLst/>
              <a:rect r="r" b="b" t="t" l="l"/>
              <a:pathLst>
                <a:path h="164592" w="24383364">
                  <a:moveTo>
                    <a:pt x="0" y="0"/>
                  </a:moveTo>
                  <a:lnTo>
                    <a:pt x="24383364" y="0"/>
                  </a:lnTo>
                  <a:lnTo>
                    <a:pt x="24383364" y="164592"/>
                  </a:lnTo>
                  <a:lnTo>
                    <a:pt x="0" y="164592"/>
                  </a:lnTo>
                  <a:close/>
                </a:path>
              </a:pathLst>
            </a:custGeom>
            <a:solidFill>
              <a:srgbClr val="2D6699"/>
            </a:solidFill>
          </p:spPr>
        </p:sp>
      </p:grpSp>
      <p:sp>
        <p:nvSpPr>
          <p:cNvPr name="TextBox 4" id="4"/>
          <p:cNvSpPr txBox="true"/>
          <p:nvPr/>
        </p:nvSpPr>
        <p:spPr>
          <a:xfrm rot="0">
            <a:off x="790956" y="402336"/>
            <a:ext cx="16660368" cy="347472"/>
          </a:xfrm>
          <a:prstGeom prst="rect">
            <a:avLst/>
          </a:prstGeom>
        </p:spPr>
        <p:txBody>
          <a:bodyPr anchor="t" rtlCol="false" tIns="0" lIns="0" bIns="0" rIns="0">
            <a:spAutoFit/>
          </a:bodyPr>
          <a:lstStyle/>
          <a:p>
            <a:pPr algn="l">
              <a:lnSpc>
                <a:spcPts val="1800"/>
              </a:lnSpc>
            </a:pPr>
            <a:r>
              <a:rPr lang="en-US" sz="1500" b="true">
                <a:solidFill>
                  <a:srgbClr val="2D6699"/>
                </a:solidFill>
                <a:latin typeface="Aptos Bold"/>
                <a:ea typeface="Aptos Bold"/>
                <a:cs typeface="Aptos Bold"/>
                <a:sym typeface="Aptos Bold"/>
              </a:rPr>
              <a:t>PHẦN I • CPU</a:t>
            </a:r>
          </a:p>
        </p:txBody>
      </p:sp>
      <p:sp>
        <p:nvSpPr>
          <p:cNvPr name="TextBox 5" id="5"/>
          <p:cNvSpPr txBox="true"/>
          <p:nvPr/>
        </p:nvSpPr>
        <p:spPr>
          <a:xfrm rot="0">
            <a:off x="790956" y="868680"/>
            <a:ext cx="16660368" cy="758952"/>
          </a:xfrm>
          <a:prstGeom prst="rect">
            <a:avLst/>
          </a:prstGeom>
        </p:spPr>
        <p:txBody>
          <a:bodyPr anchor="t" rtlCol="false" tIns="0" lIns="0" bIns="0" rIns="0">
            <a:spAutoFit/>
          </a:bodyPr>
          <a:lstStyle/>
          <a:p>
            <a:pPr algn="l">
              <a:lnSpc>
                <a:spcPts val="4680"/>
              </a:lnSpc>
            </a:pPr>
            <a:r>
              <a:rPr lang="en-US" sz="3900" b="true">
                <a:solidFill>
                  <a:srgbClr val="19314F"/>
                </a:solidFill>
                <a:latin typeface="Aptos Bold"/>
                <a:ea typeface="Aptos Bold"/>
                <a:cs typeface="Aptos Bold"/>
                <a:sym typeface="Aptos Bold"/>
              </a:rPr>
              <a:t>Đặc trưng được Random Forest CPU sử dụng</a:t>
            </a:r>
          </a:p>
        </p:txBody>
      </p:sp>
      <p:sp>
        <p:nvSpPr>
          <p:cNvPr name="TextBox 6" id="6"/>
          <p:cNvSpPr txBox="true"/>
          <p:nvPr/>
        </p:nvSpPr>
        <p:spPr>
          <a:xfrm rot="0">
            <a:off x="832104" y="1705356"/>
            <a:ext cx="16523208" cy="717804"/>
          </a:xfrm>
          <a:prstGeom prst="rect">
            <a:avLst/>
          </a:prstGeom>
        </p:spPr>
        <p:txBody>
          <a:bodyPr anchor="t" rtlCol="false" tIns="0" lIns="0" bIns="0" rIns="0">
            <a:spAutoFit/>
          </a:bodyPr>
          <a:lstStyle/>
          <a:p>
            <a:pPr algn="l">
              <a:lnSpc>
                <a:spcPts val="2340"/>
              </a:lnSpc>
            </a:pPr>
            <a:r>
              <a:rPr lang="en-US" sz="1950">
                <a:solidFill>
                  <a:srgbClr val="555F6C"/>
                </a:solidFill>
                <a:latin typeface="Aptos"/>
                <a:ea typeface="Aptos"/>
                <a:cs typeface="Aptos"/>
                <a:sym typeface="Aptos"/>
              </a:rPr>
              <a:t>Biểu đồ gốc về feature importance của Random Forest CPU.</a:t>
            </a:r>
          </a:p>
        </p:txBody>
      </p:sp>
      <p:sp>
        <p:nvSpPr>
          <p:cNvPr name="TextBox 7" id="7"/>
          <p:cNvSpPr txBox="true"/>
          <p:nvPr/>
        </p:nvSpPr>
        <p:spPr>
          <a:xfrm rot="0">
            <a:off x="790956" y="9788271"/>
            <a:ext cx="16111728" cy="219837"/>
          </a:xfrm>
          <a:prstGeom prst="rect">
            <a:avLst/>
          </a:prstGeom>
        </p:spPr>
        <p:txBody>
          <a:bodyPr anchor="t" rtlCol="false" tIns="0" lIns="0" bIns="0" rIns="0">
            <a:spAutoFit/>
          </a:bodyPr>
          <a:lstStyle/>
          <a:p>
            <a:pPr algn="l">
              <a:lnSpc>
                <a:spcPts val="1620"/>
              </a:lnSpc>
            </a:pPr>
            <a:r>
              <a:rPr lang="en-US" sz="1350">
                <a:solidFill>
                  <a:srgbClr val="555F6C"/>
                </a:solidFill>
                <a:latin typeface="Aptos"/>
                <a:ea typeface="Aptos"/>
                <a:cs typeface="Aptos"/>
                <a:sym typeface="Aptos"/>
              </a:rPr>
              <a:t>Đồ án Big Data • Nhóm 6</a:t>
            </a:r>
          </a:p>
        </p:txBody>
      </p:sp>
      <p:sp>
        <p:nvSpPr>
          <p:cNvPr name="TextBox 8" id="8"/>
          <p:cNvSpPr txBox="true"/>
          <p:nvPr/>
        </p:nvSpPr>
        <p:spPr>
          <a:xfrm rot="0">
            <a:off x="16770096" y="9747123"/>
            <a:ext cx="681228" cy="247269"/>
          </a:xfrm>
          <a:prstGeom prst="rect">
            <a:avLst/>
          </a:prstGeom>
        </p:spPr>
        <p:txBody>
          <a:bodyPr anchor="t" rtlCol="false" tIns="0" lIns="0" bIns="0" rIns="0">
            <a:spAutoFit/>
          </a:bodyPr>
          <a:lstStyle/>
          <a:p>
            <a:pPr algn="r">
              <a:lnSpc>
                <a:spcPts val="1620"/>
              </a:lnSpc>
            </a:pPr>
            <a:r>
              <a:rPr lang="en-US" sz="1350">
                <a:solidFill>
                  <a:srgbClr val="555F6C"/>
                </a:solidFill>
                <a:latin typeface="Aptos"/>
                <a:ea typeface="Aptos"/>
                <a:cs typeface="Aptos"/>
                <a:sym typeface="Aptos"/>
              </a:rPr>
              <a:t>6</a:t>
            </a:r>
          </a:p>
        </p:txBody>
      </p:sp>
      <p:grpSp>
        <p:nvGrpSpPr>
          <p:cNvPr name="Group 9" id="9"/>
          <p:cNvGrpSpPr/>
          <p:nvPr/>
        </p:nvGrpSpPr>
        <p:grpSpPr>
          <a:xfrm rot="0">
            <a:off x="1204970" y="2400300"/>
            <a:ext cx="10140191" cy="6789420"/>
            <a:chOff x="0" y="0"/>
            <a:chExt cx="13520255" cy="9052560"/>
          </a:xfrm>
        </p:grpSpPr>
        <p:sp>
          <p:nvSpPr>
            <p:cNvPr name="Freeform 10" id="10" descr="feat_imp_random_forest_cpu_7m.png"/>
            <p:cNvSpPr/>
            <p:nvPr/>
          </p:nvSpPr>
          <p:spPr>
            <a:xfrm flipH="false" flipV="false" rot="0">
              <a:off x="0" y="0"/>
              <a:ext cx="13520293" cy="9052560"/>
            </a:xfrm>
            <a:custGeom>
              <a:avLst/>
              <a:gdLst/>
              <a:ahLst/>
              <a:cxnLst/>
              <a:rect r="r" b="b" t="t" l="l"/>
              <a:pathLst>
                <a:path h="9052560" w="13520293">
                  <a:moveTo>
                    <a:pt x="0" y="0"/>
                  </a:moveTo>
                  <a:lnTo>
                    <a:pt x="13520293" y="0"/>
                  </a:lnTo>
                  <a:lnTo>
                    <a:pt x="13520293" y="9052560"/>
                  </a:lnTo>
                  <a:lnTo>
                    <a:pt x="0" y="9052560"/>
                  </a:lnTo>
                  <a:lnTo>
                    <a:pt x="0" y="0"/>
                  </a:lnTo>
                  <a:close/>
                </a:path>
              </a:pathLst>
            </a:custGeom>
            <a:blipFill>
              <a:blip r:embed="rId2"/>
              <a:stretch>
                <a:fillRect l="0" t="0" r="0" b="0"/>
              </a:stretch>
            </a:blipFill>
          </p:spPr>
        </p:sp>
      </p:grpSp>
      <p:grpSp>
        <p:nvGrpSpPr>
          <p:cNvPr name="Group 11" id="11"/>
          <p:cNvGrpSpPr/>
          <p:nvPr/>
        </p:nvGrpSpPr>
        <p:grpSpPr>
          <a:xfrm rot="0">
            <a:off x="12131516" y="2736056"/>
            <a:ext cx="5294947" cy="5089208"/>
            <a:chOff x="0" y="0"/>
            <a:chExt cx="7059930" cy="6785610"/>
          </a:xfrm>
        </p:grpSpPr>
        <p:sp>
          <p:nvSpPr>
            <p:cNvPr name="Freeform 12" id="12"/>
            <p:cNvSpPr/>
            <p:nvPr/>
          </p:nvSpPr>
          <p:spPr>
            <a:xfrm flipH="false" flipV="false" rot="0">
              <a:off x="0" y="0"/>
              <a:ext cx="7059930" cy="6785611"/>
            </a:xfrm>
            <a:custGeom>
              <a:avLst/>
              <a:gdLst/>
              <a:ahLst/>
              <a:cxnLst/>
              <a:rect r="r" b="b" t="t" l="l"/>
              <a:pathLst>
                <a:path h="6785611" w="7059930">
                  <a:moveTo>
                    <a:pt x="0" y="1130935"/>
                  </a:moveTo>
                  <a:cubicBezTo>
                    <a:pt x="0" y="506349"/>
                    <a:pt x="506349" y="0"/>
                    <a:pt x="1130935" y="0"/>
                  </a:cubicBezTo>
                  <a:lnTo>
                    <a:pt x="5928995" y="0"/>
                  </a:lnTo>
                  <a:cubicBezTo>
                    <a:pt x="6553581" y="0"/>
                    <a:pt x="7059930" y="506349"/>
                    <a:pt x="7059930" y="1130935"/>
                  </a:cubicBezTo>
                  <a:lnTo>
                    <a:pt x="7059930" y="5654675"/>
                  </a:lnTo>
                  <a:cubicBezTo>
                    <a:pt x="7059930" y="6279261"/>
                    <a:pt x="6553581" y="6785611"/>
                    <a:pt x="5928995" y="6785611"/>
                  </a:cubicBezTo>
                  <a:lnTo>
                    <a:pt x="1130935" y="6785611"/>
                  </a:lnTo>
                  <a:cubicBezTo>
                    <a:pt x="506349" y="6785610"/>
                    <a:pt x="0" y="6279261"/>
                    <a:pt x="0" y="5654675"/>
                  </a:cubicBezTo>
                  <a:close/>
                </a:path>
              </a:pathLst>
            </a:custGeom>
            <a:solidFill>
              <a:srgbClr val="F6F8FA"/>
            </a:solidFill>
            <a:ln w="14288" cap="sq">
              <a:solidFill>
                <a:srgbClr val="E1E7ED"/>
              </a:solidFill>
              <a:prstDash val="solid"/>
              <a:miter/>
            </a:ln>
          </p:spPr>
        </p:sp>
        <p:sp>
          <p:nvSpPr>
            <p:cNvPr name="TextBox 13" id="13"/>
            <p:cNvSpPr txBox="true"/>
            <p:nvPr/>
          </p:nvSpPr>
          <p:spPr>
            <a:xfrm>
              <a:off x="0" y="0"/>
              <a:ext cx="7059930" cy="6785610"/>
            </a:xfrm>
            <a:prstGeom prst="rect">
              <a:avLst/>
            </a:prstGeom>
          </p:spPr>
          <p:txBody>
            <a:bodyPr anchor="ctr" rtlCol="false" tIns="50800" lIns="50800" bIns="50800" rIns="50800"/>
            <a:lstStyle/>
            <a:p>
              <a:pPr algn="ctr">
                <a:lnSpc>
                  <a:spcPts val="2879"/>
                </a:lnSpc>
              </a:pPr>
              <a:r>
                <a:rPr lang="en-US" sz="2400" b="true">
                  <a:solidFill>
                    <a:srgbClr val="19314F"/>
                  </a:solidFill>
                  <a:latin typeface="Aptos Bold"/>
                  <a:ea typeface="Aptos Bold"/>
                  <a:cs typeface="Aptos Bold"/>
                  <a:sym typeface="Aptos Bold"/>
                </a:rPr>
                <a:t>Nhận xét</a:t>
              </a:r>
            </a:p>
            <a:p>
              <a:pPr algn="l">
                <a:lnSpc>
                  <a:spcPts val="2340"/>
                </a:lnSpc>
              </a:pPr>
              <a:r>
                <a:rPr lang="en-US" sz="1950">
                  <a:solidFill>
                    <a:srgbClr val="555F6C"/>
                  </a:solidFill>
                  <a:latin typeface="Aptos"/>
                  <a:ea typeface="Aptos"/>
                  <a:cs typeface="Aptos"/>
                  <a:sym typeface="Aptos"/>
                </a:rPr>
                <a:t>• Tháng và thời điểm trong ngày nằm trong nhóm đặc trưng quan trọng.</a:t>
              </a:r>
            </a:p>
            <a:p>
              <a:pPr algn="l">
                <a:lnSpc>
                  <a:spcPts val="2340"/>
                </a:lnSpc>
              </a:pPr>
              <a:r>
                <a:rPr lang="en-US" sz="1950">
                  <a:solidFill>
                    <a:srgbClr val="555F6C"/>
                  </a:solidFill>
                  <a:latin typeface="Aptos"/>
                  <a:ea typeface="Aptos"/>
                  <a:cs typeface="Aptos"/>
                  <a:sym typeface="Aptos"/>
                </a:rPr>
                <a:t>• Feature importance mô tả mức độ mô hình sử dụng đặc trưng.</a:t>
              </a:r>
            </a:p>
            <a:p>
              <a:pPr algn="l">
                <a:lnSpc>
                  <a:spcPts val="2340"/>
                </a:lnSpc>
              </a:pPr>
              <a:r>
                <a:rPr lang="en-US" sz="1950">
                  <a:solidFill>
                    <a:srgbClr val="555F6C"/>
                  </a:solidFill>
                  <a:latin typeface="Aptos"/>
                  <a:ea typeface="Aptos"/>
                  <a:cs typeface="Aptos"/>
                  <a:sym typeface="Aptos"/>
                </a:rPr>
                <a:t>• Không thể suy ra các đặc trưng này gây ra trễ chuyến bay.</a:t>
              </a:r>
            </a:p>
            <a:p>
              <a:pPr algn="l">
                <a:lnSpc>
                  <a:spcPts val="2340"/>
                </a:lnSpc>
              </a:pPr>
              <a:r>
                <a:rPr lang="en-US" sz="1950">
                  <a:solidFill>
                    <a:srgbClr val="555F6C"/>
                  </a:solidFill>
                  <a:latin typeface="Aptos"/>
                  <a:ea typeface="Aptos"/>
                  <a:cs typeface="Aptos"/>
                  <a:sym typeface="Aptos"/>
                </a:rPr>
                <a:t>• Kết quả này giải thích mô hình, không thay thế đánh giá chất lượng dự đoán.</a:t>
              </a:r>
            </a:p>
          </p:txBody>
        </p:sp>
      </p:gr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23444"/>
            <a:chOff x="0" y="0"/>
            <a:chExt cx="24383390" cy="164592"/>
          </a:xfrm>
        </p:grpSpPr>
        <p:sp>
          <p:nvSpPr>
            <p:cNvPr name="Freeform 3" id="3"/>
            <p:cNvSpPr/>
            <p:nvPr/>
          </p:nvSpPr>
          <p:spPr>
            <a:xfrm flipH="false" flipV="false" rot="0">
              <a:off x="0" y="0"/>
              <a:ext cx="24383364" cy="164592"/>
            </a:xfrm>
            <a:custGeom>
              <a:avLst/>
              <a:gdLst/>
              <a:ahLst/>
              <a:cxnLst/>
              <a:rect r="r" b="b" t="t" l="l"/>
              <a:pathLst>
                <a:path h="164592" w="24383364">
                  <a:moveTo>
                    <a:pt x="0" y="0"/>
                  </a:moveTo>
                  <a:lnTo>
                    <a:pt x="24383364" y="0"/>
                  </a:lnTo>
                  <a:lnTo>
                    <a:pt x="24383364" y="164592"/>
                  </a:lnTo>
                  <a:lnTo>
                    <a:pt x="0" y="164592"/>
                  </a:lnTo>
                  <a:close/>
                </a:path>
              </a:pathLst>
            </a:custGeom>
            <a:solidFill>
              <a:srgbClr val="2D6699"/>
            </a:solidFill>
          </p:spPr>
        </p:sp>
      </p:grpSp>
      <p:sp>
        <p:nvSpPr>
          <p:cNvPr name="TextBox 4" id="4"/>
          <p:cNvSpPr txBox="true"/>
          <p:nvPr/>
        </p:nvSpPr>
        <p:spPr>
          <a:xfrm rot="0">
            <a:off x="790956" y="402336"/>
            <a:ext cx="16660368" cy="347472"/>
          </a:xfrm>
          <a:prstGeom prst="rect">
            <a:avLst/>
          </a:prstGeom>
        </p:spPr>
        <p:txBody>
          <a:bodyPr anchor="t" rtlCol="false" tIns="0" lIns="0" bIns="0" rIns="0">
            <a:spAutoFit/>
          </a:bodyPr>
          <a:lstStyle/>
          <a:p>
            <a:pPr algn="l">
              <a:lnSpc>
                <a:spcPts val="1800"/>
              </a:lnSpc>
            </a:pPr>
            <a:r>
              <a:rPr lang="en-US" sz="1500" b="true">
                <a:solidFill>
                  <a:srgbClr val="2D6699"/>
                </a:solidFill>
                <a:latin typeface="Aptos Bold"/>
                <a:ea typeface="Aptos Bold"/>
                <a:cs typeface="Aptos Bold"/>
                <a:sym typeface="Aptos Bold"/>
              </a:rPr>
              <a:t>PHẦN II</a:t>
            </a:r>
          </a:p>
        </p:txBody>
      </p:sp>
      <p:sp>
        <p:nvSpPr>
          <p:cNvPr name="TextBox 5" id="5"/>
          <p:cNvSpPr txBox="true"/>
          <p:nvPr/>
        </p:nvSpPr>
        <p:spPr>
          <a:xfrm rot="0">
            <a:off x="790956" y="868680"/>
            <a:ext cx="16660368" cy="758952"/>
          </a:xfrm>
          <a:prstGeom prst="rect">
            <a:avLst/>
          </a:prstGeom>
        </p:spPr>
        <p:txBody>
          <a:bodyPr anchor="t" rtlCol="false" tIns="0" lIns="0" bIns="0" rIns="0">
            <a:spAutoFit/>
          </a:bodyPr>
          <a:lstStyle/>
          <a:p>
            <a:pPr algn="l">
              <a:lnSpc>
                <a:spcPts val="4680"/>
              </a:lnSpc>
            </a:pPr>
            <a:r>
              <a:rPr lang="en-US" sz="3900" b="true">
                <a:solidFill>
                  <a:srgbClr val="19314F"/>
                </a:solidFill>
                <a:latin typeface="Aptos Bold"/>
                <a:ea typeface="Aptos Bold"/>
                <a:cs typeface="Aptos Bold"/>
                <a:sym typeface="Aptos Bold"/>
              </a:rPr>
              <a:t>PHẦN II — THỰC NGHIỆM PHÂN TÁN VỚI SPARK</a:t>
            </a:r>
          </a:p>
        </p:txBody>
      </p:sp>
      <p:sp>
        <p:nvSpPr>
          <p:cNvPr name="TextBox 6" id="6"/>
          <p:cNvSpPr txBox="true"/>
          <p:nvPr/>
        </p:nvSpPr>
        <p:spPr>
          <a:xfrm rot="0">
            <a:off x="832104" y="1705356"/>
            <a:ext cx="16523208" cy="717804"/>
          </a:xfrm>
          <a:prstGeom prst="rect">
            <a:avLst/>
          </a:prstGeom>
        </p:spPr>
        <p:txBody>
          <a:bodyPr anchor="t" rtlCol="false" tIns="0" lIns="0" bIns="0" rIns="0">
            <a:spAutoFit/>
          </a:bodyPr>
          <a:lstStyle/>
          <a:p>
            <a:pPr algn="l">
              <a:lnSpc>
                <a:spcPts val="2340"/>
              </a:lnSpc>
            </a:pPr>
            <a:r>
              <a:rPr lang="en-US" sz="1950">
                <a:solidFill>
                  <a:srgbClr val="555F6C"/>
                </a:solidFill>
                <a:latin typeface="Aptos"/>
                <a:ea typeface="Aptos"/>
                <a:cs typeface="Aptos"/>
                <a:sym typeface="Aptos"/>
              </a:rPr>
              <a:t>Phần này chỉ trình bày kết quả đã được ghi nhận cho các mô hình Spark MLlib.</a:t>
            </a:r>
          </a:p>
        </p:txBody>
      </p:sp>
      <p:sp>
        <p:nvSpPr>
          <p:cNvPr name="TextBox 7" id="7"/>
          <p:cNvSpPr txBox="true"/>
          <p:nvPr/>
        </p:nvSpPr>
        <p:spPr>
          <a:xfrm rot="0">
            <a:off x="790956" y="9788271"/>
            <a:ext cx="16111728" cy="219837"/>
          </a:xfrm>
          <a:prstGeom prst="rect">
            <a:avLst/>
          </a:prstGeom>
        </p:spPr>
        <p:txBody>
          <a:bodyPr anchor="t" rtlCol="false" tIns="0" lIns="0" bIns="0" rIns="0">
            <a:spAutoFit/>
          </a:bodyPr>
          <a:lstStyle/>
          <a:p>
            <a:pPr algn="l">
              <a:lnSpc>
                <a:spcPts val="1620"/>
              </a:lnSpc>
            </a:pPr>
            <a:r>
              <a:rPr lang="en-US" sz="1350">
                <a:solidFill>
                  <a:srgbClr val="555F6C"/>
                </a:solidFill>
                <a:latin typeface="Aptos"/>
                <a:ea typeface="Aptos"/>
                <a:cs typeface="Aptos"/>
                <a:sym typeface="Aptos"/>
              </a:rPr>
              <a:t>Đồ án Big Data • Nhóm 6</a:t>
            </a:r>
          </a:p>
        </p:txBody>
      </p:sp>
      <p:sp>
        <p:nvSpPr>
          <p:cNvPr name="TextBox 8" id="8"/>
          <p:cNvSpPr txBox="true"/>
          <p:nvPr/>
        </p:nvSpPr>
        <p:spPr>
          <a:xfrm rot="0">
            <a:off x="16770096" y="9747123"/>
            <a:ext cx="681228" cy="247269"/>
          </a:xfrm>
          <a:prstGeom prst="rect">
            <a:avLst/>
          </a:prstGeom>
        </p:spPr>
        <p:txBody>
          <a:bodyPr anchor="t" rtlCol="false" tIns="0" lIns="0" bIns="0" rIns="0">
            <a:spAutoFit/>
          </a:bodyPr>
          <a:lstStyle/>
          <a:p>
            <a:pPr algn="r">
              <a:lnSpc>
                <a:spcPts val="1620"/>
              </a:lnSpc>
            </a:pPr>
            <a:r>
              <a:rPr lang="en-US" sz="1350">
                <a:solidFill>
                  <a:srgbClr val="555F6C"/>
                </a:solidFill>
                <a:latin typeface="Aptos"/>
                <a:ea typeface="Aptos"/>
                <a:cs typeface="Aptos"/>
                <a:sym typeface="Aptos"/>
              </a:rPr>
              <a:t>7</a:t>
            </a:r>
          </a:p>
        </p:txBody>
      </p:sp>
      <p:sp>
        <p:nvSpPr>
          <p:cNvPr name="TextBox 9" id="9"/>
          <p:cNvSpPr txBox="true"/>
          <p:nvPr/>
        </p:nvSpPr>
        <p:spPr>
          <a:xfrm rot="0">
            <a:off x="1408176" y="2967228"/>
            <a:ext cx="15288768" cy="1060704"/>
          </a:xfrm>
          <a:prstGeom prst="rect">
            <a:avLst/>
          </a:prstGeom>
        </p:spPr>
        <p:txBody>
          <a:bodyPr anchor="t" rtlCol="false" tIns="0" lIns="0" bIns="0" rIns="0">
            <a:spAutoFit/>
          </a:bodyPr>
          <a:lstStyle/>
          <a:p>
            <a:pPr algn="ctr">
              <a:lnSpc>
                <a:spcPts val="3779"/>
              </a:lnSpc>
            </a:pPr>
            <a:r>
              <a:rPr lang="en-US" sz="3150" b="true">
                <a:solidFill>
                  <a:srgbClr val="19314F"/>
                </a:solidFill>
                <a:latin typeface="Aptos Bold"/>
                <a:ea typeface="Aptos Bold"/>
                <a:cs typeface="Aptos Bold"/>
                <a:sym typeface="Aptos Bold"/>
              </a:rPr>
              <a:t>Driver điều phối tác vụ; các Executor xử lý dữ liệu được phân vùng trên cụm.</a:t>
            </a:r>
          </a:p>
        </p:txBody>
      </p:sp>
      <p:sp>
        <p:nvSpPr>
          <p:cNvPr name="TextBox 10" id="10"/>
          <p:cNvSpPr txBox="true"/>
          <p:nvPr/>
        </p:nvSpPr>
        <p:spPr>
          <a:xfrm rot="0">
            <a:off x="1819656" y="4887468"/>
            <a:ext cx="14602968" cy="1677924"/>
          </a:xfrm>
          <a:prstGeom prst="rect">
            <a:avLst/>
          </a:prstGeom>
        </p:spPr>
        <p:txBody>
          <a:bodyPr anchor="t" rtlCol="false" tIns="0" lIns="0" bIns="0" rIns="0">
            <a:spAutoFit/>
          </a:bodyPr>
          <a:lstStyle/>
          <a:p>
            <a:pPr algn="ctr">
              <a:lnSpc>
                <a:spcPts val="3240"/>
              </a:lnSpc>
            </a:pPr>
            <a:r>
              <a:rPr lang="en-US" sz="2700">
                <a:solidFill>
                  <a:srgbClr val="555F6C"/>
                </a:solidFill>
                <a:latin typeface="Aptos"/>
                <a:ea typeface="Aptos"/>
                <a:cs typeface="Aptos"/>
                <a:sym typeface="Aptos"/>
              </a:rPr>
              <a:t>Ba mô hình có kết quả thực đo:</a:t>
            </a:r>
          </a:p>
          <a:p>
            <a:pPr algn="ctr">
              <a:lnSpc>
                <a:spcPts val="3240"/>
              </a:lnSpc>
            </a:pPr>
            <a:r>
              <a:rPr lang="en-US" sz="2700">
                <a:solidFill>
                  <a:srgbClr val="555F6C"/>
                </a:solidFill>
                <a:latin typeface="Aptos"/>
                <a:ea typeface="Aptos"/>
                <a:cs typeface="Aptos"/>
                <a:sym typeface="Aptos"/>
              </a:rPr>
              <a:t>Logistic Regression • Decision Tree • Random Forest</a:t>
            </a:r>
          </a:p>
        </p:txBody>
      </p:sp>
      <p:sp>
        <p:nvSpPr>
          <p:cNvPr name="TextBox 11" id="11"/>
          <p:cNvSpPr txBox="true"/>
          <p:nvPr/>
        </p:nvSpPr>
        <p:spPr>
          <a:xfrm rot="0">
            <a:off x="1408176" y="7493508"/>
            <a:ext cx="15288768" cy="717804"/>
          </a:xfrm>
          <a:prstGeom prst="rect">
            <a:avLst/>
          </a:prstGeom>
        </p:spPr>
        <p:txBody>
          <a:bodyPr anchor="t" rtlCol="false" tIns="0" lIns="0" bIns="0" rIns="0">
            <a:spAutoFit/>
          </a:bodyPr>
          <a:lstStyle/>
          <a:p>
            <a:pPr algn="ctr">
              <a:lnSpc>
                <a:spcPts val="2340"/>
              </a:lnSpc>
            </a:pPr>
            <a:r>
              <a:rPr lang="en-US" sz="1950" b="true">
                <a:solidFill>
                  <a:srgbClr val="A04141"/>
                </a:solidFill>
                <a:latin typeface="Aptos Bold"/>
                <a:ea typeface="Aptos Bold"/>
                <a:cs typeface="Aptos Bold"/>
                <a:sym typeface="Aptos Bold"/>
              </a:rPr>
              <a:t>Không trình bày boosting Spark như kết quả đã xác nhận vì chưa có số đo hợp lệ.</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Spark phân tán: cụm 3 laptop và kết quả ETL</a:t>
            </a:r>
          </a:p>
        </p:txBody>
      </p:sp>
      <p:sp>
        <p:nvSpPr>
          <p:cNvPr name="TextBox 5" id="5"/>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09</a:t>
            </a:r>
          </a:p>
        </p:txBody>
      </p:sp>
      <p:sp>
        <p:nvSpPr>
          <p:cNvPr name="TextBox 6" id="6"/>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7" id="7"/>
          <p:cNvGrpSpPr/>
          <p:nvPr/>
        </p:nvGrpSpPr>
        <p:grpSpPr>
          <a:xfrm rot="0">
            <a:off x="2012604" y="1503369"/>
            <a:ext cx="13750728" cy="7732538"/>
            <a:chOff x="0" y="0"/>
            <a:chExt cx="18334304" cy="10310050"/>
          </a:xfrm>
        </p:grpSpPr>
        <p:sp>
          <p:nvSpPr>
            <p:cNvPr name="Freeform 8" id="8"/>
            <p:cNvSpPr/>
            <p:nvPr/>
          </p:nvSpPr>
          <p:spPr>
            <a:xfrm flipH="false" flipV="false" rot="0">
              <a:off x="0" y="0"/>
              <a:ext cx="18334355" cy="10310114"/>
            </a:xfrm>
            <a:custGeom>
              <a:avLst/>
              <a:gdLst/>
              <a:ahLst/>
              <a:cxnLst/>
              <a:rect r="r" b="b" t="t" l="l"/>
              <a:pathLst>
                <a:path h="10310114" w="18334355">
                  <a:moveTo>
                    <a:pt x="0" y="0"/>
                  </a:moveTo>
                  <a:lnTo>
                    <a:pt x="18334355" y="0"/>
                  </a:lnTo>
                  <a:lnTo>
                    <a:pt x="18334355" y="10310114"/>
                  </a:lnTo>
                  <a:lnTo>
                    <a:pt x="0" y="10310114"/>
                  </a:lnTo>
                  <a:lnTo>
                    <a:pt x="0" y="0"/>
                  </a:lnTo>
                  <a:close/>
                </a:path>
              </a:pathLst>
            </a:custGeom>
            <a:blipFill>
              <a:blip r:embed="rId2"/>
              <a:stretch>
                <a:fillRect l="0" t="0" r="0" b="0"/>
              </a:stretch>
            </a:blip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grpSp>
        <p:nvGrpSpPr>
          <p:cNvPr name="Group 4" id="4"/>
          <p:cNvGrpSpPr/>
          <p:nvPr/>
        </p:nvGrpSpPr>
        <p:grpSpPr>
          <a:xfrm rot="0">
            <a:off x="205334" y="1710309"/>
            <a:ext cx="10458626" cy="7764780"/>
            <a:chOff x="0" y="0"/>
            <a:chExt cx="13944834" cy="10353040"/>
          </a:xfrm>
        </p:grpSpPr>
        <p:sp>
          <p:nvSpPr>
            <p:cNvPr name="Freeform 5" id="5"/>
            <p:cNvSpPr/>
            <p:nvPr/>
          </p:nvSpPr>
          <p:spPr>
            <a:xfrm flipH="false" flipV="false" rot="0">
              <a:off x="0" y="0"/>
              <a:ext cx="13944834" cy="10353040"/>
            </a:xfrm>
            <a:custGeom>
              <a:avLst/>
              <a:gdLst/>
              <a:ahLst/>
              <a:cxnLst/>
              <a:rect r="r" b="b" t="t" l="l"/>
              <a:pathLst>
                <a:path h="10353040" w="13944834">
                  <a:moveTo>
                    <a:pt x="0" y="1725549"/>
                  </a:moveTo>
                  <a:cubicBezTo>
                    <a:pt x="0" y="772541"/>
                    <a:pt x="971889" y="0"/>
                    <a:pt x="2170812" y="0"/>
                  </a:cubicBezTo>
                  <a:lnTo>
                    <a:pt x="11774022" y="0"/>
                  </a:lnTo>
                  <a:cubicBezTo>
                    <a:pt x="12972945" y="0"/>
                    <a:pt x="13944834" y="772541"/>
                    <a:pt x="13944834" y="1725549"/>
                  </a:cubicBezTo>
                  <a:lnTo>
                    <a:pt x="13944834" y="8627491"/>
                  </a:lnTo>
                  <a:cubicBezTo>
                    <a:pt x="13944834" y="9580499"/>
                    <a:pt x="12972945" y="10353040"/>
                    <a:pt x="11774022" y="10353040"/>
                  </a:cubicBezTo>
                  <a:lnTo>
                    <a:pt x="2170812" y="10353040"/>
                  </a:lnTo>
                  <a:cubicBezTo>
                    <a:pt x="971889" y="10353040"/>
                    <a:pt x="0" y="9580499"/>
                    <a:pt x="0" y="8627491"/>
                  </a:cubicBezTo>
                  <a:close/>
                </a:path>
              </a:pathLst>
            </a:custGeom>
            <a:blipFill>
              <a:blip r:embed="rId2"/>
              <a:stretch>
                <a:fillRect l="0" t="-89" r="0" b="-89"/>
              </a:stretch>
            </a:blipFill>
            <a:ln w="15240" cap="sq">
              <a:solidFill>
                <a:srgbClr val="DAE4EF"/>
              </a:solidFill>
              <a:prstDash val="solid"/>
              <a:miter/>
            </a:ln>
          </p:spPr>
        </p:sp>
      </p:grpSp>
      <p:grpSp>
        <p:nvGrpSpPr>
          <p:cNvPr name="Group 6" id="6"/>
          <p:cNvGrpSpPr/>
          <p:nvPr/>
        </p:nvGrpSpPr>
        <p:grpSpPr>
          <a:xfrm rot="0">
            <a:off x="11484761" y="1775460"/>
            <a:ext cx="6212689" cy="7764780"/>
            <a:chOff x="0" y="0"/>
            <a:chExt cx="8283585" cy="10353040"/>
          </a:xfrm>
        </p:grpSpPr>
        <p:sp>
          <p:nvSpPr>
            <p:cNvPr name="Freeform 7" id="7"/>
            <p:cNvSpPr/>
            <p:nvPr/>
          </p:nvSpPr>
          <p:spPr>
            <a:xfrm flipH="false" flipV="false" rot="0">
              <a:off x="0" y="0"/>
              <a:ext cx="8283585" cy="10353040"/>
            </a:xfrm>
            <a:custGeom>
              <a:avLst/>
              <a:gdLst/>
              <a:ahLst/>
              <a:cxnLst/>
              <a:rect r="r" b="b" t="t" l="l"/>
              <a:pathLst>
                <a:path h="10353040" w="8283585">
                  <a:moveTo>
                    <a:pt x="0" y="1725549"/>
                  </a:moveTo>
                  <a:cubicBezTo>
                    <a:pt x="0" y="772541"/>
                    <a:pt x="577326" y="0"/>
                    <a:pt x="1289517" y="0"/>
                  </a:cubicBezTo>
                  <a:lnTo>
                    <a:pt x="6994068" y="0"/>
                  </a:lnTo>
                  <a:cubicBezTo>
                    <a:pt x="7706259" y="0"/>
                    <a:pt x="8283585" y="772541"/>
                    <a:pt x="8283585" y="1725549"/>
                  </a:cubicBezTo>
                  <a:lnTo>
                    <a:pt x="8283585" y="8627491"/>
                  </a:lnTo>
                  <a:cubicBezTo>
                    <a:pt x="8283585" y="9580499"/>
                    <a:pt x="7706259" y="10353040"/>
                    <a:pt x="6994068" y="10353040"/>
                  </a:cubicBezTo>
                  <a:lnTo>
                    <a:pt x="1289517" y="10353040"/>
                  </a:lnTo>
                  <a:cubicBezTo>
                    <a:pt x="577326" y="10353040"/>
                    <a:pt x="0" y="9580499"/>
                    <a:pt x="0" y="8627491"/>
                  </a:cubicBezTo>
                  <a:close/>
                </a:path>
              </a:pathLst>
            </a:custGeom>
            <a:solidFill>
              <a:srgbClr val="FFFFFF"/>
            </a:solidFill>
            <a:ln w="15240" cap="sq">
              <a:solidFill>
                <a:srgbClr val="DAE4EF"/>
              </a:solidFill>
              <a:prstDash val="solid"/>
              <a:miter/>
            </a:ln>
          </p:spPr>
        </p:sp>
      </p:grpSp>
      <p:grpSp>
        <p:nvGrpSpPr>
          <p:cNvPr name="Group 8" id="8"/>
          <p:cNvGrpSpPr/>
          <p:nvPr/>
        </p:nvGrpSpPr>
        <p:grpSpPr>
          <a:xfrm rot="0">
            <a:off x="11550374" y="3855339"/>
            <a:ext cx="5497528" cy="1112520"/>
            <a:chOff x="0" y="0"/>
            <a:chExt cx="7330038" cy="1483360"/>
          </a:xfrm>
        </p:grpSpPr>
        <p:sp>
          <p:nvSpPr>
            <p:cNvPr name="Freeform 9" id="9"/>
            <p:cNvSpPr/>
            <p:nvPr/>
          </p:nvSpPr>
          <p:spPr>
            <a:xfrm flipH="false" flipV="false" rot="0">
              <a:off x="0" y="0"/>
              <a:ext cx="7330038" cy="1483360"/>
            </a:xfrm>
            <a:custGeom>
              <a:avLst/>
              <a:gdLst/>
              <a:ahLst/>
              <a:cxnLst/>
              <a:rect r="r" b="b" t="t" l="l"/>
              <a:pathLst>
                <a:path h="1483360" w="7330038">
                  <a:moveTo>
                    <a:pt x="0" y="247269"/>
                  </a:moveTo>
                  <a:cubicBezTo>
                    <a:pt x="0" y="110744"/>
                    <a:pt x="81279" y="0"/>
                    <a:pt x="181480" y="0"/>
                  </a:cubicBezTo>
                  <a:lnTo>
                    <a:pt x="7148557" y="0"/>
                  </a:lnTo>
                  <a:cubicBezTo>
                    <a:pt x="7248758" y="0"/>
                    <a:pt x="7330038" y="110744"/>
                    <a:pt x="7330038" y="247269"/>
                  </a:cubicBezTo>
                  <a:lnTo>
                    <a:pt x="7330038" y="1236091"/>
                  </a:lnTo>
                  <a:cubicBezTo>
                    <a:pt x="7330038" y="1372616"/>
                    <a:pt x="7248758" y="1483360"/>
                    <a:pt x="7148557" y="1483360"/>
                  </a:cubicBezTo>
                  <a:lnTo>
                    <a:pt x="181480" y="1483360"/>
                  </a:lnTo>
                  <a:cubicBezTo>
                    <a:pt x="81279" y="1483360"/>
                    <a:pt x="0" y="1372616"/>
                    <a:pt x="0" y="1236091"/>
                  </a:cubicBezTo>
                  <a:close/>
                </a:path>
              </a:pathLst>
            </a:custGeom>
            <a:solidFill>
              <a:srgbClr val="E6F1FC"/>
            </a:solidFill>
            <a:ln w="15240" cap="sq">
              <a:solidFill>
                <a:srgbClr val="E6F1FC"/>
              </a:solidFill>
              <a:prstDash val="solid"/>
              <a:miter/>
            </a:ln>
          </p:spPr>
        </p:sp>
      </p:grpSp>
      <p:grpSp>
        <p:nvGrpSpPr>
          <p:cNvPr name="Group 10" id="10"/>
          <p:cNvGrpSpPr/>
          <p:nvPr/>
        </p:nvGrpSpPr>
        <p:grpSpPr>
          <a:xfrm rot="0">
            <a:off x="11550374" y="5226939"/>
            <a:ext cx="5497528" cy="1112520"/>
            <a:chOff x="0" y="0"/>
            <a:chExt cx="7330038" cy="1483360"/>
          </a:xfrm>
        </p:grpSpPr>
        <p:sp>
          <p:nvSpPr>
            <p:cNvPr name="Freeform 11" id="11"/>
            <p:cNvSpPr/>
            <p:nvPr/>
          </p:nvSpPr>
          <p:spPr>
            <a:xfrm flipH="false" flipV="false" rot="0">
              <a:off x="0" y="0"/>
              <a:ext cx="7330038" cy="1483360"/>
            </a:xfrm>
            <a:custGeom>
              <a:avLst/>
              <a:gdLst/>
              <a:ahLst/>
              <a:cxnLst/>
              <a:rect r="r" b="b" t="t" l="l"/>
              <a:pathLst>
                <a:path h="1483360" w="7330038">
                  <a:moveTo>
                    <a:pt x="0" y="247269"/>
                  </a:moveTo>
                  <a:cubicBezTo>
                    <a:pt x="0" y="110744"/>
                    <a:pt x="81279" y="0"/>
                    <a:pt x="181480" y="0"/>
                  </a:cubicBezTo>
                  <a:lnTo>
                    <a:pt x="7148557" y="0"/>
                  </a:lnTo>
                  <a:cubicBezTo>
                    <a:pt x="7248758" y="0"/>
                    <a:pt x="7330038" y="110744"/>
                    <a:pt x="7330038" y="247269"/>
                  </a:cubicBezTo>
                  <a:lnTo>
                    <a:pt x="7330038" y="1236091"/>
                  </a:lnTo>
                  <a:cubicBezTo>
                    <a:pt x="7330038" y="1372616"/>
                    <a:pt x="7248758" y="1483360"/>
                    <a:pt x="7148557" y="1483360"/>
                  </a:cubicBezTo>
                  <a:lnTo>
                    <a:pt x="181480" y="1483360"/>
                  </a:lnTo>
                  <a:cubicBezTo>
                    <a:pt x="81279" y="1483360"/>
                    <a:pt x="0" y="1372616"/>
                    <a:pt x="0" y="1236091"/>
                  </a:cubicBezTo>
                  <a:close/>
                </a:path>
              </a:pathLst>
            </a:custGeom>
            <a:solidFill>
              <a:srgbClr val="E6F5ED"/>
            </a:solidFill>
            <a:ln w="15240" cap="sq">
              <a:solidFill>
                <a:srgbClr val="E6F5ED"/>
              </a:solidFill>
              <a:prstDash val="solid"/>
              <a:miter/>
            </a:ln>
          </p:spPr>
        </p:sp>
      </p:grpSp>
      <p:grpSp>
        <p:nvGrpSpPr>
          <p:cNvPr name="Group 12" id="12"/>
          <p:cNvGrpSpPr/>
          <p:nvPr/>
        </p:nvGrpSpPr>
        <p:grpSpPr>
          <a:xfrm rot="0">
            <a:off x="11530241" y="6824853"/>
            <a:ext cx="5497528" cy="1112520"/>
            <a:chOff x="0" y="0"/>
            <a:chExt cx="7330038" cy="1483360"/>
          </a:xfrm>
        </p:grpSpPr>
        <p:sp>
          <p:nvSpPr>
            <p:cNvPr name="Freeform 13" id="13"/>
            <p:cNvSpPr/>
            <p:nvPr/>
          </p:nvSpPr>
          <p:spPr>
            <a:xfrm flipH="false" flipV="false" rot="0">
              <a:off x="0" y="0"/>
              <a:ext cx="7330038" cy="1483360"/>
            </a:xfrm>
            <a:custGeom>
              <a:avLst/>
              <a:gdLst/>
              <a:ahLst/>
              <a:cxnLst/>
              <a:rect r="r" b="b" t="t" l="l"/>
              <a:pathLst>
                <a:path h="1483360" w="7330038">
                  <a:moveTo>
                    <a:pt x="0" y="247269"/>
                  </a:moveTo>
                  <a:cubicBezTo>
                    <a:pt x="0" y="110744"/>
                    <a:pt x="81279" y="0"/>
                    <a:pt x="181480" y="0"/>
                  </a:cubicBezTo>
                  <a:lnTo>
                    <a:pt x="7148557" y="0"/>
                  </a:lnTo>
                  <a:cubicBezTo>
                    <a:pt x="7248758" y="0"/>
                    <a:pt x="7330038" y="110744"/>
                    <a:pt x="7330038" y="247269"/>
                  </a:cubicBezTo>
                  <a:lnTo>
                    <a:pt x="7330038" y="1236091"/>
                  </a:lnTo>
                  <a:cubicBezTo>
                    <a:pt x="7330038" y="1372616"/>
                    <a:pt x="7248758" y="1483360"/>
                    <a:pt x="7148557" y="1483360"/>
                  </a:cubicBezTo>
                  <a:lnTo>
                    <a:pt x="181480" y="1483360"/>
                  </a:lnTo>
                  <a:cubicBezTo>
                    <a:pt x="81279" y="1483360"/>
                    <a:pt x="0" y="1372616"/>
                    <a:pt x="0" y="1236091"/>
                  </a:cubicBezTo>
                  <a:close/>
                </a:path>
              </a:pathLst>
            </a:custGeom>
            <a:solidFill>
              <a:srgbClr val="E6F1FC"/>
            </a:solidFill>
            <a:ln w="15240" cap="sq">
              <a:solidFill>
                <a:srgbClr val="E6F1FC"/>
              </a:solidFill>
              <a:prstDash val="solid"/>
              <a:miter/>
            </a:ln>
          </p:spPr>
        </p:sp>
      </p:grpSp>
      <p:sp>
        <p:nvSpPr>
          <p:cNvPr name="TextBox 14" id="1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Spark phân tán: cụm 3 laptop và kết quả ETL</a:t>
            </a:r>
          </a:p>
        </p:txBody>
      </p:sp>
      <p:sp>
        <p:nvSpPr>
          <p:cNvPr name="TextBox 15" id="15"/>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09</a:t>
            </a:r>
          </a:p>
        </p:txBody>
      </p:sp>
      <p:sp>
        <p:nvSpPr>
          <p:cNvPr name="TextBox 16" id="16"/>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sp>
        <p:nvSpPr>
          <p:cNvPr name="TextBox 17" id="17"/>
          <p:cNvSpPr txBox="true"/>
          <p:nvPr/>
        </p:nvSpPr>
        <p:spPr>
          <a:xfrm rot="0">
            <a:off x="11809312" y="3378327"/>
            <a:ext cx="5754788" cy="295275"/>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Kết quả ETL và Parquet</a:t>
            </a:r>
          </a:p>
        </p:txBody>
      </p:sp>
      <p:sp>
        <p:nvSpPr>
          <p:cNvPr name="TextBox 18" id="18"/>
          <p:cNvSpPr txBox="true"/>
          <p:nvPr/>
        </p:nvSpPr>
        <p:spPr>
          <a:xfrm rot="0">
            <a:off x="11703612" y="3954399"/>
            <a:ext cx="5191054" cy="26670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Dữ liệu đầu vào</a:t>
            </a:r>
          </a:p>
        </p:txBody>
      </p:sp>
      <p:sp>
        <p:nvSpPr>
          <p:cNvPr name="TextBox 19" id="19"/>
          <p:cNvSpPr txBox="true"/>
          <p:nvPr/>
        </p:nvSpPr>
        <p:spPr>
          <a:xfrm rot="0">
            <a:off x="11703612" y="4311015"/>
            <a:ext cx="5191054" cy="247650"/>
          </a:xfrm>
          <a:prstGeom prst="rect">
            <a:avLst/>
          </a:prstGeom>
        </p:spPr>
        <p:txBody>
          <a:bodyPr anchor="t" rtlCol="false" tIns="0" lIns="0" bIns="0" rIns="0">
            <a:spAutoFit/>
          </a:bodyPr>
          <a:lstStyle/>
          <a:p>
            <a:pPr algn="l">
              <a:lnSpc>
                <a:spcPts val="1980"/>
              </a:lnSpc>
            </a:pPr>
            <a:r>
              <a:rPr lang="en-US" sz="1650">
                <a:solidFill>
                  <a:srgbClr val="233141"/>
                </a:solidFill>
                <a:latin typeface="Aptos"/>
                <a:ea typeface="Aptos"/>
                <a:cs typeface="Aptos"/>
                <a:sym typeface="Aptos"/>
              </a:rPr>
              <a:t>7.079.081 dòng CSV • 1.248,37 MB</a:t>
            </a:r>
          </a:p>
        </p:txBody>
      </p:sp>
      <p:sp>
        <p:nvSpPr>
          <p:cNvPr name="TextBox 20" id="20"/>
          <p:cNvSpPr txBox="true"/>
          <p:nvPr/>
        </p:nvSpPr>
        <p:spPr>
          <a:xfrm rot="0">
            <a:off x="11703612" y="5325999"/>
            <a:ext cx="5191054" cy="266700"/>
          </a:xfrm>
          <a:prstGeom prst="rect">
            <a:avLst/>
          </a:prstGeom>
        </p:spPr>
        <p:txBody>
          <a:bodyPr anchor="t" rtlCol="false" tIns="0" lIns="0" bIns="0" rIns="0">
            <a:spAutoFit/>
          </a:bodyPr>
          <a:lstStyle/>
          <a:p>
            <a:pPr algn="l">
              <a:lnSpc>
                <a:spcPts val="2160"/>
              </a:lnSpc>
            </a:pPr>
            <a:r>
              <a:rPr lang="en-US" sz="1800" b="true">
                <a:solidFill>
                  <a:srgbClr val="238765"/>
                </a:solidFill>
                <a:latin typeface="Aptos Bold"/>
                <a:ea typeface="Aptos Bold"/>
                <a:cs typeface="Aptos Bold"/>
                <a:sym typeface="Aptos Bold"/>
              </a:rPr>
              <a:t>Dữ liệu đầu ra</a:t>
            </a:r>
          </a:p>
        </p:txBody>
      </p:sp>
      <p:sp>
        <p:nvSpPr>
          <p:cNvPr name="TextBox 21" id="21"/>
          <p:cNvSpPr txBox="true"/>
          <p:nvPr/>
        </p:nvSpPr>
        <p:spPr>
          <a:xfrm rot="0">
            <a:off x="11703612" y="5682615"/>
            <a:ext cx="5191054" cy="247650"/>
          </a:xfrm>
          <a:prstGeom prst="rect">
            <a:avLst/>
          </a:prstGeom>
        </p:spPr>
        <p:txBody>
          <a:bodyPr anchor="t" rtlCol="false" tIns="0" lIns="0" bIns="0" rIns="0">
            <a:spAutoFit/>
          </a:bodyPr>
          <a:lstStyle/>
          <a:p>
            <a:pPr algn="l">
              <a:lnSpc>
                <a:spcPts val="1980"/>
              </a:lnSpc>
            </a:pPr>
            <a:r>
              <a:rPr lang="en-US" sz="1650">
                <a:solidFill>
                  <a:srgbClr val="233141"/>
                </a:solidFill>
                <a:latin typeface="Aptos"/>
                <a:ea typeface="Aptos"/>
                <a:cs typeface="Aptos"/>
                <a:sym typeface="Aptos"/>
              </a:rPr>
              <a:t>6.965.267 dòng Parquet • 140,57 MB</a:t>
            </a:r>
          </a:p>
        </p:txBody>
      </p:sp>
      <p:sp>
        <p:nvSpPr>
          <p:cNvPr name="TextBox 22" id="22"/>
          <p:cNvSpPr txBox="true"/>
          <p:nvPr/>
        </p:nvSpPr>
        <p:spPr>
          <a:xfrm rot="0">
            <a:off x="11683478" y="6923913"/>
            <a:ext cx="5191054" cy="26670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Thời gian tiền xử lý</a:t>
            </a:r>
          </a:p>
        </p:txBody>
      </p:sp>
      <p:sp>
        <p:nvSpPr>
          <p:cNvPr name="TextBox 23" id="23"/>
          <p:cNvSpPr txBox="true"/>
          <p:nvPr/>
        </p:nvSpPr>
        <p:spPr>
          <a:xfrm rot="0">
            <a:off x="11683478" y="7280529"/>
            <a:ext cx="5191054" cy="238125"/>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Giảm từ 65,42s còn 28,12s</a:t>
            </a: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Spark MLlib: kết quả ba mô hình phân tán</a:t>
            </a:r>
          </a:p>
        </p:txBody>
      </p:sp>
      <p:sp>
        <p:nvSpPr>
          <p:cNvPr name="TextBox 5" id="5"/>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6" id="6"/>
          <p:cNvGrpSpPr/>
          <p:nvPr/>
        </p:nvGrpSpPr>
        <p:grpSpPr>
          <a:xfrm rot="0">
            <a:off x="746760" y="1775460"/>
            <a:ext cx="16817340" cy="7764780"/>
            <a:chOff x="0" y="0"/>
            <a:chExt cx="22423120" cy="10353040"/>
          </a:xfrm>
        </p:grpSpPr>
        <p:sp>
          <p:nvSpPr>
            <p:cNvPr name="Freeform 7" id="7"/>
            <p:cNvSpPr/>
            <p:nvPr/>
          </p:nvSpPr>
          <p:spPr>
            <a:xfrm flipH="false" flipV="false" rot="0">
              <a:off x="0" y="0"/>
              <a:ext cx="22423120" cy="10353040"/>
            </a:xfrm>
            <a:custGeom>
              <a:avLst/>
              <a:gdLst/>
              <a:ahLst/>
              <a:cxnLst/>
              <a:rect r="r" b="b" t="t" l="l"/>
              <a:pathLst>
                <a:path h="10353040" w="22423120">
                  <a:moveTo>
                    <a:pt x="0" y="1725549"/>
                  </a:moveTo>
                  <a:cubicBezTo>
                    <a:pt x="0" y="772541"/>
                    <a:pt x="772541" y="0"/>
                    <a:pt x="1725549" y="0"/>
                  </a:cubicBezTo>
                  <a:lnTo>
                    <a:pt x="20697571" y="0"/>
                  </a:lnTo>
                  <a:cubicBezTo>
                    <a:pt x="21650579" y="0"/>
                    <a:pt x="22423120" y="772541"/>
                    <a:pt x="22423120" y="1725549"/>
                  </a:cubicBezTo>
                  <a:lnTo>
                    <a:pt x="22423120" y="8627491"/>
                  </a:lnTo>
                  <a:cubicBezTo>
                    <a:pt x="22423120" y="9580499"/>
                    <a:pt x="21650579" y="10353040"/>
                    <a:pt x="20697571" y="10353040"/>
                  </a:cubicBezTo>
                  <a:lnTo>
                    <a:pt x="1725549" y="10353040"/>
                  </a:lnTo>
                  <a:cubicBezTo>
                    <a:pt x="772541" y="10353040"/>
                    <a:pt x="0" y="9580499"/>
                    <a:pt x="0" y="8627491"/>
                  </a:cubicBezTo>
                  <a:close/>
                </a:path>
              </a:pathLst>
            </a:custGeom>
            <a:solidFill>
              <a:srgbClr val="FFFFFF"/>
            </a:solidFill>
            <a:ln w="15240" cap="sq">
              <a:solidFill>
                <a:srgbClr val="DAE4EF"/>
              </a:solidFill>
              <a:prstDash val="solid"/>
              <a:miter/>
            </a:ln>
          </p:spPr>
        </p:sp>
      </p:grpSp>
      <p:sp>
        <p:nvSpPr>
          <p:cNvPr name="TextBox 8" id="8"/>
          <p:cNvSpPr txBox="true"/>
          <p:nvPr/>
        </p:nvSpPr>
        <p:spPr>
          <a:xfrm rot="0">
            <a:off x="1631909" y="1972447"/>
            <a:ext cx="1634490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Kết quả theo bảng đo Spark</a:t>
            </a:r>
          </a:p>
        </p:txBody>
      </p:sp>
      <p:grpSp>
        <p:nvGrpSpPr>
          <p:cNvPr name="Group 9" id="9"/>
          <p:cNvGrpSpPr/>
          <p:nvPr/>
        </p:nvGrpSpPr>
        <p:grpSpPr>
          <a:xfrm rot="0">
            <a:off x="1021080" y="6850380"/>
            <a:ext cx="8039100" cy="1455420"/>
            <a:chOff x="0" y="0"/>
            <a:chExt cx="10718800" cy="1940560"/>
          </a:xfrm>
        </p:grpSpPr>
        <p:sp>
          <p:nvSpPr>
            <p:cNvPr name="Freeform 10" id="10"/>
            <p:cNvSpPr/>
            <p:nvPr/>
          </p:nvSpPr>
          <p:spPr>
            <a:xfrm flipH="false" flipV="false" rot="0">
              <a:off x="0" y="0"/>
              <a:ext cx="10718800" cy="1940560"/>
            </a:xfrm>
            <a:custGeom>
              <a:avLst/>
              <a:gdLst/>
              <a:ahLst/>
              <a:cxnLst/>
              <a:rect r="r" b="b" t="t" l="l"/>
              <a:pathLst>
                <a:path h="1940560" w="10718800">
                  <a:moveTo>
                    <a:pt x="0" y="323469"/>
                  </a:moveTo>
                  <a:cubicBezTo>
                    <a:pt x="0" y="144780"/>
                    <a:pt x="144780" y="0"/>
                    <a:pt x="323469" y="0"/>
                  </a:cubicBezTo>
                  <a:lnTo>
                    <a:pt x="10395331" y="0"/>
                  </a:lnTo>
                  <a:cubicBezTo>
                    <a:pt x="10574020" y="0"/>
                    <a:pt x="10718800" y="144780"/>
                    <a:pt x="10718800" y="323469"/>
                  </a:cubicBezTo>
                  <a:lnTo>
                    <a:pt x="10718800" y="1617091"/>
                  </a:lnTo>
                  <a:cubicBezTo>
                    <a:pt x="10718800" y="1795780"/>
                    <a:pt x="10574020" y="1940560"/>
                    <a:pt x="10395331" y="1940560"/>
                  </a:cubicBezTo>
                  <a:lnTo>
                    <a:pt x="323469" y="1940560"/>
                  </a:lnTo>
                  <a:cubicBezTo>
                    <a:pt x="144780" y="1940560"/>
                    <a:pt x="0" y="1795780"/>
                    <a:pt x="0" y="1617091"/>
                  </a:cubicBezTo>
                  <a:close/>
                </a:path>
              </a:pathLst>
            </a:custGeom>
            <a:solidFill>
              <a:srgbClr val="E6F1FC"/>
            </a:solidFill>
            <a:ln w="15240" cap="sq">
              <a:solidFill>
                <a:srgbClr val="E6F1FC"/>
              </a:solidFill>
              <a:prstDash val="solid"/>
              <a:miter/>
            </a:ln>
          </p:spPr>
        </p:sp>
      </p:grpSp>
      <p:sp>
        <p:nvSpPr>
          <p:cNvPr name="TextBox 11" id="11"/>
          <p:cNvSpPr txBox="true"/>
          <p:nvPr/>
        </p:nvSpPr>
        <p:spPr>
          <a:xfrm rot="0">
            <a:off x="1229868" y="6949440"/>
            <a:ext cx="7621524" cy="29718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Huấn luyện</a:t>
            </a:r>
          </a:p>
        </p:txBody>
      </p:sp>
      <p:sp>
        <p:nvSpPr>
          <p:cNvPr name="TextBox 12" id="12"/>
          <p:cNvSpPr txBox="true"/>
          <p:nvPr/>
        </p:nvSpPr>
        <p:spPr>
          <a:xfrm rot="0">
            <a:off x="1229868" y="7306056"/>
            <a:ext cx="7621524" cy="941832"/>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Logistic Regression có thời gian train thuần thấp nhất (8,10 s); Random Forest cao nhất trong ba mô hình (13,03 s).</a:t>
            </a:r>
          </a:p>
        </p:txBody>
      </p:sp>
      <p:grpSp>
        <p:nvGrpSpPr>
          <p:cNvPr name="Group 13" id="13"/>
          <p:cNvGrpSpPr/>
          <p:nvPr/>
        </p:nvGrpSpPr>
        <p:grpSpPr>
          <a:xfrm rot="0">
            <a:off x="9319260" y="6850380"/>
            <a:ext cx="8039100" cy="1455420"/>
            <a:chOff x="0" y="0"/>
            <a:chExt cx="10718800" cy="1940560"/>
          </a:xfrm>
        </p:grpSpPr>
        <p:sp>
          <p:nvSpPr>
            <p:cNvPr name="Freeform 14" id="14"/>
            <p:cNvSpPr/>
            <p:nvPr/>
          </p:nvSpPr>
          <p:spPr>
            <a:xfrm flipH="false" flipV="false" rot="0">
              <a:off x="0" y="0"/>
              <a:ext cx="10718800" cy="1940560"/>
            </a:xfrm>
            <a:custGeom>
              <a:avLst/>
              <a:gdLst/>
              <a:ahLst/>
              <a:cxnLst/>
              <a:rect r="r" b="b" t="t" l="l"/>
              <a:pathLst>
                <a:path h="1940560" w="10718800">
                  <a:moveTo>
                    <a:pt x="0" y="323469"/>
                  </a:moveTo>
                  <a:cubicBezTo>
                    <a:pt x="0" y="144780"/>
                    <a:pt x="144780" y="0"/>
                    <a:pt x="323469" y="0"/>
                  </a:cubicBezTo>
                  <a:lnTo>
                    <a:pt x="10395331" y="0"/>
                  </a:lnTo>
                  <a:cubicBezTo>
                    <a:pt x="10574020" y="0"/>
                    <a:pt x="10718800" y="144780"/>
                    <a:pt x="10718800" y="323469"/>
                  </a:cubicBezTo>
                  <a:lnTo>
                    <a:pt x="10718800" y="1617091"/>
                  </a:lnTo>
                  <a:cubicBezTo>
                    <a:pt x="10718800" y="1795780"/>
                    <a:pt x="10574020" y="1940560"/>
                    <a:pt x="10395331" y="1940560"/>
                  </a:cubicBezTo>
                  <a:lnTo>
                    <a:pt x="323469" y="1940560"/>
                  </a:lnTo>
                  <a:cubicBezTo>
                    <a:pt x="144780" y="1940560"/>
                    <a:pt x="0" y="1795780"/>
                    <a:pt x="0" y="1617091"/>
                  </a:cubicBezTo>
                  <a:close/>
                </a:path>
              </a:pathLst>
            </a:custGeom>
            <a:solidFill>
              <a:srgbClr val="E6F5ED"/>
            </a:solidFill>
            <a:ln w="15240" cap="sq">
              <a:solidFill>
                <a:srgbClr val="E6F5ED"/>
              </a:solidFill>
              <a:prstDash val="solid"/>
              <a:miter/>
            </a:ln>
          </p:spPr>
        </p:sp>
      </p:grpSp>
      <p:sp>
        <p:nvSpPr>
          <p:cNvPr name="TextBox 15" id="15"/>
          <p:cNvSpPr txBox="true"/>
          <p:nvPr/>
        </p:nvSpPr>
        <p:spPr>
          <a:xfrm rot="0">
            <a:off x="9528048" y="6949440"/>
            <a:ext cx="7621524" cy="297180"/>
          </a:xfrm>
          <a:prstGeom prst="rect">
            <a:avLst/>
          </a:prstGeom>
        </p:spPr>
        <p:txBody>
          <a:bodyPr anchor="t" rtlCol="false" tIns="0" lIns="0" bIns="0" rIns="0">
            <a:spAutoFit/>
          </a:bodyPr>
          <a:lstStyle/>
          <a:p>
            <a:pPr algn="l">
              <a:lnSpc>
                <a:spcPts val="2160"/>
              </a:lnSpc>
            </a:pPr>
            <a:r>
              <a:rPr lang="en-US" sz="1800" b="true">
                <a:solidFill>
                  <a:srgbClr val="238765"/>
                </a:solidFill>
                <a:latin typeface="Aptos Bold"/>
                <a:ea typeface="Aptos Bold"/>
                <a:cs typeface="Aptos Bold"/>
                <a:sym typeface="Aptos Bold"/>
              </a:rPr>
              <a:t>Suy luận và bộ nhớ</a:t>
            </a:r>
          </a:p>
        </p:txBody>
      </p:sp>
      <p:sp>
        <p:nvSpPr>
          <p:cNvPr name="TextBox 16" id="16"/>
          <p:cNvSpPr txBox="true"/>
          <p:nvPr/>
        </p:nvSpPr>
        <p:spPr>
          <a:xfrm rot="0">
            <a:off x="9528048" y="7306056"/>
            <a:ext cx="7621524" cy="941832"/>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Decision Tree có latency thấp nhất (1,77 ms/1.000 mẫu). RAM đỉnh Driver ghi nhận 392,9 MB.</a:t>
            </a:r>
          </a:p>
        </p:txBody>
      </p:sp>
      <p:graphicFrame>
        <p:nvGraphicFramePr>
          <p:cNvPr name="Table 17" id="17"/>
          <p:cNvGraphicFramePr>
            <a:graphicFrameLocks noGrp="true"/>
          </p:cNvGraphicFramePr>
          <p:nvPr/>
        </p:nvGraphicFramePr>
        <p:xfrm>
          <a:off x="891540" y="2674620"/>
          <a:ext cx="16421100" cy="3200400"/>
        </p:xfrm>
        <a:graphic>
          <a:graphicData uri="http://schemas.openxmlformats.org/drawingml/2006/table">
            <a:tbl>
              <a:tblPr/>
              <a:tblGrid>
                <a:gridCol w="4378960"/>
                <a:gridCol w="2326322"/>
                <a:gridCol w="2463165"/>
                <a:gridCol w="2052638"/>
                <a:gridCol w="5200015"/>
              </a:tblGrid>
              <a:tr h="800100">
                <a:tc>
                  <a:txBody>
                    <a:bodyPr anchor="t" rtlCol="false"/>
                    <a:lstStyle/>
                    <a:p>
                      <a:pPr algn="l">
                        <a:lnSpc>
                          <a:spcPts val="2160"/>
                        </a:lnSpc>
                        <a:defRPr/>
                      </a:pPr>
                      <a:r>
                        <a:rPr lang="en-US" sz="1800" b="true">
                          <a:solidFill>
                            <a:srgbClr val="FFFFFF"/>
                          </a:solidFill>
                          <a:latin typeface="Aptos Bold"/>
                          <a:ea typeface="Aptos Bold"/>
                          <a:cs typeface="Aptos Bold"/>
                          <a:sym typeface="Aptos Bold"/>
                        </a:rPr>
                        <a:t>Mô hình</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314F"/>
                    </a:solidFill>
                  </a:tcPr>
                </a:tc>
                <a:tc>
                  <a:txBody>
                    <a:bodyPr anchor="t" rtlCol="false"/>
                    <a:lstStyle/>
                    <a:p>
                      <a:pPr algn="l">
                        <a:lnSpc>
                          <a:spcPts val="2160"/>
                        </a:lnSpc>
                        <a:defRPr/>
                      </a:pPr>
                      <a:r>
                        <a:rPr lang="en-US" sz="1800" b="true">
                          <a:solidFill>
                            <a:srgbClr val="FFFFFF"/>
                          </a:solidFill>
                          <a:latin typeface="Aptos Bold"/>
                          <a:ea typeface="Aptos Bold"/>
                          <a:cs typeface="Aptos Bold"/>
                          <a:sym typeface="Aptos Bold"/>
                        </a:rPr>
                        <a:t>Accuracy</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314F"/>
                    </a:solidFill>
                  </a:tcPr>
                </a:tc>
                <a:tc>
                  <a:txBody>
                    <a:bodyPr anchor="t" rtlCol="false"/>
                    <a:lstStyle/>
                    <a:p>
                      <a:pPr algn="l">
                        <a:lnSpc>
                          <a:spcPts val="2160"/>
                        </a:lnSpc>
                        <a:defRPr/>
                      </a:pPr>
                      <a:r>
                        <a:rPr lang="en-US" sz="1800" b="true">
                          <a:solidFill>
                            <a:srgbClr val="FFFFFF"/>
                          </a:solidFill>
                          <a:latin typeface="Aptos Bold"/>
                          <a:ea typeface="Aptos Bold"/>
                          <a:cs typeface="Aptos Bold"/>
                          <a:sym typeface="Aptos Bold"/>
                        </a:rPr>
                        <a:t>Weighted F1</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314F"/>
                    </a:solidFill>
                  </a:tcPr>
                </a:tc>
                <a:tc>
                  <a:txBody>
                    <a:bodyPr anchor="t" rtlCol="false"/>
                    <a:lstStyle/>
                    <a:p>
                      <a:pPr algn="l">
                        <a:lnSpc>
                          <a:spcPts val="2160"/>
                        </a:lnSpc>
                        <a:defRPr/>
                      </a:pPr>
                      <a:r>
                        <a:rPr lang="en-US" sz="1800" b="true">
                          <a:solidFill>
                            <a:srgbClr val="FFFFFF"/>
                          </a:solidFill>
                          <a:latin typeface="Aptos Bold"/>
                          <a:ea typeface="Aptos Bold"/>
                          <a:cs typeface="Aptos Bold"/>
                          <a:sym typeface="Aptos Bold"/>
                        </a:rPr>
                        <a:t>Train (s)</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314F"/>
                    </a:solidFill>
                  </a:tcPr>
                </a:tc>
                <a:tc>
                  <a:txBody>
                    <a:bodyPr anchor="t" rtlCol="false"/>
                    <a:lstStyle/>
                    <a:p>
                      <a:pPr algn="l">
                        <a:lnSpc>
                          <a:spcPts val="2160"/>
                        </a:lnSpc>
                        <a:defRPr/>
                      </a:pPr>
                      <a:r>
                        <a:rPr lang="en-US" sz="1800" b="true">
                          <a:solidFill>
                            <a:srgbClr val="FFFFFF"/>
                          </a:solidFill>
                          <a:latin typeface="Aptos Bold"/>
                          <a:ea typeface="Aptos Bold"/>
                          <a:cs typeface="Aptos Bold"/>
                          <a:sym typeface="Aptos Bold"/>
                        </a:rPr>
                        <a:t>Suy luận (ms/1.000 mẫu)</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9314F"/>
                    </a:solidFill>
                  </a:tcPr>
                </a:tc>
              </a:tr>
              <a:tr h="800100">
                <a:tc>
                  <a:txBody>
                    <a:bodyPr anchor="t" rtlCol="false"/>
                    <a:lstStyle/>
                    <a:p>
                      <a:pPr algn="l">
                        <a:lnSpc>
                          <a:spcPts val="2520"/>
                        </a:lnSpc>
                        <a:defRPr/>
                      </a:pPr>
                      <a:r>
                        <a:rPr lang="en-US" sz="2100" b="true">
                          <a:solidFill>
                            <a:srgbClr val="19314F"/>
                          </a:solidFill>
                          <a:latin typeface="Aptos Bold"/>
                          <a:ea typeface="Aptos Bold"/>
                          <a:cs typeface="Aptos Bold"/>
                          <a:sym typeface="Aptos Bold"/>
                        </a:rPr>
                        <a:t>Logistic Regression</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c>
                  <a:txBody>
                    <a:bodyPr anchor="t" rtlCol="false"/>
                    <a:lstStyle/>
                    <a:p>
                      <a:pPr algn="l">
                        <a:lnSpc>
                          <a:spcPts val="2520"/>
                        </a:lnSpc>
                        <a:defRPr/>
                      </a:pPr>
                      <a:r>
                        <a:rPr lang="en-US" sz="2100">
                          <a:solidFill>
                            <a:srgbClr val="19314F"/>
                          </a:solidFill>
                          <a:latin typeface="Aptos"/>
                          <a:ea typeface="Aptos"/>
                          <a:cs typeface="Aptos"/>
                          <a:sym typeface="Aptos"/>
                        </a:rPr>
                        <a:t>79,20%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c>
                  <a:txBody>
                    <a:bodyPr anchor="t" rtlCol="false"/>
                    <a:lstStyle/>
                    <a:p>
                      <a:pPr algn="l">
                        <a:lnSpc>
                          <a:spcPts val="2520"/>
                        </a:lnSpc>
                        <a:defRPr/>
                      </a:pPr>
                      <a:r>
                        <a:rPr lang="en-US" sz="2100">
                          <a:solidFill>
                            <a:srgbClr val="19314F"/>
                          </a:solidFill>
                          <a:latin typeface="Aptos"/>
                          <a:ea typeface="Aptos"/>
                          <a:cs typeface="Aptos"/>
                          <a:sym typeface="Aptos"/>
                        </a:rPr>
                        <a:t>70,00%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c>
                  <a:txBody>
                    <a:bodyPr anchor="t" rtlCol="false"/>
                    <a:lstStyle/>
                    <a:p>
                      <a:pPr algn="l">
                        <a:lnSpc>
                          <a:spcPts val="2520"/>
                        </a:lnSpc>
                        <a:defRPr/>
                      </a:pPr>
                      <a:r>
                        <a:rPr lang="en-US" sz="2100">
                          <a:solidFill>
                            <a:srgbClr val="19314F"/>
                          </a:solidFill>
                          <a:latin typeface="Aptos"/>
                          <a:ea typeface="Aptos"/>
                          <a:cs typeface="Aptos"/>
                          <a:sym typeface="Aptos"/>
                        </a:rPr>
                        <a:t>19,29</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c>
                  <a:txBody>
                    <a:bodyPr anchor="t" rtlCol="false"/>
                    <a:lstStyle/>
                    <a:p>
                      <a:pPr algn="l">
                        <a:lnSpc>
                          <a:spcPts val="2520"/>
                        </a:lnSpc>
                        <a:defRPr/>
                      </a:pPr>
                      <a:r>
                        <a:rPr lang="en-US" sz="2100">
                          <a:solidFill>
                            <a:srgbClr val="19314F"/>
                          </a:solidFill>
                          <a:latin typeface="Aptos"/>
                          <a:ea typeface="Aptos"/>
                          <a:cs typeface="Aptos"/>
                          <a:sym typeface="Aptos"/>
                        </a:rPr>
                        <a:t>2,19</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r>
              <a:tr h="800100">
                <a:tc>
                  <a:txBody>
                    <a:bodyPr anchor="t" rtlCol="false"/>
                    <a:lstStyle/>
                    <a:p>
                      <a:pPr algn="l">
                        <a:lnSpc>
                          <a:spcPts val="2520"/>
                        </a:lnSpc>
                        <a:defRPr/>
                      </a:pPr>
                      <a:r>
                        <a:rPr lang="en-US" sz="2100" b="true">
                          <a:solidFill>
                            <a:srgbClr val="19314F"/>
                          </a:solidFill>
                          <a:latin typeface="Aptos Bold"/>
                          <a:ea typeface="Aptos Bold"/>
                          <a:cs typeface="Aptos Bold"/>
                          <a:sym typeface="Aptos Bold"/>
                        </a:rPr>
                        <a:t>Decision Tree</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9314F"/>
                          </a:solidFill>
                          <a:latin typeface="Aptos"/>
                          <a:ea typeface="Aptos"/>
                          <a:cs typeface="Aptos"/>
                          <a:sym typeface="Aptos"/>
                        </a:rPr>
                        <a:t>79,20%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9314F"/>
                          </a:solidFill>
                          <a:latin typeface="Aptos"/>
                          <a:ea typeface="Aptos"/>
                          <a:cs typeface="Aptos"/>
                          <a:sym typeface="Aptos"/>
                        </a:rPr>
                        <a:t>70,00%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9314F"/>
                          </a:solidFill>
                          <a:latin typeface="Aptos"/>
                          <a:ea typeface="Aptos"/>
                          <a:cs typeface="Aptos"/>
                          <a:sym typeface="Aptos"/>
                        </a:rPr>
                        <a:t>23,13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9314F"/>
                          </a:solidFill>
                          <a:latin typeface="Aptos"/>
                          <a:ea typeface="Aptos"/>
                          <a:cs typeface="Aptos"/>
                          <a:sym typeface="Aptos"/>
                        </a:rPr>
                        <a:t>1,77</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00100">
                <a:tc>
                  <a:txBody>
                    <a:bodyPr anchor="t" rtlCol="false"/>
                    <a:lstStyle/>
                    <a:p>
                      <a:pPr algn="l">
                        <a:lnSpc>
                          <a:spcPts val="2520"/>
                        </a:lnSpc>
                        <a:defRPr/>
                      </a:pPr>
                      <a:r>
                        <a:rPr lang="en-US" sz="2100" b="true">
                          <a:solidFill>
                            <a:srgbClr val="19314F"/>
                          </a:solidFill>
                          <a:latin typeface="Aptos Bold"/>
                          <a:ea typeface="Aptos Bold"/>
                          <a:cs typeface="Aptos Bold"/>
                          <a:sym typeface="Aptos Bold"/>
                        </a:rPr>
                        <a:t>Random Forest</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c>
                  <a:txBody>
                    <a:bodyPr anchor="t" rtlCol="false"/>
                    <a:lstStyle/>
                    <a:p>
                      <a:pPr algn="l">
                        <a:lnSpc>
                          <a:spcPts val="2520"/>
                        </a:lnSpc>
                        <a:defRPr/>
                      </a:pPr>
                      <a:r>
                        <a:rPr lang="en-US" sz="2100">
                          <a:solidFill>
                            <a:srgbClr val="19314F"/>
                          </a:solidFill>
                          <a:latin typeface="Aptos"/>
                          <a:ea typeface="Aptos"/>
                          <a:cs typeface="Aptos"/>
                          <a:sym typeface="Aptos"/>
                        </a:rPr>
                        <a:t>79,20%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c>
                  <a:txBody>
                    <a:bodyPr anchor="t" rtlCol="false"/>
                    <a:lstStyle/>
                    <a:p>
                      <a:pPr algn="l">
                        <a:lnSpc>
                          <a:spcPts val="2520"/>
                        </a:lnSpc>
                        <a:defRPr/>
                      </a:pPr>
                      <a:r>
                        <a:rPr lang="en-US" sz="2100">
                          <a:solidFill>
                            <a:srgbClr val="19314F"/>
                          </a:solidFill>
                          <a:latin typeface="Aptos"/>
                          <a:ea typeface="Aptos"/>
                          <a:cs typeface="Aptos"/>
                          <a:sym typeface="Aptos"/>
                        </a:rPr>
                        <a:t>70,00%</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c>
                  <a:txBody>
                    <a:bodyPr anchor="t" rtlCol="false"/>
                    <a:lstStyle/>
                    <a:p>
                      <a:pPr algn="l">
                        <a:lnSpc>
                          <a:spcPts val="2520"/>
                        </a:lnSpc>
                        <a:defRPr/>
                      </a:pPr>
                      <a:r>
                        <a:rPr lang="en-US" sz="2100">
                          <a:solidFill>
                            <a:srgbClr val="19314F"/>
                          </a:solidFill>
                          <a:latin typeface="Aptos"/>
                          <a:ea typeface="Aptos"/>
                          <a:cs typeface="Aptos"/>
                          <a:sym typeface="Aptos"/>
                        </a:rPr>
                        <a:t>31,03</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c>
                  <a:txBody>
                    <a:bodyPr anchor="t" rtlCol="false"/>
                    <a:lstStyle/>
                    <a:p>
                      <a:pPr algn="l">
                        <a:lnSpc>
                          <a:spcPts val="2520"/>
                        </a:lnSpc>
                        <a:defRPr/>
                      </a:pPr>
                      <a:r>
                        <a:rPr lang="en-US" sz="2100">
                          <a:solidFill>
                            <a:srgbClr val="19314F"/>
                          </a:solidFill>
                          <a:latin typeface="Aptos"/>
                          <a:ea typeface="Aptos"/>
                          <a:cs typeface="Aptos"/>
                          <a:sym typeface="Aptos"/>
                        </a:rPr>
                        <a:t>1,86</a:t>
                      </a:r>
                      <a:endParaRPr lang="en-US" sz="1100"/>
                    </a:p>
                  </a:txBody>
                  <a:tcPr marL="64008" marR="64008" marT="64008" marB="64008"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5F8FB"/>
                    </a:solidFill>
                  </a:tcPr>
                </a:tc>
              </a:tr>
            </a:tbl>
          </a:graphicData>
        </a:graphic>
      </p:graphicFrame>
      <p:grpSp>
        <p:nvGrpSpPr>
          <p:cNvPr name="Group 18" id="18"/>
          <p:cNvGrpSpPr/>
          <p:nvPr/>
        </p:nvGrpSpPr>
        <p:grpSpPr>
          <a:xfrm rot="0">
            <a:off x="1021556" y="6439376"/>
            <a:ext cx="16336327" cy="2277428"/>
            <a:chOff x="0" y="0"/>
            <a:chExt cx="21781770" cy="3036570"/>
          </a:xfrm>
        </p:grpSpPr>
        <p:sp>
          <p:nvSpPr>
            <p:cNvPr name="Freeform 19" id="19"/>
            <p:cNvSpPr/>
            <p:nvPr/>
          </p:nvSpPr>
          <p:spPr>
            <a:xfrm flipH="false" flipV="false" rot="0">
              <a:off x="0" y="0"/>
              <a:ext cx="21781770" cy="3036570"/>
            </a:xfrm>
            <a:custGeom>
              <a:avLst/>
              <a:gdLst/>
              <a:ahLst/>
              <a:cxnLst/>
              <a:rect r="r" b="b" t="t" l="l"/>
              <a:pathLst>
                <a:path h="3036570" w="21781770">
                  <a:moveTo>
                    <a:pt x="0" y="506095"/>
                  </a:moveTo>
                  <a:cubicBezTo>
                    <a:pt x="0" y="226568"/>
                    <a:pt x="226568" y="0"/>
                    <a:pt x="506095" y="0"/>
                  </a:cubicBezTo>
                  <a:lnTo>
                    <a:pt x="21275675" y="0"/>
                  </a:lnTo>
                  <a:cubicBezTo>
                    <a:pt x="21555202" y="0"/>
                    <a:pt x="21781770" y="226568"/>
                    <a:pt x="21781770" y="506095"/>
                  </a:cubicBezTo>
                  <a:lnTo>
                    <a:pt x="21781770" y="2530475"/>
                  </a:lnTo>
                  <a:cubicBezTo>
                    <a:pt x="21781770" y="2810002"/>
                    <a:pt x="21555202" y="3036570"/>
                    <a:pt x="21275675" y="3036570"/>
                  </a:cubicBezTo>
                  <a:lnTo>
                    <a:pt x="506095" y="3036570"/>
                  </a:lnTo>
                  <a:cubicBezTo>
                    <a:pt x="226568" y="3036570"/>
                    <a:pt x="0" y="2810002"/>
                    <a:pt x="0" y="2530475"/>
                  </a:cubicBezTo>
                  <a:close/>
                </a:path>
              </a:pathLst>
            </a:custGeom>
            <a:solidFill>
              <a:srgbClr val="F6F8FA"/>
            </a:solidFill>
            <a:ln w="14288" cap="sq">
              <a:solidFill>
                <a:srgbClr val="A04141"/>
              </a:solidFill>
              <a:prstDash val="solid"/>
              <a:miter/>
            </a:ln>
          </p:spPr>
        </p:sp>
        <p:sp>
          <p:nvSpPr>
            <p:cNvPr name="TextBox 20" id="20"/>
            <p:cNvSpPr txBox="true"/>
            <p:nvPr/>
          </p:nvSpPr>
          <p:spPr>
            <a:xfrm>
              <a:off x="0" y="0"/>
              <a:ext cx="21781770" cy="3036570"/>
            </a:xfrm>
            <a:prstGeom prst="rect">
              <a:avLst/>
            </a:prstGeom>
          </p:spPr>
          <p:txBody>
            <a:bodyPr anchor="ctr" rtlCol="false" tIns="50800" lIns="50800" bIns="50800" rIns="50800"/>
            <a:lstStyle/>
            <a:p>
              <a:pPr algn="ctr">
                <a:lnSpc>
                  <a:spcPts val="2879"/>
                </a:lnSpc>
              </a:pPr>
              <a:r>
                <a:rPr lang="en-US" sz="2400" b="true">
                  <a:solidFill>
                    <a:srgbClr val="222222"/>
                  </a:solidFill>
                  <a:latin typeface="Aptos Bold"/>
                  <a:ea typeface="Aptos Bold"/>
                  <a:cs typeface="Aptos Bold"/>
                  <a:sym typeface="Aptos Bold"/>
                </a:rPr>
                <a:t>Nhận xét kết quả</a:t>
              </a:r>
            </a:p>
            <a:p>
              <a:pPr algn="l">
                <a:lnSpc>
                  <a:spcPts val="2340"/>
                </a:lnSpc>
              </a:pPr>
              <a:r>
                <a:rPr lang="en-US" sz="1950">
                  <a:solidFill>
                    <a:srgbClr val="222222"/>
                  </a:solidFill>
                  <a:latin typeface="Aptos"/>
                  <a:ea typeface="Aptos"/>
                  <a:cs typeface="Aptos"/>
                  <a:sym typeface="Aptos"/>
                </a:rPr>
                <a:t>• Cả ba mô hình có Accuracy 79,20% và Weighted F1 70,00% theo số liệu tổng hợp.</a:t>
              </a:r>
            </a:p>
            <a:p>
              <a:pPr algn="l">
                <a:lnSpc>
                  <a:spcPts val="2340"/>
                </a:lnSpc>
              </a:pPr>
              <a:r>
                <a:rPr lang="en-US" sz="1950">
                  <a:solidFill>
                    <a:srgbClr val="222222"/>
                  </a:solidFill>
                  <a:latin typeface="Aptos"/>
                  <a:ea typeface="Aptos"/>
                  <a:cs typeface="Aptos"/>
                  <a:sym typeface="Aptos"/>
                </a:rPr>
                <a:t>• RF có thời gian train dài nhất trong nhóm Spark: 31,03 giây.</a:t>
              </a:r>
            </a:p>
            <a:p>
              <a:pPr algn="l">
                <a:lnSpc>
                  <a:spcPts val="2340"/>
                </a:lnSpc>
              </a:pPr>
              <a:r>
                <a:rPr lang="en-US" sz="1950">
                  <a:solidFill>
                    <a:srgbClr val="222222"/>
                  </a:solidFill>
                  <a:latin typeface="Aptos"/>
                  <a:ea typeface="Aptos"/>
                  <a:cs typeface="Aptos"/>
                  <a:sym typeface="Aptos"/>
                </a:rPr>
                <a:t>• Độ trễ suy luận của RF là 1,86 ms/1.000 mẫu.</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sp>
        <p:nvSpPr>
          <p:cNvPr name="TextBox 4" id="4"/>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Random Forest Spark: phân loại và đặc trưng quan trọng</a:t>
            </a:r>
          </a:p>
        </p:txBody>
      </p:sp>
      <p:sp>
        <p:nvSpPr>
          <p:cNvPr name="TextBox 5" id="5"/>
          <p:cNvSpPr txBox="true"/>
          <p:nvPr/>
        </p:nvSpPr>
        <p:spPr>
          <a:xfrm rot="0">
            <a:off x="694944" y="1069467"/>
            <a:ext cx="15755112" cy="265557"/>
          </a:xfrm>
          <a:prstGeom prst="rect">
            <a:avLst/>
          </a:prstGeom>
        </p:spPr>
        <p:txBody>
          <a:bodyPr anchor="t" rtlCol="false" tIns="0" lIns="0" bIns="0" rIns="0">
            <a:spAutoFit/>
          </a:bodyPr>
          <a:lstStyle/>
          <a:p>
            <a:pPr algn="l">
              <a:lnSpc>
                <a:spcPts val="1620"/>
              </a:lnSpc>
            </a:pPr>
            <a:r>
              <a:rPr lang="en-US" sz="1350" b="true">
                <a:solidFill>
                  <a:srgbClr val="30A5BE"/>
                </a:solidFill>
                <a:latin typeface="Aptos Bold"/>
                <a:ea typeface="Aptos Bold"/>
                <a:cs typeface="Aptos Bold"/>
                <a:sym typeface="Aptos Bold"/>
              </a:rPr>
              <a:t>04 / KẾT QUẢ SPARK</a:t>
            </a:r>
          </a:p>
        </p:txBody>
      </p:sp>
      <p:sp>
        <p:nvSpPr>
          <p:cNvPr name="TextBox 6" id="6"/>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11</a:t>
            </a:r>
          </a:p>
        </p:txBody>
      </p:sp>
      <p:sp>
        <p:nvSpPr>
          <p:cNvPr name="TextBox 7" id="7"/>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grpSp>
        <p:nvGrpSpPr>
          <p:cNvPr name="Group 8" id="8"/>
          <p:cNvGrpSpPr/>
          <p:nvPr/>
        </p:nvGrpSpPr>
        <p:grpSpPr>
          <a:xfrm rot="0">
            <a:off x="746760" y="1775460"/>
            <a:ext cx="8313420" cy="7764780"/>
            <a:chOff x="0" y="0"/>
            <a:chExt cx="11084560" cy="10353040"/>
          </a:xfrm>
        </p:grpSpPr>
        <p:sp>
          <p:nvSpPr>
            <p:cNvPr name="Freeform 9" id="9"/>
            <p:cNvSpPr/>
            <p:nvPr/>
          </p:nvSpPr>
          <p:spPr>
            <a:xfrm flipH="false" flipV="false" rot="0">
              <a:off x="0" y="0"/>
              <a:ext cx="11084560" cy="10353040"/>
            </a:xfrm>
            <a:custGeom>
              <a:avLst/>
              <a:gdLst/>
              <a:ahLst/>
              <a:cxnLst/>
              <a:rect r="r" b="b" t="t" l="l"/>
              <a:pathLst>
                <a:path h="10353040" w="11084560">
                  <a:moveTo>
                    <a:pt x="0" y="1725549"/>
                  </a:moveTo>
                  <a:cubicBezTo>
                    <a:pt x="0" y="772541"/>
                    <a:pt x="772541" y="0"/>
                    <a:pt x="1725549" y="0"/>
                  </a:cubicBezTo>
                  <a:lnTo>
                    <a:pt x="9359011" y="0"/>
                  </a:lnTo>
                  <a:cubicBezTo>
                    <a:pt x="10312019" y="0"/>
                    <a:pt x="11084560" y="772541"/>
                    <a:pt x="11084560" y="1725549"/>
                  </a:cubicBezTo>
                  <a:lnTo>
                    <a:pt x="11084560" y="8627491"/>
                  </a:lnTo>
                  <a:cubicBezTo>
                    <a:pt x="11084560" y="9580499"/>
                    <a:pt x="10312019" y="10353040"/>
                    <a:pt x="9359011" y="10353040"/>
                  </a:cubicBezTo>
                  <a:lnTo>
                    <a:pt x="1725549" y="10353040"/>
                  </a:lnTo>
                  <a:cubicBezTo>
                    <a:pt x="772541" y="10353040"/>
                    <a:pt x="0" y="9580499"/>
                    <a:pt x="0" y="8627491"/>
                  </a:cubicBezTo>
                  <a:close/>
                </a:path>
              </a:pathLst>
            </a:custGeom>
            <a:solidFill>
              <a:srgbClr val="FFFFFF"/>
            </a:solidFill>
            <a:ln w="15240" cap="sq">
              <a:solidFill>
                <a:srgbClr val="DAE4EF"/>
              </a:solidFill>
              <a:prstDash val="solid"/>
              <a:miter/>
            </a:ln>
          </p:spPr>
        </p:sp>
      </p:grpSp>
      <p:sp>
        <p:nvSpPr>
          <p:cNvPr name="TextBox 10" id="10"/>
          <p:cNvSpPr txBox="true"/>
          <p:nvPr/>
        </p:nvSpPr>
        <p:spPr>
          <a:xfrm rot="0">
            <a:off x="1613916" y="1929384"/>
            <a:ext cx="78409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Ma trận nhầm lẫn</a:t>
            </a:r>
          </a:p>
        </p:txBody>
      </p:sp>
      <p:grpSp>
        <p:nvGrpSpPr>
          <p:cNvPr name="Group 11" id="11"/>
          <p:cNvGrpSpPr/>
          <p:nvPr/>
        </p:nvGrpSpPr>
        <p:grpSpPr>
          <a:xfrm rot="0">
            <a:off x="1153011" y="2263140"/>
            <a:ext cx="7500928" cy="6377940"/>
            <a:chOff x="0" y="0"/>
            <a:chExt cx="10001237" cy="8503920"/>
          </a:xfrm>
        </p:grpSpPr>
        <p:sp>
          <p:nvSpPr>
            <p:cNvPr name="Freeform 12" id="12" descr="cm_spark_rf_7m.png"/>
            <p:cNvSpPr/>
            <p:nvPr/>
          </p:nvSpPr>
          <p:spPr>
            <a:xfrm flipH="false" flipV="false" rot="0">
              <a:off x="0" y="0"/>
              <a:ext cx="10001250" cy="8503920"/>
            </a:xfrm>
            <a:custGeom>
              <a:avLst/>
              <a:gdLst/>
              <a:ahLst/>
              <a:cxnLst/>
              <a:rect r="r" b="b" t="t" l="l"/>
              <a:pathLst>
                <a:path h="8503920" w="10001250">
                  <a:moveTo>
                    <a:pt x="0" y="0"/>
                  </a:moveTo>
                  <a:lnTo>
                    <a:pt x="10001250" y="0"/>
                  </a:lnTo>
                  <a:lnTo>
                    <a:pt x="10001250" y="8503920"/>
                  </a:lnTo>
                  <a:lnTo>
                    <a:pt x="0" y="8503920"/>
                  </a:lnTo>
                  <a:lnTo>
                    <a:pt x="0" y="0"/>
                  </a:lnTo>
                  <a:close/>
                </a:path>
              </a:pathLst>
            </a:custGeom>
            <a:blipFill>
              <a:blip r:embed="rId2"/>
              <a:stretch>
                <a:fillRect l="0" t="0" r="0" b="0"/>
              </a:stretch>
            </a:blipFill>
          </p:spPr>
        </p:sp>
      </p:grpSp>
      <p:grpSp>
        <p:nvGrpSpPr>
          <p:cNvPr name="Group 13" id="13"/>
          <p:cNvGrpSpPr/>
          <p:nvPr/>
        </p:nvGrpSpPr>
        <p:grpSpPr>
          <a:xfrm rot="0">
            <a:off x="9250680" y="1775460"/>
            <a:ext cx="8313420" cy="7764780"/>
            <a:chOff x="0" y="0"/>
            <a:chExt cx="11084560" cy="10353040"/>
          </a:xfrm>
        </p:grpSpPr>
        <p:sp>
          <p:nvSpPr>
            <p:cNvPr name="Freeform 14" id="14"/>
            <p:cNvSpPr/>
            <p:nvPr/>
          </p:nvSpPr>
          <p:spPr>
            <a:xfrm flipH="false" flipV="false" rot="0">
              <a:off x="0" y="0"/>
              <a:ext cx="11084560" cy="10353040"/>
            </a:xfrm>
            <a:custGeom>
              <a:avLst/>
              <a:gdLst/>
              <a:ahLst/>
              <a:cxnLst/>
              <a:rect r="r" b="b" t="t" l="l"/>
              <a:pathLst>
                <a:path h="10353040" w="11084560">
                  <a:moveTo>
                    <a:pt x="0" y="1725549"/>
                  </a:moveTo>
                  <a:cubicBezTo>
                    <a:pt x="0" y="772541"/>
                    <a:pt x="772541" y="0"/>
                    <a:pt x="1725549" y="0"/>
                  </a:cubicBezTo>
                  <a:lnTo>
                    <a:pt x="9359011" y="0"/>
                  </a:lnTo>
                  <a:cubicBezTo>
                    <a:pt x="10312019" y="0"/>
                    <a:pt x="11084560" y="772541"/>
                    <a:pt x="11084560" y="1725549"/>
                  </a:cubicBezTo>
                  <a:lnTo>
                    <a:pt x="11084560" y="8627491"/>
                  </a:lnTo>
                  <a:cubicBezTo>
                    <a:pt x="11084560" y="9580499"/>
                    <a:pt x="10312019" y="10353040"/>
                    <a:pt x="9359011" y="10353040"/>
                  </a:cubicBezTo>
                  <a:lnTo>
                    <a:pt x="1725549" y="10353040"/>
                  </a:lnTo>
                  <a:cubicBezTo>
                    <a:pt x="772541" y="10353040"/>
                    <a:pt x="0" y="9580499"/>
                    <a:pt x="0" y="8627491"/>
                  </a:cubicBezTo>
                  <a:close/>
                </a:path>
              </a:pathLst>
            </a:custGeom>
            <a:solidFill>
              <a:srgbClr val="FFFFFF"/>
            </a:solidFill>
            <a:ln w="15240" cap="sq">
              <a:solidFill>
                <a:srgbClr val="DAE4EF"/>
              </a:solidFill>
              <a:prstDash val="solid"/>
              <a:miter/>
            </a:ln>
          </p:spPr>
        </p:sp>
      </p:grpSp>
      <p:sp>
        <p:nvSpPr>
          <p:cNvPr name="TextBox 15" id="15"/>
          <p:cNvSpPr txBox="true"/>
          <p:nvPr/>
        </p:nvSpPr>
        <p:spPr>
          <a:xfrm rot="0">
            <a:off x="10150573" y="1990296"/>
            <a:ext cx="784098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Feature importance</a:t>
            </a:r>
          </a:p>
        </p:txBody>
      </p:sp>
      <p:grpSp>
        <p:nvGrpSpPr>
          <p:cNvPr name="Group 16" id="16"/>
          <p:cNvGrpSpPr/>
          <p:nvPr/>
        </p:nvGrpSpPr>
        <p:grpSpPr>
          <a:xfrm rot="0">
            <a:off x="9464040" y="2928766"/>
            <a:ext cx="7886700" cy="5046688"/>
            <a:chOff x="0" y="0"/>
            <a:chExt cx="10515600" cy="6728917"/>
          </a:xfrm>
        </p:grpSpPr>
        <p:sp>
          <p:nvSpPr>
            <p:cNvPr name="Freeform 17" id="17" descr="feat_imp_spark_rf_7m.png"/>
            <p:cNvSpPr/>
            <p:nvPr/>
          </p:nvSpPr>
          <p:spPr>
            <a:xfrm flipH="false" flipV="false" rot="0">
              <a:off x="0" y="0"/>
              <a:ext cx="10515600" cy="6728968"/>
            </a:xfrm>
            <a:custGeom>
              <a:avLst/>
              <a:gdLst/>
              <a:ahLst/>
              <a:cxnLst/>
              <a:rect r="r" b="b" t="t" l="l"/>
              <a:pathLst>
                <a:path h="6728968" w="10515600">
                  <a:moveTo>
                    <a:pt x="0" y="0"/>
                  </a:moveTo>
                  <a:lnTo>
                    <a:pt x="10515600" y="0"/>
                  </a:lnTo>
                  <a:lnTo>
                    <a:pt x="10515600" y="6728968"/>
                  </a:lnTo>
                  <a:lnTo>
                    <a:pt x="0" y="6728968"/>
                  </a:lnTo>
                  <a:lnTo>
                    <a:pt x="0" y="0"/>
                  </a:lnTo>
                  <a:close/>
                </a:path>
              </a:pathLst>
            </a:custGeom>
            <a:blipFill>
              <a:blip r:embed="rId3"/>
              <a:stretch>
                <a:fillRect l="0" t="0" r="0" b="0"/>
              </a:stretch>
            </a:blipFill>
          </p:spPr>
        </p:sp>
      </p:grpSp>
      <p:grpSp>
        <p:nvGrpSpPr>
          <p:cNvPr name="Group 18" id="18"/>
          <p:cNvGrpSpPr/>
          <p:nvPr/>
        </p:nvGrpSpPr>
        <p:grpSpPr>
          <a:xfrm rot="0">
            <a:off x="952500" y="8880348"/>
            <a:ext cx="16405860" cy="536448"/>
            <a:chOff x="0" y="0"/>
            <a:chExt cx="21874480" cy="715264"/>
          </a:xfrm>
        </p:grpSpPr>
        <p:sp>
          <p:nvSpPr>
            <p:cNvPr name="Freeform 19" id="19"/>
            <p:cNvSpPr/>
            <p:nvPr/>
          </p:nvSpPr>
          <p:spPr>
            <a:xfrm flipH="false" flipV="false" rot="0">
              <a:off x="0" y="0"/>
              <a:ext cx="21874480" cy="715264"/>
            </a:xfrm>
            <a:custGeom>
              <a:avLst/>
              <a:gdLst/>
              <a:ahLst/>
              <a:cxnLst/>
              <a:rect r="r" b="b" t="t" l="l"/>
              <a:pathLst>
                <a:path h="715264" w="21874480">
                  <a:moveTo>
                    <a:pt x="0" y="119253"/>
                  </a:moveTo>
                  <a:cubicBezTo>
                    <a:pt x="0" y="53340"/>
                    <a:pt x="53340" y="0"/>
                    <a:pt x="119253" y="0"/>
                  </a:cubicBezTo>
                  <a:lnTo>
                    <a:pt x="21755227" y="0"/>
                  </a:lnTo>
                  <a:cubicBezTo>
                    <a:pt x="21821014" y="0"/>
                    <a:pt x="21874480" y="53340"/>
                    <a:pt x="21874480" y="119253"/>
                  </a:cubicBezTo>
                  <a:lnTo>
                    <a:pt x="21874480" y="596011"/>
                  </a:lnTo>
                  <a:cubicBezTo>
                    <a:pt x="21874480" y="661797"/>
                    <a:pt x="21821141" y="715264"/>
                    <a:pt x="21755227" y="715264"/>
                  </a:cubicBezTo>
                  <a:lnTo>
                    <a:pt x="119253" y="715264"/>
                  </a:lnTo>
                  <a:cubicBezTo>
                    <a:pt x="53340" y="715264"/>
                    <a:pt x="0" y="661924"/>
                    <a:pt x="0" y="596011"/>
                  </a:cubicBezTo>
                  <a:close/>
                </a:path>
              </a:pathLst>
            </a:custGeom>
            <a:solidFill>
              <a:srgbClr val="E6F1FC"/>
            </a:solidFill>
            <a:ln w="15240" cap="sq">
              <a:solidFill>
                <a:srgbClr val="E6F1FC"/>
              </a:solidFill>
              <a:prstDash val="solid"/>
              <a:miter/>
            </a:ln>
          </p:spPr>
        </p:sp>
      </p:grpSp>
      <p:sp>
        <p:nvSpPr>
          <p:cNvPr name="TextBox 20" id="20"/>
          <p:cNvSpPr txBox="true"/>
          <p:nvPr/>
        </p:nvSpPr>
        <p:spPr>
          <a:xfrm rot="0">
            <a:off x="1161288" y="8979408"/>
            <a:ext cx="15988284" cy="29718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Diễn giải</a:t>
            </a:r>
          </a:p>
        </p:txBody>
      </p:sp>
      <p:sp>
        <p:nvSpPr>
          <p:cNvPr name="TextBox 21" id="21"/>
          <p:cNvSpPr txBox="true"/>
          <p:nvPr/>
        </p:nvSpPr>
        <p:spPr>
          <a:xfrm rot="0">
            <a:off x="1161288" y="9336024"/>
            <a:ext cx="15988284" cy="22860"/>
          </a:xfrm>
          <a:prstGeom prst="rect">
            <a:avLst/>
          </a:prstGeom>
        </p:spPr>
        <p:txBody>
          <a:bodyPr anchor="t" rtlCol="false" tIns="0" lIns="0" bIns="0" rIns="0">
            <a:spAutoFit/>
          </a:bodyPr>
          <a:lstStyle/>
          <a:p>
            <a:pPr algn="l">
              <a:lnSpc>
                <a:spcPts val="1674"/>
              </a:lnSpc>
            </a:pPr>
            <a:r>
              <a:rPr lang="en-US" sz="1395">
                <a:solidFill>
                  <a:srgbClr val="233141"/>
                </a:solidFill>
                <a:latin typeface="Aptos"/>
                <a:ea typeface="Aptos"/>
                <a:cs typeface="Aptos"/>
                <a:sym typeface="Aptos"/>
              </a:rPr>
              <a:t>Ma trận thể hiện hiệu quả theo lớp; feature importance cho biết các đặc trưng đóng góp tương đối vào dự đoán.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5F8FC"/>
        </a:solidFill>
      </p:bgPr>
    </p:bg>
    <p:spTree>
      <p:nvGrpSpPr>
        <p:cNvPr id="1" name=""/>
        <p:cNvGrpSpPr/>
        <p:nvPr/>
      </p:nvGrpSpPr>
      <p:grpSpPr>
        <a:xfrm>
          <a:off x="0" y="0"/>
          <a:ext cx="0" cy="0"/>
          <a:chOff x="0" y="0"/>
          <a:chExt cx="0" cy="0"/>
        </a:xfrm>
      </p:grpSpPr>
      <p:grpSp>
        <p:nvGrpSpPr>
          <p:cNvPr name="Group 2" id="2"/>
          <p:cNvGrpSpPr/>
          <p:nvPr/>
        </p:nvGrpSpPr>
        <p:grpSpPr>
          <a:xfrm rot="0">
            <a:off x="-7620" y="-7620"/>
            <a:ext cx="18302783" cy="179832"/>
            <a:chOff x="0" y="0"/>
            <a:chExt cx="24403710" cy="239776"/>
          </a:xfrm>
        </p:grpSpPr>
        <p:sp>
          <p:nvSpPr>
            <p:cNvPr name="Freeform 3" id="3"/>
            <p:cNvSpPr/>
            <p:nvPr/>
          </p:nvSpPr>
          <p:spPr>
            <a:xfrm flipH="false" flipV="false" rot="0">
              <a:off x="0" y="0"/>
              <a:ext cx="24403686" cy="239776"/>
            </a:xfrm>
            <a:custGeom>
              <a:avLst/>
              <a:gdLst/>
              <a:ahLst/>
              <a:cxnLst/>
              <a:rect r="r" b="b" t="t" l="l"/>
              <a:pathLst>
                <a:path h="239776" w="24403686">
                  <a:moveTo>
                    <a:pt x="0" y="0"/>
                  </a:moveTo>
                  <a:lnTo>
                    <a:pt x="24403686" y="0"/>
                  </a:lnTo>
                  <a:lnTo>
                    <a:pt x="24403686" y="239776"/>
                  </a:lnTo>
                  <a:lnTo>
                    <a:pt x="0" y="239776"/>
                  </a:lnTo>
                  <a:close/>
                </a:path>
              </a:pathLst>
            </a:custGeom>
            <a:solidFill>
              <a:srgbClr val="30A5BE"/>
            </a:solidFill>
            <a:ln w="15240" cap="sq">
              <a:solidFill>
                <a:srgbClr val="30A5BE"/>
              </a:solidFill>
              <a:prstDash val="solid"/>
              <a:miter/>
            </a:ln>
          </p:spPr>
        </p:sp>
      </p:grpSp>
      <p:grpSp>
        <p:nvGrpSpPr>
          <p:cNvPr name="Group 4" id="4"/>
          <p:cNvGrpSpPr/>
          <p:nvPr/>
        </p:nvGrpSpPr>
        <p:grpSpPr>
          <a:xfrm rot="0">
            <a:off x="-7620" y="1775460"/>
            <a:ext cx="10370820" cy="7764780"/>
            <a:chOff x="0" y="0"/>
            <a:chExt cx="13827760" cy="10353040"/>
          </a:xfrm>
        </p:grpSpPr>
        <p:sp>
          <p:nvSpPr>
            <p:cNvPr name="Freeform 5" id="5"/>
            <p:cNvSpPr/>
            <p:nvPr/>
          </p:nvSpPr>
          <p:spPr>
            <a:xfrm flipH="false" flipV="false" rot="0">
              <a:off x="0" y="0"/>
              <a:ext cx="13827759" cy="10353040"/>
            </a:xfrm>
            <a:custGeom>
              <a:avLst/>
              <a:gdLst/>
              <a:ahLst/>
              <a:cxnLst/>
              <a:rect r="r" b="b" t="t" l="l"/>
              <a:pathLst>
                <a:path h="10353040" w="13827759">
                  <a:moveTo>
                    <a:pt x="0" y="1725549"/>
                  </a:moveTo>
                  <a:cubicBezTo>
                    <a:pt x="0" y="772541"/>
                    <a:pt x="833144" y="0"/>
                    <a:pt x="1860913" y="0"/>
                  </a:cubicBezTo>
                  <a:lnTo>
                    <a:pt x="11966847" y="0"/>
                  </a:lnTo>
                  <a:cubicBezTo>
                    <a:pt x="12994615" y="0"/>
                    <a:pt x="13827759" y="772541"/>
                    <a:pt x="13827759" y="1725549"/>
                  </a:cubicBezTo>
                  <a:lnTo>
                    <a:pt x="13827759" y="8627491"/>
                  </a:lnTo>
                  <a:cubicBezTo>
                    <a:pt x="13827759" y="9580499"/>
                    <a:pt x="12994615" y="10353040"/>
                    <a:pt x="11966847" y="10353040"/>
                  </a:cubicBezTo>
                  <a:lnTo>
                    <a:pt x="1860913" y="10353040"/>
                  </a:lnTo>
                  <a:cubicBezTo>
                    <a:pt x="833144" y="10353040"/>
                    <a:pt x="0" y="9580499"/>
                    <a:pt x="0" y="8627491"/>
                  </a:cubicBezTo>
                  <a:close/>
                </a:path>
              </a:pathLst>
            </a:custGeom>
            <a:blipFill>
              <a:blip r:embed="rId2"/>
              <a:stretch>
                <a:fillRect l="-836" t="0" r="-836" b="0"/>
              </a:stretch>
            </a:blipFill>
            <a:ln w="15240" cap="sq">
              <a:solidFill>
                <a:srgbClr val="DAE4EF"/>
              </a:solidFill>
              <a:prstDash val="solid"/>
              <a:miter/>
            </a:ln>
          </p:spPr>
        </p:sp>
      </p:grpSp>
      <p:grpSp>
        <p:nvGrpSpPr>
          <p:cNvPr name="Group 6" id="6"/>
          <p:cNvGrpSpPr/>
          <p:nvPr/>
        </p:nvGrpSpPr>
        <p:grpSpPr>
          <a:xfrm rot="0">
            <a:off x="10690860" y="1775460"/>
            <a:ext cx="6804660" cy="7764780"/>
            <a:chOff x="0" y="0"/>
            <a:chExt cx="9072880" cy="10353040"/>
          </a:xfrm>
        </p:grpSpPr>
        <p:sp>
          <p:nvSpPr>
            <p:cNvPr name="Freeform 7" id="7"/>
            <p:cNvSpPr/>
            <p:nvPr/>
          </p:nvSpPr>
          <p:spPr>
            <a:xfrm flipH="false" flipV="false" rot="0">
              <a:off x="0" y="0"/>
              <a:ext cx="9072880" cy="10353040"/>
            </a:xfrm>
            <a:custGeom>
              <a:avLst/>
              <a:gdLst/>
              <a:ahLst/>
              <a:cxnLst/>
              <a:rect r="r" b="b" t="t" l="l"/>
              <a:pathLst>
                <a:path h="10353040" w="9072880">
                  <a:moveTo>
                    <a:pt x="0" y="1512189"/>
                  </a:moveTo>
                  <a:cubicBezTo>
                    <a:pt x="0" y="677037"/>
                    <a:pt x="677037" y="0"/>
                    <a:pt x="1512189" y="0"/>
                  </a:cubicBezTo>
                  <a:lnTo>
                    <a:pt x="7560691" y="0"/>
                  </a:lnTo>
                  <a:cubicBezTo>
                    <a:pt x="8395843" y="0"/>
                    <a:pt x="9072880" y="677037"/>
                    <a:pt x="9072880" y="1512189"/>
                  </a:cubicBezTo>
                  <a:lnTo>
                    <a:pt x="9072880" y="8840851"/>
                  </a:lnTo>
                  <a:cubicBezTo>
                    <a:pt x="9072880" y="9676003"/>
                    <a:pt x="8395843" y="10353040"/>
                    <a:pt x="7560691" y="10353040"/>
                  </a:cubicBezTo>
                  <a:lnTo>
                    <a:pt x="1512189" y="10353040"/>
                  </a:lnTo>
                  <a:cubicBezTo>
                    <a:pt x="677037" y="10353040"/>
                    <a:pt x="0" y="9676003"/>
                    <a:pt x="0" y="8840851"/>
                  </a:cubicBezTo>
                  <a:close/>
                </a:path>
              </a:pathLst>
            </a:custGeom>
            <a:solidFill>
              <a:srgbClr val="FFFFFF"/>
            </a:solidFill>
            <a:ln w="15240" cap="sq">
              <a:solidFill>
                <a:srgbClr val="DAE4EF"/>
              </a:solidFill>
              <a:prstDash val="solid"/>
              <a:miter/>
            </a:ln>
          </p:spPr>
        </p:sp>
      </p:grpSp>
      <p:grpSp>
        <p:nvGrpSpPr>
          <p:cNvPr name="Group 8" id="8"/>
          <p:cNvGrpSpPr/>
          <p:nvPr/>
        </p:nvGrpSpPr>
        <p:grpSpPr>
          <a:xfrm rot="0">
            <a:off x="11033760" y="2392680"/>
            <a:ext cx="6118860" cy="1249680"/>
            <a:chOff x="0" y="0"/>
            <a:chExt cx="8158480" cy="1666240"/>
          </a:xfrm>
        </p:grpSpPr>
        <p:sp>
          <p:nvSpPr>
            <p:cNvPr name="Freeform 9" id="9"/>
            <p:cNvSpPr/>
            <p:nvPr/>
          </p:nvSpPr>
          <p:spPr>
            <a:xfrm flipH="false" flipV="false" rot="0">
              <a:off x="0" y="0"/>
              <a:ext cx="8158480" cy="1666367"/>
            </a:xfrm>
            <a:custGeom>
              <a:avLst/>
              <a:gdLst/>
              <a:ahLst/>
              <a:cxnLst/>
              <a:rect r="r" b="b" t="t" l="l"/>
              <a:pathLst>
                <a:path h="1666367" w="8158480">
                  <a:moveTo>
                    <a:pt x="0" y="277749"/>
                  </a:moveTo>
                  <a:cubicBezTo>
                    <a:pt x="0" y="124333"/>
                    <a:pt x="124333" y="0"/>
                    <a:pt x="277749" y="0"/>
                  </a:cubicBezTo>
                  <a:lnTo>
                    <a:pt x="7880731" y="0"/>
                  </a:lnTo>
                  <a:cubicBezTo>
                    <a:pt x="8034148" y="0"/>
                    <a:pt x="8158480" y="124333"/>
                    <a:pt x="8158480" y="277749"/>
                  </a:cubicBezTo>
                  <a:lnTo>
                    <a:pt x="8158480" y="1388618"/>
                  </a:lnTo>
                  <a:cubicBezTo>
                    <a:pt x="8158480" y="1542034"/>
                    <a:pt x="8034148" y="1666367"/>
                    <a:pt x="7880731" y="1666367"/>
                  </a:cubicBezTo>
                  <a:lnTo>
                    <a:pt x="277749" y="1666367"/>
                  </a:lnTo>
                  <a:cubicBezTo>
                    <a:pt x="124333" y="1666240"/>
                    <a:pt x="0" y="1541907"/>
                    <a:pt x="0" y="1388491"/>
                  </a:cubicBezTo>
                  <a:close/>
                </a:path>
              </a:pathLst>
            </a:custGeom>
            <a:solidFill>
              <a:srgbClr val="E6F1FC"/>
            </a:solidFill>
            <a:ln w="15240" cap="sq">
              <a:solidFill>
                <a:srgbClr val="E6F1FC"/>
              </a:solidFill>
              <a:prstDash val="solid"/>
              <a:miter/>
            </a:ln>
          </p:spPr>
        </p:sp>
      </p:grpSp>
      <p:grpSp>
        <p:nvGrpSpPr>
          <p:cNvPr name="Group 10" id="10"/>
          <p:cNvGrpSpPr/>
          <p:nvPr/>
        </p:nvGrpSpPr>
        <p:grpSpPr>
          <a:xfrm rot="0">
            <a:off x="11033760" y="3901440"/>
            <a:ext cx="6118860" cy="1249680"/>
            <a:chOff x="0" y="0"/>
            <a:chExt cx="8158480" cy="1666240"/>
          </a:xfrm>
        </p:grpSpPr>
        <p:sp>
          <p:nvSpPr>
            <p:cNvPr name="Freeform 11" id="11"/>
            <p:cNvSpPr/>
            <p:nvPr/>
          </p:nvSpPr>
          <p:spPr>
            <a:xfrm flipH="false" flipV="false" rot="0">
              <a:off x="0" y="0"/>
              <a:ext cx="8158480" cy="1666367"/>
            </a:xfrm>
            <a:custGeom>
              <a:avLst/>
              <a:gdLst/>
              <a:ahLst/>
              <a:cxnLst/>
              <a:rect r="r" b="b" t="t" l="l"/>
              <a:pathLst>
                <a:path h="1666367" w="8158480">
                  <a:moveTo>
                    <a:pt x="0" y="277749"/>
                  </a:moveTo>
                  <a:cubicBezTo>
                    <a:pt x="0" y="124333"/>
                    <a:pt x="124333" y="0"/>
                    <a:pt x="277749" y="0"/>
                  </a:cubicBezTo>
                  <a:lnTo>
                    <a:pt x="7880731" y="0"/>
                  </a:lnTo>
                  <a:cubicBezTo>
                    <a:pt x="8034148" y="0"/>
                    <a:pt x="8158480" y="124333"/>
                    <a:pt x="8158480" y="277749"/>
                  </a:cubicBezTo>
                  <a:lnTo>
                    <a:pt x="8158480" y="1388618"/>
                  </a:lnTo>
                  <a:cubicBezTo>
                    <a:pt x="8158480" y="1542034"/>
                    <a:pt x="8034148" y="1666367"/>
                    <a:pt x="7880731" y="1666367"/>
                  </a:cubicBezTo>
                  <a:lnTo>
                    <a:pt x="277749" y="1666367"/>
                  </a:lnTo>
                  <a:cubicBezTo>
                    <a:pt x="124333" y="1666240"/>
                    <a:pt x="0" y="1541907"/>
                    <a:pt x="0" y="1388491"/>
                  </a:cubicBezTo>
                  <a:close/>
                </a:path>
              </a:pathLst>
            </a:custGeom>
            <a:solidFill>
              <a:srgbClr val="E6F5ED"/>
            </a:solidFill>
            <a:ln w="15240" cap="sq">
              <a:solidFill>
                <a:srgbClr val="E6F5ED"/>
              </a:solidFill>
              <a:prstDash val="solid"/>
              <a:miter/>
            </a:ln>
          </p:spPr>
        </p:sp>
      </p:grpSp>
      <p:grpSp>
        <p:nvGrpSpPr>
          <p:cNvPr name="Group 12" id="12"/>
          <p:cNvGrpSpPr/>
          <p:nvPr/>
        </p:nvGrpSpPr>
        <p:grpSpPr>
          <a:xfrm rot="0">
            <a:off x="11033760" y="5410200"/>
            <a:ext cx="6118860" cy="1249680"/>
            <a:chOff x="0" y="0"/>
            <a:chExt cx="8158480" cy="1666240"/>
          </a:xfrm>
        </p:grpSpPr>
        <p:sp>
          <p:nvSpPr>
            <p:cNvPr name="Freeform 13" id="13"/>
            <p:cNvSpPr/>
            <p:nvPr/>
          </p:nvSpPr>
          <p:spPr>
            <a:xfrm flipH="false" flipV="false" rot="0">
              <a:off x="0" y="0"/>
              <a:ext cx="8158480" cy="1666367"/>
            </a:xfrm>
            <a:custGeom>
              <a:avLst/>
              <a:gdLst/>
              <a:ahLst/>
              <a:cxnLst/>
              <a:rect r="r" b="b" t="t" l="l"/>
              <a:pathLst>
                <a:path h="1666367" w="8158480">
                  <a:moveTo>
                    <a:pt x="0" y="277749"/>
                  </a:moveTo>
                  <a:cubicBezTo>
                    <a:pt x="0" y="124333"/>
                    <a:pt x="124333" y="0"/>
                    <a:pt x="277749" y="0"/>
                  </a:cubicBezTo>
                  <a:lnTo>
                    <a:pt x="7880731" y="0"/>
                  </a:lnTo>
                  <a:cubicBezTo>
                    <a:pt x="8034148" y="0"/>
                    <a:pt x="8158480" y="124333"/>
                    <a:pt x="8158480" y="277749"/>
                  </a:cubicBezTo>
                  <a:lnTo>
                    <a:pt x="8158480" y="1388618"/>
                  </a:lnTo>
                  <a:cubicBezTo>
                    <a:pt x="8158480" y="1542034"/>
                    <a:pt x="8034148" y="1666367"/>
                    <a:pt x="7880731" y="1666367"/>
                  </a:cubicBezTo>
                  <a:lnTo>
                    <a:pt x="277749" y="1666367"/>
                  </a:lnTo>
                  <a:cubicBezTo>
                    <a:pt x="124333" y="1666240"/>
                    <a:pt x="0" y="1541907"/>
                    <a:pt x="0" y="1388491"/>
                  </a:cubicBezTo>
                  <a:close/>
                </a:path>
              </a:pathLst>
            </a:custGeom>
            <a:solidFill>
              <a:srgbClr val="E6F1FC"/>
            </a:solidFill>
            <a:ln w="15240" cap="sq">
              <a:solidFill>
                <a:srgbClr val="E6F1FC"/>
              </a:solidFill>
              <a:prstDash val="solid"/>
              <a:miter/>
            </a:ln>
          </p:spPr>
        </p:sp>
      </p:grpSp>
      <p:grpSp>
        <p:nvGrpSpPr>
          <p:cNvPr name="Group 14" id="14"/>
          <p:cNvGrpSpPr/>
          <p:nvPr/>
        </p:nvGrpSpPr>
        <p:grpSpPr>
          <a:xfrm rot="0">
            <a:off x="11033760" y="6918960"/>
            <a:ext cx="6118860" cy="1249680"/>
            <a:chOff x="0" y="0"/>
            <a:chExt cx="8158480" cy="1666240"/>
          </a:xfrm>
        </p:grpSpPr>
        <p:sp>
          <p:nvSpPr>
            <p:cNvPr name="Freeform 15" id="15"/>
            <p:cNvSpPr/>
            <p:nvPr/>
          </p:nvSpPr>
          <p:spPr>
            <a:xfrm flipH="false" flipV="false" rot="0">
              <a:off x="0" y="0"/>
              <a:ext cx="8158480" cy="1666367"/>
            </a:xfrm>
            <a:custGeom>
              <a:avLst/>
              <a:gdLst/>
              <a:ahLst/>
              <a:cxnLst/>
              <a:rect r="r" b="b" t="t" l="l"/>
              <a:pathLst>
                <a:path h="1666367" w="8158480">
                  <a:moveTo>
                    <a:pt x="0" y="277749"/>
                  </a:moveTo>
                  <a:cubicBezTo>
                    <a:pt x="0" y="124333"/>
                    <a:pt x="124333" y="0"/>
                    <a:pt x="277749" y="0"/>
                  </a:cubicBezTo>
                  <a:lnTo>
                    <a:pt x="7880731" y="0"/>
                  </a:lnTo>
                  <a:cubicBezTo>
                    <a:pt x="8034148" y="0"/>
                    <a:pt x="8158480" y="124333"/>
                    <a:pt x="8158480" y="277749"/>
                  </a:cubicBezTo>
                  <a:lnTo>
                    <a:pt x="8158480" y="1388618"/>
                  </a:lnTo>
                  <a:cubicBezTo>
                    <a:pt x="8158480" y="1542034"/>
                    <a:pt x="8034148" y="1666367"/>
                    <a:pt x="7880731" y="1666367"/>
                  </a:cubicBezTo>
                  <a:lnTo>
                    <a:pt x="277749" y="1666367"/>
                  </a:lnTo>
                  <a:cubicBezTo>
                    <a:pt x="124333" y="1666240"/>
                    <a:pt x="0" y="1541907"/>
                    <a:pt x="0" y="1388491"/>
                  </a:cubicBezTo>
                  <a:close/>
                </a:path>
              </a:pathLst>
            </a:custGeom>
            <a:solidFill>
              <a:srgbClr val="FFF4E0"/>
            </a:solidFill>
            <a:ln w="15240" cap="sq">
              <a:solidFill>
                <a:srgbClr val="FFF4E0"/>
              </a:solidFill>
              <a:prstDash val="solid"/>
              <a:miter/>
            </a:ln>
          </p:spPr>
        </p:sp>
      </p:grpSp>
      <p:sp>
        <p:nvSpPr>
          <p:cNvPr name="TextBox 16" id="16"/>
          <p:cNvSpPr txBox="true"/>
          <p:nvPr/>
        </p:nvSpPr>
        <p:spPr>
          <a:xfrm rot="0">
            <a:off x="667512" y="352044"/>
            <a:ext cx="15892272" cy="626364"/>
          </a:xfrm>
          <a:prstGeom prst="rect">
            <a:avLst/>
          </a:prstGeom>
        </p:spPr>
        <p:txBody>
          <a:bodyPr anchor="t" rtlCol="false" tIns="0" lIns="0" bIns="0" rIns="0">
            <a:spAutoFit/>
          </a:bodyPr>
          <a:lstStyle/>
          <a:p>
            <a:pPr algn="l">
              <a:lnSpc>
                <a:spcPts val="3960"/>
              </a:lnSpc>
            </a:pPr>
            <a:r>
              <a:rPr lang="en-US" sz="3300" b="true">
                <a:solidFill>
                  <a:srgbClr val="112B4C"/>
                </a:solidFill>
                <a:latin typeface="Aptos Bold"/>
                <a:ea typeface="Aptos Bold"/>
                <a:cs typeface="Aptos Bold"/>
                <a:sym typeface="Aptos Bold"/>
              </a:rPr>
              <a:t>Random Forest: đối chiếu CPU và Spark</a:t>
            </a:r>
          </a:p>
        </p:txBody>
      </p:sp>
      <p:sp>
        <p:nvSpPr>
          <p:cNvPr name="TextBox 17" id="17"/>
          <p:cNvSpPr txBox="true"/>
          <p:nvPr/>
        </p:nvSpPr>
        <p:spPr>
          <a:xfrm rot="0">
            <a:off x="694944" y="1069467"/>
            <a:ext cx="15755112" cy="265557"/>
          </a:xfrm>
          <a:prstGeom prst="rect">
            <a:avLst/>
          </a:prstGeom>
        </p:spPr>
        <p:txBody>
          <a:bodyPr anchor="t" rtlCol="false" tIns="0" lIns="0" bIns="0" rIns="0">
            <a:spAutoFit/>
          </a:bodyPr>
          <a:lstStyle/>
          <a:p>
            <a:pPr algn="l">
              <a:lnSpc>
                <a:spcPts val="1620"/>
              </a:lnSpc>
            </a:pPr>
            <a:r>
              <a:rPr lang="en-US" sz="1350" b="true">
                <a:solidFill>
                  <a:srgbClr val="30A5BE"/>
                </a:solidFill>
                <a:latin typeface="Aptos Bold"/>
                <a:ea typeface="Aptos Bold"/>
                <a:cs typeface="Aptos Bold"/>
                <a:sym typeface="Aptos Bold"/>
              </a:rPr>
              <a:t>05 / ĐỐI CHIẾU HAI HƯỚNG</a:t>
            </a:r>
          </a:p>
        </p:txBody>
      </p:sp>
      <p:sp>
        <p:nvSpPr>
          <p:cNvPr name="TextBox 18" id="18"/>
          <p:cNvSpPr txBox="true"/>
          <p:nvPr/>
        </p:nvSpPr>
        <p:spPr>
          <a:xfrm rot="0">
            <a:off x="17085564" y="544068"/>
            <a:ext cx="640080" cy="256032"/>
          </a:xfrm>
          <a:prstGeom prst="rect">
            <a:avLst/>
          </a:prstGeom>
        </p:spPr>
        <p:txBody>
          <a:bodyPr anchor="t" rtlCol="false" tIns="0" lIns="0" bIns="0" rIns="0">
            <a:spAutoFit/>
          </a:bodyPr>
          <a:lstStyle/>
          <a:p>
            <a:pPr algn="ctr">
              <a:lnSpc>
                <a:spcPts val="1800"/>
              </a:lnSpc>
            </a:pPr>
            <a:r>
              <a:rPr lang="en-US" sz="1500" b="true">
                <a:solidFill>
                  <a:srgbClr val="FFFFFF"/>
                </a:solidFill>
                <a:latin typeface="Aptos Bold"/>
                <a:ea typeface="Aptos Bold"/>
                <a:cs typeface="Aptos Bold"/>
                <a:sym typeface="Aptos Bold"/>
              </a:rPr>
              <a:t>12</a:t>
            </a:r>
          </a:p>
        </p:txBody>
      </p:sp>
      <p:sp>
        <p:nvSpPr>
          <p:cNvPr name="TextBox 19" id="19"/>
          <p:cNvSpPr txBox="true"/>
          <p:nvPr/>
        </p:nvSpPr>
        <p:spPr>
          <a:xfrm rot="0">
            <a:off x="658368" y="9916668"/>
            <a:ext cx="16459200" cy="164592"/>
          </a:xfrm>
          <a:prstGeom prst="rect">
            <a:avLst/>
          </a:prstGeom>
        </p:spPr>
        <p:txBody>
          <a:bodyPr anchor="t" rtlCol="false" tIns="0" lIns="0" bIns="0" rIns="0">
            <a:spAutoFit/>
          </a:bodyPr>
          <a:lstStyle/>
          <a:p>
            <a:pPr algn="l">
              <a:lnSpc>
                <a:spcPts val="1439"/>
              </a:lnSpc>
            </a:pPr>
            <a:r>
              <a:rPr lang="en-US" sz="1200">
                <a:solidFill>
                  <a:srgbClr val="5B6C80"/>
                </a:solidFill>
                <a:latin typeface="Aptos"/>
                <a:ea typeface="Aptos"/>
                <a:cs typeface="Aptos"/>
                <a:sym typeface="Aptos"/>
              </a:rPr>
              <a:t>NHÓM 6  |  NHẬP MÔN BIG DATA  |  FLIGHT DELAY CAUSE PREDICTION</a:t>
            </a:r>
          </a:p>
        </p:txBody>
      </p:sp>
      <p:sp>
        <p:nvSpPr>
          <p:cNvPr name="TextBox 20" id="20"/>
          <p:cNvSpPr txBox="true"/>
          <p:nvPr/>
        </p:nvSpPr>
        <p:spPr>
          <a:xfrm rot="0">
            <a:off x="10927080" y="1929384"/>
            <a:ext cx="6332220" cy="365760"/>
          </a:xfrm>
          <a:prstGeom prst="rect">
            <a:avLst/>
          </a:prstGeom>
        </p:spPr>
        <p:txBody>
          <a:bodyPr anchor="t" rtlCol="false" tIns="0" lIns="0" bIns="0" rIns="0">
            <a:spAutoFit/>
          </a:bodyPr>
          <a:lstStyle/>
          <a:p>
            <a:pPr algn="l">
              <a:lnSpc>
                <a:spcPts val="2340"/>
              </a:lnSpc>
            </a:pPr>
            <a:r>
              <a:rPr lang="en-US" sz="1950" b="true">
                <a:solidFill>
                  <a:srgbClr val="112B4C"/>
                </a:solidFill>
                <a:latin typeface="Aptos Bold"/>
                <a:ea typeface="Aptos Bold"/>
                <a:cs typeface="Aptos Bold"/>
                <a:sym typeface="Aptos Bold"/>
              </a:rPr>
              <a:t>Các chỉ số nổi bật</a:t>
            </a:r>
          </a:p>
        </p:txBody>
      </p:sp>
      <p:sp>
        <p:nvSpPr>
          <p:cNvPr name="TextBox 21" id="21"/>
          <p:cNvSpPr txBox="true"/>
          <p:nvPr/>
        </p:nvSpPr>
        <p:spPr>
          <a:xfrm rot="0">
            <a:off x="11242548" y="2491740"/>
            <a:ext cx="5701284" cy="29718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Accuracy</a:t>
            </a:r>
          </a:p>
        </p:txBody>
      </p:sp>
      <p:sp>
        <p:nvSpPr>
          <p:cNvPr name="TextBox 22" id="22"/>
          <p:cNvSpPr txBox="true"/>
          <p:nvPr/>
        </p:nvSpPr>
        <p:spPr>
          <a:xfrm rot="0">
            <a:off x="11242548" y="2848356"/>
            <a:ext cx="5701284" cy="736092"/>
          </a:xfrm>
          <a:prstGeom prst="rect">
            <a:avLst/>
          </a:prstGeom>
        </p:spPr>
        <p:txBody>
          <a:bodyPr anchor="t" rtlCol="false" tIns="0" lIns="0" bIns="0" rIns="0">
            <a:spAutoFit/>
          </a:bodyPr>
          <a:lstStyle/>
          <a:p>
            <a:pPr algn="l">
              <a:lnSpc>
                <a:spcPts val="1980"/>
              </a:lnSpc>
            </a:pPr>
            <a:r>
              <a:rPr lang="en-US" sz="1650">
                <a:solidFill>
                  <a:srgbClr val="233141"/>
                </a:solidFill>
                <a:latin typeface="Aptos"/>
                <a:ea typeface="Aptos"/>
                <a:cs typeface="Aptos"/>
                <a:sym typeface="Aptos"/>
              </a:rPr>
              <a:t>Spark 79,20% • CPU 79,18%</a:t>
            </a:r>
          </a:p>
        </p:txBody>
      </p:sp>
      <p:sp>
        <p:nvSpPr>
          <p:cNvPr name="TextBox 23" id="23"/>
          <p:cNvSpPr txBox="true"/>
          <p:nvPr/>
        </p:nvSpPr>
        <p:spPr>
          <a:xfrm rot="0">
            <a:off x="11242548" y="4000500"/>
            <a:ext cx="5701284" cy="297180"/>
          </a:xfrm>
          <a:prstGeom prst="rect">
            <a:avLst/>
          </a:prstGeom>
        </p:spPr>
        <p:txBody>
          <a:bodyPr anchor="t" rtlCol="false" tIns="0" lIns="0" bIns="0" rIns="0">
            <a:spAutoFit/>
          </a:bodyPr>
          <a:lstStyle/>
          <a:p>
            <a:pPr algn="l">
              <a:lnSpc>
                <a:spcPts val="2160"/>
              </a:lnSpc>
            </a:pPr>
            <a:r>
              <a:rPr lang="en-US" sz="1800" b="true">
                <a:solidFill>
                  <a:srgbClr val="238765"/>
                </a:solidFill>
                <a:latin typeface="Aptos Bold"/>
                <a:ea typeface="Aptos Bold"/>
                <a:cs typeface="Aptos Bold"/>
                <a:sym typeface="Aptos Bold"/>
              </a:rPr>
              <a:t>Weighted F1</a:t>
            </a:r>
          </a:p>
        </p:txBody>
      </p:sp>
      <p:sp>
        <p:nvSpPr>
          <p:cNvPr name="TextBox 24" id="24"/>
          <p:cNvSpPr txBox="true"/>
          <p:nvPr/>
        </p:nvSpPr>
        <p:spPr>
          <a:xfrm rot="0">
            <a:off x="11242548" y="4357116"/>
            <a:ext cx="5701284" cy="736092"/>
          </a:xfrm>
          <a:prstGeom prst="rect">
            <a:avLst/>
          </a:prstGeom>
        </p:spPr>
        <p:txBody>
          <a:bodyPr anchor="t" rtlCol="false" tIns="0" lIns="0" bIns="0" rIns="0">
            <a:spAutoFit/>
          </a:bodyPr>
          <a:lstStyle/>
          <a:p>
            <a:pPr algn="l">
              <a:lnSpc>
                <a:spcPts val="1980"/>
              </a:lnSpc>
            </a:pPr>
            <a:r>
              <a:rPr lang="en-US" sz="1650">
                <a:solidFill>
                  <a:srgbClr val="233141"/>
                </a:solidFill>
                <a:latin typeface="Aptos"/>
                <a:ea typeface="Aptos"/>
                <a:cs typeface="Aptos"/>
                <a:sym typeface="Aptos"/>
              </a:rPr>
              <a:t>Spark 70,00% • CPU 69,98%</a:t>
            </a:r>
          </a:p>
        </p:txBody>
      </p:sp>
      <p:sp>
        <p:nvSpPr>
          <p:cNvPr name="TextBox 25" id="25"/>
          <p:cNvSpPr txBox="true"/>
          <p:nvPr/>
        </p:nvSpPr>
        <p:spPr>
          <a:xfrm rot="0">
            <a:off x="11242548" y="5509260"/>
            <a:ext cx="5701284" cy="297180"/>
          </a:xfrm>
          <a:prstGeom prst="rect">
            <a:avLst/>
          </a:prstGeom>
        </p:spPr>
        <p:txBody>
          <a:bodyPr anchor="t" rtlCol="false" tIns="0" lIns="0" bIns="0" rIns="0">
            <a:spAutoFit/>
          </a:bodyPr>
          <a:lstStyle/>
          <a:p>
            <a:pPr algn="l">
              <a:lnSpc>
                <a:spcPts val="2160"/>
              </a:lnSpc>
            </a:pPr>
            <a:r>
              <a:rPr lang="en-US" sz="1800" b="true">
                <a:solidFill>
                  <a:srgbClr val="2A69AA"/>
                </a:solidFill>
                <a:latin typeface="Aptos Bold"/>
                <a:ea typeface="Aptos Bold"/>
                <a:cs typeface="Aptos Bold"/>
                <a:sym typeface="Aptos Bold"/>
              </a:rPr>
              <a:t>Latency / 1.000 mẫu</a:t>
            </a:r>
          </a:p>
        </p:txBody>
      </p:sp>
      <p:sp>
        <p:nvSpPr>
          <p:cNvPr name="TextBox 26" id="26"/>
          <p:cNvSpPr txBox="true"/>
          <p:nvPr/>
        </p:nvSpPr>
        <p:spPr>
          <a:xfrm rot="0">
            <a:off x="11242548" y="5865876"/>
            <a:ext cx="5701284" cy="736092"/>
          </a:xfrm>
          <a:prstGeom prst="rect">
            <a:avLst/>
          </a:prstGeom>
        </p:spPr>
        <p:txBody>
          <a:bodyPr anchor="t" rtlCol="false" tIns="0" lIns="0" bIns="0" rIns="0">
            <a:spAutoFit/>
          </a:bodyPr>
          <a:lstStyle/>
          <a:p>
            <a:pPr algn="l">
              <a:lnSpc>
                <a:spcPts val="1980"/>
              </a:lnSpc>
            </a:pPr>
            <a:r>
              <a:rPr lang="en-US" sz="1650">
                <a:solidFill>
                  <a:srgbClr val="233141"/>
                </a:solidFill>
                <a:latin typeface="Aptos"/>
                <a:ea typeface="Aptos"/>
                <a:cs typeface="Aptos"/>
                <a:sym typeface="Aptos"/>
              </a:rPr>
              <a:t>Spark 1,86 ms • CPU 16,31 ms</a:t>
            </a:r>
          </a:p>
        </p:txBody>
      </p:sp>
      <p:sp>
        <p:nvSpPr>
          <p:cNvPr name="TextBox 27" id="27"/>
          <p:cNvSpPr txBox="true"/>
          <p:nvPr/>
        </p:nvSpPr>
        <p:spPr>
          <a:xfrm rot="0">
            <a:off x="11242548" y="7018020"/>
            <a:ext cx="5701284" cy="297180"/>
          </a:xfrm>
          <a:prstGeom prst="rect">
            <a:avLst/>
          </a:prstGeom>
        </p:spPr>
        <p:txBody>
          <a:bodyPr anchor="t" rtlCol="false" tIns="0" lIns="0" bIns="0" rIns="0">
            <a:spAutoFit/>
          </a:bodyPr>
          <a:lstStyle/>
          <a:p>
            <a:pPr algn="l">
              <a:lnSpc>
                <a:spcPts val="2160"/>
              </a:lnSpc>
            </a:pPr>
            <a:r>
              <a:rPr lang="en-US" sz="1800" b="true">
                <a:solidFill>
                  <a:srgbClr val="DA8F23"/>
                </a:solidFill>
                <a:latin typeface="Aptos Bold"/>
                <a:ea typeface="Aptos Bold"/>
                <a:cs typeface="Aptos Bold"/>
                <a:sym typeface="Aptos Bold"/>
              </a:rPr>
              <a:t>RAM đỉnh ghi nhận</a:t>
            </a:r>
          </a:p>
        </p:txBody>
      </p:sp>
      <p:sp>
        <p:nvSpPr>
          <p:cNvPr name="TextBox 28" id="28"/>
          <p:cNvSpPr txBox="true"/>
          <p:nvPr/>
        </p:nvSpPr>
        <p:spPr>
          <a:xfrm rot="0">
            <a:off x="11242548" y="7374636"/>
            <a:ext cx="5701284" cy="736092"/>
          </a:xfrm>
          <a:prstGeom prst="rect">
            <a:avLst/>
          </a:prstGeom>
        </p:spPr>
        <p:txBody>
          <a:bodyPr anchor="t" rtlCol="false" tIns="0" lIns="0" bIns="0" rIns="0">
            <a:spAutoFit/>
          </a:bodyPr>
          <a:lstStyle/>
          <a:p>
            <a:pPr algn="l">
              <a:lnSpc>
                <a:spcPts val="1889"/>
              </a:lnSpc>
            </a:pPr>
            <a:r>
              <a:rPr lang="en-US" sz="1575">
                <a:solidFill>
                  <a:srgbClr val="233141"/>
                </a:solidFill>
                <a:latin typeface="Aptos"/>
                <a:ea typeface="Aptos"/>
                <a:cs typeface="Aptos"/>
                <a:sym typeface="Aptos"/>
              </a:rPr>
              <a:t>Spark Driver 392,9 MB • CPU 1.756,5 MB</a:t>
            </a:r>
          </a:p>
        </p:txBody>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23444"/>
            <a:chOff x="0" y="0"/>
            <a:chExt cx="24383390" cy="164592"/>
          </a:xfrm>
        </p:grpSpPr>
        <p:sp>
          <p:nvSpPr>
            <p:cNvPr name="Freeform 3" id="3"/>
            <p:cNvSpPr/>
            <p:nvPr/>
          </p:nvSpPr>
          <p:spPr>
            <a:xfrm flipH="false" flipV="false" rot="0">
              <a:off x="0" y="0"/>
              <a:ext cx="24383364" cy="164592"/>
            </a:xfrm>
            <a:custGeom>
              <a:avLst/>
              <a:gdLst/>
              <a:ahLst/>
              <a:cxnLst/>
              <a:rect r="r" b="b" t="t" l="l"/>
              <a:pathLst>
                <a:path h="164592" w="24383364">
                  <a:moveTo>
                    <a:pt x="0" y="0"/>
                  </a:moveTo>
                  <a:lnTo>
                    <a:pt x="24383364" y="0"/>
                  </a:lnTo>
                  <a:lnTo>
                    <a:pt x="24383364" y="164592"/>
                  </a:lnTo>
                  <a:lnTo>
                    <a:pt x="0" y="164592"/>
                  </a:lnTo>
                  <a:close/>
                </a:path>
              </a:pathLst>
            </a:custGeom>
            <a:solidFill>
              <a:srgbClr val="2D6699"/>
            </a:solidFill>
          </p:spPr>
        </p:sp>
      </p:grpSp>
      <p:sp>
        <p:nvSpPr>
          <p:cNvPr name="TextBox 4" id="4"/>
          <p:cNvSpPr txBox="true"/>
          <p:nvPr/>
        </p:nvSpPr>
        <p:spPr>
          <a:xfrm rot="0">
            <a:off x="790956" y="402336"/>
            <a:ext cx="16660368" cy="347472"/>
          </a:xfrm>
          <a:prstGeom prst="rect">
            <a:avLst/>
          </a:prstGeom>
        </p:spPr>
        <p:txBody>
          <a:bodyPr anchor="t" rtlCol="false" tIns="0" lIns="0" bIns="0" rIns="0">
            <a:spAutoFit/>
          </a:bodyPr>
          <a:lstStyle/>
          <a:p>
            <a:pPr algn="l">
              <a:lnSpc>
                <a:spcPts val="1800"/>
              </a:lnSpc>
            </a:pPr>
            <a:r>
              <a:rPr lang="en-US" sz="1500" b="true">
                <a:solidFill>
                  <a:srgbClr val="2D6699"/>
                </a:solidFill>
                <a:latin typeface="Aptos Bold"/>
                <a:ea typeface="Aptos Bold"/>
                <a:cs typeface="Aptos Bold"/>
                <a:sym typeface="Aptos Bold"/>
              </a:rPr>
              <a:t>KẾT LUẬN</a:t>
            </a:r>
          </a:p>
        </p:txBody>
      </p:sp>
      <p:sp>
        <p:nvSpPr>
          <p:cNvPr name="TextBox 5" id="5"/>
          <p:cNvSpPr txBox="true"/>
          <p:nvPr/>
        </p:nvSpPr>
        <p:spPr>
          <a:xfrm rot="0">
            <a:off x="790956" y="868680"/>
            <a:ext cx="16660368" cy="758952"/>
          </a:xfrm>
          <a:prstGeom prst="rect">
            <a:avLst/>
          </a:prstGeom>
        </p:spPr>
        <p:txBody>
          <a:bodyPr anchor="t" rtlCol="false" tIns="0" lIns="0" bIns="0" rIns="0">
            <a:spAutoFit/>
          </a:bodyPr>
          <a:lstStyle/>
          <a:p>
            <a:pPr algn="l">
              <a:lnSpc>
                <a:spcPts val="4680"/>
              </a:lnSpc>
            </a:pPr>
            <a:r>
              <a:rPr lang="en-US" sz="3900" b="true">
                <a:solidFill>
                  <a:srgbClr val="19314F"/>
                </a:solidFill>
                <a:latin typeface="Aptos Bold"/>
                <a:ea typeface="Aptos Bold"/>
                <a:cs typeface="Aptos Bold"/>
                <a:sym typeface="Aptos Bold"/>
              </a:rPr>
              <a:t>Kết luận thực nghiệm</a:t>
            </a:r>
          </a:p>
        </p:txBody>
      </p:sp>
      <p:sp>
        <p:nvSpPr>
          <p:cNvPr name="TextBox 6" id="6"/>
          <p:cNvSpPr txBox="true"/>
          <p:nvPr/>
        </p:nvSpPr>
        <p:spPr>
          <a:xfrm rot="0">
            <a:off x="832104" y="1705356"/>
            <a:ext cx="16523208" cy="717804"/>
          </a:xfrm>
          <a:prstGeom prst="rect">
            <a:avLst/>
          </a:prstGeom>
        </p:spPr>
        <p:txBody>
          <a:bodyPr anchor="t" rtlCol="false" tIns="0" lIns="0" bIns="0" rIns="0">
            <a:spAutoFit/>
          </a:bodyPr>
          <a:lstStyle/>
          <a:p>
            <a:pPr algn="l">
              <a:lnSpc>
                <a:spcPts val="2340"/>
              </a:lnSpc>
            </a:pPr>
            <a:r>
              <a:rPr lang="en-US" sz="1950">
                <a:solidFill>
                  <a:srgbClr val="555F6C"/>
                </a:solidFill>
                <a:latin typeface="Aptos"/>
                <a:ea typeface="Aptos"/>
                <a:cs typeface="Aptos"/>
                <a:sym typeface="Aptos"/>
              </a:rPr>
              <a:t>Tổng kết dựa trên số liệu có trong bộ kết quả hiện tại.</a:t>
            </a:r>
          </a:p>
        </p:txBody>
      </p:sp>
      <p:sp>
        <p:nvSpPr>
          <p:cNvPr name="TextBox 7" id="7"/>
          <p:cNvSpPr txBox="true"/>
          <p:nvPr/>
        </p:nvSpPr>
        <p:spPr>
          <a:xfrm rot="0">
            <a:off x="790956" y="9788271"/>
            <a:ext cx="16111728" cy="219837"/>
          </a:xfrm>
          <a:prstGeom prst="rect">
            <a:avLst/>
          </a:prstGeom>
        </p:spPr>
        <p:txBody>
          <a:bodyPr anchor="t" rtlCol="false" tIns="0" lIns="0" bIns="0" rIns="0">
            <a:spAutoFit/>
          </a:bodyPr>
          <a:lstStyle/>
          <a:p>
            <a:pPr algn="l">
              <a:lnSpc>
                <a:spcPts val="1620"/>
              </a:lnSpc>
            </a:pPr>
            <a:r>
              <a:rPr lang="en-US" sz="1350">
                <a:solidFill>
                  <a:srgbClr val="555F6C"/>
                </a:solidFill>
                <a:latin typeface="Aptos"/>
                <a:ea typeface="Aptos"/>
                <a:cs typeface="Aptos"/>
                <a:sym typeface="Aptos"/>
              </a:rPr>
              <a:t>Đồ án Big Data • Nhóm 6</a:t>
            </a:r>
          </a:p>
        </p:txBody>
      </p:sp>
      <p:sp>
        <p:nvSpPr>
          <p:cNvPr name="TextBox 8" id="8"/>
          <p:cNvSpPr txBox="true"/>
          <p:nvPr/>
        </p:nvSpPr>
        <p:spPr>
          <a:xfrm rot="0">
            <a:off x="16770096" y="9747123"/>
            <a:ext cx="681228" cy="247269"/>
          </a:xfrm>
          <a:prstGeom prst="rect">
            <a:avLst/>
          </a:prstGeom>
        </p:spPr>
        <p:txBody>
          <a:bodyPr anchor="t" rtlCol="false" tIns="0" lIns="0" bIns="0" rIns="0">
            <a:spAutoFit/>
          </a:bodyPr>
          <a:lstStyle/>
          <a:p>
            <a:pPr algn="r">
              <a:lnSpc>
                <a:spcPts val="1620"/>
              </a:lnSpc>
            </a:pPr>
            <a:r>
              <a:rPr lang="en-US" sz="1350">
                <a:solidFill>
                  <a:srgbClr val="555F6C"/>
                </a:solidFill>
                <a:latin typeface="Aptos"/>
                <a:ea typeface="Aptos"/>
                <a:cs typeface="Aptos"/>
                <a:sym typeface="Aptos"/>
              </a:rPr>
              <a:t>13</a:t>
            </a:r>
          </a:p>
        </p:txBody>
      </p:sp>
      <p:sp>
        <p:nvSpPr>
          <p:cNvPr name="TextBox 9" id="9"/>
          <p:cNvSpPr txBox="true"/>
          <p:nvPr/>
        </p:nvSpPr>
        <p:spPr>
          <a:xfrm rot="0">
            <a:off x="1133856" y="2692908"/>
            <a:ext cx="15974568" cy="854964"/>
          </a:xfrm>
          <a:prstGeom prst="rect">
            <a:avLst/>
          </a:prstGeom>
        </p:spPr>
        <p:txBody>
          <a:bodyPr anchor="t" rtlCol="false" tIns="0" lIns="0" bIns="0" rIns="0">
            <a:spAutoFit/>
          </a:bodyPr>
          <a:lstStyle/>
          <a:p>
            <a:pPr algn="l">
              <a:lnSpc>
                <a:spcPts val="3240"/>
              </a:lnSpc>
            </a:pPr>
            <a:r>
              <a:rPr lang="en-US" sz="2700" b="true">
                <a:solidFill>
                  <a:srgbClr val="2D6699"/>
                </a:solidFill>
                <a:latin typeface="Aptos Bold"/>
                <a:ea typeface="Aptos Bold"/>
                <a:cs typeface="Aptos Bold"/>
                <a:sym typeface="Aptos Bold"/>
              </a:rPr>
              <a:t>1. Thuần CPU</a:t>
            </a:r>
          </a:p>
        </p:txBody>
      </p:sp>
      <p:sp>
        <p:nvSpPr>
          <p:cNvPr name="TextBox 10" id="10"/>
          <p:cNvSpPr txBox="true"/>
          <p:nvPr/>
        </p:nvSpPr>
        <p:spPr>
          <a:xfrm rot="0">
            <a:off x="1476756" y="3378708"/>
            <a:ext cx="15288768" cy="1129284"/>
          </a:xfrm>
          <a:prstGeom prst="rect">
            <a:avLst/>
          </a:prstGeom>
        </p:spPr>
        <p:txBody>
          <a:bodyPr anchor="t" rtlCol="false" tIns="0" lIns="0" bIns="0" rIns="0">
            <a:spAutoFit/>
          </a:bodyPr>
          <a:lstStyle/>
          <a:p>
            <a:pPr algn="l">
              <a:lnSpc>
                <a:spcPts val="2700"/>
              </a:lnSpc>
            </a:pPr>
            <a:r>
              <a:rPr lang="en-US" sz="2250">
                <a:solidFill>
                  <a:srgbClr val="19314F"/>
                </a:solidFill>
                <a:latin typeface="Aptos"/>
                <a:ea typeface="Aptos"/>
                <a:cs typeface="Aptos"/>
                <a:sym typeface="Aptos"/>
              </a:rPr>
              <a:t>Sáu baseline CPU có Accuracy 79,18–79,26%, nhưng Macro F1 chỉ 14,73–15,87%; các mô hình còn yếu ở những lớp ít gặp.</a:t>
            </a:r>
          </a:p>
        </p:txBody>
      </p:sp>
      <p:sp>
        <p:nvSpPr>
          <p:cNvPr name="TextBox 11" id="11"/>
          <p:cNvSpPr txBox="true"/>
          <p:nvPr/>
        </p:nvSpPr>
        <p:spPr>
          <a:xfrm rot="0">
            <a:off x="1133856" y="5024628"/>
            <a:ext cx="15974568" cy="854964"/>
          </a:xfrm>
          <a:prstGeom prst="rect">
            <a:avLst/>
          </a:prstGeom>
        </p:spPr>
        <p:txBody>
          <a:bodyPr anchor="t" rtlCol="false" tIns="0" lIns="0" bIns="0" rIns="0">
            <a:spAutoFit/>
          </a:bodyPr>
          <a:lstStyle/>
          <a:p>
            <a:pPr algn="l">
              <a:lnSpc>
                <a:spcPts val="3240"/>
              </a:lnSpc>
            </a:pPr>
            <a:r>
              <a:rPr lang="en-US" sz="2700" b="true">
                <a:solidFill>
                  <a:srgbClr val="229182"/>
                </a:solidFill>
                <a:latin typeface="Aptos Bold"/>
                <a:ea typeface="Aptos Bold"/>
                <a:cs typeface="Aptos Bold"/>
                <a:sym typeface="Aptos Bold"/>
              </a:rPr>
              <a:t>2. Spark MLlib</a:t>
            </a:r>
          </a:p>
        </p:txBody>
      </p:sp>
      <p:sp>
        <p:nvSpPr>
          <p:cNvPr name="TextBox 12" id="12"/>
          <p:cNvSpPr txBox="true"/>
          <p:nvPr/>
        </p:nvSpPr>
        <p:spPr>
          <a:xfrm rot="0">
            <a:off x="1476756" y="5710428"/>
            <a:ext cx="15288768" cy="1129284"/>
          </a:xfrm>
          <a:prstGeom prst="rect">
            <a:avLst/>
          </a:prstGeom>
        </p:spPr>
        <p:txBody>
          <a:bodyPr anchor="t" rtlCol="false" tIns="0" lIns="0" bIns="0" rIns="0">
            <a:spAutoFit/>
          </a:bodyPr>
          <a:lstStyle/>
          <a:p>
            <a:pPr algn="l">
              <a:lnSpc>
                <a:spcPts val="2700"/>
              </a:lnSpc>
            </a:pPr>
            <a:r>
              <a:rPr lang="en-US" sz="2250">
                <a:solidFill>
                  <a:srgbClr val="19314F"/>
                </a:solidFill>
                <a:latin typeface="Aptos"/>
                <a:ea typeface="Aptos"/>
                <a:cs typeface="Aptos"/>
                <a:sym typeface="Aptos"/>
              </a:rPr>
              <a:t>Ba mô hình có Accuracy 79,20% và Weighted F1 70,00%; RF Spark train 31,03 giây. Chưa có Macro F1 Spark để kết luận đầy đủ về lớp hiếm.</a:t>
            </a:r>
          </a:p>
        </p:txBody>
      </p:sp>
      <p:sp>
        <p:nvSpPr>
          <p:cNvPr name="TextBox 13" id="13"/>
          <p:cNvSpPr txBox="true"/>
          <p:nvPr/>
        </p:nvSpPr>
        <p:spPr>
          <a:xfrm rot="0">
            <a:off x="1133856" y="7356348"/>
            <a:ext cx="15974568" cy="854964"/>
          </a:xfrm>
          <a:prstGeom prst="rect">
            <a:avLst/>
          </a:prstGeom>
        </p:spPr>
        <p:txBody>
          <a:bodyPr anchor="t" rtlCol="false" tIns="0" lIns="0" bIns="0" rIns="0">
            <a:spAutoFit/>
          </a:bodyPr>
          <a:lstStyle/>
          <a:p>
            <a:pPr algn="l">
              <a:lnSpc>
                <a:spcPts val="3240"/>
              </a:lnSpc>
            </a:pPr>
            <a:r>
              <a:rPr lang="en-US" sz="2700" b="true">
                <a:solidFill>
                  <a:srgbClr val="19314F"/>
                </a:solidFill>
                <a:latin typeface="Aptos Bold"/>
                <a:ea typeface="Aptos Bold"/>
                <a:cs typeface="Aptos Bold"/>
                <a:sym typeface="Aptos Bold"/>
              </a:rPr>
              <a:t>3. Kết luận chung</a:t>
            </a:r>
          </a:p>
        </p:txBody>
      </p:sp>
      <p:sp>
        <p:nvSpPr>
          <p:cNvPr name="TextBox 14" id="14"/>
          <p:cNvSpPr txBox="true"/>
          <p:nvPr/>
        </p:nvSpPr>
        <p:spPr>
          <a:xfrm rot="0">
            <a:off x="1476756" y="8042148"/>
            <a:ext cx="15288768" cy="342900"/>
          </a:xfrm>
          <a:prstGeom prst="rect">
            <a:avLst/>
          </a:prstGeom>
        </p:spPr>
        <p:txBody>
          <a:bodyPr anchor="t" rtlCol="false" tIns="0" lIns="0" bIns="0" rIns="0">
            <a:spAutoFit/>
          </a:bodyPr>
          <a:lstStyle/>
          <a:p>
            <a:pPr algn="l">
              <a:lnSpc>
                <a:spcPts val="2700"/>
              </a:lnSpc>
            </a:pPr>
            <a:r>
              <a:rPr lang="en-US" sz="2250">
                <a:solidFill>
                  <a:srgbClr val="19314F"/>
                </a:solidFill>
                <a:latin typeface="Aptos"/>
                <a:ea typeface="Aptos"/>
                <a:cs typeface="Aptos"/>
                <a:sym typeface="Aptos"/>
              </a:rPr>
              <a:t>Kết quả cho thấy khả năng triển khai RF trên Spark và thời gian thấp hơn trong cấu hình đã đo</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1F72B6"/>
        </a:solidFill>
      </p:bgPr>
    </p:bg>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17872" r="0" b="-17872"/>
              </a:stretch>
            </a:blipFill>
          </p:spPr>
        </p:sp>
      </p:grpSp>
      <p:sp>
        <p:nvSpPr>
          <p:cNvPr name="TextBox 10" id="10"/>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1" id="11"/>
          <p:cNvSpPr txBox="true"/>
          <p:nvPr/>
        </p:nvSpPr>
        <p:spPr>
          <a:xfrm rot="0">
            <a:off x="3201000" y="4770882"/>
            <a:ext cx="11886000" cy="859536"/>
          </a:xfrm>
          <a:prstGeom prst="rect">
            <a:avLst/>
          </a:prstGeom>
        </p:spPr>
        <p:txBody>
          <a:bodyPr anchor="t" rtlCol="false" tIns="0" lIns="0" bIns="0" rIns="0">
            <a:spAutoFit/>
          </a:bodyPr>
          <a:lstStyle/>
          <a:p>
            <a:pPr algn="ctr">
              <a:lnSpc>
                <a:spcPts val="6910"/>
              </a:lnSpc>
            </a:pPr>
            <a:r>
              <a:rPr lang="en-US" sz="6398" b="true">
                <a:solidFill>
                  <a:srgbClr val="FFFFFF"/>
                </a:solidFill>
                <a:latin typeface="Quicksand Bold"/>
                <a:ea typeface="Quicksand Bold"/>
                <a:cs typeface="Quicksand Bold"/>
                <a:sym typeface="Quicksand Bold"/>
              </a:rPr>
              <a:t>DEMO</a:t>
            </a:r>
          </a:p>
        </p:txBody>
      </p:sp>
      <p:sp>
        <p:nvSpPr>
          <p:cNvPr name="TextBox 12" id="1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FFFFFF"/>
                </a:solidFill>
                <a:latin typeface="Noto Sans"/>
                <a:ea typeface="Noto Sans"/>
                <a:cs typeface="Noto Sans"/>
                <a:sym typeface="Noto Sans"/>
              </a:rPr>
              <a:t>31</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282300">
            <a:off x="12305062" y="7227094"/>
            <a:ext cx="464449" cy="0"/>
          </a:xfrm>
          <a:prstGeom prst="line">
            <a:avLst/>
          </a:prstGeom>
          <a:ln cap="rnd" w="19050">
            <a:solidFill>
              <a:srgbClr val="2072B7"/>
            </a:solidFill>
            <a:prstDash val="solid"/>
            <a:headEnd type="none" len="sm" w="sm"/>
            <a:tailEnd type="triangle" len="med" w="lg"/>
          </a:ln>
        </p:spPr>
      </p:sp>
      <p:sp>
        <p:nvSpPr>
          <p:cNvPr name="AutoShape 12" id="12"/>
          <p:cNvSpPr/>
          <p:nvPr/>
        </p:nvSpPr>
        <p:spPr>
          <a:xfrm rot="282300">
            <a:off x="12305062" y="5869781"/>
            <a:ext cx="464449" cy="0"/>
          </a:xfrm>
          <a:prstGeom prst="line">
            <a:avLst/>
          </a:prstGeom>
          <a:ln cap="rnd" w="19050">
            <a:solidFill>
              <a:srgbClr val="2072B7"/>
            </a:solidFill>
            <a:prstDash val="solid"/>
            <a:headEnd type="none" len="sm" w="sm"/>
            <a:tailEnd type="triangle" len="med" w="lg"/>
          </a:ln>
        </p:spPr>
      </p:sp>
      <p:sp>
        <p:nvSpPr>
          <p:cNvPr name="AutoShape 13" id="13"/>
          <p:cNvSpPr/>
          <p:nvPr/>
        </p:nvSpPr>
        <p:spPr>
          <a:xfrm rot="282300">
            <a:off x="12305062" y="4512469"/>
            <a:ext cx="464449" cy="0"/>
          </a:xfrm>
          <a:prstGeom prst="line">
            <a:avLst/>
          </a:prstGeom>
          <a:ln cap="rnd" w="19050">
            <a:solidFill>
              <a:srgbClr val="2072B7"/>
            </a:solidFill>
            <a:prstDash val="solid"/>
            <a:headEnd type="none" len="sm" w="sm"/>
            <a:tailEnd type="triangle" len="med" w="lg"/>
          </a:ln>
        </p:spPr>
      </p:sp>
      <p:sp>
        <p:nvSpPr>
          <p:cNvPr name="TextBox 14" id="14"/>
          <p:cNvSpPr txBox="true"/>
          <p:nvPr/>
        </p:nvSpPr>
        <p:spPr>
          <a:xfrm rot="0">
            <a:off x="857250" y="1447800"/>
            <a:ext cx="16430625" cy="838200"/>
          </a:xfrm>
          <a:prstGeom prst="rect">
            <a:avLst/>
          </a:prstGeom>
        </p:spPr>
        <p:txBody>
          <a:bodyPr anchor="t" rtlCol="false" tIns="0" lIns="0" bIns="0" rIns="0">
            <a:spAutoFit/>
          </a:bodyPr>
          <a:lstStyle/>
          <a:p>
            <a:pPr algn="l">
              <a:lnSpc>
                <a:spcPts val="4994"/>
              </a:lnSpc>
            </a:pPr>
            <a:r>
              <a:rPr lang="en-US" sz="4161" b="true">
                <a:solidFill>
                  <a:srgbClr val="2072B7"/>
                </a:solidFill>
                <a:latin typeface="Arial Bold"/>
                <a:ea typeface="Arial Bold"/>
                <a:cs typeface="Arial Bold"/>
                <a:sym typeface="Arial Bold"/>
              </a:rPr>
              <a:t>Ứng dụng Web_Air</a:t>
            </a:r>
          </a:p>
        </p:txBody>
      </p:sp>
      <p:sp>
        <p:nvSpPr>
          <p:cNvPr name="TextBox 15" id="15"/>
          <p:cNvSpPr txBox="true"/>
          <p:nvPr/>
        </p:nvSpPr>
        <p:spPr>
          <a:xfrm rot="0">
            <a:off x="857250" y="2305050"/>
            <a:ext cx="16573500" cy="63817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Ứng dụng phục vụ dự đoán và hiển thị kết quả thực nghiệm</a:t>
            </a:r>
          </a:p>
        </p:txBody>
      </p:sp>
      <p:sp>
        <p:nvSpPr>
          <p:cNvPr name="TextBox 16" id="16"/>
          <p:cNvSpPr txBox="true"/>
          <p:nvPr/>
        </p:nvSpPr>
        <p:spPr>
          <a:xfrm rot="0">
            <a:off x="16859250" y="9496425"/>
            <a:ext cx="714375" cy="376237"/>
          </a:xfrm>
          <a:prstGeom prst="rect">
            <a:avLst/>
          </a:prstGeom>
        </p:spPr>
        <p:txBody>
          <a:bodyPr anchor="t" rtlCol="false" tIns="0" lIns="0" bIns="0" rIns="0">
            <a:spAutoFit/>
          </a:bodyPr>
          <a:lstStyle/>
          <a:p>
            <a:pPr algn="l">
              <a:lnSpc>
                <a:spcPts val="2294"/>
              </a:lnSpc>
            </a:pPr>
            <a:r>
              <a:rPr lang="en-US" sz="1911">
                <a:solidFill>
                  <a:srgbClr val="2072B7"/>
                </a:solidFill>
                <a:latin typeface="Arial"/>
                <a:ea typeface="Arial"/>
                <a:cs typeface="Arial"/>
                <a:sym typeface="Arial"/>
              </a:rPr>
              <a:t>30</a:t>
            </a:r>
          </a:p>
        </p:txBody>
      </p:sp>
      <p:sp>
        <p:nvSpPr>
          <p:cNvPr name="TextBox 17" id="17"/>
          <p:cNvSpPr txBox="true"/>
          <p:nvPr/>
        </p:nvSpPr>
        <p:spPr>
          <a:xfrm rot="0">
            <a:off x="857250" y="3462338"/>
            <a:ext cx="6072188" cy="1395412"/>
          </a:xfrm>
          <a:prstGeom prst="rect">
            <a:avLst/>
          </a:prstGeom>
        </p:spPr>
        <p:txBody>
          <a:bodyPr anchor="t" rtlCol="false" tIns="0" lIns="0" bIns="0" rIns="0">
            <a:spAutoFit/>
          </a:bodyPr>
          <a:lstStyle/>
          <a:p>
            <a:pPr algn="l">
              <a:lnSpc>
                <a:spcPts val="3644"/>
              </a:lnSpc>
            </a:pPr>
            <a:r>
              <a:rPr lang="en-US" sz="3036">
                <a:solidFill>
                  <a:srgbClr val="202D39"/>
                </a:solidFill>
                <a:latin typeface="Arial"/>
                <a:ea typeface="Arial"/>
                <a:cs typeface="Arial"/>
                <a:sym typeface="Arial"/>
              </a:rPr>
              <a:t>Người dùng nhập thông tin chuyến bay và nhận nhãn dự đoán.</a:t>
            </a:r>
          </a:p>
        </p:txBody>
      </p:sp>
      <p:sp>
        <p:nvSpPr>
          <p:cNvPr name="TextBox 18" id="18"/>
          <p:cNvSpPr txBox="true"/>
          <p:nvPr/>
        </p:nvSpPr>
        <p:spPr>
          <a:xfrm rot="0">
            <a:off x="857250" y="5105400"/>
            <a:ext cx="6072188" cy="1395412"/>
          </a:xfrm>
          <a:prstGeom prst="rect">
            <a:avLst/>
          </a:prstGeom>
        </p:spPr>
        <p:txBody>
          <a:bodyPr anchor="t" rtlCol="false" tIns="0" lIns="0" bIns="0" rIns="0">
            <a:spAutoFit/>
          </a:bodyPr>
          <a:lstStyle/>
          <a:p>
            <a:pPr algn="l">
              <a:lnSpc>
                <a:spcPts val="3644"/>
              </a:lnSpc>
            </a:pPr>
            <a:r>
              <a:rPr lang="en-US" sz="3036">
                <a:solidFill>
                  <a:srgbClr val="202D39"/>
                </a:solidFill>
                <a:latin typeface="Arial"/>
                <a:ea typeface="Arial"/>
                <a:cs typeface="Arial"/>
                <a:sym typeface="Arial"/>
              </a:rPr>
              <a:t>Web_Air giúp trình bày kết quả của đồ án.</a:t>
            </a:r>
          </a:p>
        </p:txBody>
      </p:sp>
      <p:sp>
        <p:nvSpPr>
          <p:cNvPr name="TextBox 19" id="19"/>
          <p:cNvSpPr txBox="true"/>
          <p:nvPr/>
        </p:nvSpPr>
        <p:spPr>
          <a:xfrm rot="0">
            <a:off x="857250" y="6748462"/>
            <a:ext cx="6072188" cy="1395412"/>
          </a:xfrm>
          <a:prstGeom prst="rect">
            <a:avLst/>
          </a:prstGeom>
        </p:spPr>
        <p:txBody>
          <a:bodyPr anchor="t" rtlCol="false" tIns="0" lIns="0" bIns="0" rIns="0">
            <a:spAutoFit/>
          </a:bodyPr>
          <a:lstStyle/>
          <a:p>
            <a:pPr algn="l">
              <a:lnSpc>
                <a:spcPts val="3644"/>
              </a:lnSpc>
            </a:pPr>
            <a:r>
              <a:rPr lang="en-US" sz="3036">
                <a:solidFill>
                  <a:srgbClr val="202D39"/>
                </a:solidFill>
                <a:latin typeface="Arial"/>
                <a:ea typeface="Arial"/>
                <a:cs typeface="Arial"/>
                <a:sym typeface="Arial"/>
              </a:rPr>
              <a:t>Chưa đo tải Web và thời gian phản hồi HTTP.</a:t>
            </a:r>
          </a:p>
        </p:txBody>
      </p:sp>
      <p:grpSp>
        <p:nvGrpSpPr>
          <p:cNvPr name="Group 20" id="20"/>
          <p:cNvGrpSpPr/>
          <p:nvPr/>
        </p:nvGrpSpPr>
        <p:grpSpPr>
          <a:xfrm rot="0">
            <a:off x="7774191" y="3359344"/>
            <a:ext cx="9526191" cy="967978"/>
            <a:chOff x="0" y="0"/>
            <a:chExt cx="12701588" cy="1290638"/>
          </a:xfrm>
        </p:grpSpPr>
        <p:sp>
          <p:nvSpPr>
            <p:cNvPr name="Freeform 21" id="21"/>
            <p:cNvSpPr/>
            <p:nvPr/>
          </p:nvSpPr>
          <p:spPr>
            <a:xfrm flipH="false" flipV="false" rot="0">
              <a:off x="0" y="0"/>
              <a:ext cx="12701651" cy="1290574"/>
            </a:xfrm>
            <a:custGeom>
              <a:avLst/>
              <a:gdLst/>
              <a:ahLst/>
              <a:cxnLst/>
              <a:rect r="r" b="b" t="t" l="l"/>
              <a:pathLst>
                <a:path h="1290574" w="12701651">
                  <a:moveTo>
                    <a:pt x="0" y="0"/>
                  </a:moveTo>
                  <a:lnTo>
                    <a:pt x="12701651" y="0"/>
                  </a:lnTo>
                  <a:lnTo>
                    <a:pt x="12701651" y="1290574"/>
                  </a:lnTo>
                  <a:lnTo>
                    <a:pt x="0" y="1290574"/>
                  </a:lnTo>
                  <a:close/>
                </a:path>
              </a:pathLst>
            </a:custGeom>
            <a:solidFill>
              <a:srgbClr val="2072B7"/>
            </a:solidFill>
            <a:ln w="14288" cap="sq">
              <a:solidFill>
                <a:srgbClr val="2072B7"/>
              </a:solidFill>
              <a:prstDash val="solid"/>
              <a:miter/>
            </a:ln>
          </p:spPr>
        </p:sp>
      </p:grpSp>
      <p:grpSp>
        <p:nvGrpSpPr>
          <p:cNvPr name="Group 22" id="22"/>
          <p:cNvGrpSpPr/>
          <p:nvPr/>
        </p:nvGrpSpPr>
        <p:grpSpPr>
          <a:xfrm rot="0">
            <a:off x="7779544" y="3350419"/>
            <a:ext cx="9515475" cy="971550"/>
            <a:chOff x="0" y="0"/>
            <a:chExt cx="12687300" cy="1295400"/>
          </a:xfrm>
        </p:grpSpPr>
        <p:sp>
          <p:nvSpPr>
            <p:cNvPr name="Freeform 23" id="23"/>
            <p:cNvSpPr/>
            <p:nvPr/>
          </p:nvSpPr>
          <p:spPr>
            <a:xfrm flipH="false" flipV="false" rot="0">
              <a:off x="0" y="0"/>
              <a:ext cx="12687300" cy="1295399"/>
            </a:xfrm>
            <a:custGeom>
              <a:avLst/>
              <a:gdLst/>
              <a:ahLst/>
              <a:cxnLst/>
              <a:rect r="r" b="b" t="t" l="l"/>
              <a:pathLst>
                <a:path h="1295399" w="12687300">
                  <a:moveTo>
                    <a:pt x="0" y="0"/>
                  </a:moveTo>
                  <a:lnTo>
                    <a:pt x="12687300" y="0"/>
                  </a:lnTo>
                  <a:lnTo>
                    <a:pt x="12687300" y="1295399"/>
                  </a:lnTo>
                  <a:lnTo>
                    <a:pt x="0" y="1295399"/>
                  </a:lnTo>
                  <a:close/>
                </a:path>
              </a:pathLst>
            </a:custGeom>
            <a:blipFill>
              <a:blip r:embed="rId5">
                <a:alphaModFix amt="0"/>
              </a:blip>
              <a:stretch>
                <a:fillRect l="0" t="-140838" r="0" b="-140838"/>
              </a:stretch>
            </a:blipFill>
          </p:spPr>
        </p:sp>
        <p:sp>
          <p:nvSpPr>
            <p:cNvPr name="TextBox 24" id="24"/>
            <p:cNvSpPr txBox="true"/>
            <p:nvPr/>
          </p:nvSpPr>
          <p:spPr>
            <a:xfrm>
              <a:off x="0" y="-19050"/>
              <a:ext cx="12687300" cy="1314450"/>
            </a:xfrm>
            <a:prstGeom prst="rect">
              <a:avLst/>
            </a:prstGeom>
          </p:spPr>
          <p:txBody>
            <a:bodyPr anchor="ctr" rtlCol="false" tIns="0" lIns="0" bIns="0" rIns="0"/>
            <a:lstStyle/>
            <a:p>
              <a:pPr algn="ctr">
                <a:lnSpc>
                  <a:spcPts val="3240"/>
                </a:lnSpc>
              </a:pPr>
              <a:r>
                <a:rPr lang="en-US" sz="2700">
                  <a:solidFill>
                    <a:srgbClr val="FFFFFF"/>
                  </a:solidFill>
                  <a:latin typeface="Arial"/>
                  <a:ea typeface="Arial"/>
                  <a:cs typeface="Arial"/>
                  <a:sym typeface="Arial"/>
                </a:rPr>
                <a:t>Nhập thông tin chuyến bay</a:t>
              </a:r>
            </a:p>
          </p:txBody>
        </p:sp>
      </p:grpSp>
      <p:grpSp>
        <p:nvGrpSpPr>
          <p:cNvPr name="Group 25" id="25"/>
          <p:cNvGrpSpPr/>
          <p:nvPr/>
        </p:nvGrpSpPr>
        <p:grpSpPr>
          <a:xfrm rot="0">
            <a:off x="7774191" y="4716666"/>
            <a:ext cx="9526191" cy="967978"/>
            <a:chOff x="0" y="0"/>
            <a:chExt cx="12701588" cy="1290638"/>
          </a:xfrm>
        </p:grpSpPr>
        <p:sp>
          <p:nvSpPr>
            <p:cNvPr name="Freeform 26" id="26"/>
            <p:cNvSpPr/>
            <p:nvPr/>
          </p:nvSpPr>
          <p:spPr>
            <a:xfrm flipH="false" flipV="false" rot="0">
              <a:off x="0" y="0"/>
              <a:ext cx="12701651" cy="1290574"/>
            </a:xfrm>
            <a:custGeom>
              <a:avLst/>
              <a:gdLst/>
              <a:ahLst/>
              <a:cxnLst/>
              <a:rect r="r" b="b" t="t" l="l"/>
              <a:pathLst>
                <a:path h="1290574" w="12701651">
                  <a:moveTo>
                    <a:pt x="0" y="0"/>
                  </a:moveTo>
                  <a:lnTo>
                    <a:pt x="12701651" y="0"/>
                  </a:lnTo>
                  <a:lnTo>
                    <a:pt x="12701651" y="1290574"/>
                  </a:lnTo>
                  <a:lnTo>
                    <a:pt x="0" y="1290574"/>
                  </a:lnTo>
                  <a:close/>
                </a:path>
              </a:pathLst>
            </a:custGeom>
            <a:solidFill>
              <a:srgbClr val="2072B7"/>
            </a:solidFill>
            <a:ln w="14288" cap="sq">
              <a:solidFill>
                <a:srgbClr val="2072B7"/>
              </a:solidFill>
              <a:prstDash val="solid"/>
              <a:miter/>
            </a:ln>
          </p:spPr>
        </p:sp>
      </p:grpSp>
      <p:grpSp>
        <p:nvGrpSpPr>
          <p:cNvPr name="Group 27" id="27"/>
          <p:cNvGrpSpPr/>
          <p:nvPr/>
        </p:nvGrpSpPr>
        <p:grpSpPr>
          <a:xfrm rot="0">
            <a:off x="7779544" y="4707731"/>
            <a:ext cx="9515475" cy="971550"/>
            <a:chOff x="0" y="0"/>
            <a:chExt cx="12687300" cy="1295400"/>
          </a:xfrm>
        </p:grpSpPr>
        <p:sp>
          <p:nvSpPr>
            <p:cNvPr name="Freeform 28" id="28"/>
            <p:cNvSpPr/>
            <p:nvPr/>
          </p:nvSpPr>
          <p:spPr>
            <a:xfrm flipH="false" flipV="false" rot="0">
              <a:off x="0" y="0"/>
              <a:ext cx="12687300" cy="1295399"/>
            </a:xfrm>
            <a:custGeom>
              <a:avLst/>
              <a:gdLst/>
              <a:ahLst/>
              <a:cxnLst/>
              <a:rect r="r" b="b" t="t" l="l"/>
              <a:pathLst>
                <a:path h="1295399" w="12687300">
                  <a:moveTo>
                    <a:pt x="0" y="0"/>
                  </a:moveTo>
                  <a:lnTo>
                    <a:pt x="12687300" y="0"/>
                  </a:lnTo>
                  <a:lnTo>
                    <a:pt x="12687300" y="1295399"/>
                  </a:lnTo>
                  <a:lnTo>
                    <a:pt x="0" y="1295399"/>
                  </a:lnTo>
                  <a:close/>
                </a:path>
              </a:pathLst>
            </a:custGeom>
            <a:blipFill>
              <a:blip r:embed="rId5">
                <a:alphaModFix amt="0"/>
              </a:blip>
              <a:stretch>
                <a:fillRect l="0" t="-140838" r="0" b="-140838"/>
              </a:stretch>
            </a:blipFill>
          </p:spPr>
        </p:sp>
        <p:sp>
          <p:nvSpPr>
            <p:cNvPr name="TextBox 29" id="29"/>
            <p:cNvSpPr txBox="true"/>
            <p:nvPr/>
          </p:nvSpPr>
          <p:spPr>
            <a:xfrm>
              <a:off x="0" y="-19050"/>
              <a:ext cx="12687300" cy="1314450"/>
            </a:xfrm>
            <a:prstGeom prst="rect">
              <a:avLst/>
            </a:prstGeom>
          </p:spPr>
          <p:txBody>
            <a:bodyPr anchor="ctr" rtlCol="false" tIns="0" lIns="0" bIns="0" rIns="0"/>
            <a:lstStyle/>
            <a:p>
              <a:pPr algn="ctr">
                <a:lnSpc>
                  <a:spcPts val="3240"/>
                </a:lnSpc>
              </a:pPr>
              <a:r>
                <a:rPr lang="en-US" sz="2700">
                  <a:solidFill>
                    <a:srgbClr val="FFFFFF"/>
                  </a:solidFill>
                  <a:latin typeface="Arial"/>
                  <a:ea typeface="Arial"/>
                  <a:cs typeface="Arial"/>
                  <a:sym typeface="Arial"/>
                </a:rPr>
                <a:t>Gửi yêu cầu dự đoán</a:t>
              </a:r>
            </a:p>
          </p:txBody>
        </p:sp>
      </p:grpSp>
      <p:grpSp>
        <p:nvGrpSpPr>
          <p:cNvPr name="Group 30" id="30"/>
          <p:cNvGrpSpPr/>
          <p:nvPr/>
        </p:nvGrpSpPr>
        <p:grpSpPr>
          <a:xfrm rot="0">
            <a:off x="7774191" y="6073969"/>
            <a:ext cx="9526191" cy="967978"/>
            <a:chOff x="0" y="0"/>
            <a:chExt cx="12701588" cy="1290638"/>
          </a:xfrm>
        </p:grpSpPr>
        <p:sp>
          <p:nvSpPr>
            <p:cNvPr name="Freeform 31" id="31"/>
            <p:cNvSpPr/>
            <p:nvPr/>
          </p:nvSpPr>
          <p:spPr>
            <a:xfrm flipH="false" flipV="false" rot="0">
              <a:off x="0" y="0"/>
              <a:ext cx="12701651" cy="1290574"/>
            </a:xfrm>
            <a:custGeom>
              <a:avLst/>
              <a:gdLst/>
              <a:ahLst/>
              <a:cxnLst/>
              <a:rect r="r" b="b" t="t" l="l"/>
              <a:pathLst>
                <a:path h="1290574" w="12701651">
                  <a:moveTo>
                    <a:pt x="0" y="0"/>
                  </a:moveTo>
                  <a:lnTo>
                    <a:pt x="12701651" y="0"/>
                  </a:lnTo>
                  <a:lnTo>
                    <a:pt x="12701651" y="1290574"/>
                  </a:lnTo>
                  <a:lnTo>
                    <a:pt x="0" y="1290574"/>
                  </a:lnTo>
                  <a:close/>
                </a:path>
              </a:pathLst>
            </a:custGeom>
            <a:solidFill>
              <a:srgbClr val="2072B7"/>
            </a:solidFill>
            <a:ln w="14288" cap="sq">
              <a:solidFill>
                <a:srgbClr val="2072B7"/>
              </a:solidFill>
              <a:prstDash val="solid"/>
              <a:miter/>
            </a:ln>
          </p:spPr>
        </p:sp>
      </p:grpSp>
      <p:grpSp>
        <p:nvGrpSpPr>
          <p:cNvPr name="Group 32" id="32"/>
          <p:cNvGrpSpPr/>
          <p:nvPr/>
        </p:nvGrpSpPr>
        <p:grpSpPr>
          <a:xfrm rot="0">
            <a:off x="7779544" y="6065044"/>
            <a:ext cx="9515475" cy="971550"/>
            <a:chOff x="0" y="0"/>
            <a:chExt cx="12687300" cy="1295400"/>
          </a:xfrm>
        </p:grpSpPr>
        <p:sp>
          <p:nvSpPr>
            <p:cNvPr name="Freeform 33" id="33"/>
            <p:cNvSpPr/>
            <p:nvPr/>
          </p:nvSpPr>
          <p:spPr>
            <a:xfrm flipH="false" flipV="false" rot="0">
              <a:off x="0" y="0"/>
              <a:ext cx="12687300" cy="1295399"/>
            </a:xfrm>
            <a:custGeom>
              <a:avLst/>
              <a:gdLst/>
              <a:ahLst/>
              <a:cxnLst/>
              <a:rect r="r" b="b" t="t" l="l"/>
              <a:pathLst>
                <a:path h="1295399" w="12687300">
                  <a:moveTo>
                    <a:pt x="0" y="0"/>
                  </a:moveTo>
                  <a:lnTo>
                    <a:pt x="12687300" y="0"/>
                  </a:lnTo>
                  <a:lnTo>
                    <a:pt x="12687300" y="1295399"/>
                  </a:lnTo>
                  <a:lnTo>
                    <a:pt x="0" y="1295399"/>
                  </a:lnTo>
                  <a:close/>
                </a:path>
              </a:pathLst>
            </a:custGeom>
            <a:blipFill>
              <a:blip r:embed="rId5">
                <a:alphaModFix amt="0"/>
              </a:blip>
              <a:stretch>
                <a:fillRect l="0" t="-140838" r="0" b="-140838"/>
              </a:stretch>
            </a:blipFill>
          </p:spPr>
        </p:sp>
        <p:sp>
          <p:nvSpPr>
            <p:cNvPr name="TextBox 34" id="34"/>
            <p:cNvSpPr txBox="true"/>
            <p:nvPr/>
          </p:nvSpPr>
          <p:spPr>
            <a:xfrm>
              <a:off x="0" y="-19050"/>
              <a:ext cx="12687300" cy="1314450"/>
            </a:xfrm>
            <a:prstGeom prst="rect">
              <a:avLst/>
            </a:prstGeom>
          </p:spPr>
          <p:txBody>
            <a:bodyPr anchor="ctr" rtlCol="false" tIns="0" lIns="0" bIns="0" rIns="0"/>
            <a:lstStyle/>
            <a:p>
              <a:pPr algn="ctr">
                <a:lnSpc>
                  <a:spcPts val="3240"/>
                </a:lnSpc>
              </a:pPr>
              <a:r>
                <a:rPr lang="en-US" sz="2700">
                  <a:solidFill>
                    <a:srgbClr val="FFFFFF"/>
                  </a:solidFill>
                  <a:latin typeface="Arial"/>
                  <a:ea typeface="Arial"/>
                  <a:cs typeface="Arial"/>
                  <a:sym typeface="Arial"/>
                </a:rPr>
                <a:t>Mô hình trả nhãn</a:t>
              </a:r>
            </a:p>
          </p:txBody>
        </p:sp>
      </p:grpSp>
      <p:grpSp>
        <p:nvGrpSpPr>
          <p:cNvPr name="Group 35" id="35"/>
          <p:cNvGrpSpPr/>
          <p:nvPr/>
        </p:nvGrpSpPr>
        <p:grpSpPr>
          <a:xfrm rot="0">
            <a:off x="7774191" y="7431291"/>
            <a:ext cx="9526191" cy="967978"/>
            <a:chOff x="0" y="0"/>
            <a:chExt cx="12701588" cy="1290638"/>
          </a:xfrm>
        </p:grpSpPr>
        <p:sp>
          <p:nvSpPr>
            <p:cNvPr name="Freeform 36" id="36"/>
            <p:cNvSpPr/>
            <p:nvPr/>
          </p:nvSpPr>
          <p:spPr>
            <a:xfrm flipH="false" flipV="false" rot="0">
              <a:off x="0" y="0"/>
              <a:ext cx="12701651" cy="1290574"/>
            </a:xfrm>
            <a:custGeom>
              <a:avLst/>
              <a:gdLst/>
              <a:ahLst/>
              <a:cxnLst/>
              <a:rect r="r" b="b" t="t" l="l"/>
              <a:pathLst>
                <a:path h="1290574" w="12701651">
                  <a:moveTo>
                    <a:pt x="0" y="0"/>
                  </a:moveTo>
                  <a:lnTo>
                    <a:pt x="12701651" y="0"/>
                  </a:lnTo>
                  <a:lnTo>
                    <a:pt x="12701651" y="1290574"/>
                  </a:lnTo>
                  <a:lnTo>
                    <a:pt x="0" y="1290574"/>
                  </a:lnTo>
                  <a:close/>
                </a:path>
              </a:pathLst>
            </a:custGeom>
            <a:solidFill>
              <a:srgbClr val="2072B7"/>
            </a:solidFill>
            <a:ln w="14288" cap="sq">
              <a:solidFill>
                <a:srgbClr val="2072B7"/>
              </a:solidFill>
              <a:prstDash val="solid"/>
              <a:miter/>
            </a:ln>
          </p:spPr>
        </p:sp>
      </p:grpSp>
      <p:grpSp>
        <p:nvGrpSpPr>
          <p:cNvPr name="Group 37" id="37"/>
          <p:cNvGrpSpPr/>
          <p:nvPr/>
        </p:nvGrpSpPr>
        <p:grpSpPr>
          <a:xfrm rot="0">
            <a:off x="7779544" y="7422356"/>
            <a:ext cx="9515475" cy="971550"/>
            <a:chOff x="0" y="0"/>
            <a:chExt cx="12687300" cy="1295400"/>
          </a:xfrm>
        </p:grpSpPr>
        <p:sp>
          <p:nvSpPr>
            <p:cNvPr name="Freeform 38" id="38"/>
            <p:cNvSpPr/>
            <p:nvPr/>
          </p:nvSpPr>
          <p:spPr>
            <a:xfrm flipH="false" flipV="false" rot="0">
              <a:off x="0" y="0"/>
              <a:ext cx="12687300" cy="1295399"/>
            </a:xfrm>
            <a:custGeom>
              <a:avLst/>
              <a:gdLst/>
              <a:ahLst/>
              <a:cxnLst/>
              <a:rect r="r" b="b" t="t" l="l"/>
              <a:pathLst>
                <a:path h="1295399" w="12687300">
                  <a:moveTo>
                    <a:pt x="0" y="0"/>
                  </a:moveTo>
                  <a:lnTo>
                    <a:pt x="12687300" y="0"/>
                  </a:lnTo>
                  <a:lnTo>
                    <a:pt x="12687300" y="1295399"/>
                  </a:lnTo>
                  <a:lnTo>
                    <a:pt x="0" y="1295399"/>
                  </a:lnTo>
                  <a:close/>
                </a:path>
              </a:pathLst>
            </a:custGeom>
            <a:blipFill>
              <a:blip r:embed="rId5">
                <a:alphaModFix amt="0"/>
              </a:blip>
              <a:stretch>
                <a:fillRect l="0" t="-140838" r="0" b="-140838"/>
              </a:stretch>
            </a:blipFill>
          </p:spPr>
        </p:sp>
        <p:sp>
          <p:nvSpPr>
            <p:cNvPr name="TextBox 39" id="39"/>
            <p:cNvSpPr txBox="true"/>
            <p:nvPr/>
          </p:nvSpPr>
          <p:spPr>
            <a:xfrm>
              <a:off x="0" y="-19050"/>
              <a:ext cx="12687300" cy="1314450"/>
            </a:xfrm>
            <a:prstGeom prst="rect">
              <a:avLst/>
            </a:prstGeom>
          </p:spPr>
          <p:txBody>
            <a:bodyPr anchor="ctr" rtlCol="false" tIns="0" lIns="0" bIns="0" rIns="0"/>
            <a:lstStyle/>
            <a:p>
              <a:pPr algn="ctr">
                <a:lnSpc>
                  <a:spcPts val="3240"/>
                </a:lnSpc>
              </a:pPr>
              <a:r>
                <a:rPr lang="en-US" sz="2700">
                  <a:solidFill>
                    <a:srgbClr val="FFFFFF"/>
                  </a:solidFill>
                  <a:latin typeface="Arial"/>
                  <a:ea typeface="Arial"/>
                  <a:cs typeface="Arial"/>
                  <a:sym typeface="Arial"/>
                </a:rPr>
                <a:t>Hiển thị kết quả</a:t>
              </a:r>
            </a:p>
          </p:txBody>
        </p:sp>
      </p:grpSp>
      <p:sp>
        <p:nvSpPr>
          <p:cNvPr name="TextBox 40" id="40"/>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32</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69" cy="1027652"/>
            <a:chOff x="0" y="0"/>
            <a:chExt cx="6580759" cy="1370203"/>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6" id="6"/>
          <p:cNvGrpSpPr/>
          <p:nvPr/>
        </p:nvGrpSpPr>
        <p:grpSpPr>
          <a:xfrm rot="0">
            <a:off x="2663190" y="10082212"/>
            <a:ext cx="15624810" cy="204883"/>
            <a:chOff x="0" y="0"/>
            <a:chExt cx="20833080" cy="273177"/>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05" cy="152686"/>
            <a:chOff x="0" y="0"/>
            <a:chExt cx="20726273" cy="203581"/>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0" id="10"/>
          <p:cNvSpPr txBox="true"/>
          <p:nvPr/>
        </p:nvSpPr>
        <p:spPr>
          <a:xfrm rot="0">
            <a:off x="302009" y="9964131"/>
            <a:ext cx="2254501" cy="3656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282300">
            <a:off x="5482780" y="5869781"/>
            <a:ext cx="464449" cy="0"/>
          </a:xfrm>
          <a:prstGeom prst="line">
            <a:avLst/>
          </a:prstGeom>
          <a:ln cap="rnd" w="19050">
            <a:solidFill>
              <a:srgbClr val="2072B7"/>
            </a:solidFill>
            <a:prstDash val="solid"/>
            <a:headEnd type="none" len="sm" w="sm"/>
            <a:tailEnd type="triangle" len="med" w="lg"/>
          </a:ln>
        </p:spPr>
      </p:sp>
      <p:sp>
        <p:nvSpPr>
          <p:cNvPr name="AutoShape 12" id="12"/>
          <p:cNvSpPr/>
          <p:nvPr/>
        </p:nvSpPr>
        <p:spPr>
          <a:xfrm rot="282300">
            <a:off x="5482780" y="4512469"/>
            <a:ext cx="464449" cy="0"/>
          </a:xfrm>
          <a:prstGeom prst="line">
            <a:avLst/>
          </a:prstGeom>
          <a:ln cap="rnd" w="19050">
            <a:solidFill>
              <a:srgbClr val="2072B7"/>
            </a:solidFill>
            <a:prstDash val="solid"/>
            <a:headEnd type="none" len="sm" w="sm"/>
            <a:tailEnd type="triangle" len="med" w="lg"/>
          </a:ln>
        </p:spPr>
      </p:sp>
      <p:sp>
        <p:nvSpPr>
          <p:cNvPr name="TextBox 13" id="13"/>
          <p:cNvSpPr txBox="true"/>
          <p:nvPr/>
        </p:nvSpPr>
        <p:spPr>
          <a:xfrm rot="0">
            <a:off x="857250" y="1447800"/>
            <a:ext cx="16430625" cy="838200"/>
          </a:xfrm>
          <a:prstGeom prst="rect">
            <a:avLst/>
          </a:prstGeom>
        </p:spPr>
        <p:txBody>
          <a:bodyPr anchor="t" rtlCol="false" tIns="0" lIns="0" bIns="0" rIns="0">
            <a:spAutoFit/>
          </a:bodyPr>
          <a:lstStyle/>
          <a:p>
            <a:pPr algn="l">
              <a:lnSpc>
                <a:spcPts val="4994"/>
              </a:lnSpc>
            </a:pPr>
            <a:r>
              <a:rPr lang="en-US" sz="4161" b="true">
                <a:solidFill>
                  <a:srgbClr val="2072B7"/>
                </a:solidFill>
                <a:latin typeface="Arial Bold"/>
                <a:ea typeface="Arial Bold"/>
                <a:cs typeface="Arial Bold"/>
                <a:sym typeface="Arial Bold"/>
              </a:rPr>
              <a:t>Kết luận và hướng phát triển</a:t>
            </a:r>
          </a:p>
        </p:txBody>
      </p:sp>
      <p:sp>
        <p:nvSpPr>
          <p:cNvPr name="TextBox 14" id="14"/>
          <p:cNvSpPr txBox="true"/>
          <p:nvPr/>
        </p:nvSpPr>
        <p:spPr>
          <a:xfrm rot="0">
            <a:off x="857250" y="2305050"/>
            <a:ext cx="16573500" cy="63817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Đã xây dựng quy trình xử lý lớn, còn cần cải thiện nhận diện nguyên nhân trễ</a:t>
            </a:r>
          </a:p>
        </p:txBody>
      </p:sp>
      <p:sp>
        <p:nvSpPr>
          <p:cNvPr name="TextBox 15" id="15"/>
          <p:cNvSpPr txBox="true"/>
          <p:nvPr/>
        </p:nvSpPr>
        <p:spPr>
          <a:xfrm rot="0">
            <a:off x="16859250" y="9496425"/>
            <a:ext cx="714375" cy="376237"/>
          </a:xfrm>
          <a:prstGeom prst="rect">
            <a:avLst/>
          </a:prstGeom>
        </p:spPr>
        <p:txBody>
          <a:bodyPr anchor="t" rtlCol="false" tIns="0" lIns="0" bIns="0" rIns="0">
            <a:spAutoFit/>
          </a:bodyPr>
          <a:lstStyle/>
          <a:p>
            <a:pPr algn="l">
              <a:lnSpc>
                <a:spcPts val="2294"/>
              </a:lnSpc>
            </a:pPr>
            <a:r>
              <a:rPr lang="en-US" sz="1911">
                <a:solidFill>
                  <a:srgbClr val="2072B7"/>
                </a:solidFill>
                <a:latin typeface="Arial"/>
                <a:ea typeface="Arial"/>
                <a:cs typeface="Arial"/>
                <a:sym typeface="Arial"/>
              </a:rPr>
              <a:t>31</a:t>
            </a:r>
          </a:p>
        </p:txBody>
      </p:sp>
      <p:grpSp>
        <p:nvGrpSpPr>
          <p:cNvPr name="Group 16" id="16"/>
          <p:cNvGrpSpPr/>
          <p:nvPr/>
        </p:nvGrpSpPr>
        <p:grpSpPr>
          <a:xfrm rot="0">
            <a:off x="916191" y="3359344"/>
            <a:ext cx="9597628" cy="967978"/>
            <a:chOff x="0" y="0"/>
            <a:chExt cx="12796838" cy="1290638"/>
          </a:xfrm>
        </p:grpSpPr>
        <p:sp>
          <p:nvSpPr>
            <p:cNvPr name="Freeform 17" id="17"/>
            <p:cNvSpPr/>
            <p:nvPr/>
          </p:nvSpPr>
          <p:spPr>
            <a:xfrm flipH="false" flipV="false" rot="0">
              <a:off x="0" y="0"/>
              <a:ext cx="12796774" cy="1290574"/>
            </a:xfrm>
            <a:custGeom>
              <a:avLst/>
              <a:gdLst/>
              <a:ahLst/>
              <a:cxnLst/>
              <a:rect r="r" b="b" t="t" l="l"/>
              <a:pathLst>
                <a:path h="1290574" w="12796774">
                  <a:moveTo>
                    <a:pt x="0" y="0"/>
                  </a:moveTo>
                  <a:lnTo>
                    <a:pt x="12796774" y="0"/>
                  </a:lnTo>
                  <a:lnTo>
                    <a:pt x="12796774" y="1290574"/>
                  </a:lnTo>
                  <a:lnTo>
                    <a:pt x="0" y="1290574"/>
                  </a:lnTo>
                  <a:close/>
                </a:path>
              </a:pathLst>
            </a:custGeom>
            <a:solidFill>
              <a:srgbClr val="2072B7"/>
            </a:solidFill>
            <a:ln w="14288" cap="sq">
              <a:solidFill>
                <a:srgbClr val="2072B7"/>
              </a:solidFill>
              <a:prstDash val="solid"/>
              <a:miter/>
            </a:ln>
          </p:spPr>
        </p:sp>
      </p:grpSp>
      <p:grpSp>
        <p:nvGrpSpPr>
          <p:cNvPr name="Group 18" id="18"/>
          <p:cNvGrpSpPr/>
          <p:nvPr/>
        </p:nvGrpSpPr>
        <p:grpSpPr>
          <a:xfrm rot="0">
            <a:off x="921544" y="3350419"/>
            <a:ext cx="9586912" cy="971550"/>
            <a:chOff x="0" y="0"/>
            <a:chExt cx="12782550" cy="1295400"/>
          </a:xfrm>
        </p:grpSpPr>
        <p:sp>
          <p:nvSpPr>
            <p:cNvPr name="Freeform 19" id="19"/>
            <p:cNvSpPr/>
            <p:nvPr/>
          </p:nvSpPr>
          <p:spPr>
            <a:xfrm flipH="false" flipV="false" rot="0">
              <a:off x="0" y="0"/>
              <a:ext cx="12782549" cy="1295399"/>
            </a:xfrm>
            <a:custGeom>
              <a:avLst/>
              <a:gdLst/>
              <a:ahLst/>
              <a:cxnLst/>
              <a:rect r="r" b="b" t="t" l="l"/>
              <a:pathLst>
                <a:path h="1295399" w="12782549">
                  <a:moveTo>
                    <a:pt x="0" y="0"/>
                  </a:moveTo>
                  <a:lnTo>
                    <a:pt x="12782549" y="0"/>
                  </a:lnTo>
                  <a:lnTo>
                    <a:pt x="12782549" y="1295399"/>
                  </a:lnTo>
                  <a:lnTo>
                    <a:pt x="0" y="1295399"/>
                  </a:lnTo>
                  <a:close/>
                </a:path>
              </a:pathLst>
            </a:custGeom>
            <a:blipFill>
              <a:blip r:embed="rId5">
                <a:alphaModFix amt="0"/>
              </a:blip>
              <a:stretch>
                <a:fillRect l="0" t="-142271" r="0" b="-142271"/>
              </a:stretch>
            </a:blipFill>
          </p:spPr>
        </p:sp>
        <p:sp>
          <p:nvSpPr>
            <p:cNvPr name="TextBox 20" id="20"/>
            <p:cNvSpPr txBox="true"/>
            <p:nvPr/>
          </p:nvSpPr>
          <p:spPr>
            <a:xfrm>
              <a:off x="0" y="-19050"/>
              <a:ext cx="12782550" cy="1314450"/>
            </a:xfrm>
            <a:prstGeom prst="rect">
              <a:avLst/>
            </a:prstGeom>
          </p:spPr>
          <p:txBody>
            <a:bodyPr anchor="ctr" rtlCol="false" tIns="0" lIns="0" bIns="0" rIns="0"/>
            <a:lstStyle/>
            <a:p>
              <a:pPr algn="ctr">
                <a:lnSpc>
                  <a:spcPts val="3240"/>
                </a:lnSpc>
              </a:pPr>
              <a:r>
                <a:rPr lang="en-US" sz="2700">
                  <a:solidFill>
                    <a:srgbClr val="FFFFFF"/>
                  </a:solidFill>
                  <a:latin typeface="Arial"/>
                  <a:ea typeface="Arial"/>
                  <a:cs typeface="Arial"/>
                  <a:sym typeface="Arial"/>
                </a:rPr>
                <a:t>Xử lý hơn 7 triệu chuyến bay</a:t>
              </a:r>
            </a:p>
          </p:txBody>
        </p:sp>
      </p:grpSp>
      <p:grpSp>
        <p:nvGrpSpPr>
          <p:cNvPr name="Group 21" id="21"/>
          <p:cNvGrpSpPr/>
          <p:nvPr/>
        </p:nvGrpSpPr>
        <p:grpSpPr>
          <a:xfrm rot="0">
            <a:off x="916191" y="4716666"/>
            <a:ext cx="9597628" cy="967978"/>
            <a:chOff x="0" y="0"/>
            <a:chExt cx="12796838" cy="1290638"/>
          </a:xfrm>
        </p:grpSpPr>
        <p:sp>
          <p:nvSpPr>
            <p:cNvPr name="Freeform 22" id="22"/>
            <p:cNvSpPr/>
            <p:nvPr/>
          </p:nvSpPr>
          <p:spPr>
            <a:xfrm flipH="false" flipV="false" rot="0">
              <a:off x="0" y="0"/>
              <a:ext cx="12796774" cy="1290574"/>
            </a:xfrm>
            <a:custGeom>
              <a:avLst/>
              <a:gdLst/>
              <a:ahLst/>
              <a:cxnLst/>
              <a:rect r="r" b="b" t="t" l="l"/>
              <a:pathLst>
                <a:path h="1290574" w="12796774">
                  <a:moveTo>
                    <a:pt x="0" y="0"/>
                  </a:moveTo>
                  <a:lnTo>
                    <a:pt x="12796774" y="0"/>
                  </a:lnTo>
                  <a:lnTo>
                    <a:pt x="12796774" y="1290574"/>
                  </a:lnTo>
                  <a:lnTo>
                    <a:pt x="0" y="1290574"/>
                  </a:lnTo>
                  <a:close/>
                </a:path>
              </a:pathLst>
            </a:custGeom>
            <a:solidFill>
              <a:srgbClr val="2072B7"/>
            </a:solidFill>
            <a:ln w="14288" cap="sq">
              <a:solidFill>
                <a:srgbClr val="2072B7"/>
              </a:solidFill>
              <a:prstDash val="solid"/>
              <a:miter/>
            </a:ln>
          </p:spPr>
        </p:sp>
      </p:grpSp>
      <p:grpSp>
        <p:nvGrpSpPr>
          <p:cNvPr name="Group 23" id="23"/>
          <p:cNvGrpSpPr/>
          <p:nvPr/>
        </p:nvGrpSpPr>
        <p:grpSpPr>
          <a:xfrm rot="0">
            <a:off x="921544" y="4707731"/>
            <a:ext cx="9586912" cy="971550"/>
            <a:chOff x="0" y="0"/>
            <a:chExt cx="12782550" cy="1295400"/>
          </a:xfrm>
        </p:grpSpPr>
        <p:sp>
          <p:nvSpPr>
            <p:cNvPr name="Freeform 24" id="24"/>
            <p:cNvSpPr/>
            <p:nvPr/>
          </p:nvSpPr>
          <p:spPr>
            <a:xfrm flipH="false" flipV="false" rot="0">
              <a:off x="0" y="0"/>
              <a:ext cx="12782549" cy="1295399"/>
            </a:xfrm>
            <a:custGeom>
              <a:avLst/>
              <a:gdLst/>
              <a:ahLst/>
              <a:cxnLst/>
              <a:rect r="r" b="b" t="t" l="l"/>
              <a:pathLst>
                <a:path h="1295399" w="12782549">
                  <a:moveTo>
                    <a:pt x="0" y="0"/>
                  </a:moveTo>
                  <a:lnTo>
                    <a:pt x="12782549" y="0"/>
                  </a:lnTo>
                  <a:lnTo>
                    <a:pt x="12782549" y="1295399"/>
                  </a:lnTo>
                  <a:lnTo>
                    <a:pt x="0" y="1295399"/>
                  </a:lnTo>
                  <a:close/>
                </a:path>
              </a:pathLst>
            </a:custGeom>
            <a:blipFill>
              <a:blip r:embed="rId5">
                <a:alphaModFix amt="0"/>
              </a:blip>
              <a:stretch>
                <a:fillRect l="0" t="-142271" r="0" b="-142271"/>
              </a:stretch>
            </a:blipFill>
          </p:spPr>
        </p:sp>
        <p:sp>
          <p:nvSpPr>
            <p:cNvPr name="TextBox 25" id="25"/>
            <p:cNvSpPr txBox="true"/>
            <p:nvPr/>
          </p:nvSpPr>
          <p:spPr>
            <a:xfrm>
              <a:off x="0" y="-19050"/>
              <a:ext cx="12782550" cy="1314450"/>
            </a:xfrm>
            <a:prstGeom prst="rect">
              <a:avLst/>
            </a:prstGeom>
          </p:spPr>
          <p:txBody>
            <a:bodyPr anchor="ctr" rtlCol="false" tIns="0" lIns="0" bIns="0" rIns="0"/>
            <a:lstStyle/>
            <a:p>
              <a:pPr algn="ctr">
                <a:lnSpc>
                  <a:spcPts val="3240"/>
                </a:lnSpc>
              </a:pPr>
              <a:r>
                <a:rPr lang="en-US" sz="2700">
                  <a:solidFill>
                    <a:srgbClr val="FFFFFF"/>
                  </a:solidFill>
                  <a:latin typeface="Arial"/>
                  <a:ea typeface="Arial"/>
                  <a:cs typeface="Arial"/>
                  <a:sym typeface="Arial"/>
                </a:rPr>
                <a:t>Thực nghiệm 6 CPU và 3 Spark</a:t>
              </a:r>
            </a:p>
          </p:txBody>
        </p:sp>
      </p:grpSp>
      <p:grpSp>
        <p:nvGrpSpPr>
          <p:cNvPr name="Group 26" id="26"/>
          <p:cNvGrpSpPr/>
          <p:nvPr/>
        </p:nvGrpSpPr>
        <p:grpSpPr>
          <a:xfrm rot="0">
            <a:off x="916191" y="6073969"/>
            <a:ext cx="9597628" cy="967978"/>
            <a:chOff x="0" y="0"/>
            <a:chExt cx="12796838" cy="1290638"/>
          </a:xfrm>
        </p:grpSpPr>
        <p:sp>
          <p:nvSpPr>
            <p:cNvPr name="Freeform 27" id="27"/>
            <p:cNvSpPr/>
            <p:nvPr/>
          </p:nvSpPr>
          <p:spPr>
            <a:xfrm flipH="false" flipV="false" rot="0">
              <a:off x="0" y="0"/>
              <a:ext cx="12796774" cy="1290574"/>
            </a:xfrm>
            <a:custGeom>
              <a:avLst/>
              <a:gdLst/>
              <a:ahLst/>
              <a:cxnLst/>
              <a:rect r="r" b="b" t="t" l="l"/>
              <a:pathLst>
                <a:path h="1290574" w="12796774">
                  <a:moveTo>
                    <a:pt x="0" y="0"/>
                  </a:moveTo>
                  <a:lnTo>
                    <a:pt x="12796774" y="0"/>
                  </a:lnTo>
                  <a:lnTo>
                    <a:pt x="12796774" y="1290574"/>
                  </a:lnTo>
                  <a:lnTo>
                    <a:pt x="0" y="1290574"/>
                  </a:lnTo>
                  <a:close/>
                </a:path>
              </a:pathLst>
            </a:custGeom>
            <a:solidFill>
              <a:srgbClr val="2072B7"/>
            </a:solidFill>
            <a:ln w="14288" cap="sq">
              <a:solidFill>
                <a:srgbClr val="2072B7"/>
              </a:solidFill>
              <a:prstDash val="solid"/>
              <a:miter/>
            </a:ln>
          </p:spPr>
        </p:sp>
      </p:grpSp>
      <p:grpSp>
        <p:nvGrpSpPr>
          <p:cNvPr name="Group 28" id="28"/>
          <p:cNvGrpSpPr/>
          <p:nvPr/>
        </p:nvGrpSpPr>
        <p:grpSpPr>
          <a:xfrm rot="0">
            <a:off x="921544" y="6065044"/>
            <a:ext cx="9586912" cy="971550"/>
            <a:chOff x="0" y="0"/>
            <a:chExt cx="12782550" cy="1295400"/>
          </a:xfrm>
        </p:grpSpPr>
        <p:sp>
          <p:nvSpPr>
            <p:cNvPr name="Freeform 29" id="29"/>
            <p:cNvSpPr/>
            <p:nvPr/>
          </p:nvSpPr>
          <p:spPr>
            <a:xfrm flipH="false" flipV="false" rot="0">
              <a:off x="0" y="0"/>
              <a:ext cx="12782549" cy="1295399"/>
            </a:xfrm>
            <a:custGeom>
              <a:avLst/>
              <a:gdLst/>
              <a:ahLst/>
              <a:cxnLst/>
              <a:rect r="r" b="b" t="t" l="l"/>
              <a:pathLst>
                <a:path h="1295399" w="12782549">
                  <a:moveTo>
                    <a:pt x="0" y="0"/>
                  </a:moveTo>
                  <a:lnTo>
                    <a:pt x="12782549" y="0"/>
                  </a:lnTo>
                  <a:lnTo>
                    <a:pt x="12782549" y="1295399"/>
                  </a:lnTo>
                  <a:lnTo>
                    <a:pt x="0" y="1295399"/>
                  </a:lnTo>
                  <a:close/>
                </a:path>
              </a:pathLst>
            </a:custGeom>
            <a:blipFill>
              <a:blip r:embed="rId5">
                <a:alphaModFix amt="0"/>
              </a:blip>
              <a:stretch>
                <a:fillRect l="0" t="-142271" r="0" b="-142271"/>
              </a:stretch>
            </a:blipFill>
          </p:spPr>
        </p:sp>
        <p:sp>
          <p:nvSpPr>
            <p:cNvPr name="TextBox 30" id="30"/>
            <p:cNvSpPr txBox="true"/>
            <p:nvPr/>
          </p:nvSpPr>
          <p:spPr>
            <a:xfrm>
              <a:off x="0" y="-19050"/>
              <a:ext cx="12782550" cy="1314450"/>
            </a:xfrm>
            <a:prstGeom prst="rect">
              <a:avLst/>
            </a:prstGeom>
          </p:spPr>
          <p:txBody>
            <a:bodyPr anchor="ctr" rtlCol="false" tIns="0" lIns="0" bIns="0" rIns="0"/>
            <a:lstStyle/>
            <a:p>
              <a:pPr algn="ctr">
                <a:lnSpc>
                  <a:spcPts val="3240"/>
                </a:lnSpc>
              </a:pPr>
              <a:r>
                <a:rPr lang="en-US" sz="2700">
                  <a:solidFill>
                    <a:srgbClr val="FFFFFF"/>
                  </a:solidFill>
                  <a:latin typeface="Arial"/>
                  <a:ea typeface="Arial"/>
                  <a:cs typeface="Arial"/>
                  <a:sym typeface="Arial"/>
                </a:rPr>
                <a:t>Phục vụ dự đoán bằng Web_Air</a:t>
              </a:r>
            </a:p>
          </p:txBody>
        </p:sp>
      </p:grpSp>
      <p:sp>
        <p:nvSpPr>
          <p:cNvPr name="TextBox 31" id="31"/>
          <p:cNvSpPr txBox="true"/>
          <p:nvPr/>
        </p:nvSpPr>
        <p:spPr>
          <a:xfrm rot="0">
            <a:off x="11430000" y="3362325"/>
            <a:ext cx="6000750" cy="1395412"/>
          </a:xfrm>
          <a:prstGeom prst="rect">
            <a:avLst/>
          </a:prstGeom>
        </p:spPr>
        <p:txBody>
          <a:bodyPr anchor="t" rtlCol="false" tIns="0" lIns="0" bIns="0" rIns="0">
            <a:spAutoFit/>
          </a:bodyPr>
          <a:lstStyle/>
          <a:p>
            <a:pPr algn="l">
              <a:lnSpc>
                <a:spcPts val="3644"/>
              </a:lnSpc>
            </a:pPr>
            <a:r>
              <a:rPr lang="en-US" sz="3036">
                <a:solidFill>
                  <a:srgbClr val="202D39"/>
                </a:solidFill>
                <a:latin typeface="Arial"/>
                <a:ea typeface="Arial"/>
                <a:cs typeface="Arial"/>
                <a:sym typeface="Arial"/>
              </a:rPr>
              <a:t>Kết quả: CatBoost CPU Weighted F1 70,50%; RF Spark train 31,03 giây.</a:t>
            </a:r>
          </a:p>
        </p:txBody>
      </p:sp>
      <p:sp>
        <p:nvSpPr>
          <p:cNvPr name="TextBox 32" id="32"/>
          <p:cNvSpPr txBox="true"/>
          <p:nvPr/>
        </p:nvSpPr>
        <p:spPr>
          <a:xfrm rot="0">
            <a:off x="11430000" y="5133975"/>
            <a:ext cx="6000750" cy="1395412"/>
          </a:xfrm>
          <a:prstGeom prst="rect">
            <a:avLst/>
          </a:prstGeom>
        </p:spPr>
        <p:txBody>
          <a:bodyPr anchor="t" rtlCol="false" tIns="0" lIns="0" bIns="0" rIns="0">
            <a:spAutoFit/>
          </a:bodyPr>
          <a:lstStyle/>
          <a:p>
            <a:pPr algn="l">
              <a:lnSpc>
                <a:spcPts val="3644"/>
              </a:lnSpc>
            </a:pPr>
            <a:r>
              <a:rPr lang="en-US" sz="3036">
                <a:solidFill>
                  <a:srgbClr val="202D39"/>
                </a:solidFill>
                <a:latin typeface="Arial"/>
                <a:ea typeface="Arial"/>
                <a:cs typeface="Arial"/>
                <a:sym typeface="Arial"/>
              </a:rPr>
              <a:t>Hạn chế chính: lớp hiếm dự đoán kém và đối chứng chưa đầy đủ.</a:t>
            </a:r>
          </a:p>
        </p:txBody>
      </p:sp>
      <p:sp>
        <p:nvSpPr>
          <p:cNvPr name="TextBox 33" id="33"/>
          <p:cNvSpPr txBox="true"/>
          <p:nvPr/>
        </p:nvSpPr>
        <p:spPr>
          <a:xfrm rot="0">
            <a:off x="11430000" y="6905625"/>
            <a:ext cx="6000750" cy="1395412"/>
          </a:xfrm>
          <a:prstGeom prst="rect">
            <a:avLst/>
          </a:prstGeom>
        </p:spPr>
        <p:txBody>
          <a:bodyPr anchor="t" rtlCol="false" tIns="0" lIns="0" bIns="0" rIns="0">
            <a:spAutoFit/>
          </a:bodyPr>
          <a:lstStyle/>
          <a:p>
            <a:pPr algn="l">
              <a:lnSpc>
                <a:spcPts val="3644"/>
              </a:lnSpc>
            </a:pPr>
            <a:r>
              <a:rPr lang="en-US" sz="3036">
                <a:solidFill>
                  <a:srgbClr val="202D39"/>
                </a:solidFill>
                <a:latin typeface="Arial"/>
                <a:ea typeface="Arial"/>
                <a:cs typeface="Arial"/>
                <a:sym typeface="Arial"/>
              </a:rPr>
              <a:t>Tiếp theo: cân bằng lớp, test chung và lưu log, ma trận Spark.</a:t>
            </a:r>
          </a:p>
        </p:txBody>
      </p:sp>
      <p:sp>
        <p:nvSpPr>
          <p:cNvPr name="TextBox 34" id="34"/>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Noto Sans"/>
                <a:ea typeface="Noto Sans"/>
                <a:cs typeface="Noto Sans"/>
                <a:sym typeface="Noto Sans"/>
              </a:rPr>
              <a:t>33</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13043" r="0" b="-13043"/>
              </a:stretch>
            </a:blipFill>
          </p:spPr>
        </p:sp>
      </p:grpSp>
      <p:grpSp>
        <p:nvGrpSpPr>
          <p:cNvPr name="Group 4" id="4"/>
          <p:cNvGrpSpPr/>
          <p:nvPr/>
        </p:nvGrpSpPr>
        <p:grpSpPr>
          <a:xfrm rot="0">
            <a:off x="0" y="-12668"/>
            <a:ext cx="18288000" cy="1070038"/>
            <a:chOff x="0" y="0"/>
            <a:chExt cx="24384000" cy="1426718"/>
          </a:xfrm>
        </p:grpSpPr>
        <p:sp>
          <p:nvSpPr>
            <p:cNvPr name="Freeform 5" id="5"/>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6" id="6"/>
          <p:cNvGrpSpPr/>
          <p:nvPr/>
        </p:nvGrpSpPr>
        <p:grpSpPr>
          <a:xfrm rot="0">
            <a:off x="477926" y="3334"/>
            <a:ext cx="4935569" cy="1027652"/>
            <a:chOff x="0" y="0"/>
            <a:chExt cx="6580759" cy="1370203"/>
          </a:xfrm>
        </p:grpSpPr>
        <p:sp>
          <p:nvSpPr>
            <p:cNvPr name="Freeform 7" id="7"/>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4" t="0" r="-194" b="0"/>
              </a:stretch>
            </a:blipFill>
          </p:spPr>
        </p:sp>
      </p:grpSp>
      <p:grpSp>
        <p:nvGrpSpPr>
          <p:cNvPr name="Group 8" id="8"/>
          <p:cNvGrpSpPr/>
          <p:nvPr/>
        </p:nvGrpSpPr>
        <p:grpSpPr>
          <a:xfrm rot="0">
            <a:off x="2663190" y="10082212"/>
            <a:ext cx="15624810" cy="204883"/>
            <a:chOff x="0" y="0"/>
            <a:chExt cx="20833080" cy="273177"/>
          </a:xfrm>
        </p:grpSpPr>
        <p:sp>
          <p:nvSpPr>
            <p:cNvPr name="Freeform 9" id="9"/>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10" id="10"/>
          <p:cNvGrpSpPr/>
          <p:nvPr/>
        </p:nvGrpSpPr>
        <p:grpSpPr>
          <a:xfrm rot="0">
            <a:off x="2743238" y="10108759"/>
            <a:ext cx="15544705" cy="152686"/>
            <a:chOff x="0" y="0"/>
            <a:chExt cx="20726273" cy="203581"/>
          </a:xfrm>
        </p:grpSpPr>
        <p:sp>
          <p:nvSpPr>
            <p:cNvPr name="Freeform 11" id="11"/>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17872" r="0" b="-17872"/>
              </a:stretch>
            </a:blipFill>
          </p:spPr>
        </p:sp>
      </p:grpSp>
      <p:sp>
        <p:nvSpPr>
          <p:cNvPr name="TextBox 12" id="12"/>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3" id="1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FFFFFF"/>
                </a:solidFill>
                <a:latin typeface="Noto Sans"/>
                <a:ea typeface="Noto Sans"/>
                <a:cs typeface="Noto Sans"/>
                <a:sym typeface="Noto Sans"/>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DAHX91ziB8w</dc:identifier>
  <dcterms:modified xsi:type="dcterms:W3CDTF">2011-08-01T06:04:30Z</dcterms:modified>
  <cp:revision>1</cp:revision>
  <dc:title>Big data_da_chinh_v2.pptx</dc:title>
</cp:coreProperties>
</file>