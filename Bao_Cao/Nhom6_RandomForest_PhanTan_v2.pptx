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9856dcd88462c" /><Relationship Type="http://schemas.openxmlformats.org/officeDocument/2006/relationships/extended-properties" Target="/docProps/app.xml" Id="Ra6959abe205f423d" /><Relationship Type="http://schemas.openxmlformats.org/officeDocument/2006/relationships/officeDocument" Target="/ppt/presentation.xml" Id="R8f5ed86bad18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d24f9767840a1"/>
  </p:sldMasterIdLst>
  <p:notesMasterIdLst>
    <p:notesMasterId xmlns:r="http://schemas.openxmlformats.org/officeDocument/2006/relationships" r:id="R2dceee4c6f2e4070"/>
  </p:notesMasterIdLst>
  <p:sldIdLst>
    <p:sldId xmlns:r="http://schemas.openxmlformats.org/officeDocument/2006/relationships" id="256" r:id="R01b2a879121c47c2"/>
    <p:sldId xmlns:r="http://schemas.openxmlformats.org/officeDocument/2006/relationships" id="257" r:id="Rb474609baf834002"/>
    <p:sldId xmlns:r="http://schemas.openxmlformats.org/officeDocument/2006/relationships" id="258" r:id="R79d9f7bf26814fd9"/>
    <p:sldId xmlns:r="http://schemas.openxmlformats.org/officeDocument/2006/relationships" id="259" r:id="R3dd0436e8e324e69"/>
    <p:sldId xmlns:r="http://schemas.openxmlformats.org/officeDocument/2006/relationships" id="260" r:id="R82125deac5a645ce"/>
    <p:sldId xmlns:r="http://schemas.openxmlformats.org/officeDocument/2006/relationships" id="261" r:id="Rb61ba2460a654f67"/>
    <p:sldId xmlns:r="http://schemas.openxmlformats.org/officeDocument/2006/relationships" id="262" r:id="Rb027a34c02ef48b4"/>
    <p:sldId xmlns:r="http://schemas.openxmlformats.org/officeDocument/2006/relationships" id="263" r:id="R35056c5ca46f453d"/>
    <p:sldId xmlns:r="http://schemas.openxmlformats.org/officeDocument/2006/relationships" id="264" r:id="R0969782e3cae4874"/>
    <p:sldId xmlns:r="http://schemas.openxmlformats.org/officeDocument/2006/relationships" id="265" r:id="R89dd75a197ff41c0"/>
    <p:sldId xmlns:r="http://schemas.openxmlformats.org/officeDocument/2006/relationships" id="266" r:id="Rbc936fb8885f4fec"/>
    <p:sldId xmlns:r="http://schemas.openxmlformats.org/officeDocument/2006/relationships" id="267" r:id="Rca16c0bf30514a26"/>
    <p:sldId xmlns:r="http://schemas.openxmlformats.org/officeDocument/2006/relationships" id="268" r:id="Re667951869e5491e"/>
    <p:sldId xmlns:r="http://schemas.openxmlformats.org/officeDocument/2006/relationships" id="269" r:id="Rb18dfe7b51824f5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6c86eb75e4cf7" /><Relationship Type="http://schemas.openxmlformats.org/officeDocument/2006/relationships/slideMaster" Target="/ppt/slideMasters/slideMaster1.xml" Id="R99cd24f9767840a1" /><Relationship Type="http://schemas.openxmlformats.org/officeDocument/2006/relationships/notesMaster" Target="/ppt/notesMasters/notesMaster1.xml" Id="R2dceee4c6f2e4070" /><Relationship Type="http://schemas.openxmlformats.org/officeDocument/2006/relationships/presProps" Target="/ppt/presProps.xml" Id="R30ef3e33d7d743e3" /><Relationship Type="http://schemas.openxmlformats.org/officeDocument/2006/relationships/viewProps" Target="/ppt/viewProps.xml" Id="Rfd495354620148a9" /><Relationship Type="http://schemas.openxmlformats.org/officeDocument/2006/relationships/tableStyles" Target="/ppt/tableStyles.xml" Id="Rebff899ae99d4a29" /><Relationship Type="http://schemas.openxmlformats.org/officeDocument/2006/relationships/slide" Target="/ppt/slides/slide1.xml" Id="R01b2a879121c47c2" /><Relationship Type="http://schemas.openxmlformats.org/officeDocument/2006/relationships/slide" Target="/ppt/slides/slide2.xml" Id="Rb474609baf834002" /><Relationship Type="http://schemas.openxmlformats.org/officeDocument/2006/relationships/slide" Target="/ppt/slides/slide3.xml" Id="R79d9f7bf26814fd9" /><Relationship Type="http://schemas.openxmlformats.org/officeDocument/2006/relationships/slide" Target="/ppt/slides/slide4.xml" Id="R3dd0436e8e324e69" /><Relationship Type="http://schemas.openxmlformats.org/officeDocument/2006/relationships/slide" Target="/ppt/slides/slide5.xml" Id="R82125deac5a645ce" /><Relationship Type="http://schemas.openxmlformats.org/officeDocument/2006/relationships/slide" Target="/ppt/slides/slide6.xml" Id="Rb61ba2460a654f67" /><Relationship Type="http://schemas.openxmlformats.org/officeDocument/2006/relationships/slide" Target="/ppt/slides/slide7.xml" Id="Rb027a34c02ef48b4" /><Relationship Type="http://schemas.openxmlformats.org/officeDocument/2006/relationships/slide" Target="/ppt/slides/slide8.xml" Id="R35056c5ca46f453d" /><Relationship Type="http://schemas.openxmlformats.org/officeDocument/2006/relationships/slide" Target="/ppt/slides/slide9.xml" Id="R0969782e3cae4874" /><Relationship Type="http://schemas.openxmlformats.org/officeDocument/2006/relationships/slide" Target="/ppt/slides/slide10.xml" Id="R89dd75a197ff41c0" /><Relationship Type="http://schemas.openxmlformats.org/officeDocument/2006/relationships/slide" Target="/ppt/slides/slide11.xml" Id="Rbc936fb8885f4fec" /><Relationship Type="http://schemas.openxmlformats.org/officeDocument/2006/relationships/slide" Target="/ppt/slides/slide12.xml" Id="Rca16c0bf30514a26" /><Relationship Type="http://schemas.openxmlformats.org/officeDocument/2006/relationships/slide" Target="/ppt/slides/slide13.xml" Id="Re667951869e5491e" /><Relationship Type="http://schemas.openxmlformats.org/officeDocument/2006/relationships/slide" Target="/ppt/slides/slide14.xml" Id="Rb18dfe7b51824f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7181cafa76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25aa08f674d3f" /><Relationship Type="http://schemas.openxmlformats.org/officeDocument/2006/relationships/notesMaster" Target="/ppt/notesMasters/notesMaster1.xml" Id="Rc26c8042a818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213518580d42b7" /><Relationship Type="http://schemas.openxmlformats.org/officeDocument/2006/relationships/notesMaster" Target="/ppt/notesMasters/notesMaster1.xml" Id="R2a9b54cab3e944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b2247b6df54638" /><Relationship Type="http://schemas.openxmlformats.org/officeDocument/2006/relationships/notesMaster" Target="/ppt/notesMasters/notesMaster1.xml" Id="R8dd647e83deb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4c995620b446ab" /><Relationship Type="http://schemas.openxmlformats.org/officeDocument/2006/relationships/notesMaster" Target="/ppt/notesMasters/notesMaster1.xml" Id="Ra60b39ff1d3b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f96a88ab546be" /><Relationship Type="http://schemas.openxmlformats.org/officeDocument/2006/relationships/notesMaster" Target="/ppt/notesMasters/notesMaster1.xml" Id="R5a254dc9a9db45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0e288081c5412a" /><Relationship Type="http://schemas.openxmlformats.org/officeDocument/2006/relationships/notesMaster" Target="/ppt/notesMasters/notesMaster1.xml" Id="R3e87ae4e6e0f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7d27e5a01e475d" /><Relationship Type="http://schemas.openxmlformats.org/officeDocument/2006/relationships/notesMaster" Target="/ppt/notesMasters/notesMaster1.xml" Id="R970f5ab9e7b346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03e7bc80c84d95" /><Relationship Type="http://schemas.openxmlformats.org/officeDocument/2006/relationships/notesMaster" Target="/ppt/notesMasters/notesMaster1.xml" Id="Rd30b2cd37c0f48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4c0f15d2514b74" /><Relationship Type="http://schemas.openxmlformats.org/officeDocument/2006/relationships/notesMaster" Target="/ppt/notesMasters/notesMaster1.xml" Id="R3a1dfd679db449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d9e537851e4559" /><Relationship Type="http://schemas.openxmlformats.org/officeDocument/2006/relationships/notesMaster" Target="/ppt/notesMasters/notesMaster1.xml" Id="R5538da325c2542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407025e1440aa" /><Relationship Type="http://schemas.openxmlformats.org/officeDocument/2006/relationships/notesMaster" Target="/ppt/notesMasters/notesMaster1.xml" Id="R33a59269054a47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cb909544944d67" /><Relationship Type="http://schemas.openxmlformats.org/officeDocument/2006/relationships/notesMaster" Target="/ppt/notesMasters/notesMaster1.xml" Id="Rbf42f7a1dcf646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1b26af09104f8c" /><Relationship Type="http://schemas.openxmlformats.org/officeDocument/2006/relationships/notesMaster" Target="/ppt/notesMasters/notesMaster1.xml" Id="R9c1cac82b83b4d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e421c21d5a4bb6" /><Relationship Type="http://schemas.openxmlformats.org/officeDocument/2006/relationships/notesMaster" Target="/ppt/notesMasters/notesMaster1.xml" Id="R5365df5addc24b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Hình CPU: Random Forest và CatBoost dùng thang đo khác nhau, chỉ so sánh thứ hạng trong mỗi mô hình; không suy ra quan hệ nhân quả.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Nguồn: baseline_summary_7m.json và grand_model_comparison_7m.csv, sáu dòng CPU khớp nhau. W.F1 là Weighted F1, M.F1 là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Nguồn: spark_end_to_end_metrics.json, mllib_stage chỉ logistic_regression, decision_tree, random_forest. Không dùng Macro F1 gán sẵn trong CSV cũ.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Ma trận chuẩn hóa theo hàng. CatBoost recall Carrier ~0.3%, NAS ~0.5%, LateAircraft ~2.3%. Weather và Security hiển thị 0.0% sau làm tròn.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BaoCao_DoAn_BigData_Nhom6_IEEE.docx bản biên tập; HUONG_DAN_CHO_GPT_WORK.txt. Số liệu thực nghiệm ngày 10/10/2026.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5be112a3942e5" /><Relationship Type="http://schemas.openxmlformats.org/officeDocument/2006/relationships/image" Target="/ppt/media/image.png" Id="Rec6e87ca0cde4893" /><Relationship Type="http://schemas.openxmlformats.org/officeDocument/2006/relationships/image" Target="/ppt/media/image2.png" Id="R069745adb3724c8a" /><Relationship Type="http://schemas.openxmlformats.org/officeDocument/2006/relationships/image" Target="/ppt/media/image3.png" Id="R492d9651a59141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4845c280846c8" /><Relationship Type="http://schemas.openxmlformats.org/officeDocument/2006/relationships/image" Target="/ppt/media/image4.png" Id="Rd5cd99ee633442f1" /><Relationship Type="http://schemas.openxmlformats.org/officeDocument/2006/relationships/image" Target="/ppt/media/image.png" Id="R0fc7ddb96cfc4f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232801de14e1f" /><Relationship Type="http://schemas.openxmlformats.org/officeDocument/2006/relationships/image" Target="/ppt/media/image.png" Id="R915289a50a0443fa" /><Relationship Type="http://schemas.openxmlformats.org/officeDocument/2006/relationships/image" Target="/ppt/media/image4.png" Id="Ra875100f50a242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82e249b3e44e0" /><Relationship Type="http://schemas.openxmlformats.org/officeDocument/2006/relationships/image" Target="/ppt/media/image.png" Id="R3b967463dc444f5f" /><Relationship Type="http://schemas.openxmlformats.org/officeDocument/2006/relationships/image" Target="/ppt/media/image4.png" Id="Rbec4db49702845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85121f6ae46b4" /><Relationship Type="http://schemas.openxmlformats.org/officeDocument/2006/relationships/image" Target="/ppt/media/image.png" Id="Reeca4acaf99a419e" /><Relationship Type="http://schemas.openxmlformats.org/officeDocument/2006/relationships/image" Target="/ppt/media/image4.png" Id="Rf6a83586bfdc4e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017ba2a2a4a19" /><Relationship Type="http://schemas.openxmlformats.org/officeDocument/2006/relationships/image" Target="/ppt/media/image.png" Id="Re9894590439045a0" /><Relationship Type="http://schemas.openxmlformats.org/officeDocument/2006/relationships/image" Target="/ppt/media/image4.png" Id="R567376078bb641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58d3c90e6477c" /><Relationship Type="http://schemas.openxmlformats.org/officeDocument/2006/relationships/image" Target="/ppt/media/image5.png" Id="R46d4d2f994a6467a" /><Relationship Type="http://schemas.openxmlformats.org/officeDocument/2006/relationships/image" Target="/ppt/media/image.png" Id="R3f4b6724c36f4c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e745b0ed34459" /><Relationship Type="http://schemas.openxmlformats.org/officeDocument/2006/relationships/image" Target="/ppt/media/image.png" Id="R67bb5ec49c8340a6" /><Relationship Type="http://schemas.openxmlformats.org/officeDocument/2006/relationships/image" Target="/ppt/media/image4.png" Id="R05a02ca4aab74b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c58cc724242b7" /><Relationship Type="http://schemas.openxmlformats.org/officeDocument/2006/relationships/image" Target="/ppt/media/image.png" Id="Rcacbe31f749e4780" /><Relationship Type="http://schemas.openxmlformats.org/officeDocument/2006/relationships/image" Target="/ppt/media/image4.png" Id="R1d150640237a42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16bc139034406" /><Relationship Type="http://schemas.openxmlformats.org/officeDocument/2006/relationships/image" Target="/ppt/media/image.png" Id="Rd427fbbe0f334adf" /><Relationship Type="http://schemas.openxmlformats.org/officeDocument/2006/relationships/image" Target="/ppt/media/image4.png" Id="R0b6f6d40b9dd427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31AC5618-1D22-4757-BBE9-A687F4E92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e87ca0cde48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0F4D25-1F5F-4388-B72E-AE5CB0D02F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4F2B1D80-57E3-469E-8DD1-5B969A050B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745adb372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160" y="5045074"/>
            <a:ext cx="12202160" cy="1676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18" y="32083"/>
            <a:ext cx="709040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/>
                </a:solidFill>
                <a:latin typeface="Arial"/>
                <a:ea typeface="Arial"/>
                <a:cs typeface="Arial"/>
              </a:rPr>
              <a:t>BỘ CÔNG THƯƠNG</a:t>
            </a:r>
          </a:p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TRƯỜNG ĐẠI HỌC CÔNG THƯƠNG THÀNH PHỐ HỒ CHÍ MINH</a:t>
            </a:r>
            <a:endParaRPr sz="18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70FA7EC9-04A2-4EF8-BDB3-C0AFA7F9A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d9651a591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133" y="18061"/>
            <a:ext cx="666000" cy="666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18B6D4-70AC-4B65-B351-4641C12990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4305"/>
            <a:ext cx="10515600" cy="8063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FF7012-AB55-4877-BB6F-739154499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9117E52E-2F33-46FA-9B05-95DB9BE14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99ee633442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48F75C0-FA23-4D1C-B960-288F6923F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7ddb96cfc4f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0FA27D-1758-43AE-944D-C91614FAE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17F988-F5F3-49C9-AAC4-C61FDB5D58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D9D2495F-BE59-437F-A8CE-8A8EB45527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289a50a0443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2E69FE8-7E49-4753-9996-026338C42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5100f50a2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CD2CB1-0029-4E7A-B27B-BD54C7040F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D1A35A0-142D-419C-82AB-FF7D66B5CF1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176358-D3A0-438D-96FD-2147F80AE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977329"/>
            <a:ext cx="10515600" cy="7133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0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C3F2A2D-9AB9-43D4-96E0-67B4F981E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67463dc444f5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11F4F347-8D99-428F-B487-8E0439671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4db497028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FFE41E-4F54-4753-B1AF-78AC8FAE7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66FEF3A-5FAC-49AE-84B8-BDCBC18F0FF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CB36267-4889-4202-B482-6F951DFA13F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948B84B-3D65-47FB-8BBD-D37EBC5088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51293A-77C0-410C-A53F-7750086E0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866777"/>
            <a:ext cx="10515600" cy="823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70BEDA8A-E8B9-40F1-9E96-5A4C3A84FA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a4acaf99a41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763CD73-926E-4B83-97D3-D5C413682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83586bfdc4e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3D52EB-7900-4B2F-80A8-1891D7A5C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74059"/>
            <a:ext cx="10515600" cy="8166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90C0605B-DA48-4379-A35A-76241FD95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94590439045a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BA928BE-A432-4158-9943-852D52C81E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76078bb6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1F72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7E8024A-976C-4B25-B5D1-E12594B74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4d2f994a6467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  <p:sp>
        <p:nvSpPr>
          <p:cNvPr id="8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395FFB30-6AB0-4498-ACDE-1D2976D7C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b6724c36f4c1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bg1"/>
                </a:solidFill>
              </a:rPr>
              <a:t>https://huit.edu.vn</a:t>
            </a:r>
            <a:endParaRPr sz="1000">
              <a:solidFill>
                <a:schemeClr val="bg1"/>
              </a:solidFill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DADA63-8732-4454-A583-E0DE069BFE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E7B0685-1322-4C52-91F4-BB9C0188A7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0DF972-76AE-407E-A9E5-63981E881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987426"/>
            <a:ext cx="3932237" cy="106997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0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E4746A53-312C-46EA-8F13-007262910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b5ec49c8340a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C478CB3-EB3E-4D2A-BD08-9D7F29D76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02ca4aab74b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4C61657-C052-4666-8650-0CFB917038D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AF8F07F-678D-4CE4-9A05-717953127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5F86DB-3237-4707-B1E3-ECD2F351A1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987426"/>
            <a:ext cx="3932237" cy="106997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0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2BFE8578-0F38-4B3F-84C7-430875F71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be31f749e47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95D7B83-778A-425C-81C6-D30BB51FC5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50640237a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9EBB1B-5BF7-476E-92EC-9921C1FC89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8444"/>
            <a:ext cx="12192000" cy="713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D07ABC-CEDA-4720-B358-4C34256B6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4304"/>
            <a:ext cx="10515600" cy="8063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8" y="6721474"/>
            <a:ext cx="10416543" cy="136562"/>
          </a:xfrm>
          <a:custGeom xmlns:a="http://schemas.openxmlformats.org/drawingml/2006/main"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DEABE2AF-A02C-4518-A8CC-982825FC2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7fbbe0f334ad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26" y="6739175"/>
            <a:ext cx="10363148" cy="101806"/>
          </a:xfrm>
          <a:prstGeom xmlns:a="http://schemas.openxmlformats.org/drawingml/2006/main" prst="rect">
            <a:avLst/>
          </a:prstGeom>
        </p:spPr>
      </p:pic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76283" y="6599573"/>
            <a:ext cx="505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9" y="6663076"/>
            <a:ext cx="1624919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0070C0"/>
                </a:solidFill>
              </a:rPr>
              <a:t>https://huit.edu.vn</a:t>
            </a:r>
            <a:endParaRPr sz="100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96218EA-324F-4BDB-9FF3-C5BDA9D17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f6d40b9dd4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18" y="2224"/>
            <a:ext cx="3290400" cy="68507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5f1085bee4466b" /><Relationship Type="http://schemas.openxmlformats.org/officeDocument/2006/relationships/slideLayout" Target="/ppt/slideLayouts/slideLayout1.xml" Id="R4d157d73b8de4c16" /><Relationship Type="http://schemas.openxmlformats.org/officeDocument/2006/relationships/slideLayout" Target="/ppt/slideLayouts/slideLayout2.xml" Id="Rf2b6026440c8459e" /><Relationship Type="http://schemas.openxmlformats.org/officeDocument/2006/relationships/slideLayout" Target="/ppt/slideLayouts/slideLayout3.xml" Id="Ra34fdfc7a5f84079" /><Relationship Type="http://schemas.openxmlformats.org/officeDocument/2006/relationships/slideLayout" Target="/ppt/slideLayouts/slideLayout4.xml" Id="R9a04ac4cc9c842d7" /><Relationship Type="http://schemas.openxmlformats.org/officeDocument/2006/relationships/slideLayout" Target="/ppt/slideLayouts/slideLayout5.xml" Id="R86d012600297447e" /><Relationship Type="http://schemas.openxmlformats.org/officeDocument/2006/relationships/slideLayout" Target="/ppt/slideLayouts/slideLayout6.xml" Id="Ree3cdab5613f4fff" /><Relationship Type="http://schemas.openxmlformats.org/officeDocument/2006/relationships/slideLayout" Target="/ppt/slideLayouts/slideLayout7.xml" Id="R358750c0092642c9" /><Relationship Type="http://schemas.openxmlformats.org/officeDocument/2006/relationships/slideLayout" Target="/ppt/slideLayouts/slideLayout8.xml" Id="Rdf267c08a1fa442f" /><Relationship Type="http://schemas.openxmlformats.org/officeDocument/2006/relationships/slideLayout" Target="/ppt/slideLayouts/slideLayout9.xml" Id="Rda772423fa2f4b42" /><Relationship Type="http://schemas.openxmlformats.org/officeDocument/2006/relationships/slideLayout" Target="/ppt/slideLayouts/slideLayout10.xml" Id="Ra187daece38642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714251E-71D8-47B2-B99F-7A2C4F1DC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7F1232-4362-4A03-82F6-18F0A86D4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DAC458-D8FA-40E8-913F-30EEB76C3E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802366D-8698-B649-944B-CF1A6B166FF8}" type="datetimeFigureOut">
              <a:t>06/11/2023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8C2665-0B61-4BDB-8DD7-3F8560F564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FE0436-149A-40F1-8C9F-BFBD90CA15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379440A-2DED-3643-ADED-9B5C83E7D82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57d73b8de4c16"/>
    <p:sldLayoutId xmlns:r="http://schemas.openxmlformats.org/officeDocument/2006/relationships" id="2147483650" r:id="Rf2b6026440c8459e"/>
    <p:sldLayoutId xmlns:r="http://schemas.openxmlformats.org/officeDocument/2006/relationships" id="2147483651" r:id="Ra34fdfc7a5f84079"/>
    <p:sldLayoutId xmlns:r="http://schemas.openxmlformats.org/officeDocument/2006/relationships" id="2147483652" r:id="R9a04ac4cc9c842d7"/>
    <p:sldLayoutId xmlns:r="http://schemas.openxmlformats.org/officeDocument/2006/relationships" id="2147483653" r:id="R86d012600297447e"/>
    <p:sldLayoutId xmlns:r="http://schemas.openxmlformats.org/officeDocument/2006/relationships" id="2147483654" r:id="Ree3cdab5613f4fff"/>
    <p:sldLayoutId xmlns:r="http://schemas.openxmlformats.org/officeDocument/2006/relationships" id="2147483655" r:id="R358750c0092642c9"/>
    <p:sldLayoutId xmlns:r="http://schemas.openxmlformats.org/officeDocument/2006/relationships" id="2147483656" r:id="Rdf267c08a1fa442f"/>
    <p:sldLayoutId xmlns:r="http://schemas.openxmlformats.org/officeDocument/2006/relationships" id="2147483657" r:id="Rda772423fa2f4b42"/>
    <p:sldLayoutId xmlns:r="http://schemas.openxmlformats.org/officeDocument/2006/relationships" id="2147483658" r:id="Ra187daece386421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e535706484638" /><Relationship Type="http://schemas.openxmlformats.org/officeDocument/2006/relationships/notesSlide" Target="/ppt/notesSlides/notesSlide1.xml" Id="R398a76978cfe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5e6d10aea6411f" /><Relationship Type="http://schemas.openxmlformats.org/officeDocument/2006/relationships/notesSlide" Target="/ppt/notesSlides/notesSlide2.xml" Id="Ref3c4f6355144e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87f4706fe4854" /><Relationship Type="http://schemas.openxmlformats.org/officeDocument/2006/relationships/image" Target="/ppt/media/image6.png" Id="R4c7e2b40fa2449f3" /><Relationship Type="http://schemas.openxmlformats.org/officeDocument/2006/relationships/notesSlide" Target="/ppt/notesSlides/notesSlide3.xml" Id="Rb2f5c7ffaf80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2d3e9561b64cf3" /><Relationship Type="http://schemas.openxmlformats.org/officeDocument/2006/relationships/notesSlide" Target="/ppt/notesSlides/notesSlide4.xml" Id="Rc2a70751949141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f5d6fbf4784dda" /><Relationship Type="http://schemas.openxmlformats.org/officeDocument/2006/relationships/notesSlide" Target="/ppt/notesSlides/notesSlide5.xml" Id="R4795dd92ad7d4b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45d640b624116" /><Relationship Type="http://schemas.openxmlformats.org/officeDocument/2006/relationships/notesSlide" Target="/ppt/notesSlides/notesSlide6.xml" Id="Re4314a38b5db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26f053c9954956" /><Relationship Type="http://schemas.openxmlformats.org/officeDocument/2006/relationships/image" Target="/ppt/media/image7.png" Id="Rcd36c431a35b40b2" /><Relationship Type="http://schemas.openxmlformats.org/officeDocument/2006/relationships/notesSlide" Target="/ppt/notesSlides/notesSlide7.xml" Id="Rd37a5e32e92e48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8036c39fc44f9a" /><Relationship Type="http://schemas.openxmlformats.org/officeDocument/2006/relationships/notesSlide" Target="/ppt/notesSlides/notesSlide8.xml" Id="Rc7796d9e621a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125237b824bbd" /><Relationship Type="http://schemas.openxmlformats.org/officeDocument/2006/relationships/image" Target="/ppt/media/image8.png" Id="R5143e3b11992463f" /><Relationship Type="http://schemas.openxmlformats.org/officeDocument/2006/relationships/notesSlide" Target="/ppt/notesSlides/notesSlide9.xml" Id="R268925752a1c49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d5d15a1fd4b1d" /><Relationship Type="http://schemas.openxmlformats.org/officeDocument/2006/relationships/notesSlide" Target="/ppt/notesSlides/notesSlide10.xml" Id="R803b4738643c4a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8e238bafff4c78" /><Relationship Type="http://schemas.openxmlformats.org/officeDocument/2006/relationships/image" Target="/ppt/media/image9.png" Id="R28ffb18e33f445da" /><Relationship Type="http://schemas.openxmlformats.org/officeDocument/2006/relationships/notesSlide" Target="/ppt/notesSlides/notesSlide11.xml" Id="R0cfe28941976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7fe05e609c41b5" /><Relationship Type="http://schemas.openxmlformats.org/officeDocument/2006/relationships/image" Target="/ppt/media/image10.png" Id="R4e98790c233249e9" /><Relationship Type="http://schemas.openxmlformats.org/officeDocument/2006/relationships/image" Target="/ppt/media/image11.png" Id="R8636c64b9d89417c" /><Relationship Type="http://schemas.openxmlformats.org/officeDocument/2006/relationships/notesSlide" Target="/ppt/notesSlides/notesSlide12.xml" Id="Raa67cc3dc7364b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a26ade4736497c" /><Relationship Type="http://schemas.openxmlformats.org/officeDocument/2006/relationships/notesSlide" Target="/ppt/notesSlides/notesSlide13.xml" Id="R63965beabd514f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d8590c9f84494" /><Relationship Type="http://schemas.openxmlformats.org/officeDocument/2006/relationships/notesSlide" Target="/ppt/notesSlides/notesSlide14.xml" Id="Rab742d1a68d142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67C67-A8BE-4154-A830-5EC91D9F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763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72B7"/>
                </a:solidFill>
              </a:defRPr>
            </a:pPr>
            <a:r>
              <a:rPr sz="2025" b="1">
                <a:solidFill>
                  <a:srgbClr val="2072B7"/>
                </a:solidFill>
              </a:rPr>
              <a:t>ĐỒ ÁN NHÓM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93975-F97B-4492-BBE5-0E67D7AA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072B7"/>
                </a:solidFill>
              </a:defRPr>
            </a:pPr>
            <a:r>
              <a:rPr sz="2925" b="1">
                <a:solidFill>
                  <a:srgbClr val="2072B7"/>
                </a:solidFill>
              </a:rPr>
              <a:t>ỨNG DỤNG RANDOM FOREST PHÂN TÁN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B968-38A6-4DA5-A509-CF9C50A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955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Dự đoán nguyên nhân trễ chuyến bay</a:t>
            </a:r>
          </a:p>
          <a:p xmlns:a="http://schemas.openxmlformats.org/drawingml/2006/main">
            <a:pPr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thương mại Hoa Kỳ năm 2024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915F-29CE-4DBF-AC8F-F1C0CE0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72B7"/>
                </a:solidFill>
              </a:defRPr>
            </a:pPr>
            <a:r>
              <a:rPr sz="1875" b="1">
                <a:solidFill>
                  <a:srgbClr val="2072B7"/>
                </a:solidFill>
              </a:rPr>
              <a:t>Giảng viên hướng dẫn: TS. Phan Hồ Viết Trường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B8A43-C0BF-44D0-8779-C94B779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67125"/>
            <a:ext cx="552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Sinh viên thực hiện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Cù Văn Vĩ An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Lê Đức Lương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Trần Huỳnh Tuấn Anh</a:t>
            </a: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3DC5A-A2AE-4274-8439-E0704AB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Lý do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2D30B-B10C-4108-A16A-DED4AAF1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91EE2-592F-4F7B-9B16-4B368EB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Dữ liệu hơn 7 triệu chuyến bay cần một quy trình xử lý phù hợp.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478BA-4748-4F1C-BC13-01FD6ED2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Nhóm dự đoán nguyên nhân trễ chi phối, bên cạnh lớp OnTime.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B12DB-3736-486D-A94F-DFFBB2AA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So sánh CPU với Spark và đưa mô hình lên Web_Air.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AA50-8613-4DF4-A365-C068D36A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66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Dữ liệu chuyến bay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A9F77-143A-4BFC-BC39-03E43283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4AE18-B7EF-4479-B6EC-1D314680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66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Dự đoán 6 nhóm mục tiêu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11816-4B57-4B45-A96B-EFBDD64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19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F47A1-1CEA-43EB-9840-009220A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66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Đánh giá và ứng dụng</a:t>
            </a:r>
          </a:p>
        </p:txBody>
      </p:sp>
    </p:spTree>
    <p:extLst>
      <p:ext uri="{BB962C8B-B14F-4D97-AF65-F5344CB8AC3E}">
        <p14:creationId xmlns:p14="http://schemas.microsoft.com/office/powerpoint/2010/main" val="401745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0AC83-699E-4A09-935C-B9BF7E10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Dữ liệu và nhãn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70F9D-9BEE-4800-8D02-6BB91D21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1C992-76B0-44C6-B4C1-98EE6E0286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e2b40fa2449f3"/>
          <a:stretch xmlns:a="http://schemas.openxmlformats.org/drawingml/2006/main"/>
        </p:blipFill>
        <p:spPr>
          <a:xfrm xmlns:a="http://schemas.openxmlformats.org/drawingml/2006/main">
            <a:off x="523875" y="1952089"/>
            <a:ext cx="6096000" cy="352532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E8160-779B-414F-BDBF-AF65803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Nguồn BTS, hàng không Hoa Kỳ năm 2024.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E2B08-03BC-4018-AD5D-D61DEA28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9560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6 nhãn: OnTime, Carrier, Weather, NAS, Security, LateAircraft.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981CD-5DE4-4028-B2D1-BEF459C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909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OnTime khoảng 79,2% dữ liệu sạch. Các lớp trễ ít gặp hơn nhiều.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F7825-B277-47F2-818A-BC25D8E9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72B7"/>
                </a:solidFill>
              </a:defRPr>
            </a:pPr>
            <a:r>
              <a:rPr sz="1500" b="0">
                <a:solidFill>
                  <a:srgbClr val="2072B7"/>
                </a:solidFill>
              </a:rPr>
              <a:t>Phân bố trên 6.965.267 bản ghi sạch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91112-E153-49F8-8F9F-F89D616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Carrier: hãng bay · Weather: thời tiết · NAS: hệ thống không phận</a:t>
            </a:r>
          </a:p>
          <a:p xmlns:a="http://schemas.openxmlformats.org/drawingml/2006/main">
            <a:pPr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Security: an ninh · LateAircraft: máy bay đến muộn</a:t>
            </a:r>
          </a:p>
        </p:txBody>
      </p:sp>
    </p:spTree>
    <p:extLst>
      <p:ext uri="{BB962C8B-B14F-4D97-AF65-F5344CB8AC3E}">
        <p14:creationId xmlns:p14="http://schemas.microsoft.com/office/powerpoint/2010/main" val="1540570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861AA-DC83-496F-AAD6-791462BE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Tiền xử lý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F25D9-CF31-43EE-9FD7-E6EC344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55396-E7CE-4106-B771-B89FBACD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Làm sạch và xác định nhãn theo nguyên nhân trễ chi phối.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2B990-7631-4E1C-A019-7C0A8F3D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Loại 113.814 bản ghi, còn 6.965.267 bản ghi.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F1394-3AEF-4E16-850E-EDDA12D8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Lưu Parquet 140,57 MB để tái sử dụng khi huấn luyện.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A6CA8-8326-4A41-BCE2-99DC6A7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7.079.081 bản ghi gốc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D4363-ECF3-493F-A411-DF0FF8D4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39BBF-AC16-4D91-93E5-132B8B6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Làm sạch và tạo nhãn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25C15-413E-44BD-BB23-EE4D4295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19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06B92-E4D2-46EC-BE00-FC5BB38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6.965.267 bản ghi sạch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94905-14EC-4162-B196-5A1A634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D70B2-E243-4056-89D2-42A05E8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Lưu Parquet</a:t>
            </a:r>
          </a:p>
        </p:txBody>
      </p:sp>
    </p:spTree>
    <p:extLst>
      <p:ext uri="{BB962C8B-B14F-4D97-AF65-F5344CB8AC3E}">
        <p14:creationId xmlns:p14="http://schemas.microsoft.com/office/powerpoint/2010/main" val="2528995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9D0E8-D677-45D3-8345-B717F942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Kiến trúc CPU và 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3623F-58E6-47C4-8CBE-3C5DB30D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E7C09-4E89-4F7B-B172-51FD63AA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Dữ liệu sạch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562F0-0A39-41F7-B6C3-CD17A289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72B7"/>
                </a:solidFill>
              </a:defRPr>
            </a:pPr>
            <a:r>
              <a:rPr sz="2175" b="0">
                <a:solidFill>
                  <a:srgbClr val="2072B7"/>
                </a:solidFill>
              </a:rPr>
              <a:t>↓                          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25FEE-AE40-4B77-BC2F-25FFB157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CPU: 6 mô hình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8DF1F-6EE0-4016-AB2F-F283CFD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Spark: MLlib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D77EF-BA42-4C57-9B24-B2AA943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72B7"/>
                </a:solidFill>
              </a:defRPr>
            </a:pPr>
            <a:r>
              <a:rPr sz="2175" b="0">
                <a:solidFill>
                  <a:srgbClr val="2072B7"/>
                </a:solidFill>
              </a:rPr>
              <a:t>↓                         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78E9E-76EE-4219-B3EE-69A98D1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Đánh giá kết quả và Web_Air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7C47D-59E4-4615-B244-143BF20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Nhánh CPU làm mốc so sánh chất lượng và thời gian.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E3733-9F32-4FBC-BFB1-BE52930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Nhánh Spark chia dữ liệu thành các phân vùng để xử lý.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C7895-18AE-46B5-9239-C21CF33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Chỉ 3 mô hình MLlib đã xác nhận hoàn tất được đánh giá.</a:t>
            </a:r>
          </a:p>
        </p:txBody>
      </p:sp>
    </p:spTree>
    <p:extLst>
      <p:ext uri="{BB962C8B-B14F-4D97-AF65-F5344CB8AC3E}">
        <p14:creationId xmlns:p14="http://schemas.microsoft.com/office/powerpoint/2010/main" val="987231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64B9A-168D-4388-894D-C55F43F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Cụm ba máy qua 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065FC-54BF-45D1-896A-5C24A85D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A3CA4-07AA-4AB4-AF94-20B6AABD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Tailscale kết nối ba máy trong cụm Spark.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610BC-6B2E-411C-9340-752AA393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Driver điều phối, Executor xử lý các phân vùng dữ liệu.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229A8-8D7B-48EB-9D74-789D58C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Chưa có log phần cứng và RAM từng máy để phân tích tài nguyên toàn cụm.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B3CC3-E050-4B02-80D4-7A900B7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381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Driver và Spark Master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98720-348F-4E55-A2C8-0357B8C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72B7"/>
                </a:solidFill>
              </a:defRPr>
            </a:pPr>
            <a:r>
              <a:rPr sz="1800" b="0">
                <a:solidFill>
                  <a:srgbClr val="2072B7"/>
                </a:solidFill>
              </a:rPr>
              <a:t>Điều phối qua Tailscale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0BAF4-0DD4-4C7F-8963-058640CB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Worker / Executor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4E2DB-5DE4-4633-A04F-2408FCE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Worker / Executor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003A5-9F93-4B8A-A15B-155855B5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Sơ đồ vai trò, không mô tả cấu hình phần cứng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Master: 100.65.205.113:7077</a:t>
            </a:r>
          </a:p>
        </p:txBody>
      </p:sp>
    </p:spTree>
    <p:extLst>
      <p:ext uri="{BB962C8B-B14F-4D97-AF65-F5344CB8AC3E}">
        <p14:creationId xmlns:p14="http://schemas.microsoft.com/office/powerpoint/2010/main" val="1297756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EEE22-AD45-4D2A-83E5-54B0C76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Random Forest phân tán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C8905-C4DA-4048-BBDE-30F5C30E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C0C68-B239-416B-97F1-B92D787E6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6c431a35b40b2"/>
          <a:stretch xmlns:a="http://schemas.openxmlformats.org/drawingml/2006/main"/>
        </p:blipFill>
        <p:spPr>
          <a:xfrm xmlns:a="http://schemas.openxmlformats.org/drawingml/2006/main">
            <a:off x="2042088" y="1809750"/>
            <a:ext cx="3059574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4A42B-2317-41D6-940D-9CBDE14A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Nhiều cây học trên các mẫu dữ liệu và tập con đặc trưng.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4B7FC-C526-4113-B32E-03B9F972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Spark xử lý phân vùng và tổng hợp thống kê để chọn điểm chia.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932DB-F946-42EE-A149-E4D0E7B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Các cây cùng bỏ phiếu cho nhãn dự đoán cuối.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3645C-8A4E-4BF9-8D9F-7C3330CB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72B7"/>
                </a:solidFill>
              </a:defRPr>
            </a:pPr>
            <a:r>
              <a:rPr sz="1350" b="0">
                <a:solidFill>
                  <a:srgbClr val="2072B7"/>
                </a:solidFill>
              </a:rPr>
              <a:t>Hình: tầm quan trọng đặc trưng CPU, không phải Spark</a:t>
            </a:r>
          </a:p>
        </p:txBody>
      </p:sp>
    </p:spTree>
    <p:extLst>
      <p:ext uri="{BB962C8B-B14F-4D97-AF65-F5344CB8AC3E}">
        <p14:creationId xmlns:p14="http://schemas.microsoft.com/office/powerpoint/2010/main" val="2614639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10628-CC8E-4521-8D23-22343299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Thiết lập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DF035-0650-4005-B425-0FF6C4E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279AE-9A74-4F4B-AF07-7A19F93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Bộ kết quả ngày 10/10/2026. Spark ghi lúc 21:09:08.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C648-B40A-4CC6-BD70-C5D9360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Tỷ lệ chia dự kiến: train 70%, validation 15%, test 15%.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A3B5A-ED1C-4A35-B5D6-FD7A06B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Đánh giá Accuracy, Weighted F1, Macro F1 và thời gian.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16304-5FB5-4628-B820-F7C71D0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6 mô hình CPU thực đo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466F7-27FC-4AEC-9608-20D0E82E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3 mô hình Spark MLlib thực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1AEA0-AE06-4928-9E78-E9FDCBB2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Train wall-clock và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C11EF-35A3-4BBF-8284-4CD4DF32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72B7"/>
                </a:solidFill>
              </a:defRPr>
            </a:pPr>
            <a:r>
              <a:rPr sz="1725" b="1">
                <a:solidFill>
                  <a:srgbClr val="2072B7"/>
                </a:solidFill>
              </a:rPr>
              <a:t>Chưa xác nhận CPU và Spark dùng đúng cùng các bản ghi test.</a:t>
            </a:r>
          </a:p>
        </p:txBody>
      </p:sp>
    </p:spTree>
    <p:extLst>
      <p:ext uri="{BB962C8B-B14F-4D97-AF65-F5344CB8AC3E}">
        <p14:creationId xmlns:p14="http://schemas.microsoft.com/office/powerpoint/2010/main" val="3319351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10072-B62A-4486-9EA7-48DD72CB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Kết quả sáu mô hình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2B463-EFC1-4F40-8A2B-03E87F9C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0BB81-B2F3-42E8-A828-9AD25B16D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e3b11992463f"/>
          <a:stretch xmlns:a="http://schemas.openxmlformats.org/drawingml/2006/main"/>
        </p:blipFill>
        <p:spPr>
          <a:xfrm xmlns:a="http://schemas.openxmlformats.org/drawingml/2006/main">
            <a:off x="1449161" y="1762125"/>
            <a:ext cx="3864429" cy="33813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9E061-D74F-48D4-83F1-E0DF1C20DC5C}"/>
              </a:ext>
            </a:extLst>
          </p:cNvPr>
          <p:cNvGraphicFramePr/>
          <p:nvPr/>
        </p:nvGraphicFramePr>
        <p:xfrm>
          <a:off xmlns:a="http://schemas.openxmlformats.org/drawingml/2006/main" x="6572250" y="1952625"/>
          <a:ext xmlns:a="http://schemas.openxmlformats.org/drawingml/2006/main" cx="5143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52500"/>
                <a:gridCol w="952500"/>
                <a:gridCol w="952500"/>
              </a:tblGrid>
              <a:tr h="42182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Acc %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W.F1 %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M.F1 %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Logistic Regression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79.18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69.98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14.73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Decision 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79.20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15.56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79.18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69.98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14.73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LightGBM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79.24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70.32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15.87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79.26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70.33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15.50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CatBoost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79.26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70.50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15.77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05101-47DD-4892-9AFE-6A05C2D0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91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CatBoost: Weighted F1 cao nhất 70,50%.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LightGBM: Macro F1 cao nhất 15,87%.</a:t>
            </a:r>
          </a:p>
        </p:txBody>
      </p:sp>
    </p:spTree>
    <p:extLst>
      <p:ext uri="{BB962C8B-B14F-4D97-AF65-F5344CB8AC3E}">
        <p14:creationId xmlns:p14="http://schemas.microsoft.com/office/powerpoint/2010/main" val="3378413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3E4C8-937F-43EF-BD91-F204E862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Ba mô hình Spark thực đo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A3704-8B1F-4A72-AB45-31D54B98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95E49-522C-4B0E-BFE1-E2BB500B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Cả ba đạt Accuracy 79,20% và Weighted F1 70,00%.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51B3-CBDC-42F0-BBBA-D834713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JSON không lưu Macro F1, nên chưa đánh giá chỉ số này.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AAB34-BE01-448B-AD0B-C5ABCBC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4714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XGBoost fallback, LightGBM và CatBoost chưa có kết quả Spark thực đo hợp lệ.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68840-B58A-4980-8853-02DE6DFE7BA0}"/>
              </a:ext>
            </a:extLst>
          </p:cNvPr>
          <p:cNvGraphicFramePr/>
          <p:nvPr/>
        </p:nvGraphicFramePr>
        <p:xfrm>
          <a:off xmlns:a="http://schemas.openxmlformats.org/drawingml/2006/main" x="6572250" y="2095500"/>
          <a:ext xmlns:a="http://schemas.openxmlformats.org/drawingml/2006/main" cx="5143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143000"/>
                <a:gridCol w="114300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Spark MLlib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Train s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ms/1k</a:t>
                      </a:r>
                    </a:p>
                  </a:txBody>
                  <a:tcPr marL="91440" marR="91440" marT="45720" marB="45720">
                    <a:solidFill>
                      <a:srgbClr val="2072B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Logistic Regression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19.29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2.19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Decision 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23.13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31.03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1.86</a:t>
                      </a:r>
                    </a:p>
                  </a:txBody>
                  <a:tcPr marL="91440" marR="91440" marT="45720" marB="45720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35CC4-AF2D-49CB-8494-352628BD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Train sử dụng wall-clock</a:t>
            </a:r>
          </a:p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Latency là suy luận trên 1.000 mẫu</a:t>
            </a:r>
          </a:p>
        </p:txBody>
      </p:sp>
    </p:spTree>
    <p:extLst>
      <p:ext uri="{BB962C8B-B14F-4D97-AF65-F5344CB8AC3E}">
        <p14:creationId xmlns:p14="http://schemas.microsoft.com/office/powerpoint/2010/main" val="3928697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90973-36EA-4FD2-953D-41C3A24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So sánh thời gian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5858F-1E9B-42EC-ADBA-2A636E04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3FED-90F3-4F67-95FA-2F9D77ABA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b18e33f445da"/>
          <a:stretch xmlns:a="http://schemas.openxmlformats.org/drawingml/2006/main"/>
        </p:blipFill>
        <p:spPr>
          <a:xfrm xmlns:a="http://schemas.openxmlformats.org/drawingml/2006/main">
            <a:off x="1714500" y="17145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7D0EE-B701-4A37-97D7-F8E45495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Random Forest train: CPU 85,18 s, Spark 31,03 s. Tỷ lệ 2,74 lần.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21CBD-29A5-4345-AE4A-402328D5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Latency: CPU 16,31, Spark 1,86 ms/1k. Tỷ lệ 8,77 lần.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CDD37-2A37-4DF6-BC33-2A738FCA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Chênh lệch còn phụ thuộc cấu hình mô hình và môi trường chạy.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79E71-92E7-4B38-87FF-18F0BD5C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72B7"/>
                </a:solidFill>
              </a:defRPr>
            </a:pPr>
            <a:r>
              <a:rPr sz="1725" b="1">
                <a:solidFill>
                  <a:srgbClr val="2072B7"/>
                </a:solidFill>
              </a:rPr>
              <a:t>534,83 s tổng train CPU và 295,03 s toàn trình Spark khác phạm vi đo.</a:t>
            </a:r>
          </a:p>
          <a:p xmlns:a="http://schemas.openxmlformats.org/drawingml/2006/main">
            <a:pPr>
              <a:defRPr sz="1725" b="1">
                <a:solidFill>
                  <a:srgbClr val="2072B7"/>
                </a:solidFill>
              </a:defRPr>
            </a:pPr>
            <a:r>
              <a:rPr sz="1725" b="1">
                <a:solidFill>
                  <a:srgbClr val="2072B7"/>
                </a:solidFill>
              </a:rPr>
              <a:t>Tổng toàn trình Spark còn cần đối soát, chưa dùng để kết luận tăng tốc.</a:t>
            </a:r>
          </a:p>
        </p:txBody>
      </p:sp>
    </p:spTree>
    <p:extLst>
      <p:ext uri="{BB962C8B-B14F-4D97-AF65-F5344CB8AC3E}">
        <p14:creationId xmlns:p14="http://schemas.microsoft.com/office/powerpoint/2010/main" val="24645443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42529-0700-4C38-91C6-1ED5BAC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Phân tích hạn chế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12409-93FF-40CD-9C51-85C2D73B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BF2A-307D-4C70-A7BB-CD2E665D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Random Forest CPU gần như dự đoán toàn bộ mẫu là OnTime.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3033-121B-434D-910A-0DBFD06F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CatBoost cải thiện nhỏ ở lớp trễ, recall vẫn thấp.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E537D-F57F-4C8A-9787-57C84DE3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Cần xử lý mất cân bằng lớp và cố định tập test chung.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B5350-CD47-4EE5-AADC-94A309C93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8790c233249e9"/>
          <a:stretch xmlns:a="http://schemas.openxmlformats.org/drawingml/2006/main"/>
        </p:blipFill>
        <p:spPr>
          <a:xfrm xmlns:a="http://schemas.openxmlformats.org/drawingml/2006/main">
            <a:off x="5334000" y="1855752"/>
            <a:ext cx="3333750" cy="2803596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1CDC0-4D05-4E82-951B-416B1B4BF1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6c64b9d89417c"/>
          <a:stretch xmlns:a="http://schemas.openxmlformats.org/drawingml/2006/main"/>
        </p:blipFill>
        <p:spPr>
          <a:xfrm xmlns:a="http://schemas.openxmlformats.org/drawingml/2006/main">
            <a:off x="8667750" y="1840228"/>
            <a:ext cx="3333750" cy="28346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AA81C-EEF7-4B26-832B-BFE8E4A3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72B7"/>
                </a:solidFill>
              </a:defRPr>
            </a:pPr>
            <a:r>
              <a:rPr sz="1650" b="1">
                <a:solidFill>
                  <a:srgbClr val="2072B7"/>
                </a:solidFill>
              </a:rPr>
              <a:t>Random Forest CPU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81DCC-86CA-487E-9F6D-6DB63B4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72B7"/>
                </a:solidFill>
              </a:defRPr>
            </a:pPr>
            <a:r>
              <a:rPr sz="1650" b="1">
                <a:solidFill>
                  <a:srgbClr val="2072B7"/>
                </a:solidFill>
              </a:rPr>
              <a:t>CatBoost 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DD120-380C-488D-835F-CB448430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768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Bổ sung log, dự đoán và ma trận nhầm lẫn Spark.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Chưa dùng cột pure/network suy diễn như số đo độc lập.</a:t>
            </a:r>
          </a:p>
        </p:txBody>
      </p:sp>
    </p:spTree>
    <p:extLst>
      <p:ext uri="{BB962C8B-B14F-4D97-AF65-F5344CB8AC3E}">
        <p14:creationId xmlns:p14="http://schemas.microsoft.com/office/powerpoint/2010/main" val="36774510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E1F60-4EEC-406E-B18E-B3B4A255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Ứng dụng Web_Air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21988-0CA7-4ED1-BCE4-CA767002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3598B-6336-4E4E-AF45-78EE8BDF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Người dùng nhập dữ liệu chuyến bay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BEFFB-36CE-4A12-BFB6-F110CD6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DF4F3-632C-4070-91EE-370ED17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Ứng dụng gửi yêu cầu dự đoán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EA381-79EB-4B5A-B12C-9D68C385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3B3E7-2791-4049-9303-48DDBBD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Mô hình trả nhãn dự đoán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2F05B-0FB4-4EE2-AA98-A8130CAE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14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9B2A3-CC70-4794-A0D0-47753FD2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2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Hiển thị kết quả và thực nghiệm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A5FA-9909-4FE7-8E5B-9D76278A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452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Web_Air cung cấp giao diện dự đoán và xem kết quả.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C404E-1F1B-4D31-AC34-74FF1E9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452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Latency mô hình khác thời gian phản hồi một yêu cầu HTTP.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7CA73-F3A1-47A4-80FE-752FB149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452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Chưa đo tải Web, thông lượng và thời gian người dùng chờ.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2B0F-A145-4B2B-8879-10280EC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072B7"/>
                </a:solidFill>
              </a:defRPr>
            </a:pPr>
            <a:r>
              <a:rPr sz="1425" b="0">
                <a:solidFill>
                  <a:srgbClr val="2072B7"/>
                </a:solidFill>
              </a:rPr>
              <a:t>Sơ đồ luồng ứng dụng, không phải ảnh giao diện thực tế</a:t>
            </a:r>
          </a:p>
        </p:txBody>
      </p:sp>
    </p:spTree>
    <p:extLst>
      <p:ext uri="{BB962C8B-B14F-4D97-AF65-F5344CB8AC3E}">
        <p14:creationId xmlns:p14="http://schemas.microsoft.com/office/powerpoint/2010/main" val="18945030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D55E5-EB73-47CA-8F78-EFE58B2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72B7"/>
                </a:solidFill>
              </a:defRPr>
            </a:pPr>
            <a:r>
              <a:rPr sz="2850" b="1">
                <a:solidFill>
                  <a:srgbClr val="2072B7"/>
                </a:solidFill>
              </a:rPr>
              <a:t>Kết luận và hỏi đáp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B8930-CCD4-4440-AF74-6DA62A00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72B7"/>
                </a:solidFill>
              </a:defRPr>
            </a:pPr>
            <a:r>
              <a:rPr sz="1275" b="0">
                <a:solidFill>
                  <a:srgbClr val="2072B7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F63A5-CF9B-475A-B81B-DF24E6F9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Nhóm đã xử lý hơn 7 triệu chuyến bay và triển khai hai nhánh CPU/Spark.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2DF75-E75A-435A-BBE2-90FE5803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Random Forest Spark train 31,03 s, nhưng khả năng phân biệt nguyên nhân trễ còn hạn chế.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A5EA1-B45A-4C31-B228-4A42AEAD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Hướng tiếp theo: cân bằng lớp, test chung và ghi log đầy đủ.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3F9B4-183C-4D5F-9632-ADEC313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072B7"/>
                </a:solidFill>
              </a:defRPr>
            </a:pPr>
            <a:r>
              <a:rPr sz="2925" b="1">
                <a:solidFill>
                  <a:srgbClr val="2072B7"/>
                </a:solidFill>
              </a:rPr>
              <a:t>CẢM ƠN THẦY VÀ CÁC BẠN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AE288-B843-409F-9364-4382527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22222"/>
                </a:solidFill>
              </a:defRPr>
            </a:pPr>
            <a:r>
              <a:rPr sz="2400" b="0">
                <a:solidFill>
                  <a:srgbClr val="222222"/>
                </a:solidFill>
              </a:rPr>
              <a:t>Nhóm 6 xin nhận câu hỏi</a:t>
            </a:r>
          </a:p>
          <a:p xmlns:a="http://schemas.openxmlformats.org/drawingml/2006/main">
            <a:pPr>
              <a:defRPr sz="2400" b="0">
                <a:solidFill>
                  <a:srgbClr val="222222"/>
                </a:solidFill>
              </a:defRPr>
            </a:pPr>
            <a:r>
              <a:rPr sz="2400" b="0">
                <a:solidFill>
                  <a:srgbClr val="222222"/>
                </a:solidFill>
              </a:rPr>
              <a:t>và góp 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50066-B60C-4CF5-B35A-2E3EB27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72B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72B7"/>
                </a:solidFill>
              </a:defRPr>
            </a:pPr>
            <a:r>
              <a:rPr sz="1875" b="0">
                <a:solidFill>
                  <a:srgbClr val="2072B7"/>
                </a:solidFill>
              </a:rPr>
              <a:t>TS. Phan Hồ Viết Trường</a:t>
            </a:r>
          </a:p>
        </p:txBody>
      </p:sp>
    </p:spTree>
    <p:extLst>
      <p:ext uri="{BB962C8B-B14F-4D97-AF65-F5344CB8AC3E}">
        <p14:creationId xmlns:p14="http://schemas.microsoft.com/office/powerpoint/2010/main" val="3343944702"/>
      </p:ext>
    </p:extLst>
  </p:cSld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2026-10-12T17:02:14.1750000Z</dcterms:created>
  <dcterms:modified xsi:type="dcterms:W3CDTF">2026-10-12T17:02:14.1750000Z</dcterms:modified>
</coreProperties>
</file>