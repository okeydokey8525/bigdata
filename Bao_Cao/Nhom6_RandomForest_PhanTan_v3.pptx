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39e7f070974173" /><Relationship Type="http://schemas.openxmlformats.org/officeDocument/2006/relationships/extended-properties" Target="/docProps/app.xml" Id="Rb7b313b7935347ae" /><Relationship Type="http://schemas.openxmlformats.org/officeDocument/2006/relationships/officeDocument" Target="/ppt/presentation.xml" Id="R78b770ff45fa45c6" /></Relationships>
</file>

<file path=ppt/presentation.xml><?xml version="1.0" encoding="utf-8"?>
<p:presentation xmlns:p="http://schemas.openxmlformats.org/presentationml/2006/main">
  <p:sldMasterIdLst>
    <p:sldMasterId xmlns:r="http://schemas.openxmlformats.org/officeDocument/2006/relationships" id="2147483648" r:id="Rad4320a48b944620"/>
  </p:sldMasterIdLst>
  <p:notesMasterIdLst>
    <p:notesMasterId xmlns:r="http://schemas.openxmlformats.org/officeDocument/2006/relationships" r:id="Rf527c21aac024815"/>
  </p:notesMasterIdLst>
  <p:sldIdLst>
    <p:sldId xmlns:r="http://schemas.openxmlformats.org/officeDocument/2006/relationships" id="256" r:id="Rbf1ec22bf556474f"/>
    <p:sldId xmlns:r="http://schemas.openxmlformats.org/officeDocument/2006/relationships" id="257" r:id="Rd96082427a3e4871"/>
    <p:sldId xmlns:r="http://schemas.openxmlformats.org/officeDocument/2006/relationships" id="258" r:id="R7a8ee87845984363"/>
    <p:sldId xmlns:r="http://schemas.openxmlformats.org/officeDocument/2006/relationships" id="259" r:id="R3cb988f36d15406f"/>
    <p:sldId xmlns:r="http://schemas.openxmlformats.org/officeDocument/2006/relationships" id="260" r:id="Re8f1b903063642e6"/>
    <p:sldId xmlns:r="http://schemas.openxmlformats.org/officeDocument/2006/relationships" id="261" r:id="Rfebbb300c409426e"/>
    <p:sldId xmlns:r="http://schemas.openxmlformats.org/officeDocument/2006/relationships" id="262" r:id="Rdd23d33c9dfb4aee"/>
    <p:sldId xmlns:r="http://schemas.openxmlformats.org/officeDocument/2006/relationships" id="263" r:id="R7ce4b051faac4979"/>
    <p:sldId xmlns:r="http://schemas.openxmlformats.org/officeDocument/2006/relationships" id="264" r:id="R50d25797958f4474"/>
    <p:sldId xmlns:r="http://schemas.openxmlformats.org/officeDocument/2006/relationships" id="265" r:id="R23502697dce24e90"/>
    <p:sldId xmlns:r="http://schemas.openxmlformats.org/officeDocument/2006/relationships" id="266" r:id="R992cd2c69c564107"/>
    <p:sldId xmlns:r="http://schemas.openxmlformats.org/officeDocument/2006/relationships" id="267" r:id="R22c6c6ead670464c"/>
    <p:sldId xmlns:r="http://schemas.openxmlformats.org/officeDocument/2006/relationships" id="268" r:id="R7601c10b96034550"/>
    <p:sldId xmlns:r="http://schemas.openxmlformats.org/officeDocument/2006/relationships" id="269" r:id="R68edd28c35774c36"/>
    <p:sldId xmlns:r="http://schemas.openxmlformats.org/officeDocument/2006/relationships" id="270" r:id="R0f24f540791747d5"/>
    <p:sldId xmlns:r="http://schemas.openxmlformats.org/officeDocument/2006/relationships" id="271" r:id="R725e180632174230"/>
    <p:sldId xmlns:r="http://schemas.openxmlformats.org/officeDocument/2006/relationships" id="272" r:id="Ra8325724b4c74ee4"/>
    <p:sldId xmlns:r="http://schemas.openxmlformats.org/officeDocument/2006/relationships" id="273" r:id="R373dbb78158c4d3b"/>
    <p:sldId xmlns:r="http://schemas.openxmlformats.org/officeDocument/2006/relationships" id="274" r:id="Rb1051d8365f34a79"/>
    <p:sldId xmlns:r="http://schemas.openxmlformats.org/officeDocument/2006/relationships" id="275" r:id="Rc5e3defd3aac49ea"/>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074e8c792404263" /><Relationship Type="http://schemas.openxmlformats.org/officeDocument/2006/relationships/slideMaster" Target="/ppt/slideMasters/slideMaster1.xml" Id="Rad4320a48b944620" /><Relationship Type="http://schemas.openxmlformats.org/officeDocument/2006/relationships/notesMaster" Target="/ppt/notesMasters/notesMaster1.xml" Id="Rf527c21aac024815" /><Relationship Type="http://schemas.openxmlformats.org/officeDocument/2006/relationships/presProps" Target="/ppt/presProps.xml" Id="Raaf8a3a8be3c4e5c" /><Relationship Type="http://schemas.openxmlformats.org/officeDocument/2006/relationships/viewProps" Target="/ppt/viewProps.xml" Id="R81c663956c714f9b" /><Relationship Type="http://schemas.openxmlformats.org/officeDocument/2006/relationships/tableStyles" Target="/ppt/tableStyles.xml" Id="Rd9d25547d10f4549" /><Relationship Type="http://schemas.openxmlformats.org/officeDocument/2006/relationships/slide" Target="/ppt/slides/slide1.xml" Id="Rbf1ec22bf556474f" /><Relationship Type="http://schemas.openxmlformats.org/officeDocument/2006/relationships/slide" Target="/ppt/slides/slide2.xml" Id="Rd96082427a3e4871" /><Relationship Type="http://schemas.openxmlformats.org/officeDocument/2006/relationships/slide" Target="/ppt/slides/slide3.xml" Id="R7a8ee87845984363" /><Relationship Type="http://schemas.openxmlformats.org/officeDocument/2006/relationships/slide" Target="/ppt/slides/slide4.xml" Id="R3cb988f36d15406f" /><Relationship Type="http://schemas.openxmlformats.org/officeDocument/2006/relationships/slide" Target="/ppt/slides/slide5.xml" Id="Re8f1b903063642e6" /><Relationship Type="http://schemas.openxmlformats.org/officeDocument/2006/relationships/slide" Target="/ppt/slides/slide6.xml" Id="Rfebbb300c409426e" /><Relationship Type="http://schemas.openxmlformats.org/officeDocument/2006/relationships/slide" Target="/ppt/slides/slide7.xml" Id="Rdd23d33c9dfb4aee" /><Relationship Type="http://schemas.openxmlformats.org/officeDocument/2006/relationships/slide" Target="/ppt/slides/slide8.xml" Id="R7ce4b051faac4979" /><Relationship Type="http://schemas.openxmlformats.org/officeDocument/2006/relationships/slide" Target="/ppt/slides/slide9.xml" Id="R50d25797958f4474" /><Relationship Type="http://schemas.openxmlformats.org/officeDocument/2006/relationships/slide" Target="/ppt/slides/slide10.xml" Id="R23502697dce24e90" /><Relationship Type="http://schemas.openxmlformats.org/officeDocument/2006/relationships/slide" Target="/ppt/slides/slide11.xml" Id="R992cd2c69c564107" /><Relationship Type="http://schemas.openxmlformats.org/officeDocument/2006/relationships/slide" Target="/ppt/slides/slide12.xml" Id="R22c6c6ead670464c" /><Relationship Type="http://schemas.openxmlformats.org/officeDocument/2006/relationships/slide" Target="/ppt/slides/slide13.xml" Id="R7601c10b96034550" /><Relationship Type="http://schemas.openxmlformats.org/officeDocument/2006/relationships/slide" Target="/ppt/slides/slide14.xml" Id="R68edd28c35774c36" /><Relationship Type="http://schemas.openxmlformats.org/officeDocument/2006/relationships/slide" Target="/ppt/slides/slide15.xml" Id="R0f24f540791747d5" /><Relationship Type="http://schemas.openxmlformats.org/officeDocument/2006/relationships/slide" Target="/ppt/slides/slide16.xml" Id="R725e180632174230" /><Relationship Type="http://schemas.openxmlformats.org/officeDocument/2006/relationships/slide" Target="/ppt/slides/slide17.xml" Id="Ra8325724b4c74ee4" /><Relationship Type="http://schemas.openxmlformats.org/officeDocument/2006/relationships/slide" Target="/ppt/slides/slide18.xml" Id="R373dbb78158c4d3b" /><Relationship Type="http://schemas.openxmlformats.org/officeDocument/2006/relationships/slide" Target="/ppt/slides/slide19.xml" Id="Rb1051d8365f34a79" /><Relationship Type="http://schemas.openxmlformats.org/officeDocument/2006/relationships/slide" Target="/ppt/slides/slide20.xml" Id="Rc5e3defd3aac49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8bb2b1f31348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UI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48d5fcecc74f4d" /><Relationship Type="http://schemas.openxmlformats.org/officeDocument/2006/relationships/notesMaster" Target="/ppt/notesMasters/notesMaster1.xml" Id="R160d451cf2ec42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601f309b0c4e59" /><Relationship Type="http://schemas.openxmlformats.org/officeDocument/2006/relationships/notesMaster" Target="/ppt/notesMasters/notesMaster1.xml" Id="Re637894c9b0a48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081ffa58ed4c78" /><Relationship Type="http://schemas.openxmlformats.org/officeDocument/2006/relationships/notesMaster" Target="/ppt/notesMasters/notesMaster1.xml" Id="Rd0b766dc0d3e46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262fb7086e4278" /><Relationship Type="http://schemas.openxmlformats.org/officeDocument/2006/relationships/notesMaster" Target="/ppt/notesMasters/notesMaster1.xml" Id="Rf46ae8a9305c49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4c724eb2684cf7" /><Relationship Type="http://schemas.openxmlformats.org/officeDocument/2006/relationships/notesMaster" Target="/ppt/notesMasters/notesMaster1.xml" Id="Ree386403151b4d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10c39d34314fd1" /><Relationship Type="http://schemas.openxmlformats.org/officeDocument/2006/relationships/notesMaster" Target="/ppt/notesMasters/notesMaster1.xml" Id="R71da1794ae7045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aefc4d97f74684" /><Relationship Type="http://schemas.openxmlformats.org/officeDocument/2006/relationships/notesMaster" Target="/ppt/notesMasters/notesMaster1.xml" Id="Rbf59f6835e764a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bea9ea74004a45" /><Relationship Type="http://schemas.openxmlformats.org/officeDocument/2006/relationships/notesMaster" Target="/ppt/notesMasters/notesMaster1.xml" Id="Rcd0b0168d71647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d7225041354f5e" /><Relationship Type="http://schemas.openxmlformats.org/officeDocument/2006/relationships/notesMaster" Target="/ppt/notesMasters/notesMaster1.xml" Id="Rb08b1458c51649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ab1a5a81ca4d2a" /><Relationship Type="http://schemas.openxmlformats.org/officeDocument/2006/relationships/notesMaster" Target="/ppt/notesMasters/notesMaster1.xml" Id="R0ef17f5a4afe40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507f2b07ab4222" /><Relationship Type="http://schemas.openxmlformats.org/officeDocument/2006/relationships/notesMaster" Target="/ppt/notesMasters/notesMaster1.xml" Id="R5ac097af810e47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b227e1c9b24e32" /><Relationship Type="http://schemas.openxmlformats.org/officeDocument/2006/relationships/notesMaster" Target="/ppt/notesMasters/notesMaster1.xml" Id="R0fd2fa4bfe5147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22980663bc3433e" /><Relationship Type="http://schemas.openxmlformats.org/officeDocument/2006/relationships/notesMaster" Target="/ppt/notesMasters/notesMaster1.xml" Id="R905cc92d2a154d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a3c7ced9d34c96" /><Relationship Type="http://schemas.openxmlformats.org/officeDocument/2006/relationships/notesMaster" Target="/ppt/notesMasters/notesMaster1.xml" Id="R5d12878f98cd413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d2578abb0614732" /><Relationship Type="http://schemas.openxmlformats.org/officeDocument/2006/relationships/notesMaster" Target="/ppt/notesMasters/notesMaster1.xml" Id="Re3ce859fdeed4b6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1c420b35ac04f23" /><Relationship Type="http://schemas.openxmlformats.org/officeDocument/2006/relationships/notesMaster" Target="/ppt/notesMasters/notesMaster1.xml" Id="R2ce762a39b1c4d8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3244ab0eeed4fdd" /><Relationship Type="http://schemas.openxmlformats.org/officeDocument/2006/relationships/notesMaster" Target="/ppt/notesMasters/notesMaster1.xml" Id="Rad9c6186b16343d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171562da2a440c" /><Relationship Type="http://schemas.openxmlformats.org/officeDocument/2006/relationships/notesMaster" Target="/ppt/notesMasters/notesMaster1.xml" Id="R312f2f5c8ffe43b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8d1c744f534647" /><Relationship Type="http://schemas.openxmlformats.org/officeDocument/2006/relationships/notesMaster" Target="/ppt/notesMasters/notesMaster1.xml" Id="Rdc7fe8999eab48b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16d31e1a8ed4795" /><Relationship Type="http://schemas.openxmlformats.org/officeDocument/2006/relationships/notesMaster" Target="/ppt/notesMasters/notesMaster1.xml" Id="R4040b65326b946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BaoCao_DoAn_BigData_Nhom6_IEEE.docx bản biên tập; HUONG_DAN_CHO_GPT_WORK.txt. Số liệu thực nghiệm ngày 10/10/2026.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Cơ sở lý thuyết theo báo cáo: Spark giữ dữ liệu để tái sử dụng; DAG và đánh giá lười quyết định khi thực thi. p_k là tỷ lệ lớp k tại nút. Gini = 0 nếu tất cả mẫu cùng lớp. Random Forest dùng bagging và tập con đặc trưng. Công thức bỏ phiếu: y_hat = argmax_k sum_b I(h_b(x)=k). Phân tán thống kê không đồng nghĩa mỗi máy chỉ xây một cây.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Các tỷ lệ lớn đã làm tròn theo báo cáo và hình delay_distribution_7m_pie.png. Lớp Security có 3.698 mẫu theo chú giải ảnh, dưới 0,1%. Không dùng các tỷ lệ làm tròn để khôi phục số lượng chính xác của các lớp khác.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Không có mã ETL trong gói ZIP. Báo cáo và JSON chỉ xác nhận total_raw_rows=7079081, total_cleaned_rows=6965267, filtered_rows=113814, parquet_size_mb=140.57. Không xác nhận loại chuyến hủy/đổi hướng, loại thiếu trường nào hoặc điền bằng 0/trung vị. Do đó không gán các quy tắc phổ biến cho lượt chạy ngày 10/10. Parquet hỗ trợ tái sử dụng dữ liệu, nhưng chưa có phép đo CSV/Parquet cùng cấu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Tên trường lấy từ top_features Spark và biểu đồ cpu_feature_importance_20261010.png. Chỉ xác nhận các trường có trong artifact, không tự mô tả công thức chuyển HHMM, mã hóa hãng bay hoặc quy tắc điền thiếu. Báo cáo không ghi ngưỡng OnTime chính xác, công thức argmax phút trễ và cách xử lý hòa. Không khẳng định các chi tiết này là cấu hình ngày 10/10.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Sáu CPU gồm LR, DT, RF, LightGBM, XGBoost, CatBoost. Chỉ LR, DT và RF Spark MLlib được xác nhận huấn luyện thật. Dòng RF Spark 49,89 giây trong file CPU thuộc lượt chạy khác, không dùng cho đối sánh ở đây.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Sơ đồ vị trí vai trò theo xác nhận của người dùng trong yêu cầu v3: Máy 1 có Spark Master, Driver, Worker 1; Máy 2 Worker 2; Máy 3 Worker 3. Mỗi Worker được minh họa với Executor bên trong, không khẳng định số Executor thực tế. Master khác Driver. Báo cáo lưu master spark://100.65.205.113:7077; không có cấu hình CPU/RAM của từng máy. Đường nét đứt biểu diễn kết nối mạng Tailscale, không phải số đo truyền thông.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Sơ đồ mức khái niệm theo báo cáo, không phải log tác vụ của lượt chạy. Executor tổng hợp thống kê nhãn cho các điểm chia; Driver điều phối chọn chia. Quá trình lặp lại qua nhiều nút và cây. Số phân vùng không đồng nhất với số máy, số cây hoặc số Executor. Không ánh xạ máy 1/cây 1, máy 2/cây 2. Các cây dự đoán, sau đó nhãn có nhiều phiếu nhất được chọn.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F1 cân bằng precision và recall: 2PR/(P+R). Weighted F1 chịu ảnh hưởng mạnh của lớp đông; Macro F1 giúp xem khả năng trên lớp ít gặp. Tỷ lệ 70/15/15 là dự kiến theo Word, chưa xác nhận đúng các bản ghi train/test của CPU và Spark. Không có cấu hình numTrees, maxDepth, maxBins, seed, số phân vùng hoặc log phần cứng gắn lượt chạy cũ. Không lấy cấu hình code ngày 12/10 mô tả 10/10. Spark JSON timestamp 2026-10-10 21:09:08.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Sáu dòng CPU đối chiếu JSON và CSV khớp. RAM được giữ trong dữ liệu gốc: LR 1991.1, DT 1716.2, RF 1756.5, LightGBM 1803.6, XGBoost 2053.8, CatBoost 4069.4 MB. Không so RAM CPU mô hình với RAM ETL Spark. Tên Logistic Reg. viết gọn từ Logistic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Biểu đồ chỉ thể hiện Macro F1 để phục vụ nhận xét, tránh lặp toàn bộ bảng. Không bỏ gốc trục để phóng đại khác biệt. Weighted F1 cao nhất 70,50% vẫn bị lớp đông ảnh hưởng. Các ma trận CPU ở trang 15–16 giải thích cụ thể xu hướng dự đoán.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Nguồn Spark JSON 10/10 21:09:08, chỉ ba mô hình MLlib đầu được xác nhận huấn luyện thật. Không dùng Macro F1 gán sẵn 28,25% trong CSV cũ. XGBoost có barrier fallback; LightGBM và CatBoost chưa hoàn tất thư viện tích hợp hoặc có số thay thế. Dòng RF Spark ở baseline_summary_7m.json thuộc lượt khác. Kết quả từng lớp Spark chưa có ma trận nhầm lẫn trong gói; không suy từ ma trận CPU.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Đối sánh cùng loại chỉ số: train wall-clock CPU từ JSON/CSV, Spark từ wall_clock_time_seconds. RF 85.18/31.03=2.745, làm tròn thông thường thành 2,75 lần; báo cáo ghi 2,74 do khác cách làm tròn. Latency 16.31/1.86=8.769 ~8,77. LR Spark 19,29 giây lớn hơn CPU 11,03 giây, nên không kết luận Spark luôn nhanh hơn. Tổng train sáu CPU 534,83 giây khác phạm vi toàn trình Spark 295,03 giây. Tổng ETL cộng sáu dòng model trong JSON=345,39 giây, có dòng thay thế; không dùng tổng đó xác nhận sáu model huấn luyện. pure/network là giá trị suy diễn, không số đo độc lập. Không quy toàn bộ chênh lệch cho phân tán khi siêu tham số, phần cứng và test chưa đối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Ma trận dựng lại từ các tỷ lệ hiển thị của cm_random_forest_cpu_7m.png ngày 10/10. Không có số đếm thô; không coi 0,0% là tuyệt đối không có mẫu nếu ảnh đã làm tròn. Cột OnTime hiển thị 100,0% ở cả sáu hàng. Hàng là nhãn thực, cột là dự đoán; ô chéo là recall lớp.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Dựng lại các số đã làm tròn từ cm_catboost_7m.png, không tính lại từ dự đoán thô. Một số hàng cộng thành 100,1% do làm tròn. Weather và Security hiển thị recall 0,0%. Không gán ma trận này cho CatBoost Spark hoặc Random Forest Spark.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Nguồn cpu_feature_importance_20261010.png và báo cáo. RF: month 0.2208, arr_min_of_day 0.1527, dep_min_of_day 0.1484. CatBoost: op_unique_carrier 24.8778, month 18.0367, day_of_month 9.7724. Chỉ so thứ hạng trong từng mô hình. Không dùng đặc trưng CPU thay cho kết quả Spark. Các top_features Spark trong JSON là 0,0, chưa đủ để phân tích tác động.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Gói không có ảnh Web_Air và log đầu vào–kết quả thật. Sơ đồ là luồng khái niệm theo báo cáo, không phải ảnh chụp ứng dụng. Cần người dùng bổ sung ảnh giao diện thật và một ví dụ chạy thực tế. Không tự tạo ví dụ với nhãn hoặc độ tin cậy để xem là kết quả thực đo. Latency ms/1.000 mẫu trong bảng mô hình khác độ trễ người dùng chờ một HTTP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Giữ ba ý kết luận: công việc đã làm, kết quả chính và giới hạn. Chưa kết luận mô hình dự đoán tốt mọi nguyên nhân trễ, chưa xác nhận lợi ích phân tán độc lập, chưa có kết quả thực đo cho sáu tích hợp Spark. Cần lưu cấu hình, seed, danh sách bản ghi test, dự đoán thô, log wall-clock và tài nguyên của mỗi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Nhóm xin cảm ơn giảng viên đã hướng dẫn và góp ý trong quá trình thực hiện đồ 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d34e052d64471b" /><Relationship Type="http://schemas.openxmlformats.org/officeDocument/2006/relationships/image" Target="/ppt/media/image.png" Id="Rcedf351ca13f4b3b" /><Relationship Type="http://schemas.openxmlformats.org/officeDocument/2006/relationships/image" Target="/ppt/media/image2.png" Id="R05c78ed6cc53484e" /><Relationship Type="http://schemas.openxmlformats.org/officeDocument/2006/relationships/image" Target="/ppt/media/image3.png" Id="Rddac17a7b00947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0049d581374fb4" /><Relationship Type="http://schemas.openxmlformats.org/officeDocument/2006/relationships/image" Target="/ppt/media/image4.png" Id="R284fd74972c84fa2" /><Relationship Type="http://schemas.openxmlformats.org/officeDocument/2006/relationships/image" Target="/ppt/media/image.png" Id="Rb482426cc77e45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251312861d4952" /><Relationship Type="http://schemas.openxmlformats.org/officeDocument/2006/relationships/image" Target="/ppt/media/image.png" Id="R2acba16a4d8d44ea" /><Relationship Type="http://schemas.openxmlformats.org/officeDocument/2006/relationships/image" Target="/ppt/media/image4.png" Id="Ra72a65afcbe3412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935884070b4922" /><Relationship Type="http://schemas.openxmlformats.org/officeDocument/2006/relationships/image" Target="/ppt/media/image.png" Id="Rf2047a42cb7841b6" /><Relationship Type="http://schemas.openxmlformats.org/officeDocument/2006/relationships/image" Target="/ppt/media/image4.png" Id="R7082317a6c3b4d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3c4fcb74e6431d" /><Relationship Type="http://schemas.openxmlformats.org/officeDocument/2006/relationships/image" Target="/ppt/media/image.png" Id="R78d1c65e42d0452b" /><Relationship Type="http://schemas.openxmlformats.org/officeDocument/2006/relationships/image" Target="/ppt/media/image4.png" Id="R85e4e54640aa48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2ae984caf341f0" /><Relationship Type="http://schemas.openxmlformats.org/officeDocument/2006/relationships/image" Target="/ppt/media/image.png" Id="R60c75fe382da4f4a" /><Relationship Type="http://schemas.openxmlformats.org/officeDocument/2006/relationships/image" Target="/ppt/media/image4.png" Id="Rbdf9e01063a84d2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2e58b6c052f4238" /><Relationship Type="http://schemas.openxmlformats.org/officeDocument/2006/relationships/image" Target="/ppt/media/image5.png" Id="Rb045fc5be49e4049" /><Relationship Type="http://schemas.openxmlformats.org/officeDocument/2006/relationships/image" Target="/ppt/media/image.png" Id="Rd50b30fec1ee4bb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02a1b10decf4564" /><Relationship Type="http://schemas.openxmlformats.org/officeDocument/2006/relationships/image" Target="/ppt/media/image.png" Id="R0960caedf05b4c5f" /><Relationship Type="http://schemas.openxmlformats.org/officeDocument/2006/relationships/image" Target="/ppt/media/image4.png" Id="Rebeebb5aba99406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9c361f803a14cae" /><Relationship Type="http://schemas.openxmlformats.org/officeDocument/2006/relationships/image" Target="/ppt/media/image.png" Id="Rf778c9bec53841c5" /><Relationship Type="http://schemas.openxmlformats.org/officeDocument/2006/relationships/image" Target="/ppt/media/image4.png" Id="R4493bf709d704c0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482f4d37fe647ea" /><Relationship Type="http://schemas.openxmlformats.org/officeDocument/2006/relationships/image" Target="/ppt/media/image.png" Id="R51fe6cbd75554040" /><Relationship Type="http://schemas.openxmlformats.org/officeDocument/2006/relationships/image" Target="/ppt/media/image4.png" Id="Rfcdf8d86153d4334"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41FA5C7D-F076-ABAB-28ED-936E6476926A}"/>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2" name="Rectangle 11">
            <a:extLst xmlns:a="http://schemas.openxmlformats.org/drawingml/2006/main">
              <a:ext uri="{FF2B5EF4-FFF2-40B4-BE49-F238E27FC236}">
                <a16:creationId xmlns:a16="http://schemas.microsoft.com/office/drawing/2014/main" id="{76CBF138-DDAA-03AE-2BFD-F0E6E77D0894}"/>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7" name="Picture 16">
            <a:extLst xmlns:a="http://schemas.openxmlformats.org/drawingml/2006/main">
              <a:ext uri="{FF2B5EF4-FFF2-40B4-BE49-F238E27FC236}">
                <a16:creationId xmlns:a16="http://schemas.microsoft.com/office/drawing/2014/main" id="{573ED818-54F7-4F5E-989D-9F7F57FAB6A6}"/>
              </a:ext>
            </a:extLst>
          </p:cNvPr>
          <p:cNvPicPr>
            <a:picLocks xmlns:a="http://schemas.openxmlformats.org/drawingml/2006/main" noChangeAspect="1"/>
          </p:cNvPicPr>
          <p:nvPr/>
        </p:nvPicPr>
        <p:blipFill>
          <a:blip xmlns:r="http://schemas.openxmlformats.org/officeDocument/2006/relationships" xmlns:a="http://schemas.openxmlformats.org/drawingml/2006/main" r:embed="Rcedf351ca13f4b3b"/>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6" name="Slide Number Placeholder 5">
            <a:extLst xmlns:a="http://schemas.openxmlformats.org/drawingml/2006/main">
              <a:ext uri="{FF2B5EF4-FFF2-40B4-BE49-F238E27FC236}">
                <a16:creationId xmlns:a16="http://schemas.microsoft.com/office/drawing/2014/main" id="{3D0F4D25-1F5F-4388-B72E-AE5CB0D02FE0}"/>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5" name="TextBox 14">
            <a:extLst xmlns:a="http://schemas.openxmlformats.org/drawingml/2006/main">
              <a:ext uri="{FF2B5EF4-FFF2-40B4-BE49-F238E27FC236}">
                <a16:creationId xmlns:a16="http://schemas.microsoft.com/office/drawing/2014/main" id="{EF8EE5A3-86BB-B40C-62D9-2E005424811B}"/>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20" name="Picture 19">
            <a:extLst xmlns:a="http://schemas.openxmlformats.org/drawingml/2006/main">
              <a:ext uri="{FF2B5EF4-FFF2-40B4-BE49-F238E27FC236}">
                <a16:creationId xmlns:a16="http://schemas.microsoft.com/office/drawing/2014/main" id="{4BB2A85C-5845-4F2A-AC67-5FF2D7487ABF}"/>
              </a:ext>
            </a:extLst>
          </p:cNvPr>
          <p:cNvPicPr>
            <a:picLocks xmlns:a="http://schemas.openxmlformats.org/drawingml/2006/main" noChangeAspect="1"/>
          </p:cNvPicPr>
          <p:nvPr/>
        </p:nvPicPr>
        <p:blipFill>
          <a:blip xmlns:r="http://schemas.openxmlformats.org/officeDocument/2006/relationships" xmlns:a="http://schemas.openxmlformats.org/drawingml/2006/main" r:embed="R05c78ed6cc53484e"/>
          <a:stretch xmlns:a="http://schemas.openxmlformats.org/drawingml/2006/main">
            <a:fillRect l="0" t="0" r="0" b="0"/>
          </a:stretch>
        </p:blipFill>
        <p:spPr>
          <a:xfrm xmlns:a="http://schemas.openxmlformats.org/drawingml/2006/main">
            <a:off x="-10160" y="5045074"/>
            <a:ext cx="12202160" cy="1676400"/>
          </a:xfrm>
          <a:prstGeom xmlns:a="http://schemas.openxmlformats.org/drawingml/2006/main" prst="rect">
            <a:avLst/>
          </a:prstGeom>
        </p:spPr>
      </p:pic>
      <p:sp>
        <p:nvSpPr>
          <p:cNvPr id="21" name="TextBox 20">
            <a:extLst xmlns:a="http://schemas.openxmlformats.org/drawingml/2006/main">
              <a:ext uri="{FF2B5EF4-FFF2-40B4-BE49-F238E27FC236}">
                <a16:creationId xmlns:a16="http://schemas.microsoft.com/office/drawing/2014/main" id="{C088D834-70EE-F737-6AE1-030852F6AA55}"/>
              </a:ext>
            </a:extLst>
          </p:cNvPr>
          <p:cNvSpPr>
            <a:spLocks xmlns:a="http://schemas.openxmlformats.org/drawingml/2006/main" noGrp="1"/>
          </p:cNvSpPr>
          <p:nvPr/>
        </p:nvSpPr>
        <p:spPr>
          <a:xfrm xmlns:a="http://schemas.openxmlformats.org/drawingml/2006/main">
            <a:off x="2545718" y="32083"/>
            <a:ext cx="7090403" cy="64633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1800">
                <a:solidFill>
                  <a:schemeClr val="bg1"/>
                </a:solidFill>
                <a:latin typeface="Arial"/>
                <a:ea typeface="Arial"/>
                <a:cs typeface="Arial"/>
              </a:rPr>
              <a:t>BỘ CÔNG THƯƠNG</a:t>
            </a:r>
          </a:p>
          <a:p xmlns:a="http://schemas.openxmlformats.org/drawingml/2006/main">
            <a:pPr algn="ctr">
              <a:buNone/>
            </a:pPr>
            <a:r>
              <a:rPr sz="1800" b="1">
                <a:solidFill>
                  <a:schemeClr val="bg1"/>
                </a:solidFill>
                <a:latin typeface="Arial"/>
                <a:ea typeface="Arial"/>
                <a:cs typeface="Arial"/>
              </a:rPr>
              <a:t>TRƯỜNG ĐẠI HỌC CÔNG THƯƠNG THÀNH PHỐ HỒ CHÍ MINH</a:t>
            </a:r>
            <a:endParaRPr sz="1800" b="1">
              <a:solidFill>
                <a:schemeClr val="bg1"/>
              </a:solidFill>
              <a:latin typeface="Arial"/>
              <a:ea typeface="Arial"/>
              <a:cs typeface="Arial"/>
            </a:endParaRPr>
          </a:p>
        </p:txBody>
      </p:sp>
      <p:pic>
        <p:nvPicPr>
          <p:cNvPr id="23" name="Picture 22">
            <a:extLst xmlns:a="http://schemas.openxmlformats.org/drawingml/2006/main">
              <a:ext uri="{FF2B5EF4-FFF2-40B4-BE49-F238E27FC236}">
                <a16:creationId xmlns:a16="http://schemas.microsoft.com/office/drawing/2014/main" id="{3B46BB07-D694-471E-938F-92EF87405A0C}"/>
              </a:ext>
            </a:extLst>
          </p:cNvPr>
          <p:cNvPicPr>
            <a:picLocks xmlns:a="http://schemas.openxmlformats.org/drawingml/2006/main" noChangeAspect="1"/>
          </p:cNvPicPr>
          <p:nvPr/>
        </p:nvPicPr>
        <p:blipFill>
          <a:blip xmlns:r="http://schemas.openxmlformats.org/officeDocument/2006/relationships" xmlns:a="http://schemas.openxmlformats.org/drawingml/2006/main" r:embed="Rddac17a7b0094737"/>
          <a:stretch xmlns:a="http://schemas.openxmlformats.org/drawingml/2006/main">
            <a:fillRect l="0" t="0" r="0" b="0"/>
          </a:stretch>
        </p:blipFill>
        <p:spPr>
          <a:xfrm xmlns:a="http://schemas.openxmlformats.org/drawingml/2006/main">
            <a:off x="356133" y="18061"/>
            <a:ext cx="666000" cy="666000"/>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A7D56CA0-7F99-A73F-EC74-87E2C37C45F8}"/>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D318B6D4-70AC-4B65-B351-4641C1299010}"/>
              </a:ext>
            </a:extLst>
          </p:cNvPr>
          <p:cNvSpPr>
            <a:spLocks xmlns:a="http://schemas.openxmlformats.org/drawingml/2006/main" noGrp="1"/>
          </p:cNvSpPr>
          <p:nvPr>
            <p:ph type="title" idx="0"/>
          </p:nvPr>
        </p:nvSpPr>
        <p:spPr>
          <a:xfrm xmlns:a="http://schemas.openxmlformats.org/drawingml/2006/main">
            <a:off x="838200" y="884305"/>
            <a:ext cx="10515600" cy="806384"/>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3FF7012-AB55-4877-BB6F-7391544990D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pic>
        <p:nvPicPr>
          <p:cNvPr id="10" name="Picture 9">
            <a:extLst xmlns:a="http://schemas.openxmlformats.org/drawingml/2006/main">
              <a:ext uri="{FF2B5EF4-FFF2-40B4-BE49-F238E27FC236}">
                <a16:creationId xmlns:a16="http://schemas.microsoft.com/office/drawing/2014/main" id="{09626D6C-052F-4421-8FB3-0B17FE978918}"/>
              </a:ext>
            </a:extLst>
          </p:cNvPr>
          <p:cNvPicPr>
            <a:picLocks xmlns:a="http://schemas.openxmlformats.org/drawingml/2006/main" noChangeAspect="1"/>
          </p:cNvPicPr>
          <p:nvPr/>
        </p:nvPicPr>
        <p:blipFill>
          <a:blip xmlns:r="http://schemas.openxmlformats.org/officeDocument/2006/relationships" xmlns:a="http://schemas.openxmlformats.org/drawingml/2006/main" r:embed="R284fd74972c84fa2"/>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
        <p:nvSpPr>
          <p:cNvPr id="11" name="Rectangle 11">
            <a:extLst xmlns:a="http://schemas.openxmlformats.org/drawingml/2006/main">
              <a:ext uri="{FF2B5EF4-FFF2-40B4-BE49-F238E27FC236}">
                <a16:creationId xmlns:a16="http://schemas.microsoft.com/office/drawing/2014/main" id="{D433E92D-1893-9769-8444-34EEDD3F24BC}"/>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2" name="Picture 11">
            <a:extLst xmlns:a="http://schemas.openxmlformats.org/drawingml/2006/main">
              <a:ext uri="{FF2B5EF4-FFF2-40B4-BE49-F238E27FC236}">
                <a16:creationId xmlns:a16="http://schemas.microsoft.com/office/drawing/2014/main" id="{67E17248-361D-490A-94B1-5E8C526D9481}"/>
              </a:ext>
            </a:extLst>
          </p:cNvPr>
          <p:cNvPicPr>
            <a:picLocks xmlns:a="http://schemas.openxmlformats.org/drawingml/2006/main" noChangeAspect="1"/>
          </p:cNvPicPr>
          <p:nvPr/>
        </p:nvPicPr>
        <p:blipFill>
          <a:blip xmlns:r="http://schemas.openxmlformats.org/officeDocument/2006/relationships" xmlns:a="http://schemas.openxmlformats.org/drawingml/2006/main" r:embed="Rb482426cc77e4550"/>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3" name="Slide Number Placeholder 5">
            <a:extLst xmlns:a="http://schemas.openxmlformats.org/drawingml/2006/main">
              <a:ext uri="{FF2B5EF4-FFF2-40B4-BE49-F238E27FC236}">
                <a16:creationId xmlns:a16="http://schemas.microsoft.com/office/drawing/2014/main" id="{FB4E7459-A8A2-5081-F907-74BAE4176EAC}"/>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4" name="TextBox 13">
            <a:extLst xmlns:a="http://schemas.openxmlformats.org/drawingml/2006/main">
              <a:ext uri="{FF2B5EF4-FFF2-40B4-BE49-F238E27FC236}">
                <a16:creationId xmlns:a16="http://schemas.microsoft.com/office/drawing/2014/main" id="{920F50DE-1588-0A68-B2AE-03A7C3A9B079}"/>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0FA27D-1758-43AE-944D-C91614FAEC92}"/>
              </a:ext>
            </a:extLst>
          </p:cNvPr>
          <p:cNvSpPr>
            <a:spLocks xmlns:a="http://schemas.openxmlformats.org/drawingml/2006/main" noGrp="1"/>
          </p:cNvSpPr>
          <p:nvPr>
            <p:ph type="title" idx="0"/>
          </p:nvPr>
        </p:nvSpPr>
        <p:spPr>
          <a:xfrm xmlns:a="http://schemas.openxmlformats.org/drawingml/2006/main">
            <a:off x="831851" y="1709740"/>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F17F988-F5F3-49C9-AAC4-C61FDB5D58CE}"/>
              </a:ext>
            </a:extLst>
          </p:cNvPr>
          <p:cNvSpPr>
            <a:spLocks xmlns:a="http://schemas.openxmlformats.org/drawingml/2006/main" noGrp="1"/>
          </p:cNvSpPr>
          <p:nvPr>
            <p:ph type="body" idx="1"/>
          </p:nvPr>
        </p:nvSpPr>
        <p:spPr>
          <a:xfrm xmlns:a="http://schemas.openxmlformats.org/drawingml/2006/main">
            <a:off x="831851" y="4589465"/>
            <a:ext cx="10515600" cy="1500187"/>
          </a:xfrm>
        </p:spPr>
        <p:txBody>
          <a:bodyPr xmlns:a="http://schemas.openxmlformats.org/drawingml/2006/main"/>
          <a:lstStyle xmlns:a="http://schemas.openxmlformats.org/drawingml/2006/main">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7" name="Rectangle 6">
            <a:extLst xmlns:a="http://schemas.openxmlformats.org/drawingml/2006/main">
              <a:ext uri="{FF2B5EF4-FFF2-40B4-BE49-F238E27FC236}">
                <a16:creationId xmlns:a16="http://schemas.microsoft.com/office/drawing/2014/main" id="{BFDCC048-85E1-D9DE-466A-D5EAB21DAFC6}"/>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9" name="Rectangle 11">
            <a:extLst xmlns:a="http://schemas.openxmlformats.org/drawingml/2006/main">
              <a:ext uri="{FF2B5EF4-FFF2-40B4-BE49-F238E27FC236}">
                <a16:creationId xmlns:a16="http://schemas.microsoft.com/office/drawing/2014/main" id="{0547C463-86A8-9ADB-B42F-6F8F911146A4}"/>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0" name="Picture 9">
            <a:extLst xmlns:a="http://schemas.openxmlformats.org/drawingml/2006/main">
              <a:ext uri="{FF2B5EF4-FFF2-40B4-BE49-F238E27FC236}">
                <a16:creationId xmlns:a16="http://schemas.microsoft.com/office/drawing/2014/main" id="{038BCA3F-8404-4C2E-B60E-FAB95E9A6B03}"/>
              </a:ext>
            </a:extLst>
          </p:cNvPr>
          <p:cNvPicPr>
            <a:picLocks xmlns:a="http://schemas.openxmlformats.org/drawingml/2006/main" noChangeAspect="1"/>
          </p:cNvPicPr>
          <p:nvPr/>
        </p:nvPicPr>
        <p:blipFill>
          <a:blip xmlns:r="http://schemas.openxmlformats.org/officeDocument/2006/relationships" xmlns:a="http://schemas.openxmlformats.org/drawingml/2006/main" r:embed="R2acba16a4d8d44ea"/>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1" name="Slide Number Placeholder 5">
            <a:extLst xmlns:a="http://schemas.openxmlformats.org/drawingml/2006/main">
              <a:ext uri="{FF2B5EF4-FFF2-40B4-BE49-F238E27FC236}">
                <a16:creationId xmlns:a16="http://schemas.microsoft.com/office/drawing/2014/main" id="{A9473FA4-C6C6-7E97-AACE-A35CFDAB768B}"/>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2" name="TextBox 11">
            <a:extLst xmlns:a="http://schemas.openxmlformats.org/drawingml/2006/main">
              <a:ext uri="{FF2B5EF4-FFF2-40B4-BE49-F238E27FC236}">
                <a16:creationId xmlns:a16="http://schemas.microsoft.com/office/drawing/2014/main" id="{5C851853-8430-FC7D-0C05-EA3095D410B2}"/>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6" name="Picture 5">
            <a:extLst xmlns:a="http://schemas.openxmlformats.org/drawingml/2006/main">
              <a:ext uri="{FF2B5EF4-FFF2-40B4-BE49-F238E27FC236}">
                <a16:creationId xmlns:a16="http://schemas.microsoft.com/office/drawing/2014/main" id="{C16F8ECB-FB4C-45F4-8B12-1BC1449F266B}"/>
              </a:ext>
            </a:extLst>
          </p:cNvPr>
          <p:cNvPicPr>
            <a:picLocks xmlns:a="http://schemas.openxmlformats.org/drawingml/2006/main" noChangeAspect="1"/>
          </p:cNvPicPr>
          <p:nvPr/>
        </p:nvPicPr>
        <p:blipFill>
          <a:blip xmlns:r="http://schemas.openxmlformats.org/officeDocument/2006/relationships" xmlns:a="http://schemas.openxmlformats.org/drawingml/2006/main" r:embed="Ra72a65afcbe3412a"/>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11CD2CB1-0029-4E7A-B27B-BD54C7040F2E}"/>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0D1A35A0-142D-419C-82AB-FF7D66B5CF14}"/>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Rectangle 7">
            <a:extLst xmlns:a="http://schemas.openxmlformats.org/drawingml/2006/main">
              <a:ext uri="{FF2B5EF4-FFF2-40B4-BE49-F238E27FC236}">
                <a16:creationId xmlns:a16="http://schemas.microsoft.com/office/drawing/2014/main" id="{77EE82EC-C435-7D46-EFDD-D5C6A244EEA6}"/>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0B176358-D3A0-438D-96FD-2147F80AE2C2}"/>
              </a:ext>
            </a:extLst>
          </p:cNvPr>
          <p:cNvSpPr>
            <a:spLocks xmlns:a="http://schemas.openxmlformats.org/drawingml/2006/main" noGrp="1"/>
          </p:cNvSpPr>
          <p:nvPr>
            <p:ph type="title" idx="0"/>
          </p:nvPr>
        </p:nvSpPr>
        <p:spPr>
          <a:xfrm xmlns:a="http://schemas.openxmlformats.org/drawingml/2006/main">
            <a:off x="838200" y="977329"/>
            <a:ext cx="10515600" cy="713361"/>
          </a:xfrm>
        </p:spPr>
        <p:txBody>
          <a:bodyPr xmlns:a="http://schemas.openxmlformats.org/drawingml/2006/main"/>
          <a:lstStyle xmlns:a="http://schemas.openxmlformats.org/drawingml/2006/main"/>
          <a:p xmlns:a="http://schemas.openxmlformats.org/drawingml/2006/main">
            <a:r>
              <a:t>Click to edit Master title style</a:t>
            </a:r>
          </a:p>
        </p:txBody>
      </p:sp>
      <p:sp>
        <p:nvSpPr>
          <p:cNvPr id="10" name="Rectangle 11">
            <a:extLst xmlns:a="http://schemas.openxmlformats.org/drawingml/2006/main">
              <a:ext uri="{FF2B5EF4-FFF2-40B4-BE49-F238E27FC236}">
                <a16:creationId xmlns:a16="http://schemas.microsoft.com/office/drawing/2014/main" id="{CE50E531-FF89-E7A1-EC42-5664726867C2}"/>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1" name="Picture 10">
            <a:extLst xmlns:a="http://schemas.openxmlformats.org/drawingml/2006/main">
              <a:ext uri="{FF2B5EF4-FFF2-40B4-BE49-F238E27FC236}">
                <a16:creationId xmlns:a16="http://schemas.microsoft.com/office/drawing/2014/main" id="{F2C928E9-1C61-4216-B09E-AEDAA62A0D8E}"/>
              </a:ext>
            </a:extLst>
          </p:cNvPr>
          <p:cNvPicPr>
            <a:picLocks xmlns:a="http://schemas.openxmlformats.org/drawingml/2006/main" noChangeAspect="1"/>
          </p:cNvPicPr>
          <p:nvPr/>
        </p:nvPicPr>
        <p:blipFill>
          <a:blip xmlns:r="http://schemas.openxmlformats.org/officeDocument/2006/relationships" xmlns:a="http://schemas.openxmlformats.org/drawingml/2006/main" r:embed="Rf2047a42cb7841b6"/>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2" name="Slide Number Placeholder 5">
            <a:extLst xmlns:a="http://schemas.openxmlformats.org/drawingml/2006/main">
              <a:ext uri="{FF2B5EF4-FFF2-40B4-BE49-F238E27FC236}">
                <a16:creationId xmlns:a16="http://schemas.microsoft.com/office/drawing/2014/main" id="{41F0268C-2917-2762-4664-C6ACF3587D3B}"/>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3" name="TextBox 12">
            <a:extLst xmlns:a="http://schemas.openxmlformats.org/drawingml/2006/main">
              <a:ext uri="{FF2B5EF4-FFF2-40B4-BE49-F238E27FC236}">
                <a16:creationId xmlns:a16="http://schemas.microsoft.com/office/drawing/2014/main" id="{FC7AE9E0-DBEB-84FF-4DC2-C53AC3C7993F}"/>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5" name="Picture 4">
            <a:extLst xmlns:a="http://schemas.openxmlformats.org/drawingml/2006/main">
              <a:ext uri="{FF2B5EF4-FFF2-40B4-BE49-F238E27FC236}">
                <a16:creationId xmlns:a16="http://schemas.microsoft.com/office/drawing/2014/main" id="{DDE6618D-C01D-4FB3-971C-9CF66D9C73FD}"/>
              </a:ext>
            </a:extLst>
          </p:cNvPr>
          <p:cNvPicPr>
            <a:picLocks xmlns:a="http://schemas.openxmlformats.org/drawingml/2006/main" noChangeAspect="1"/>
          </p:cNvPicPr>
          <p:nvPr/>
        </p:nvPicPr>
        <p:blipFill>
          <a:blip xmlns:r="http://schemas.openxmlformats.org/officeDocument/2006/relationships" xmlns:a="http://schemas.openxmlformats.org/drawingml/2006/main" r:embed="R7082317a6c3b4df5"/>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3" name="Text Placeholder 2">
            <a:extLst xmlns:a="http://schemas.openxmlformats.org/drawingml/2006/main">
              <a:ext uri="{FF2B5EF4-FFF2-40B4-BE49-F238E27FC236}">
                <a16:creationId xmlns:a16="http://schemas.microsoft.com/office/drawing/2014/main" id="{92FFE41E-4F54-4753-B1AF-78AC8FAE7BBA}"/>
              </a:ext>
            </a:extLst>
          </p:cNvPr>
          <p:cNvSpPr>
            <a:spLocks xmlns:a="http://schemas.openxmlformats.org/drawingml/2006/main" noGrp="1"/>
          </p:cNvSpPr>
          <p:nvPr>
            <p:ph type="body" idx="1"/>
          </p:nvPr>
        </p:nvSpPr>
        <p:spPr>
          <a:xfrm xmlns:a="http://schemas.openxmlformats.org/drawingml/2006/main">
            <a:off x="839789"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66FEF3A-5FAC-49AE-84B8-BDCBC18F0FF0}"/>
              </a:ext>
            </a:extLst>
          </p:cNvPr>
          <p:cNvSpPr>
            <a:spLocks xmlns:a="http://schemas.openxmlformats.org/drawingml/2006/main" noGrp="1"/>
          </p:cNvSpPr>
          <p:nvPr>
            <p:ph idx="2"/>
          </p:nvPr>
        </p:nvSpPr>
        <p:spPr>
          <a:xfrm xmlns:a="http://schemas.openxmlformats.org/drawingml/2006/main">
            <a:off x="839789"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FCB36267-4889-4202-B482-6F951DFA13F7}"/>
              </a:ext>
            </a:extLst>
          </p:cNvPr>
          <p:cNvSpPr>
            <a:spLocks xmlns:a="http://schemas.openxmlformats.org/drawingml/2006/main" noGrp="1"/>
          </p:cNvSpPr>
          <p:nvPr>
            <p:ph type="body" idx="3"/>
          </p:nvPr>
        </p:nvSpPr>
        <p:spPr>
          <a:xfrm xmlns:a="http://schemas.openxmlformats.org/drawingml/2006/main">
            <a:off x="6172201"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C948B84B-3D65-47FB-8BBD-D37EBC508810}"/>
              </a:ext>
            </a:extLst>
          </p:cNvPr>
          <p:cNvSpPr>
            <a:spLocks xmlns:a="http://schemas.openxmlformats.org/drawingml/2006/main" noGrp="1"/>
          </p:cNvSpPr>
          <p:nvPr>
            <p:ph idx="4"/>
          </p:nvPr>
        </p:nvSpPr>
        <p:spPr>
          <a:xfrm xmlns:a="http://schemas.openxmlformats.org/drawingml/2006/main">
            <a:off x="6172201"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Rectangle 9">
            <a:extLst xmlns:a="http://schemas.openxmlformats.org/drawingml/2006/main">
              <a:ext uri="{FF2B5EF4-FFF2-40B4-BE49-F238E27FC236}">
                <a16:creationId xmlns:a16="http://schemas.microsoft.com/office/drawing/2014/main" id="{6BA13BF4-06A1-B98B-FD59-CA5020C120FA}"/>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E951293A-77C0-410C-A53F-7750086E01CD}"/>
              </a:ext>
            </a:extLst>
          </p:cNvPr>
          <p:cNvSpPr>
            <a:spLocks xmlns:a="http://schemas.openxmlformats.org/drawingml/2006/main" noGrp="1"/>
          </p:cNvSpPr>
          <p:nvPr>
            <p:ph type="title" idx="0"/>
          </p:nvPr>
        </p:nvSpPr>
        <p:spPr>
          <a:xfrm xmlns:a="http://schemas.openxmlformats.org/drawingml/2006/main">
            <a:off x="839788" y="866777"/>
            <a:ext cx="10515600" cy="823912"/>
          </a:xfrm>
        </p:spPr>
        <p:txBody>
          <a:bodyPr xmlns:a="http://schemas.openxmlformats.org/drawingml/2006/main"/>
          <a:lstStyle xmlns:a="http://schemas.openxmlformats.org/drawingml/2006/main"/>
          <a:p xmlns:a="http://schemas.openxmlformats.org/drawingml/2006/main">
            <a:r>
              <a:t>Click to edit Master title style</a:t>
            </a:r>
          </a:p>
        </p:txBody>
      </p:sp>
      <p:sp>
        <p:nvSpPr>
          <p:cNvPr id="12" name="Rectangle 11">
            <a:extLst xmlns:a="http://schemas.openxmlformats.org/drawingml/2006/main">
              <a:ext uri="{FF2B5EF4-FFF2-40B4-BE49-F238E27FC236}">
                <a16:creationId xmlns:a16="http://schemas.microsoft.com/office/drawing/2014/main" id="{228D1E83-C000-B443-17A1-67E172C1C81A}"/>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3" name="Picture 12">
            <a:extLst xmlns:a="http://schemas.openxmlformats.org/drawingml/2006/main">
              <a:ext uri="{FF2B5EF4-FFF2-40B4-BE49-F238E27FC236}">
                <a16:creationId xmlns:a16="http://schemas.microsoft.com/office/drawing/2014/main" id="{177BDE82-D051-49C1-8091-35C215750EAF}"/>
              </a:ext>
            </a:extLst>
          </p:cNvPr>
          <p:cNvPicPr>
            <a:picLocks xmlns:a="http://schemas.openxmlformats.org/drawingml/2006/main" noChangeAspect="1"/>
          </p:cNvPicPr>
          <p:nvPr/>
        </p:nvPicPr>
        <p:blipFill>
          <a:blip xmlns:r="http://schemas.openxmlformats.org/officeDocument/2006/relationships" xmlns:a="http://schemas.openxmlformats.org/drawingml/2006/main" r:embed="R78d1c65e42d0452b"/>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4" name="Slide Number Placeholder 5">
            <a:extLst xmlns:a="http://schemas.openxmlformats.org/drawingml/2006/main">
              <a:ext uri="{FF2B5EF4-FFF2-40B4-BE49-F238E27FC236}">
                <a16:creationId xmlns:a16="http://schemas.microsoft.com/office/drawing/2014/main" id="{9D622E35-ED11-3E1D-3267-FB7969EBB673}"/>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5" name="TextBox 14">
            <a:extLst xmlns:a="http://schemas.openxmlformats.org/drawingml/2006/main">
              <a:ext uri="{FF2B5EF4-FFF2-40B4-BE49-F238E27FC236}">
                <a16:creationId xmlns:a16="http://schemas.microsoft.com/office/drawing/2014/main" id="{E95FADBA-93BC-7FCB-D7C6-2138FE10BECE}"/>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7" name="Picture 6">
            <a:extLst xmlns:a="http://schemas.openxmlformats.org/drawingml/2006/main">
              <a:ext uri="{FF2B5EF4-FFF2-40B4-BE49-F238E27FC236}">
                <a16:creationId xmlns:a16="http://schemas.microsoft.com/office/drawing/2014/main" id="{E82F22CB-49C4-43F9-A08D-8773FFE56447}"/>
              </a:ext>
            </a:extLst>
          </p:cNvPr>
          <p:cNvPicPr>
            <a:picLocks xmlns:a="http://schemas.openxmlformats.org/drawingml/2006/main" noChangeAspect="1"/>
          </p:cNvPicPr>
          <p:nvPr/>
        </p:nvPicPr>
        <p:blipFill>
          <a:blip xmlns:r="http://schemas.openxmlformats.org/officeDocument/2006/relationships" xmlns:a="http://schemas.openxmlformats.org/drawingml/2006/main" r:embed="R85e4e54640aa487f"/>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AA521EA7-200B-F8EF-FA1A-AF68F6EAFB52}"/>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673D52EB-7900-4B2F-80A8-1891D7A5C2D1}"/>
              </a:ext>
            </a:extLst>
          </p:cNvPr>
          <p:cNvSpPr>
            <a:spLocks xmlns:a="http://schemas.openxmlformats.org/drawingml/2006/main" noGrp="1"/>
          </p:cNvSpPr>
          <p:nvPr>
            <p:ph type="title" idx="0"/>
          </p:nvPr>
        </p:nvSpPr>
        <p:spPr>
          <a:xfrm xmlns:a="http://schemas.openxmlformats.org/drawingml/2006/main">
            <a:off x="838200" y="874059"/>
            <a:ext cx="10515600" cy="816630"/>
          </a:xfrm>
        </p:spPr>
        <p:txBody>
          <a:bodyPr xmlns:a="http://schemas.openxmlformats.org/drawingml/2006/main"/>
          <a:lstStyle xmlns:a="http://schemas.openxmlformats.org/drawingml/2006/main"/>
          <a:p xmlns:a="http://schemas.openxmlformats.org/drawingml/2006/main">
            <a:r>
              <a:t>Click to edit Master title style</a:t>
            </a:r>
          </a:p>
        </p:txBody>
      </p:sp>
      <p:sp>
        <p:nvSpPr>
          <p:cNvPr id="8" name="Rectangle 11">
            <a:extLst xmlns:a="http://schemas.openxmlformats.org/drawingml/2006/main">
              <a:ext uri="{FF2B5EF4-FFF2-40B4-BE49-F238E27FC236}">
                <a16:creationId xmlns:a16="http://schemas.microsoft.com/office/drawing/2014/main" id="{C62A9323-B343-0333-2A84-AB84726F1555}"/>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9" name="Picture 8">
            <a:extLst xmlns:a="http://schemas.openxmlformats.org/drawingml/2006/main">
              <a:ext uri="{FF2B5EF4-FFF2-40B4-BE49-F238E27FC236}">
                <a16:creationId xmlns:a16="http://schemas.microsoft.com/office/drawing/2014/main" id="{37067E48-2AF6-4211-A79C-8DF434A1D877}"/>
              </a:ext>
            </a:extLst>
          </p:cNvPr>
          <p:cNvPicPr>
            <a:picLocks xmlns:a="http://schemas.openxmlformats.org/drawingml/2006/main" noChangeAspect="1"/>
          </p:cNvPicPr>
          <p:nvPr/>
        </p:nvPicPr>
        <p:blipFill>
          <a:blip xmlns:r="http://schemas.openxmlformats.org/officeDocument/2006/relationships" xmlns:a="http://schemas.openxmlformats.org/drawingml/2006/main" r:embed="R60c75fe382da4f4a"/>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0" name="Slide Number Placeholder 5">
            <a:extLst xmlns:a="http://schemas.openxmlformats.org/drawingml/2006/main">
              <a:ext uri="{FF2B5EF4-FFF2-40B4-BE49-F238E27FC236}">
                <a16:creationId xmlns:a16="http://schemas.microsoft.com/office/drawing/2014/main" id="{50B28936-A209-8496-713D-69F064437D73}"/>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1" name="TextBox 10">
            <a:extLst xmlns:a="http://schemas.openxmlformats.org/drawingml/2006/main">
              <a:ext uri="{FF2B5EF4-FFF2-40B4-BE49-F238E27FC236}">
                <a16:creationId xmlns:a16="http://schemas.microsoft.com/office/drawing/2014/main" id="{6E1FC07C-FFBA-6E41-FC9E-B8C545CCA2CA}"/>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3" name="Picture 2">
            <a:extLst xmlns:a="http://schemas.openxmlformats.org/drawingml/2006/main">
              <a:ext uri="{FF2B5EF4-FFF2-40B4-BE49-F238E27FC236}">
                <a16:creationId xmlns:a16="http://schemas.microsoft.com/office/drawing/2014/main" id="{A69D7E63-4CA2-44BA-A4F5-799D6BC4C95A}"/>
              </a:ext>
            </a:extLst>
          </p:cNvPr>
          <p:cNvPicPr>
            <a:picLocks xmlns:a="http://schemas.openxmlformats.org/drawingml/2006/main" noChangeAspect="1"/>
          </p:cNvPicPr>
          <p:nvPr/>
        </p:nvPicPr>
        <p:blipFill>
          <a:blip xmlns:r="http://schemas.openxmlformats.org/officeDocument/2006/relationships" xmlns:a="http://schemas.openxmlformats.org/drawingml/2006/main" r:embed="Rbdf9e01063a84d2a"/>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Layouts/slideLayout7.xml><?xml version="1.0" encoding="utf-8"?>
<p:sldLayout xmlns:p="http://schemas.openxmlformats.org/presentationml/2006/main" type="blank" preserve="1">
  <p:cSld name="Blank">
    <p:bg>
      <p:bgPr>
        <a:solidFill xmlns:a="http://schemas.openxmlformats.org/drawingml/2006/main">
          <a:srgbClr val="1F72B6"/>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C5A64684-422C-D171-0292-6610A91BE81D}"/>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pic>
        <p:nvPicPr>
          <p:cNvPr id="6" name="Picture 5">
            <a:extLst xmlns:a="http://schemas.openxmlformats.org/drawingml/2006/main">
              <a:ext uri="{FF2B5EF4-FFF2-40B4-BE49-F238E27FC236}">
                <a16:creationId xmlns:a16="http://schemas.microsoft.com/office/drawing/2014/main" id="{E390B556-AA92-438C-8D39-668947CD47B8}"/>
              </a:ext>
            </a:extLst>
          </p:cNvPr>
          <p:cNvPicPr>
            <a:picLocks xmlns:a="http://schemas.openxmlformats.org/drawingml/2006/main" noChangeAspect="1"/>
          </p:cNvPicPr>
          <p:nvPr/>
        </p:nvPicPr>
        <p:blipFill>
          <a:blip xmlns:r="http://schemas.openxmlformats.org/officeDocument/2006/relationships" xmlns:a="http://schemas.openxmlformats.org/drawingml/2006/main" r:embed="Rb045fc5be49e4049"/>
          <a:srcRect xmlns:a="http://schemas.openxmlformats.org/drawingml/2006/main" l="0" t="0" r="0" b="0"/>
          <a:stretch xmlns:a="http://schemas.openxmlformats.org/drawingml/2006/main"/>
        </p:blipFill>
        <p:spPr>
          <a:xfrm xmlns:a="http://schemas.openxmlformats.org/drawingml/2006/main">
            <a:off x="318618" y="2224"/>
            <a:ext cx="3290400" cy="685072"/>
          </a:xfrm>
          <a:prstGeom xmlns:a="http://schemas.openxmlformats.org/drawingml/2006/main" prst="rect">
            <a:avLst/>
          </a:prstGeom>
        </p:spPr>
      </p:pic>
      <p:sp>
        <p:nvSpPr>
          <p:cNvPr id="8" name="Rectangle 11">
            <a:extLst xmlns:a="http://schemas.openxmlformats.org/drawingml/2006/main">
              <a:ext uri="{FF2B5EF4-FFF2-40B4-BE49-F238E27FC236}">
                <a16:creationId xmlns:a16="http://schemas.microsoft.com/office/drawing/2014/main" id="{181386B9-1456-137E-66EE-45A4447494C5}"/>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9" name="Picture 8">
            <a:extLst xmlns:a="http://schemas.openxmlformats.org/drawingml/2006/main">
              <a:ext uri="{FF2B5EF4-FFF2-40B4-BE49-F238E27FC236}">
                <a16:creationId xmlns:a16="http://schemas.microsoft.com/office/drawing/2014/main" id="{48A2C0D9-AC52-44E8-9EAC-04DC0C7E5172}"/>
              </a:ext>
            </a:extLst>
          </p:cNvPr>
          <p:cNvPicPr>
            <a:picLocks xmlns:a="http://schemas.openxmlformats.org/drawingml/2006/main" noChangeAspect="1"/>
          </p:cNvPicPr>
          <p:nvPr/>
        </p:nvPicPr>
        <p:blipFill>
          <a:blip xmlns:r="http://schemas.openxmlformats.org/officeDocument/2006/relationships" xmlns:a="http://schemas.openxmlformats.org/drawingml/2006/main" r:embed="Rd50b30fec1ee4bba"/>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0" name="Slide Number Placeholder 5">
            <a:extLst xmlns:a="http://schemas.openxmlformats.org/drawingml/2006/main">
              <a:ext uri="{FF2B5EF4-FFF2-40B4-BE49-F238E27FC236}">
                <a16:creationId xmlns:a16="http://schemas.microsoft.com/office/drawing/2014/main" id="{7855B251-549F-CC81-82C4-1791D4DC0F9C}"/>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1" name="TextBox 10">
            <a:extLst xmlns:a="http://schemas.openxmlformats.org/drawingml/2006/main">
              <a:ext uri="{FF2B5EF4-FFF2-40B4-BE49-F238E27FC236}">
                <a16:creationId xmlns:a16="http://schemas.microsoft.com/office/drawing/2014/main" id="{2C95FE02-F81D-DAA0-4384-0E62C5A8FC54}"/>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chemeClr val="bg1"/>
                </a:solidFill>
              </a:rPr>
              <a:t>https://huit.edu.vn</a:t>
            </a:r>
            <a:endParaRPr sz="1000">
              <a:solidFill>
                <a:schemeClr val="bg1"/>
              </a:solidFill>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16DADA63-8732-4454-A583-E0DE069BFEE6}"/>
              </a:ext>
            </a:extLst>
          </p:cNvPr>
          <p:cNvSpPr>
            <a:spLocks xmlns:a="http://schemas.openxmlformats.org/drawingml/2006/main" noGrp="1"/>
          </p:cNvSpPr>
          <p:nvPr>
            <p:ph idx="1"/>
          </p:nvPr>
        </p:nvSpPr>
        <p:spPr>
          <a:xfrm xmlns:a="http://schemas.openxmlformats.org/drawingml/2006/main">
            <a:off x="5183188" y="987426"/>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E7B0685-1322-4C52-91F4-BB9C0188A728}"/>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8" name="Rectangle 7">
            <a:extLst xmlns:a="http://schemas.openxmlformats.org/drawingml/2006/main">
              <a:ext uri="{FF2B5EF4-FFF2-40B4-BE49-F238E27FC236}">
                <a16:creationId xmlns:a16="http://schemas.microsoft.com/office/drawing/2014/main" id="{57654E7B-7E2F-A597-CEAB-D64DA25FBCEB}"/>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E10DF972-76AE-407E-A9E5-63981E881BE3}"/>
              </a:ext>
            </a:extLst>
          </p:cNvPr>
          <p:cNvSpPr>
            <a:spLocks xmlns:a="http://schemas.openxmlformats.org/drawingml/2006/main" noGrp="1"/>
          </p:cNvSpPr>
          <p:nvPr>
            <p:ph type="title" idx="0"/>
          </p:nvPr>
        </p:nvSpPr>
        <p:spPr>
          <a:xfrm xmlns:a="http://schemas.openxmlformats.org/drawingml/2006/main">
            <a:off x="839788" y="987426"/>
            <a:ext cx="3932237" cy="1069974"/>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10" name="Rectangle 11">
            <a:extLst xmlns:a="http://schemas.openxmlformats.org/drawingml/2006/main">
              <a:ext uri="{FF2B5EF4-FFF2-40B4-BE49-F238E27FC236}">
                <a16:creationId xmlns:a16="http://schemas.microsoft.com/office/drawing/2014/main" id="{EA9AB12A-F2B6-4320-39F1-67F3778EE5DF}"/>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1" name="Picture 10">
            <a:extLst xmlns:a="http://schemas.openxmlformats.org/drawingml/2006/main">
              <a:ext uri="{FF2B5EF4-FFF2-40B4-BE49-F238E27FC236}">
                <a16:creationId xmlns:a16="http://schemas.microsoft.com/office/drawing/2014/main" id="{B77228F3-53BD-4DFD-BCA6-4886D88B2C14}"/>
              </a:ext>
            </a:extLst>
          </p:cNvPr>
          <p:cNvPicPr>
            <a:picLocks xmlns:a="http://schemas.openxmlformats.org/drawingml/2006/main" noChangeAspect="1"/>
          </p:cNvPicPr>
          <p:nvPr/>
        </p:nvPicPr>
        <p:blipFill>
          <a:blip xmlns:r="http://schemas.openxmlformats.org/officeDocument/2006/relationships" xmlns:a="http://schemas.openxmlformats.org/drawingml/2006/main" r:embed="R0960caedf05b4c5f"/>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2" name="Slide Number Placeholder 5">
            <a:extLst xmlns:a="http://schemas.openxmlformats.org/drawingml/2006/main">
              <a:ext uri="{FF2B5EF4-FFF2-40B4-BE49-F238E27FC236}">
                <a16:creationId xmlns:a16="http://schemas.microsoft.com/office/drawing/2014/main" id="{C8C1A7AF-70A0-C0E9-B2F5-1490BE6C7ADB}"/>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3" name="TextBox 12">
            <a:extLst xmlns:a="http://schemas.openxmlformats.org/drawingml/2006/main">
              <a:ext uri="{FF2B5EF4-FFF2-40B4-BE49-F238E27FC236}">
                <a16:creationId xmlns:a16="http://schemas.microsoft.com/office/drawing/2014/main" id="{CC216FF7-3AE9-85FA-D18A-9862C6DB59AE}"/>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5" name="Picture 4">
            <a:extLst xmlns:a="http://schemas.openxmlformats.org/drawingml/2006/main">
              <a:ext uri="{FF2B5EF4-FFF2-40B4-BE49-F238E27FC236}">
                <a16:creationId xmlns:a16="http://schemas.microsoft.com/office/drawing/2014/main" id="{964D96EF-F281-4051-A880-72843F8928B4}"/>
              </a:ext>
            </a:extLst>
          </p:cNvPr>
          <p:cNvPicPr>
            <a:picLocks xmlns:a="http://schemas.openxmlformats.org/drawingml/2006/main" noChangeAspect="1"/>
          </p:cNvPicPr>
          <p:nvPr/>
        </p:nvPicPr>
        <p:blipFill>
          <a:blip xmlns:r="http://schemas.openxmlformats.org/officeDocument/2006/relationships" xmlns:a="http://schemas.openxmlformats.org/drawingml/2006/main" r:embed="Rebeebb5aba994061"/>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3" name="Picture Placeholder 2">
            <a:extLst xmlns:a="http://schemas.openxmlformats.org/drawingml/2006/main">
              <a:ext uri="{FF2B5EF4-FFF2-40B4-BE49-F238E27FC236}">
                <a16:creationId xmlns:a16="http://schemas.microsoft.com/office/drawing/2014/main" id="{34C61657-C052-4666-8650-0CFB917038D9}"/>
              </a:ext>
            </a:extLst>
          </p:cNvPr>
          <p:cNvSpPr>
            <a:spLocks xmlns:a="http://schemas.openxmlformats.org/drawingml/2006/main" noGrp="1"/>
          </p:cNvSpPr>
          <p:nvPr>
            <p:ph type="pic" idx="1"/>
          </p:nvPr>
        </p:nvSpPr>
        <p:spPr>
          <a:xfrm xmlns:a="http://schemas.openxmlformats.org/drawingml/2006/main">
            <a:off x="5183188" y="987426"/>
            <a:ext cx="6172200" cy="4873625"/>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6AF8F07F-678D-4CE4-9A05-7179531271EA}"/>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8" name="Rectangle 7">
            <a:extLst xmlns:a="http://schemas.openxmlformats.org/drawingml/2006/main">
              <a:ext uri="{FF2B5EF4-FFF2-40B4-BE49-F238E27FC236}">
                <a16:creationId xmlns:a16="http://schemas.microsoft.com/office/drawing/2014/main" id="{4B2A7AA7-CA5F-D2FA-2E5E-C3E10A53D359}"/>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245F86DB-3237-4707-B1E3-ECD2F351A1C0}"/>
              </a:ext>
            </a:extLst>
          </p:cNvPr>
          <p:cNvSpPr>
            <a:spLocks xmlns:a="http://schemas.openxmlformats.org/drawingml/2006/main" noGrp="1"/>
          </p:cNvSpPr>
          <p:nvPr>
            <p:ph type="title" idx="0"/>
          </p:nvPr>
        </p:nvSpPr>
        <p:spPr>
          <a:xfrm xmlns:a="http://schemas.openxmlformats.org/drawingml/2006/main">
            <a:off x="839788" y="987426"/>
            <a:ext cx="3932237" cy="1069974"/>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10" name="Rectangle 11">
            <a:extLst xmlns:a="http://schemas.openxmlformats.org/drawingml/2006/main">
              <a:ext uri="{FF2B5EF4-FFF2-40B4-BE49-F238E27FC236}">
                <a16:creationId xmlns:a16="http://schemas.microsoft.com/office/drawing/2014/main" id="{1EDE2594-98FA-EBCE-C733-A51E9F54ED18}"/>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1" name="Picture 10">
            <a:extLst xmlns:a="http://schemas.openxmlformats.org/drawingml/2006/main">
              <a:ext uri="{FF2B5EF4-FFF2-40B4-BE49-F238E27FC236}">
                <a16:creationId xmlns:a16="http://schemas.microsoft.com/office/drawing/2014/main" id="{F379CE95-F730-4BD9-883F-7F8223C88919}"/>
              </a:ext>
            </a:extLst>
          </p:cNvPr>
          <p:cNvPicPr>
            <a:picLocks xmlns:a="http://schemas.openxmlformats.org/drawingml/2006/main" noChangeAspect="1"/>
          </p:cNvPicPr>
          <p:nvPr/>
        </p:nvPicPr>
        <p:blipFill>
          <a:blip xmlns:r="http://schemas.openxmlformats.org/officeDocument/2006/relationships" xmlns:a="http://schemas.openxmlformats.org/drawingml/2006/main" r:embed="Rf778c9bec53841c5"/>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2" name="Slide Number Placeholder 5">
            <a:extLst xmlns:a="http://schemas.openxmlformats.org/drawingml/2006/main">
              <a:ext uri="{FF2B5EF4-FFF2-40B4-BE49-F238E27FC236}">
                <a16:creationId xmlns:a16="http://schemas.microsoft.com/office/drawing/2014/main" id="{ACB5785D-C6E0-0BB4-B792-5DF6906E162F}"/>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3" name="TextBox 12">
            <a:extLst xmlns:a="http://schemas.openxmlformats.org/drawingml/2006/main">
              <a:ext uri="{FF2B5EF4-FFF2-40B4-BE49-F238E27FC236}">
                <a16:creationId xmlns:a16="http://schemas.microsoft.com/office/drawing/2014/main" id="{DDC76ABB-19BA-0D81-2004-CA8C1BFA3211}"/>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5" name="Picture 4">
            <a:extLst xmlns:a="http://schemas.openxmlformats.org/drawingml/2006/main">
              <a:ext uri="{FF2B5EF4-FFF2-40B4-BE49-F238E27FC236}">
                <a16:creationId xmlns:a16="http://schemas.microsoft.com/office/drawing/2014/main" id="{DFA9C58F-B52E-4040-8089-AFCBAFDF1E4F}"/>
              </a:ext>
            </a:extLst>
          </p:cNvPr>
          <p:cNvPicPr>
            <a:picLocks xmlns:a="http://schemas.openxmlformats.org/drawingml/2006/main" noChangeAspect="1"/>
          </p:cNvPicPr>
          <p:nvPr/>
        </p:nvPicPr>
        <p:blipFill>
          <a:blip xmlns:r="http://schemas.openxmlformats.org/officeDocument/2006/relationships" xmlns:a="http://schemas.openxmlformats.org/drawingml/2006/main" r:embed="R4493bf709d704c09"/>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3" name="Vertical Text Placeholder 2">
            <a:extLst xmlns:a="http://schemas.openxmlformats.org/drawingml/2006/main">
              <a:ext uri="{FF2B5EF4-FFF2-40B4-BE49-F238E27FC236}">
                <a16:creationId xmlns:a16="http://schemas.microsoft.com/office/drawing/2014/main" id="{859EBB1B-5BF7-476E-92EC-9921C1FC899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Rectangle 6">
            <a:extLst xmlns:a="http://schemas.openxmlformats.org/drawingml/2006/main">
              <a:ext uri="{FF2B5EF4-FFF2-40B4-BE49-F238E27FC236}">
                <a16:creationId xmlns:a16="http://schemas.microsoft.com/office/drawing/2014/main" id="{B4B8236F-F572-6350-D20A-0FCE1F380099}"/>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E5D07ABC-CEDA-4720-B358-4C34256B60AE}"/>
              </a:ext>
            </a:extLst>
          </p:cNvPr>
          <p:cNvSpPr>
            <a:spLocks xmlns:a="http://schemas.openxmlformats.org/drawingml/2006/main" noGrp="1"/>
          </p:cNvSpPr>
          <p:nvPr>
            <p:ph type="title" idx="0"/>
          </p:nvPr>
        </p:nvSpPr>
        <p:spPr>
          <a:xfrm xmlns:a="http://schemas.openxmlformats.org/drawingml/2006/main">
            <a:off x="838200" y="884304"/>
            <a:ext cx="10515600" cy="806385"/>
          </a:xfrm>
        </p:spPr>
        <p:txBody>
          <a:bodyPr xmlns:a="http://schemas.openxmlformats.org/drawingml/2006/main"/>
          <a:lstStyle xmlns:a="http://schemas.openxmlformats.org/drawingml/2006/main"/>
          <a:p xmlns:a="http://schemas.openxmlformats.org/drawingml/2006/main">
            <a:r>
              <a:t>Click to edit Master title style</a:t>
            </a:r>
          </a:p>
        </p:txBody>
      </p:sp>
      <p:sp>
        <p:nvSpPr>
          <p:cNvPr id="9" name="Rectangle 11">
            <a:extLst xmlns:a="http://schemas.openxmlformats.org/drawingml/2006/main">
              <a:ext uri="{FF2B5EF4-FFF2-40B4-BE49-F238E27FC236}">
                <a16:creationId xmlns:a16="http://schemas.microsoft.com/office/drawing/2014/main" id="{9C659F1E-1F51-522D-AC8E-BE6E140A9E7D}"/>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0" name="Picture 9">
            <a:extLst xmlns:a="http://schemas.openxmlformats.org/drawingml/2006/main">
              <a:ext uri="{FF2B5EF4-FFF2-40B4-BE49-F238E27FC236}">
                <a16:creationId xmlns:a16="http://schemas.microsoft.com/office/drawing/2014/main" id="{0AA44066-430A-4396-BF01-908C51A0AD23}"/>
              </a:ext>
            </a:extLst>
          </p:cNvPr>
          <p:cNvPicPr>
            <a:picLocks xmlns:a="http://schemas.openxmlformats.org/drawingml/2006/main" noChangeAspect="1"/>
          </p:cNvPicPr>
          <p:nvPr/>
        </p:nvPicPr>
        <p:blipFill>
          <a:blip xmlns:r="http://schemas.openxmlformats.org/officeDocument/2006/relationships" xmlns:a="http://schemas.openxmlformats.org/drawingml/2006/main" r:embed="R51fe6cbd75554040"/>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1" name="Slide Number Placeholder 5">
            <a:extLst xmlns:a="http://schemas.openxmlformats.org/drawingml/2006/main">
              <a:ext uri="{FF2B5EF4-FFF2-40B4-BE49-F238E27FC236}">
                <a16:creationId xmlns:a16="http://schemas.microsoft.com/office/drawing/2014/main" id="{2B8E042D-2BAA-2A3F-EC27-380C92DBE4B0}"/>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2" name="TextBox 11">
            <a:extLst xmlns:a="http://schemas.openxmlformats.org/drawingml/2006/main">
              <a:ext uri="{FF2B5EF4-FFF2-40B4-BE49-F238E27FC236}">
                <a16:creationId xmlns:a16="http://schemas.microsoft.com/office/drawing/2014/main" id="{00CD5B80-37F9-BE16-90B3-B1958D8A8755}"/>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4" name="Picture 3">
            <a:extLst xmlns:a="http://schemas.openxmlformats.org/drawingml/2006/main">
              <a:ext uri="{FF2B5EF4-FFF2-40B4-BE49-F238E27FC236}">
                <a16:creationId xmlns:a16="http://schemas.microsoft.com/office/drawing/2014/main" id="{8AE7981C-0EFE-4CFD-96FC-DFEBA1E5D23C}"/>
              </a:ext>
            </a:extLst>
          </p:cNvPr>
          <p:cNvPicPr>
            <a:picLocks xmlns:a="http://schemas.openxmlformats.org/drawingml/2006/main" noChangeAspect="1"/>
          </p:cNvPicPr>
          <p:nvPr/>
        </p:nvPicPr>
        <p:blipFill>
          <a:blip xmlns:r="http://schemas.openxmlformats.org/officeDocument/2006/relationships" xmlns:a="http://schemas.openxmlformats.org/drawingml/2006/main" r:embed="Rfcdf8d86153d4334"/>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2fbd21503a4624" /><Relationship Type="http://schemas.openxmlformats.org/officeDocument/2006/relationships/slideLayout" Target="/ppt/slideLayouts/slideLayout1.xml" Id="Rb6715f4357b04f23" /><Relationship Type="http://schemas.openxmlformats.org/officeDocument/2006/relationships/slideLayout" Target="/ppt/slideLayouts/slideLayout2.xml" Id="Rfa9b83f3ed504c07" /><Relationship Type="http://schemas.openxmlformats.org/officeDocument/2006/relationships/slideLayout" Target="/ppt/slideLayouts/slideLayout3.xml" Id="Re9fa0e4dd88a4820" /><Relationship Type="http://schemas.openxmlformats.org/officeDocument/2006/relationships/slideLayout" Target="/ppt/slideLayouts/slideLayout4.xml" Id="Rf1ad02e8be44454a" /><Relationship Type="http://schemas.openxmlformats.org/officeDocument/2006/relationships/slideLayout" Target="/ppt/slideLayouts/slideLayout5.xml" Id="Recb3f14fdcfd4e83" /><Relationship Type="http://schemas.openxmlformats.org/officeDocument/2006/relationships/slideLayout" Target="/ppt/slideLayouts/slideLayout6.xml" Id="R24b345d83d614065" /><Relationship Type="http://schemas.openxmlformats.org/officeDocument/2006/relationships/slideLayout" Target="/ppt/slideLayouts/slideLayout7.xml" Id="Rf571892a971c40d3" /><Relationship Type="http://schemas.openxmlformats.org/officeDocument/2006/relationships/slideLayout" Target="/ppt/slideLayouts/slideLayout8.xml" Id="R4259d5a7bc5c402b" /><Relationship Type="http://schemas.openxmlformats.org/officeDocument/2006/relationships/slideLayout" Target="/ppt/slideLayouts/slideLayout9.xml" Id="R826d0704bd9944ef" /><Relationship Type="http://schemas.openxmlformats.org/officeDocument/2006/relationships/slideLayout" Target="/ppt/slideLayouts/slideLayout10.xml" Id="R3d791500f673494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714251E-71D8-47B2-B99F-7A2C4F1DC2F1}"/>
              </a:ext>
            </a:extLst>
          </p:cNvPr>
          <p:cNvSpPr>
            <a:spLocks xmlns:a="http://schemas.openxmlformats.org/drawingml/2006/main" noGrp="1"/>
          </p:cNvSpPr>
          <p:nvPr>
            <p:ph type="title" idx="0"/>
          </p:nvPr>
        </p:nvSpPr>
        <p:spPr>
          <a:xfrm xmlns:a="http://schemas.openxmlformats.org/drawingml/2006/main">
            <a:off x="838200" y="365126"/>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87F1232-4362-4A03-82F6-18F0A86D485E}"/>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8DAC458-D8FA-40E8-913F-30EEB76C3E97}"/>
              </a:ext>
            </a:extLst>
          </p:cNvPr>
          <p:cNvSpPr>
            <a:spLocks xmlns:a="http://schemas.openxmlformats.org/drawingml/2006/main" noGrp="1"/>
          </p:cNvSpPr>
          <p:nvPr>
            <p:ph type="dt" idx="2"/>
          </p:nvPr>
        </p:nvSpPr>
        <p:spPr>
          <a:xfrm xmlns:a="http://schemas.openxmlformats.org/drawingml/2006/main">
            <a:off x="838200" y="6356352"/>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7802366D-8698-B649-944B-CF1A6B166FF8}" type="datetimeFigureOut">
              <a:t>06/11/2023</a:t>
            </a:fld>
            <a:endParaRPr/>
          </a:p>
        </p:txBody>
      </p:sp>
      <p:sp>
        <p:nvSpPr>
          <p:cNvPr id="5" name="Footer Placeholder 4">
            <a:extLst xmlns:a="http://schemas.openxmlformats.org/drawingml/2006/main">
              <a:ext uri="{FF2B5EF4-FFF2-40B4-BE49-F238E27FC236}">
                <a16:creationId xmlns:a16="http://schemas.microsoft.com/office/drawing/2014/main" id="{D98C2665-0B61-4BDB-8DD7-3F8560F564FC}"/>
              </a:ext>
            </a:extLst>
          </p:cNvPr>
          <p:cNvSpPr>
            <a:spLocks xmlns:a="http://schemas.openxmlformats.org/drawingml/2006/main" noGrp="1"/>
          </p:cNvSpPr>
          <p:nvPr>
            <p:ph type="ftr" idx="3"/>
          </p:nvPr>
        </p:nvSpPr>
        <p:spPr>
          <a:xfrm xmlns:a="http://schemas.openxmlformats.org/drawingml/2006/main">
            <a:off x="4038600" y="6356352"/>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4FE0436-149A-40F1-8C9F-BFBD90CA1582}"/>
              </a:ext>
            </a:extLst>
          </p:cNvPr>
          <p:cNvSpPr>
            <a:spLocks xmlns:a="http://schemas.openxmlformats.org/drawingml/2006/main" noGrp="1"/>
          </p:cNvSpPr>
          <p:nvPr>
            <p:ph type="sldNum" idx="4"/>
          </p:nvPr>
        </p:nvSpPr>
        <p:spPr>
          <a:xfrm xmlns:a="http://schemas.openxmlformats.org/drawingml/2006/main">
            <a:off x="8610600" y="6356352"/>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D379440A-2DED-3643-ADED-9B5C83E7D82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715f4357b04f23"/>
    <p:sldLayoutId xmlns:r="http://schemas.openxmlformats.org/officeDocument/2006/relationships" id="2147483650" r:id="Rfa9b83f3ed504c07"/>
    <p:sldLayoutId xmlns:r="http://schemas.openxmlformats.org/officeDocument/2006/relationships" id="2147483651" r:id="Re9fa0e4dd88a4820"/>
    <p:sldLayoutId xmlns:r="http://schemas.openxmlformats.org/officeDocument/2006/relationships" id="2147483652" r:id="Rf1ad02e8be44454a"/>
    <p:sldLayoutId xmlns:r="http://schemas.openxmlformats.org/officeDocument/2006/relationships" id="2147483653" r:id="Recb3f14fdcfd4e83"/>
    <p:sldLayoutId xmlns:r="http://schemas.openxmlformats.org/officeDocument/2006/relationships" id="2147483654" r:id="R24b345d83d614065"/>
    <p:sldLayoutId xmlns:r="http://schemas.openxmlformats.org/officeDocument/2006/relationships" id="2147483655" r:id="Rf571892a971c40d3"/>
    <p:sldLayoutId xmlns:r="http://schemas.openxmlformats.org/officeDocument/2006/relationships" id="2147483656" r:id="R4259d5a7bc5c402b"/>
    <p:sldLayoutId xmlns:r="http://schemas.openxmlformats.org/officeDocument/2006/relationships" id="2147483657" r:id="R826d0704bd9944ef"/>
    <p:sldLayoutId xmlns:r="http://schemas.openxmlformats.org/officeDocument/2006/relationships" id="2147483658" r:id="R3d791500f6734948"/>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UI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1254edb3ca4074" /><Relationship Type="http://schemas.openxmlformats.org/officeDocument/2006/relationships/notesSlide" Target="/ppt/notesSlides/notesSlide1.xml" Id="R678f914efb4d4f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c8f8ad5a52c4535" /><Relationship Type="http://schemas.openxmlformats.org/officeDocument/2006/relationships/notesSlide" Target="/ppt/notesSlides/notesSlide2.xml" Id="R32028bacdc2249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dabbf8696f44322" /><Relationship Type="http://schemas.openxmlformats.org/officeDocument/2006/relationships/notesSlide" Target="/ppt/notesSlides/notesSlide3.xml" Id="R3b9df32047cb46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385fe7cd9194c30" /><Relationship Type="http://schemas.openxmlformats.org/officeDocument/2006/relationships/chart" Target="/ppt/slides/charts/chart1.xml" Id="R4ef20f7abf4142e8" /><Relationship Type="http://schemas.openxmlformats.org/officeDocument/2006/relationships/notesSlide" Target="/ppt/notesSlides/notesSlide4.xml" Id="R91ab96acf6c745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0999c24d3a44160" /><Relationship Type="http://schemas.openxmlformats.org/officeDocument/2006/relationships/notesSlide" Target="/ppt/notesSlides/notesSlide5.xml" Id="R942b8075722d42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256f26a9c9f4472" /><Relationship Type="http://schemas.openxmlformats.org/officeDocument/2006/relationships/notesSlide" Target="/ppt/notesSlides/notesSlide6.xml" Id="R26b4249c5b6442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ebe727fa0f9412f" /><Relationship Type="http://schemas.openxmlformats.org/officeDocument/2006/relationships/notesSlide" Target="/ppt/notesSlides/notesSlide7.xml" Id="R47fc30d6e8b242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834c04091a84b0e" /><Relationship Type="http://schemas.openxmlformats.org/officeDocument/2006/relationships/notesSlide" Target="/ppt/notesSlides/notesSlide8.xml" Id="Rc57e865c2dd742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623a4ba9a66485b" /><Relationship Type="http://schemas.openxmlformats.org/officeDocument/2006/relationships/notesSlide" Target="/ppt/notesSlides/notesSlide9.xml" Id="R852dc6edf09e4c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24d5f06d62e45cc" /><Relationship Type="http://schemas.openxmlformats.org/officeDocument/2006/relationships/notesSlide" Target="/ppt/notesSlides/notesSlide10.xml" Id="R573dbbca1bf14c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2028fb134c148f5" /><Relationship Type="http://schemas.openxmlformats.org/officeDocument/2006/relationships/notesSlide" Target="/ppt/notesSlides/notesSlide11.xml" Id="R31401cca7d0f48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0b671f1ceef84bcf" /><Relationship Type="http://schemas.openxmlformats.org/officeDocument/2006/relationships/chart" Target="/ppt/slides/charts/chart2.xml" Id="R8dce62ab13af4567" /><Relationship Type="http://schemas.openxmlformats.org/officeDocument/2006/relationships/notesSlide" Target="/ppt/notesSlides/notesSlide12.xml" Id="R796649eec9e24d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816409ce0a44cbb" /><Relationship Type="http://schemas.openxmlformats.org/officeDocument/2006/relationships/notesSlide" Target="/ppt/notesSlides/notesSlide13.xml" Id="R901e520f493842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5e828259eb946b8" /><Relationship Type="http://schemas.openxmlformats.org/officeDocument/2006/relationships/chart" Target="/ppt/slides/charts/chart3.xml" Id="Rb609fdaaa6104d47" /><Relationship Type="http://schemas.openxmlformats.org/officeDocument/2006/relationships/notesSlide" Target="/ppt/notesSlides/notesSlide14.xml" Id="R61312b22cff54d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f8483cad20bb417d" /><Relationship Type="http://schemas.openxmlformats.org/officeDocument/2006/relationships/notesSlide" Target="/ppt/notesSlides/notesSlide15.xml" Id="R321e770bd93c438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1671ccf673748ee" /><Relationship Type="http://schemas.openxmlformats.org/officeDocument/2006/relationships/notesSlide" Target="/ppt/notesSlides/notesSlide16.xml" Id="R78702d81e60e47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e31ca9dc94a4fb7" /><Relationship Type="http://schemas.openxmlformats.org/officeDocument/2006/relationships/chart" Target="/ppt/slides/charts/chart4.xml" Id="R5d21442625694bf3" /><Relationship Type="http://schemas.openxmlformats.org/officeDocument/2006/relationships/notesSlide" Target="/ppt/notesSlides/notesSlide17.xml" Id="Rf6f1a9940bf14b8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938107eedaf94034" /><Relationship Type="http://schemas.openxmlformats.org/officeDocument/2006/relationships/notesSlide" Target="/ppt/notesSlides/notesSlide18.xml" Id="Rbd5ce5d2caca4b8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77281ec4d1304eaf" /><Relationship Type="http://schemas.openxmlformats.org/officeDocument/2006/relationships/notesSlide" Target="/ppt/notesSlides/notesSlide19.xml" Id="R77012336a536487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8f892c9f86514521" /><Relationship Type="http://schemas.openxmlformats.org/officeDocument/2006/relationships/notesSlide" Target="/ppt/notesSlides/notesSlide20.xml" Id="R2fa30f2ded444340"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D39"/>
                </a:solidFill>
                <a:latin typeface="Arial"/>
                <a:ea typeface="Arial"/>
                <a:cs typeface="Arial"/>
              </a:rPr>
              <a:t>Phân bố trên 6.965.267 bản ghi sạch</a:t>
            </a:r>
          </a:p>
        </c:rich>
      </c:tx>
      <c:overlay val="0"/>
      <c:txPr>
        <a:bodyPr xmlns:a="http://schemas.openxmlformats.org/drawingml/2006/main" anchorCtr="1"/>
        <a:lstStyle xmlns:a="http://schemas.openxmlformats.org/drawingml/2006/main"/>
        <a:p xmlns:a="http://schemas.openxmlformats.org/drawingml/2006/main">
          <a:pPr>
            <a:defRPr sz="1725" b="1">
              <a:solidFill>
                <a:srgbClr val="202D39"/>
              </a:solidFill>
              <a:latin typeface="Arial"/>
              <a:ea typeface="Arial"/>
              <a:cs typeface="Arial"/>
            </a:defRPr>
          </a:pPr>
        </a:p>
      </c:txPr>
    </c:title>
    <c:plotArea>
      <c:barChart>
        <c:barDir val="bar"/>
        <c:grouping val="clustered"/>
        <c:varyColors val="0"/>
        <c:ser>
          <c:idx val="0"/>
          <c:order val="0"/>
          <c:tx>
            <c:v>Tỷ lệ lớp</c:v>
          </c:tx>
          <c:spPr>
            <a:solidFill xmlns:a="http://schemas.openxmlformats.org/drawingml/2006/main">
              <a:srgbClr val="2072B7"/>
            </a:solidFill>
          </c:spPr>
          <c:dLbls>
            <c:dLbl>
              <c:idx val="0"/>
              <c:tx>
                <c:rich>
                  <a:bodyPr xmlns:a="http://schemas.openxmlformats.org/drawingml/2006/main"/>
                  <a:lstStyle xmlns:a="http://schemas.openxmlformats.org/drawingml/2006/main"/>
                  <a:p xmlns:a="http://schemas.openxmlformats.org/drawingml/2006/main">
                    <a:r>
                      <a:rPr sz="1650">
                        <a:solidFill>
                          <a:srgbClr val="202D39"/>
                        </a:solidFill>
                      </a:rPr>
                      <a:t>79,2%</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650">
                        <a:solidFill>
                          <a:srgbClr val="202D39"/>
                        </a:solidFill>
                      </a:rPr>
                      <a:t>8,2%</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650">
                        <a:solidFill>
                          <a:srgbClr val="202D39"/>
                        </a:solidFill>
                      </a:rPr>
                      <a:t>6,5%</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650">
                        <a:solidFill>
                          <a:srgbClr val="202D39"/>
                        </a:solidFill>
                      </a:rPr>
                      <a:t>5,3%</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650">
                        <a:solidFill>
                          <a:srgbClr val="202D39"/>
                        </a:solidFill>
                      </a:rPr>
                      <a:t>0,8%</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650">
                        <a:solidFill>
                          <a:srgbClr val="202D39"/>
                        </a:solidFill>
                      </a:rPr>
                      <a:t>&lt;0,1%</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s>
          <c:cat>
            <c:strLit>
              <c:ptCount val="6"/>
              <c:pt idx="0">
                <c:v>OnTime</c:v>
              </c:pt>
              <c:pt idx="1">
                <c:v>LateAircraft</c:v>
              </c:pt>
              <c:pt idx="2">
                <c:v>Carrier</c:v>
              </c:pt>
              <c:pt idx="3">
                <c:v>NAS</c:v>
              </c:pt>
              <c:pt idx="4">
                <c:v>Weather</c:v>
              </c:pt>
              <c:pt idx="5">
                <c:v>Security</c:v>
              </c:pt>
            </c:strLit>
          </c:cat>
          <c:val>
            <c:numLit>
              <c:formatCode>0.00</c:formatCode>
              <c:ptCount val="6"/>
              <c:pt idx="0">
                <c:v>79.2</c:v>
              </c:pt>
              <c:pt idx="1">
                <c:v>8.2</c:v>
              </c:pt>
              <c:pt idx="2">
                <c:v>6.5</c:v>
              </c:pt>
              <c:pt idx="3">
                <c:v>5.3</c:v>
              </c:pt>
              <c:pt idx="4">
                <c:v>0.8</c:v>
              </c:pt>
              <c:pt idx="5">
                <c:v>0.05309200637965494</c:v>
              </c:pt>
            </c:numLit>
          </c:val>
        </c:ser>
        <c:dLbls>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A5B9CA"/>
            </a:solidFill>
          </a:ln>
        </c:spPr>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crossAx val="48672768"/>
      </c:catAx>
      <c:valAx>
        <c:axId val="48672768"/>
        <c:scaling>
          <c:orientation val="minMax"/>
          <c:max val="90"/>
          <c:min val="0"/>
        </c:scaling>
        <c:delete val="0"/>
        <c:axPos val="b"/>
        <c:majorGridlines>
          <c:spPr>
            <a:ln xmlns:a="http://schemas.openxmlformats.org/drawingml/2006/main" w="9525">
              <a:solidFill>
                <a:srgbClr val="DDE7EE"/>
              </a:solidFill>
            </a:ln>
          </c:spPr>
        </c:majorGridlines>
        <c:title>
          <c:tx>
            <c:rich>
              <a:bodyPr xmlns:a="http://schemas.openxmlformats.org/drawingml/2006/main"/>
              <a:lstStyle xmlns:a="http://schemas.openxmlformats.org/drawingml/2006/main"/>
              <a:p xmlns:a="http://schemas.openxmlformats.org/drawingml/2006/main">
                <a:r>
                  <a:rPr sz="1500">
                    <a:solidFill>
                      <a:srgbClr val="586675"/>
                    </a:solidFill>
                    <a:latin typeface="Arial"/>
                    <a:ea typeface="Arial"/>
                    <a:cs typeface="Arial"/>
                  </a:rPr>
                  <a:t>Tỷ lệ %</a:t>
                </a:r>
              </a:p>
            </c:rich>
          </c:tx>
          <c:overlay val="0"/>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D39"/>
                </a:solidFill>
                <a:latin typeface="Arial"/>
                <a:ea typeface="Arial"/>
                <a:cs typeface="Arial"/>
              </a:rPr>
              <a:t>Macro F1 của sáu mô hình CPU</a:t>
            </a:r>
          </a:p>
        </c:rich>
      </c:tx>
      <c:overlay val="0"/>
      <c:txPr>
        <a:bodyPr xmlns:a="http://schemas.openxmlformats.org/drawingml/2006/main" anchorCtr="1"/>
        <a:lstStyle xmlns:a="http://schemas.openxmlformats.org/drawingml/2006/main"/>
        <a:p xmlns:a="http://schemas.openxmlformats.org/drawingml/2006/main">
          <a:pPr>
            <a:defRPr sz="1725" b="1">
              <a:solidFill>
                <a:srgbClr val="202D39"/>
              </a:solidFill>
              <a:latin typeface="Arial"/>
              <a:ea typeface="Arial"/>
              <a:cs typeface="Arial"/>
            </a:defRPr>
          </a:pPr>
        </a:p>
      </c:txPr>
    </c:title>
    <c:plotArea>
      <c:barChart>
        <c:barDir val="bar"/>
        <c:grouping val="clustered"/>
        <c:varyColors val="0"/>
        <c:ser>
          <c:idx val="0"/>
          <c:order val="0"/>
          <c:tx>
            <c:v>Macro F1</c:v>
          </c:tx>
          <c:spPr>
            <a:solidFill xmlns:a="http://schemas.openxmlformats.org/drawingml/2006/main">
              <a:srgbClr val="2072B7"/>
            </a:solidFill>
          </c:spPr>
          <c:dLbls>
            <c:dLbl>
              <c:idx val="0"/>
              <c:tx>
                <c:rich>
                  <a:bodyPr xmlns:a="http://schemas.openxmlformats.org/drawingml/2006/main"/>
                  <a:lstStyle xmlns:a="http://schemas.openxmlformats.org/drawingml/2006/main"/>
                  <a:p xmlns:a="http://schemas.openxmlformats.org/drawingml/2006/main">
                    <a:r>
                      <a:rPr sz="1650">
                        <a:solidFill>
                          <a:srgbClr val="202D39"/>
                        </a:solidFill>
                      </a:rPr>
                      <a:t>14,73%</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650">
                        <a:solidFill>
                          <a:srgbClr val="202D39"/>
                        </a:solidFill>
                      </a:rPr>
                      <a:t>15,56%</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650">
                        <a:solidFill>
                          <a:srgbClr val="202D39"/>
                        </a:solidFill>
                      </a:rPr>
                      <a:t>14,73%</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650">
                        <a:solidFill>
                          <a:srgbClr val="202D39"/>
                        </a:solidFill>
                      </a:rPr>
                      <a:t>15,87%</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650">
                        <a:solidFill>
                          <a:srgbClr val="202D39"/>
                        </a:solidFill>
                      </a:rPr>
                      <a:t>15,50%</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650">
                        <a:solidFill>
                          <a:srgbClr val="202D39"/>
                        </a:solidFill>
                      </a:rPr>
                      <a:t>15,77%</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s>
          <c:cat>
            <c:strLit>
              <c:ptCount val="6"/>
              <c:pt idx="0">
                <c:v>Logistic Reg.</c:v>
              </c:pt>
              <c:pt idx="1">
                <c:v>Decision Tree</c:v>
              </c:pt>
              <c:pt idx="2">
                <c:v>Random Forest</c:v>
              </c:pt>
              <c:pt idx="3">
                <c:v>LightGBM</c:v>
              </c:pt>
              <c:pt idx="4">
                <c:v>XGBoost</c:v>
              </c:pt>
              <c:pt idx="5">
                <c:v>CatBoost</c:v>
              </c:pt>
            </c:strLit>
          </c:cat>
          <c:val>
            <c:numLit>
              <c:formatCode>0.00</c:formatCode>
              <c:ptCount val="6"/>
              <c:pt idx="0">
                <c:v>14.73</c:v>
              </c:pt>
              <c:pt idx="1">
                <c:v>15.56</c:v>
              </c:pt>
              <c:pt idx="2">
                <c:v>14.73</c:v>
              </c:pt>
              <c:pt idx="3">
                <c:v>15.87</c:v>
              </c:pt>
              <c:pt idx="4">
                <c:v>15.5</c:v>
              </c:pt>
              <c:pt idx="5">
                <c:v>15.77</c:v>
              </c:pt>
            </c:numLit>
          </c:val>
        </c:ser>
        <c:dLbls>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A5B9CA"/>
            </a:solidFill>
          </a:ln>
        </c:spPr>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crossAx val="48672768"/>
      </c:catAx>
      <c:valAx>
        <c:axId val="48672768"/>
        <c:scaling>
          <c:orientation val="minMax"/>
          <c:max val="20"/>
          <c:min val="0"/>
        </c:scaling>
        <c:delete val="0"/>
        <c:axPos val="b"/>
        <c:majorGridlines>
          <c:spPr>
            <a:ln xmlns:a="http://schemas.openxmlformats.org/drawingml/2006/main" w="9525">
              <a:solidFill>
                <a:srgbClr val="DDE7EE"/>
              </a:solidFill>
            </a:ln>
          </c:spPr>
        </c:majorGridlines>
        <c:title>
          <c:tx>
            <c:rich>
              <a:bodyPr xmlns:a="http://schemas.openxmlformats.org/drawingml/2006/main"/>
              <a:lstStyle xmlns:a="http://schemas.openxmlformats.org/drawingml/2006/main"/>
              <a:p xmlns:a="http://schemas.openxmlformats.org/drawingml/2006/main">
                <a:r>
                  <a:rPr sz="1500">
                    <a:solidFill>
                      <a:srgbClr val="586675"/>
                    </a:solidFill>
                    <a:latin typeface="Arial"/>
                    <a:ea typeface="Arial"/>
                    <a:cs typeface="Arial"/>
                  </a:rPr>
                  <a:t>Macro F1 %</a:t>
                </a:r>
              </a:p>
            </c:rich>
          </c:tx>
          <c:overlay val="0"/>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D39"/>
                </a:solidFill>
                <a:latin typeface="Arial"/>
                <a:ea typeface="Arial"/>
                <a:cs typeface="Arial"/>
              </a:rPr>
              <a:t>Train wall-clock của ba mô hình</a:t>
            </a:r>
          </a:p>
        </c:rich>
      </c:tx>
      <c:overlay val="0"/>
      <c:txPr>
        <a:bodyPr xmlns:a="http://schemas.openxmlformats.org/drawingml/2006/main" anchorCtr="1"/>
        <a:lstStyle xmlns:a="http://schemas.openxmlformats.org/drawingml/2006/main"/>
        <a:p xmlns:a="http://schemas.openxmlformats.org/drawingml/2006/main">
          <a:pPr>
            <a:defRPr sz="1725" b="1">
              <a:solidFill>
                <a:srgbClr val="202D39"/>
              </a:solidFill>
              <a:latin typeface="Arial"/>
              <a:ea typeface="Arial"/>
              <a:cs typeface="Arial"/>
            </a:defRPr>
          </a:pPr>
        </a:p>
      </c:txPr>
    </c:title>
    <c:plotArea>
      <c:barChart>
        <c:barDir val="bar"/>
        <c:grouping val="clustered"/>
        <c:varyColors val="0"/>
        <c:ser>
          <c:idx val="0"/>
          <c:order val="0"/>
          <c:tx>
            <c:v>CPU</c:v>
          </c:tx>
          <c:spPr>
            <a:solidFill xmlns:a="http://schemas.openxmlformats.org/drawingml/2006/main">
              <a:srgbClr val="2072B7"/>
            </a:solidFill>
          </c:spPr>
          <c:dLbls>
            <c:dLbl>
              <c:idx val="0"/>
              <c:tx>
                <c:rich>
                  <a:bodyPr xmlns:a="http://schemas.openxmlformats.org/drawingml/2006/main"/>
                  <a:lstStyle xmlns:a="http://schemas.openxmlformats.org/drawingml/2006/main"/>
                  <a:p xmlns:a="http://schemas.openxmlformats.org/drawingml/2006/main">
                    <a:r>
                      <a:rPr sz="1650">
                        <a:solidFill>
                          <a:srgbClr val="202D39"/>
                        </a:solidFill>
                      </a:rPr>
                      <a:t>11,03</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650">
                        <a:solidFill>
                          <a:srgbClr val="202D39"/>
                        </a:solidFill>
                      </a:rPr>
                      <a:t>28,96</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650">
                        <a:solidFill>
                          <a:srgbClr val="202D39"/>
                        </a:solidFill>
                      </a:rPr>
                      <a:t>85,18</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s>
          <c:cat>
            <c:strLit>
              <c:ptCount val="3"/>
              <c:pt idx="0">
                <c:v>Logistic Reg.</c:v>
              </c:pt>
              <c:pt idx="1">
                <c:v>Decision Tree</c:v>
              </c:pt>
              <c:pt idx="2">
                <c:v>Random Forest</c:v>
              </c:pt>
            </c:strLit>
          </c:cat>
          <c:val>
            <c:numLit>
              <c:formatCode>0.00</c:formatCode>
              <c:ptCount val="3"/>
              <c:pt idx="0">
                <c:v>11.03</c:v>
              </c:pt>
              <c:pt idx="1">
                <c:v>28.96</c:v>
              </c:pt>
              <c:pt idx="2">
                <c:v>85.18</c:v>
              </c:pt>
            </c:numLit>
          </c:val>
        </c:ser>
        <c:ser>
          <c:idx val="1"/>
          <c:order val="1"/>
          <c:tx>
            <c:v>Spark</c:v>
          </c:tx>
          <c:spPr>
            <a:solidFill xmlns:a="http://schemas.openxmlformats.org/drawingml/2006/main">
              <a:srgbClr val="E5A82D"/>
            </a:solidFill>
          </c:spPr>
          <c:dLbls>
            <c:dLbl>
              <c:idx val="0"/>
              <c:tx>
                <c:rich>
                  <a:bodyPr xmlns:a="http://schemas.openxmlformats.org/drawingml/2006/main"/>
                  <a:lstStyle xmlns:a="http://schemas.openxmlformats.org/drawingml/2006/main"/>
                  <a:p xmlns:a="http://schemas.openxmlformats.org/drawingml/2006/main">
                    <a:r>
                      <a:rPr sz="1650">
                        <a:solidFill>
                          <a:srgbClr val="202D39"/>
                        </a:solidFill>
                      </a:rPr>
                      <a:t>19,29</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650">
                        <a:solidFill>
                          <a:srgbClr val="202D39"/>
                        </a:solidFill>
                      </a:rPr>
                      <a:t>23,13</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650">
                        <a:solidFill>
                          <a:srgbClr val="202D39"/>
                        </a:solidFill>
                      </a:rPr>
                      <a:t>31,03</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s>
          <c:cat>
            <c:strLit>
              <c:ptCount val="3"/>
              <c:pt idx="0">
                <c:v>Logistic Reg.</c:v>
              </c:pt>
              <c:pt idx="1">
                <c:v>Decision Tree</c:v>
              </c:pt>
              <c:pt idx="2">
                <c:v>Random Forest</c:v>
              </c:pt>
            </c:strLit>
          </c:cat>
          <c:val>
            <c:numLit>
              <c:formatCode>0.00</c:formatCode>
              <c:ptCount val="3"/>
              <c:pt idx="0">
                <c:v>19.29</c:v>
              </c:pt>
              <c:pt idx="1">
                <c:v>23.13</c:v>
              </c:pt>
              <c:pt idx="2">
                <c:v>31.03</c:v>
              </c:pt>
            </c:numLit>
          </c:val>
        </c:ser>
        <c:dLbls>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A5B9CA"/>
            </a:solidFill>
          </a:ln>
        </c:spPr>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crossAx val="48672768"/>
      </c:catAx>
      <c:valAx>
        <c:axId val="48672768"/>
        <c:scaling>
          <c:orientation val="minMax"/>
          <c:max val="110"/>
          <c:min val="0"/>
        </c:scaling>
        <c:delete val="0"/>
        <c:axPos val="b"/>
        <c:majorGridlines>
          <c:spPr>
            <a:ln xmlns:a="http://schemas.openxmlformats.org/drawingml/2006/main" w="9525">
              <a:solidFill>
                <a:srgbClr val="DDE7EE"/>
              </a:solidFill>
            </a:ln>
          </c:spPr>
        </c:majorGridlines>
        <c:title>
          <c:tx>
            <c:rich>
              <a:bodyPr xmlns:a="http://schemas.openxmlformats.org/drawingml/2006/main"/>
              <a:lstStyle xmlns:a="http://schemas.openxmlformats.org/drawingml/2006/main"/>
              <a:p xmlns:a="http://schemas.openxmlformats.org/drawingml/2006/main">
                <a:r>
                  <a:rPr sz="1500">
                    <a:solidFill>
                      <a:srgbClr val="586675"/>
                    </a:solidFill>
                    <a:latin typeface="Arial"/>
                    <a:ea typeface="Arial"/>
                    <a:cs typeface="Arial"/>
                  </a:rPr>
                  <a:t>Giây</a:t>
                </a:r>
              </a:p>
            </c:rich>
          </c:tx>
          <c:overlay val="0"/>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02D39"/>
              </a:solidFill>
              <a:latin typeface="Arial"/>
              <a:ea typeface="Arial"/>
              <a:cs typeface="Arial"/>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D39"/>
                </a:solidFill>
                <a:latin typeface="Arial"/>
                <a:ea typeface="Arial"/>
                <a:cs typeface="Arial"/>
              </a:rPr>
              <a:t>Random Forest CPU: ba đặc trưng cao nhất</a:t>
            </a:r>
          </a:p>
        </c:rich>
      </c:tx>
      <c:overlay val="0"/>
      <c:txPr>
        <a:bodyPr xmlns:a="http://schemas.openxmlformats.org/drawingml/2006/main" anchorCtr="1"/>
        <a:lstStyle xmlns:a="http://schemas.openxmlformats.org/drawingml/2006/main"/>
        <a:p xmlns:a="http://schemas.openxmlformats.org/drawingml/2006/main">
          <a:pPr>
            <a:defRPr sz="1725" b="1">
              <a:solidFill>
                <a:srgbClr val="202D39"/>
              </a:solidFill>
              <a:latin typeface="Arial"/>
              <a:ea typeface="Arial"/>
              <a:cs typeface="Arial"/>
            </a:defRPr>
          </a:pPr>
        </a:p>
      </c:txPr>
    </c:title>
    <c:plotArea>
      <c:barChart>
        <c:barDir val="bar"/>
        <c:grouping val="clustered"/>
        <c:varyColors val="0"/>
        <c:ser>
          <c:idx val="0"/>
          <c:order val="0"/>
          <c:tx>
            <c:v>Trọng số RF</c:v>
          </c:tx>
          <c:spPr>
            <a:solidFill xmlns:a="http://schemas.openxmlformats.org/drawingml/2006/main">
              <a:srgbClr val="2072B7"/>
            </a:solidFill>
          </c:spPr>
          <c:dLbls>
            <c:dLbl>
              <c:idx val="0"/>
              <c:tx>
                <c:rich>
                  <a:bodyPr xmlns:a="http://schemas.openxmlformats.org/drawingml/2006/main"/>
                  <a:lstStyle xmlns:a="http://schemas.openxmlformats.org/drawingml/2006/main"/>
                  <a:p xmlns:a="http://schemas.openxmlformats.org/drawingml/2006/main">
                    <a:r>
                      <a:rPr sz="1650">
                        <a:solidFill>
                          <a:srgbClr val="202D39"/>
                        </a:solidFill>
                      </a:rPr>
                      <a:t>22,08%</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650">
                        <a:solidFill>
                          <a:srgbClr val="202D39"/>
                        </a:solidFill>
                      </a:rPr>
                      <a:t>15,27%</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650">
                        <a:solidFill>
                          <a:srgbClr val="202D39"/>
                        </a:solidFill>
                      </a:rPr>
                      <a:t>14,84%</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s>
          <c:cat>
            <c:strLit>
              <c:ptCount val="3"/>
              <c:pt idx="0">
                <c:v>Tháng</c:v>
              </c:pt>
              <c:pt idx="1">
                <c:v>Phút đến trong ngày</c:v>
              </c:pt>
              <c:pt idx="2">
                <c:v>Phút đi trong ngày</c:v>
              </c:pt>
            </c:strLit>
          </c:cat>
          <c:val>
            <c:numLit>
              <c:formatCode>0.00</c:formatCode>
              <c:ptCount val="3"/>
              <c:pt idx="0">
                <c:v>22.08</c:v>
              </c:pt>
              <c:pt idx="1">
                <c:v>15.27</c:v>
              </c:pt>
              <c:pt idx="2">
                <c:v>14.84</c:v>
              </c:pt>
            </c:numLit>
          </c:val>
        </c:ser>
        <c:dLbls>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A5B9CA"/>
            </a:solidFill>
          </a:ln>
        </c:spPr>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crossAx val="48672768"/>
      </c:catAx>
      <c:valAx>
        <c:axId val="48672768"/>
        <c:scaling>
          <c:orientation val="minMax"/>
          <c:max val="30"/>
          <c:min val="0"/>
        </c:scaling>
        <c:delete val="0"/>
        <c:axPos val="b"/>
        <c:majorGridlines>
          <c:spPr>
            <a:ln xmlns:a="http://schemas.openxmlformats.org/drawingml/2006/main" w="9525">
              <a:solidFill>
                <a:srgbClr val="DDE7EE"/>
              </a:solidFill>
            </a:ln>
          </c:spPr>
        </c:majorGridlines>
        <c:title>
          <c:tx>
            <c:rich>
              <a:bodyPr xmlns:a="http://schemas.openxmlformats.org/drawingml/2006/main"/>
              <a:lstStyle xmlns:a="http://schemas.openxmlformats.org/drawingml/2006/main"/>
              <a:p xmlns:a="http://schemas.openxmlformats.org/drawingml/2006/main">
                <a:r>
                  <a:rPr sz="1500">
                    <a:solidFill>
                      <a:srgbClr val="586675"/>
                    </a:solidFill>
                    <a:latin typeface="Arial"/>
                    <a:ea typeface="Arial"/>
                    <a:cs typeface="Arial"/>
                  </a:rPr>
                  <a:t>Trọng số RF %</a:t>
                </a:r>
              </a:p>
            </c:rich>
          </c:tx>
          <c:overlay val="0"/>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967C67-A8BE-4154-A830-5EC91D9F1A05}"/>
              </a:ext>
            </a:extLst>
          </p:cNvPr>
          <p:cNvSpPr>
            <a:spLocks xmlns:a="http://schemas.openxmlformats.org/drawingml/2006/main" noGrp="1"/>
          </p:cNvSpPr>
          <p:nvPr/>
        </p:nvSpPr>
        <p:spPr>
          <a:xfrm xmlns:a="http://schemas.openxmlformats.org/drawingml/2006/main">
            <a:off x="1381125" y="876300"/>
            <a:ext cx="942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072B7"/>
                </a:solidFill>
              </a:defRPr>
            </a:defPPr>
          </a:lstStyle>
          <a:p xmlns:a="http://schemas.openxmlformats.org/drawingml/2006/main">
            <a:pPr>
              <a:buNone/>
              <a:defRPr sz="2025" b="1">
                <a:solidFill>
                  <a:srgbClr val="2072B7"/>
                </a:solidFill>
              </a:defRPr>
            </a:pPr>
            <a:r>
              <a:rPr sz="2025" b="1">
                <a:solidFill>
                  <a:srgbClr val="2072B7"/>
                </a:solidFill>
              </a:rPr>
              <a:t>ĐỒ ÁN NHÓM 6</a:t>
            </a:r>
          </a:p>
        </p:txBody>
      </p:sp>
      <p:sp>
        <p:nvSpPr>
          <p:cNvPr id="2" name="">
            <a:extLst xmlns:a="http://schemas.openxmlformats.org/drawingml/2006/main">
              <a:ext uri="{FF2B5EF4-FFF2-40B4-BE49-F238E27FC236}">
                <a16:creationId xmlns:a16="http://schemas.microsoft.com/office/drawing/2014/main" id="{95F93975-F97B-4492-BBE5-0E67D7AA6A6A}"/>
              </a:ext>
            </a:extLst>
          </p:cNvPr>
          <p:cNvSpPr>
            <a:spLocks xmlns:a="http://schemas.openxmlformats.org/drawingml/2006/main" noGrp="1"/>
          </p:cNvSpPr>
          <p:nvPr/>
        </p:nvSpPr>
        <p:spPr>
          <a:xfrm xmlns:a="http://schemas.openxmlformats.org/drawingml/2006/main">
            <a:off x="952500" y="14668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2072B7"/>
                </a:solidFill>
              </a:defRPr>
            </a:defPPr>
          </a:lstStyle>
          <a:p xmlns:a="http://schemas.openxmlformats.org/drawingml/2006/main">
            <a:pPr>
              <a:buNone/>
              <a:defRPr sz="2925" b="1">
                <a:solidFill>
                  <a:srgbClr val="2072B7"/>
                </a:solidFill>
              </a:defRPr>
            </a:pPr>
            <a:r>
              <a:rPr sz="2925" b="1">
                <a:solidFill>
                  <a:srgbClr val="2072B7"/>
                </a:solidFill>
              </a:rPr>
              <a:t>ỨNG DỤNG RANDOM FOREST PHÂN TÁN</a:t>
            </a:r>
          </a:p>
        </p:txBody>
      </p:sp>
      <p:sp>
        <p:nvSpPr>
          <p:cNvPr id="3" name="">
            <a:extLst xmlns:a="http://schemas.openxmlformats.org/drawingml/2006/main">
              <a:ext uri="{FF2B5EF4-FFF2-40B4-BE49-F238E27FC236}">
                <a16:creationId xmlns:a16="http://schemas.microsoft.com/office/drawing/2014/main" id="{BC37B968-38A6-4DA5-A509-CF9C50AB9D4D}"/>
              </a:ext>
            </a:extLst>
          </p:cNvPr>
          <p:cNvSpPr>
            <a:spLocks xmlns:a="http://schemas.openxmlformats.org/drawingml/2006/main" noGrp="1"/>
          </p:cNvSpPr>
          <p:nvPr/>
        </p:nvSpPr>
        <p:spPr>
          <a:xfrm xmlns:a="http://schemas.openxmlformats.org/drawingml/2006/main">
            <a:off x="1285875" y="2095500"/>
            <a:ext cx="9810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222222"/>
                </a:solidFill>
              </a:defRPr>
            </a:defPPr>
          </a:lstStyle>
          <a:p xmlns:a="http://schemas.openxmlformats.org/drawingml/2006/main">
            <a:pPr>
              <a:buNone/>
              <a:defRPr sz="2625" b="1">
                <a:solidFill>
                  <a:srgbClr val="222222"/>
                </a:solidFill>
              </a:defRPr>
            </a:pPr>
            <a:r>
              <a:rPr sz="2625" b="1">
                <a:solidFill>
                  <a:srgbClr val="222222"/>
                </a:solidFill>
              </a:rPr>
              <a:t>Dự đoán nguyên nhân trễ chuyến bay</a:t>
            </a:r>
          </a:p>
          <a:p xmlns:a="http://schemas.openxmlformats.org/drawingml/2006/main">
            <a:pPr>
              <a:buNone/>
              <a:defRPr sz="2625" b="1">
                <a:solidFill>
                  <a:srgbClr val="222222"/>
                </a:solidFill>
              </a:defRPr>
            </a:pPr>
            <a:r>
              <a:rPr sz="2625" b="1">
                <a:solidFill>
                  <a:srgbClr val="222222"/>
                </a:solidFill>
              </a:rPr>
              <a:t>thương mại Hoa Kỳ năm 2024</a:t>
            </a:r>
          </a:p>
        </p:txBody>
      </p:sp>
      <p:sp>
        <p:nvSpPr>
          <p:cNvPr id="4" name="">
            <a:extLst xmlns:a="http://schemas.openxmlformats.org/drawingml/2006/main">
              <a:ext uri="{FF2B5EF4-FFF2-40B4-BE49-F238E27FC236}">
                <a16:creationId xmlns:a16="http://schemas.microsoft.com/office/drawing/2014/main" id="{AAA1915F-29CE-4DBF-AC8F-F1C0CE06EDEF}"/>
              </a:ext>
            </a:extLst>
          </p:cNvPr>
          <p:cNvSpPr>
            <a:spLocks xmlns:a="http://schemas.openxmlformats.org/drawingml/2006/main" noGrp="1"/>
          </p:cNvSpPr>
          <p:nvPr/>
        </p:nvSpPr>
        <p:spPr>
          <a:xfrm xmlns:a="http://schemas.openxmlformats.org/drawingml/2006/main">
            <a:off x="1809750" y="3190875"/>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072B7"/>
                </a:solidFill>
              </a:defRPr>
            </a:defPPr>
          </a:lstStyle>
          <a:p xmlns:a="http://schemas.openxmlformats.org/drawingml/2006/main">
            <a:pPr>
              <a:buNone/>
              <a:defRPr sz="1875" b="1">
                <a:solidFill>
                  <a:srgbClr val="2072B7"/>
                </a:solidFill>
              </a:defRPr>
            </a:pPr>
            <a:r>
              <a:rPr sz="1875" b="1">
                <a:solidFill>
                  <a:srgbClr val="2072B7"/>
                </a:solidFill>
              </a:rPr>
              <a:t>Giảng viên hướng dẫn: TS. Phan Hồ Viết Trường</a:t>
            </a:r>
          </a:p>
        </p:txBody>
      </p:sp>
      <p:sp>
        <p:nvSpPr>
          <p:cNvPr id="5" name="">
            <a:extLst xmlns:a="http://schemas.openxmlformats.org/drawingml/2006/main">
              <a:ext uri="{FF2B5EF4-FFF2-40B4-BE49-F238E27FC236}">
                <a16:creationId xmlns:a16="http://schemas.microsoft.com/office/drawing/2014/main" id="{5D3B8A43-C0BF-44D0-8779-C94B779FF1E0}"/>
              </a:ext>
            </a:extLst>
          </p:cNvPr>
          <p:cNvSpPr>
            <a:spLocks xmlns:a="http://schemas.openxmlformats.org/drawingml/2006/main" noGrp="1"/>
          </p:cNvSpPr>
          <p:nvPr/>
        </p:nvSpPr>
        <p:spPr>
          <a:xfrm xmlns:a="http://schemas.openxmlformats.org/drawingml/2006/main">
            <a:off x="3810000" y="3667125"/>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22222"/>
                </a:solidFill>
              </a:defRPr>
            </a:defPPr>
          </a:lstStyle>
          <a:p xmlns:a="http://schemas.openxmlformats.org/drawingml/2006/main">
            <a:pPr>
              <a:buNone/>
              <a:defRPr sz="1800" b="0">
                <a:solidFill>
                  <a:srgbClr val="222222"/>
                </a:solidFill>
              </a:defRPr>
            </a:pPr>
            <a:r>
              <a:rPr sz="1800" b="0">
                <a:solidFill>
                  <a:srgbClr val="222222"/>
                </a:solidFill>
              </a:rPr>
              <a:t>Sinh viên thực hiện</a:t>
            </a:r>
          </a:p>
          <a:p xmlns:a="http://schemas.openxmlformats.org/drawingml/2006/main">
            <a:pPr>
              <a:buNone/>
              <a:defRPr sz="1800" b="0">
                <a:solidFill>
                  <a:srgbClr val="222222"/>
                </a:solidFill>
              </a:defRPr>
            </a:pPr>
            <a:r>
              <a:rPr sz="1800" b="0">
                <a:solidFill>
                  <a:srgbClr val="222222"/>
                </a:solidFill>
              </a:rPr>
              <a:t>Cù Văn Vĩ An</a:t>
            </a:r>
          </a:p>
          <a:p xmlns:a="http://schemas.openxmlformats.org/drawingml/2006/main">
            <a:pPr>
              <a:buNone/>
              <a:defRPr sz="1800" b="0">
                <a:solidFill>
                  <a:srgbClr val="222222"/>
                </a:solidFill>
              </a:defRPr>
            </a:pPr>
            <a:r>
              <a:rPr sz="1800" b="0">
                <a:solidFill>
                  <a:srgbClr val="222222"/>
                </a:solidFill>
              </a:rPr>
              <a:t>Lê Đức Lương</a:t>
            </a:r>
          </a:p>
          <a:p xmlns:a="http://schemas.openxmlformats.org/drawingml/2006/main">
            <a:pPr>
              <a:buNone/>
              <a:defRPr sz="1800" b="0">
                <a:solidFill>
                  <a:srgbClr val="222222"/>
                </a:solidFill>
              </a:defRPr>
            </a:pPr>
            <a:r>
              <a:rPr sz="1800" b="0">
                <a:solidFill>
                  <a:srgbClr val="222222"/>
                </a:solidFill>
              </a:rPr>
              <a:t>Trần Huỳnh Tuấn Anh</a:t>
            </a:r>
          </a:p>
        </p:txBody>
      </p:sp>
    </p:spTree>
    <p:extLst>
      <p:ext uri="{BB962C8B-B14F-4D97-AF65-F5344CB8AC3E}">
        <p14:creationId xmlns:p14="http://schemas.microsoft.com/office/powerpoint/2010/main" val="16424425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93A1BEF-EF7A-45D5-8C20-B8076F68EFC7}"/>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Mục tiêu và nội dung</a:t>
            </a:r>
          </a:p>
        </p:txBody>
      </p:sp>
      <p:sp>
        <p:nvSpPr>
          <p:cNvPr id="2" name="">
            <a:extLst xmlns:a="http://schemas.openxmlformats.org/drawingml/2006/main">
              <a:ext uri="{FF2B5EF4-FFF2-40B4-BE49-F238E27FC236}">
                <a16:creationId xmlns:a16="http://schemas.microsoft.com/office/drawing/2014/main" id="{C7788D51-0DBF-45C3-A9DF-B5F8797C3641}"/>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Dự đoán nhóm nguyên nhân trễ trên dữ liệu chuyến bay Hoa Kỳ 2024</a:t>
            </a:r>
          </a:p>
        </p:txBody>
      </p:sp>
      <p:sp>
        <p:nvSpPr>
          <p:cNvPr id="3" name="">
            <a:extLst xmlns:a="http://schemas.openxmlformats.org/drawingml/2006/main">
              <a:ext uri="{FF2B5EF4-FFF2-40B4-BE49-F238E27FC236}">
                <a16:creationId xmlns:a16="http://schemas.microsoft.com/office/drawing/2014/main" id="{AFACFCC0-F715-4FC1-9F42-AD26CDB9CEF2}"/>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66CCFA9-0CC5-4980-BF0F-9AB92E3215E1}"/>
              </a:ext>
            </a:extLst>
          </p:cNvPr>
          <p:cNvSpPr>
            <a:spLocks xmlns:a="http://schemas.openxmlformats.org/drawingml/2006/main" noGrp="1"/>
          </p:cNvSpPr>
          <p:nvPr/>
        </p:nvSpPr>
        <p:spPr>
          <a:xfrm xmlns:a="http://schemas.openxmlformats.org/drawingml/2006/main">
            <a:off x="571500" y="22669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defRPr sz="2100" b="0">
                <a:solidFill>
                  <a:srgbClr val="202D39"/>
                </a:solidFill>
                <a:latin typeface="Arial"/>
                <a:ea typeface="Arial"/>
                <a:cs typeface="Arial"/>
              </a:defRPr>
            </a:pPr>
            <a:r>
              <a:rPr sz="2100" b="0">
                <a:solidFill>
                  <a:srgbClr val="202D39"/>
                </a:solidFill>
                <a:latin typeface="Arial"/>
                <a:ea typeface="Arial"/>
                <a:cs typeface="Arial"/>
              </a:rPr>
              <a:t>Nhóm xử lý dữ liệu hơn 7 triệu chuyến bay.</a:t>
            </a:r>
          </a:p>
        </p:txBody>
      </p:sp>
      <p:sp>
        <p:nvSpPr>
          <p:cNvPr id="5" name="">
            <a:extLst xmlns:a="http://schemas.openxmlformats.org/drawingml/2006/main">
              <a:ext uri="{FF2B5EF4-FFF2-40B4-BE49-F238E27FC236}">
                <a16:creationId xmlns:a16="http://schemas.microsoft.com/office/drawing/2014/main" id="{08402635-69B8-4927-8804-82109D172DF2}"/>
              </a:ext>
            </a:extLst>
          </p:cNvPr>
          <p:cNvSpPr>
            <a:spLocks xmlns:a="http://schemas.openxmlformats.org/drawingml/2006/main" noGrp="1"/>
          </p:cNvSpPr>
          <p:nvPr/>
        </p:nvSpPr>
        <p:spPr>
          <a:xfrm xmlns:a="http://schemas.openxmlformats.org/drawingml/2006/main">
            <a:off x="571500" y="32956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defRPr sz="2100" b="0">
                <a:solidFill>
                  <a:srgbClr val="202D39"/>
                </a:solidFill>
                <a:latin typeface="Arial"/>
                <a:ea typeface="Arial"/>
                <a:cs typeface="Arial"/>
              </a:defRPr>
            </a:pPr>
            <a:r>
              <a:rPr sz="2100" b="0">
                <a:solidFill>
                  <a:srgbClr val="202D39"/>
                </a:solidFill>
                <a:latin typeface="Arial"/>
                <a:ea typeface="Arial"/>
                <a:cs typeface="Arial"/>
              </a:rPr>
              <a:t>So sánh sáu mô hình CPU với ba mô hình Spark thực đo.</a:t>
            </a:r>
          </a:p>
        </p:txBody>
      </p:sp>
      <p:sp>
        <p:nvSpPr>
          <p:cNvPr id="6" name="">
            <a:extLst xmlns:a="http://schemas.openxmlformats.org/drawingml/2006/main">
              <a:ext uri="{FF2B5EF4-FFF2-40B4-BE49-F238E27FC236}">
                <a16:creationId xmlns:a16="http://schemas.microsoft.com/office/drawing/2014/main" id="{5F44B219-B57F-4CDC-891F-397C27435516}"/>
              </a:ext>
            </a:extLst>
          </p:cNvPr>
          <p:cNvSpPr>
            <a:spLocks xmlns:a="http://schemas.openxmlformats.org/drawingml/2006/main" noGrp="1"/>
          </p:cNvSpPr>
          <p:nvPr/>
        </p:nvSpPr>
        <p:spPr>
          <a:xfrm xmlns:a="http://schemas.openxmlformats.org/drawingml/2006/main">
            <a:off x="571500" y="43243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defRPr sz="2100" b="0">
                <a:solidFill>
                  <a:srgbClr val="202D39"/>
                </a:solidFill>
                <a:latin typeface="Arial"/>
                <a:ea typeface="Arial"/>
                <a:cs typeface="Arial"/>
              </a:defRPr>
            </a:pPr>
            <a:r>
              <a:rPr sz="2100" b="0">
                <a:solidFill>
                  <a:srgbClr val="202D39"/>
                </a:solidFill>
                <a:latin typeface="Arial"/>
                <a:ea typeface="Arial"/>
                <a:cs typeface="Arial"/>
              </a:rPr>
              <a:t>Đưa kết quả lên ứng dụng Web_Air.</a:t>
            </a:r>
          </a:p>
        </p:txBody>
      </p:sp>
      <p:sp>
        <p:nvSpPr>
          <p:cNvPr id="7" name="">
            <a:extLst xmlns:a="http://schemas.openxmlformats.org/drawingml/2006/main">
              <a:ext uri="{FF2B5EF4-FFF2-40B4-BE49-F238E27FC236}">
                <a16:creationId xmlns:a16="http://schemas.microsoft.com/office/drawing/2014/main" id="{81831EE3-9629-4410-83A9-44653CE1648A}"/>
              </a:ext>
            </a:extLst>
          </p:cNvPr>
          <p:cNvSpPr>
            <a:spLocks xmlns:a="http://schemas.openxmlformats.org/drawingml/2006/main" noGrp="1"/>
          </p:cNvSpPr>
          <p:nvPr/>
        </p:nvSpPr>
        <p:spPr>
          <a:xfrm xmlns:a="http://schemas.openxmlformats.org/drawingml/2006/main">
            <a:off x="5334000" y="21431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Cơ sở lý thuyết</a:t>
            </a:r>
          </a:p>
        </p:txBody>
      </p:sp>
      <p:sp>
        <p:nvSpPr>
          <p:cNvPr id="8" name="">
            <a:extLst xmlns:a="http://schemas.openxmlformats.org/drawingml/2006/main">
              <a:ext uri="{FF2B5EF4-FFF2-40B4-BE49-F238E27FC236}">
                <a16:creationId xmlns:a16="http://schemas.microsoft.com/office/drawing/2014/main" id="{B3098278-3728-4662-9947-9D53B7C3EE0A}"/>
              </a:ext>
            </a:extLst>
          </p:cNvPr>
          <p:cNvSpPr>
            <a:spLocks xmlns:a="http://schemas.openxmlformats.org/drawingml/2006/main" noGrp="1"/>
          </p:cNvSpPr>
          <p:nvPr/>
        </p:nvSpPr>
        <p:spPr>
          <a:xfrm xmlns:a="http://schemas.openxmlformats.org/drawingml/2006/main">
            <a:off x="10763250" y="2143125"/>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072B7"/>
                </a:solidFill>
                <a:latin typeface="Arial"/>
                <a:ea typeface="Arial"/>
                <a:cs typeface="Arial"/>
              </a:defRPr>
            </a:defPPr>
          </a:lstStyle>
          <a:p xmlns:a="http://schemas.openxmlformats.org/drawingml/2006/main">
            <a:pPr>
              <a:defRPr sz="1950" b="1">
                <a:solidFill>
                  <a:srgbClr val="2072B7"/>
                </a:solidFill>
                <a:latin typeface="Arial"/>
                <a:ea typeface="Arial"/>
                <a:cs typeface="Arial"/>
              </a:defRPr>
            </a:pPr>
            <a:r>
              <a:rPr sz="1950" b="1">
                <a:solidFill>
                  <a:srgbClr val="2072B7"/>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EE42F2AF-D5F9-4C6A-A832-DEAD100746B8}"/>
              </a:ext>
            </a:extLst>
          </p:cNvPr>
          <p:cNvSpPr>
            <a:spLocks xmlns:a="http://schemas.openxmlformats.org/drawingml/2006/main" noGrp="1"/>
          </p:cNvSpPr>
          <p:nvPr/>
        </p:nvSpPr>
        <p:spPr>
          <a:xfrm xmlns:a="http://schemas.openxmlformats.org/drawingml/2006/main">
            <a:off x="5334000" y="2762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Dữ liệu và tiền xử lý</a:t>
            </a:r>
          </a:p>
        </p:txBody>
      </p:sp>
      <p:sp>
        <p:nvSpPr>
          <p:cNvPr id="10" name="">
            <a:extLst xmlns:a="http://schemas.openxmlformats.org/drawingml/2006/main">
              <a:ext uri="{FF2B5EF4-FFF2-40B4-BE49-F238E27FC236}">
                <a16:creationId xmlns:a16="http://schemas.microsoft.com/office/drawing/2014/main" id="{23E9B558-47D1-4F4B-9ECB-23E04F1D188C}"/>
              </a:ext>
            </a:extLst>
          </p:cNvPr>
          <p:cNvSpPr>
            <a:spLocks xmlns:a="http://schemas.openxmlformats.org/drawingml/2006/main" noGrp="1"/>
          </p:cNvSpPr>
          <p:nvPr/>
        </p:nvSpPr>
        <p:spPr>
          <a:xfrm xmlns:a="http://schemas.openxmlformats.org/drawingml/2006/main">
            <a:off x="10763250" y="276225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072B7"/>
                </a:solidFill>
                <a:latin typeface="Arial"/>
                <a:ea typeface="Arial"/>
                <a:cs typeface="Arial"/>
              </a:defRPr>
            </a:defPPr>
          </a:lstStyle>
          <a:p xmlns:a="http://schemas.openxmlformats.org/drawingml/2006/main">
            <a:pPr>
              <a:defRPr sz="1950" b="1">
                <a:solidFill>
                  <a:srgbClr val="2072B7"/>
                </a:solidFill>
                <a:latin typeface="Arial"/>
                <a:ea typeface="Arial"/>
                <a:cs typeface="Arial"/>
              </a:defRPr>
            </a:pPr>
            <a:r>
              <a:rPr sz="1950" b="1">
                <a:solidFill>
                  <a:srgbClr val="2072B7"/>
                </a:solidFill>
                <a:latin typeface="Arial"/>
                <a:ea typeface="Arial"/>
                <a:cs typeface="Arial"/>
              </a:rPr>
              <a:t>04–06</a:t>
            </a:r>
          </a:p>
        </p:txBody>
      </p:sp>
      <p:sp>
        <p:nvSpPr>
          <p:cNvPr id="11" name="">
            <a:extLst xmlns:a="http://schemas.openxmlformats.org/drawingml/2006/main">
              <a:ext uri="{FF2B5EF4-FFF2-40B4-BE49-F238E27FC236}">
                <a16:creationId xmlns:a16="http://schemas.microsoft.com/office/drawing/2014/main" id="{777D3B60-FA69-4C79-B7D3-5A280F8075B0}"/>
              </a:ext>
            </a:extLst>
          </p:cNvPr>
          <p:cNvSpPr>
            <a:spLocks xmlns:a="http://schemas.openxmlformats.org/drawingml/2006/main" noGrp="1"/>
          </p:cNvSpPr>
          <p:nvPr/>
        </p:nvSpPr>
        <p:spPr>
          <a:xfrm xmlns:a="http://schemas.openxmlformats.org/drawingml/2006/main">
            <a:off x="5334000" y="33813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Xây dựng mô hình</a:t>
            </a:r>
          </a:p>
        </p:txBody>
      </p:sp>
      <p:sp>
        <p:nvSpPr>
          <p:cNvPr id="12" name="">
            <a:extLst xmlns:a="http://schemas.openxmlformats.org/drawingml/2006/main">
              <a:ext uri="{FF2B5EF4-FFF2-40B4-BE49-F238E27FC236}">
                <a16:creationId xmlns:a16="http://schemas.microsoft.com/office/drawing/2014/main" id="{1698646D-AFA6-4681-9338-E5E67C8DB497}"/>
              </a:ext>
            </a:extLst>
          </p:cNvPr>
          <p:cNvSpPr>
            <a:spLocks xmlns:a="http://schemas.openxmlformats.org/drawingml/2006/main" noGrp="1"/>
          </p:cNvSpPr>
          <p:nvPr/>
        </p:nvSpPr>
        <p:spPr>
          <a:xfrm xmlns:a="http://schemas.openxmlformats.org/drawingml/2006/main">
            <a:off x="10763250" y="3381375"/>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072B7"/>
                </a:solidFill>
                <a:latin typeface="Arial"/>
                <a:ea typeface="Arial"/>
                <a:cs typeface="Arial"/>
              </a:defRPr>
            </a:defPPr>
          </a:lstStyle>
          <a:p xmlns:a="http://schemas.openxmlformats.org/drawingml/2006/main">
            <a:pPr>
              <a:defRPr sz="1950" b="1">
                <a:solidFill>
                  <a:srgbClr val="2072B7"/>
                </a:solidFill>
                <a:latin typeface="Arial"/>
                <a:ea typeface="Arial"/>
                <a:cs typeface="Arial"/>
              </a:defRPr>
            </a:pPr>
            <a:r>
              <a:rPr sz="1950" b="1">
                <a:solidFill>
                  <a:srgbClr val="2072B7"/>
                </a:solidFill>
                <a:latin typeface="Arial"/>
                <a:ea typeface="Arial"/>
                <a:cs typeface="Arial"/>
              </a:rPr>
              <a:t>07–09</a:t>
            </a:r>
          </a:p>
        </p:txBody>
      </p:sp>
      <p:sp>
        <p:nvSpPr>
          <p:cNvPr id="13" name="">
            <a:extLst xmlns:a="http://schemas.openxmlformats.org/drawingml/2006/main">
              <a:ext uri="{FF2B5EF4-FFF2-40B4-BE49-F238E27FC236}">
                <a16:creationId xmlns:a16="http://schemas.microsoft.com/office/drawing/2014/main" id="{EA4C4DED-F825-4B48-B244-244C9D6DCE63}"/>
              </a:ext>
            </a:extLst>
          </p:cNvPr>
          <p:cNvSpPr>
            <a:spLocks xmlns:a="http://schemas.openxmlformats.org/drawingml/2006/main" noGrp="1"/>
          </p:cNvSpPr>
          <p:nvPr/>
        </p:nvSpPr>
        <p:spPr>
          <a:xfrm xmlns:a="http://schemas.openxmlformats.org/drawingml/2006/main">
            <a:off x="5334000" y="40005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Thực nghiệm và phân tích</a:t>
            </a:r>
          </a:p>
        </p:txBody>
      </p:sp>
      <p:sp>
        <p:nvSpPr>
          <p:cNvPr id="14" name="">
            <a:extLst xmlns:a="http://schemas.openxmlformats.org/drawingml/2006/main">
              <a:ext uri="{FF2B5EF4-FFF2-40B4-BE49-F238E27FC236}">
                <a16:creationId xmlns:a16="http://schemas.microsoft.com/office/drawing/2014/main" id="{2A6EB18A-B05E-463C-849D-0C0822518D41}"/>
              </a:ext>
            </a:extLst>
          </p:cNvPr>
          <p:cNvSpPr>
            <a:spLocks xmlns:a="http://schemas.openxmlformats.org/drawingml/2006/main" noGrp="1"/>
          </p:cNvSpPr>
          <p:nvPr/>
        </p:nvSpPr>
        <p:spPr>
          <a:xfrm xmlns:a="http://schemas.openxmlformats.org/drawingml/2006/main">
            <a:off x="10763250" y="400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072B7"/>
                </a:solidFill>
                <a:latin typeface="Arial"/>
                <a:ea typeface="Arial"/>
                <a:cs typeface="Arial"/>
              </a:defRPr>
            </a:defPPr>
          </a:lstStyle>
          <a:p xmlns:a="http://schemas.openxmlformats.org/drawingml/2006/main">
            <a:pPr>
              <a:defRPr sz="1950" b="1">
                <a:solidFill>
                  <a:srgbClr val="2072B7"/>
                </a:solidFill>
                <a:latin typeface="Arial"/>
                <a:ea typeface="Arial"/>
                <a:cs typeface="Arial"/>
              </a:defRPr>
            </a:pPr>
            <a:r>
              <a:rPr sz="1950" b="1">
                <a:solidFill>
                  <a:srgbClr val="2072B7"/>
                </a:solidFill>
                <a:latin typeface="Arial"/>
                <a:ea typeface="Arial"/>
                <a:cs typeface="Arial"/>
              </a:rPr>
              <a:t>10–17</a:t>
            </a:r>
          </a:p>
        </p:txBody>
      </p:sp>
      <p:sp>
        <p:nvSpPr>
          <p:cNvPr id="15" name="">
            <a:extLst xmlns:a="http://schemas.openxmlformats.org/drawingml/2006/main">
              <a:ext uri="{FF2B5EF4-FFF2-40B4-BE49-F238E27FC236}">
                <a16:creationId xmlns:a16="http://schemas.microsoft.com/office/drawing/2014/main" id="{C3A27A8F-17A4-4222-8A2A-C783A75A66AB}"/>
              </a:ext>
            </a:extLst>
          </p:cNvPr>
          <p:cNvSpPr>
            <a:spLocks xmlns:a="http://schemas.openxmlformats.org/drawingml/2006/main" noGrp="1"/>
          </p:cNvSpPr>
          <p:nvPr/>
        </p:nvSpPr>
        <p:spPr>
          <a:xfrm xmlns:a="http://schemas.openxmlformats.org/drawingml/2006/main">
            <a:off x="5334000" y="46196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Ứng dụng Web_Air</a:t>
            </a:r>
          </a:p>
        </p:txBody>
      </p:sp>
      <p:sp>
        <p:nvSpPr>
          <p:cNvPr id="16" name="">
            <a:extLst xmlns:a="http://schemas.openxmlformats.org/drawingml/2006/main">
              <a:ext uri="{FF2B5EF4-FFF2-40B4-BE49-F238E27FC236}">
                <a16:creationId xmlns:a16="http://schemas.microsoft.com/office/drawing/2014/main" id="{31208247-CC8C-4C7A-A3E7-C77232D5A689}"/>
              </a:ext>
            </a:extLst>
          </p:cNvPr>
          <p:cNvSpPr>
            <a:spLocks xmlns:a="http://schemas.openxmlformats.org/drawingml/2006/main" noGrp="1"/>
          </p:cNvSpPr>
          <p:nvPr/>
        </p:nvSpPr>
        <p:spPr>
          <a:xfrm xmlns:a="http://schemas.openxmlformats.org/drawingml/2006/main">
            <a:off x="10763250" y="4619625"/>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072B7"/>
                </a:solidFill>
                <a:latin typeface="Arial"/>
                <a:ea typeface="Arial"/>
                <a:cs typeface="Arial"/>
              </a:defRPr>
            </a:defPPr>
          </a:lstStyle>
          <a:p xmlns:a="http://schemas.openxmlformats.org/drawingml/2006/main">
            <a:pPr>
              <a:defRPr sz="1950" b="1">
                <a:solidFill>
                  <a:srgbClr val="2072B7"/>
                </a:solidFill>
                <a:latin typeface="Arial"/>
                <a:ea typeface="Arial"/>
                <a:cs typeface="Arial"/>
              </a:defRPr>
            </a:pPr>
            <a:r>
              <a:rPr sz="1950" b="1">
                <a:solidFill>
                  <a:srgbClr val="2072B7"/>
                </a:solidFill>
                <a:latin typeface="Arial"/>
                <a:ea typeface="Arial"/>
                <a:cs typeface="Arial"/>
              </a:rPr>
              <a:t>18</a:t>
            </a:r>
          </a:p>
        </p:txBody>
      </p:sp>
      <p:sp>
        <p:nvSpPr>
          <p:cNvPr id="17" name="">
            <a:extLst xmlns:a="http://schemas.openxmlformats.org/drawingml/2006/main">
              <a:ext uri="{FF2B5EF4-FFF2-40B4-BE49-F238E27FC236}">
                <a16:creationId xmlns:a16="http://schemas.microsoft.com/office/drawing/2014/main" id="{15B8105C-9B8C-4A47-AC92-C5E9517151E8}"/>
              </a:ext>
            </a:extLst>
          </p:cNvPr>
          <p:cNvSpPr>
            <a:spLocks xmlns:a="http://schemas.openxmlformats.org/drawingml/2006/main" noGrp="1"/>
          </p:cNvSpPr>
          <p:nvPr/>
        </p:nvSpPr>
        <p:spPr>
          <a:xfrm xmlns:a="http://schemas.openxmlformats.org/drawingml/2006/main">
            <a:off x="5334000" y="52387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Kết luận và hỏi đáp</a:t>
            </a:r>
          </a:p>
        </p:txBody>
      </p:sp>
      <p:sp>
        <p:nvSpPr>
          <p:cNvPr id="18" name="">
            <a:extLst xmlns:a="http://schemas.openxmlformats.org/drawingml/2006/main">
              <a:ext uri="{FF2B5EF4-FFF2-40B4-BE49-F238E27FC236}">
                <a16:creationId xmlns:a16="http://schemas.microsoft.com/office/drawing/2014/main" id="{E8FFE7A9-9082-4474-8DD6-D4D02FFEF380}"/>
              </a:ext>
            </a:extLst>
          </p:cNvPr>
          <p:cNvSpPr>
            <a:spLocks xmlns:a="http://schemas.openxmlformats.org/drawingml/2006/main" noGrp="1"/>
          </p:cNvSpPr>
          <p:nvPr/>
        </p:nvSpPr>
        <p:spPr>
          <a:xfrm xmlns:a="http://schemas.openxmlformats.org/drawingml/2006/main">
            <a:off x="10763250" y="523875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072B7"/>
                </a:solidFill>
                <a:latin typeface="Arial"/>
                <a:ea typeface="Arial"/>
                <a:cs typeface="Arial"/>
              </a:defRPr>
            </a:defPPr>
          </a:lstStyle>
          <a:p xmlns:a="http://schemas.openxmlformats.org/drawingml/2006/main">
            <a:pPr>
              <a:defRPr sz="1950" b="1">
                <a:solidFill>
                  <a:srgbClr val="2072B7"/>
                </a:solidFill>
                <a:latin typeface="Arial"/>
                <a:ea typeface="Arial"/>
                <a:cs typeface="Arial"/>
              </a:defRPr>
            </a:pPr>
            <a:r>
              <a:rPr sz="1950" b="1">
                <a:solidFill>
                  <a:srgbClr val="2072B7"/>
                </a:solidFill>
                <a:latin typeface="Arial"/>
                <a:ea typeface="Arial"/>
                <a:cs typeface="Arial"/>
              </a:rPr>
              <a:t>19–20</a:t>
            </a:r>
          </a:p>
        </p:txBody>
      </p:sp>
    </p:spTree>
    <p:extLst>
      <p:ext uri="{BB962C8B-B14F-4D97-AF65-F5344CB8AC3E}">
        <p14:creationId xmlns:p14="http://schemas.microsoft.com/office/powerpoint/2010/main" val="4017454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3218F8-4121-496F-84CA-997E7751B272}"/>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Cơ sở lý thuyết</a:t>
            </a:r>
          </a:p>
        </p:txBody>
      </p:sp>
      <p:sp>
        <p:nvSpPr>
          <p:cNvPr id="2" name="">
            <a:extLst xmlns:a="http://schemas.openxmlformats.org/drawingml/2006/main">
              <a:ext uri="{FF2B5EF4-FFF2-40B4-BE49-F238E27FC236}">
                <a16:creationId xmlns:a16="http://schemas.microsoft.com/office/drawing/2014/main" id="{33D606EC-8C18-42F5-BF28-4596581AACD0}"/>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Spark phân tán dữ liệu, Random Forest kết hợp nhiều cây quyết định</a:t>
            </a:r>
          </a:p>
        </p:txBody>
      </p:sp>
      <p:sp>
        <p:nvSpPr>
          <p:cNvPr id="3" name="">
            <a:extLst xmlns:a="http://schemas.openxmlformats.org/drawingml/2006/main">
              <a:ext uri="{FF2B5EF4-FFF2-40B4-BE49-F238E27FC236}">
                <a16:creationId xmlns:a16="http://schemas.microsoft.com/office/drawing/2014/main" id="{79F54A87-ABC9-49C7-86EF-491F694890EE}"/>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95D59D06-DA83-4CCD-867C-50C9EB20C34F}"/>
              </a:ext>
            </a:extLst>
          </p:cNvPr>
          <p:cNvSpPr>
            <a:spLocks xmlns:a="http://schemas.openxmlformats.org/drawingml/2006/main" noGrp="1"/>
          </p:cNvSpPr>
          <p:nvPr/>
        </p:nvSpPr>
        <p:spPr>
          <a:xfrm xmlns:a="http://schemas.openxmlformats.org/drawingml/2006/main">
            <a:off x="523875" y="2209800"/>
            <a:ext cx="3048000" cy="5905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Spark</a:t>
            </a:r>
          </a:p>
        </p:txBody>
      </p:sp>
      <p:sp>
        <p:nvSpPr>
          <p:cNvPr id="5" name="">
            <a:extLst xmlns:a="http://schemas.openxmlformats.org/drawingml/2006/main">
              <a:ext uri="{FF2B5EF4-FFF2-40B4-BE49-F238E27FC236}">
                <a16:creationId xmlns:a16="http://schemas.microsoft.com/office/drawing/2014/main" id="{2873D064-ABFF-4F2D-9CAB-E3117A57E764}"/>
              </a:ext>
            </a:extLst>
          </p:cNvPr>
          <p:cNvSpPr>
            <a:spLocks xmlns:a="http://schemas.openxmlformats.org/drawingml/2006/main" noGrp="1"/>
          </p:cNvSpPr>
          <p:nvPr/>
        </p:nvSpPr>
        <p:spPr>
          <a:xfrm xmlns:a="http://schemas.openxmlformats.org/drawingml/2006/main">
            <a:off x="523875" y="2952750"/>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Chia dữ liệu thành các phân vùng</a:t>
            </a:r>
          </a:p>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Executor cùng xử lý</a:t>
            </a:r>
          </a:p>
        </p:txBody>
      </p:sp>
      <p:sp>
        <p:nvSpPr>
          <p:cNvPr id="6" name="">
            <a:extLst xmlns:a="http://schemas.openxmlformats.org/drawingml/2006/main">
              <a:ext uri="{FF2B5EF4-FFF2-40B4-BE49-F238E27FC236}">
                <a16:creationId xmlns:a16="http://schemas.microsoft.com/office/drawing/2014/main" id="{E814254F-4446-4169-8393-76EB108EF502}"/>
              </a:ext>
            </a:extLst>
          </p:cNvPr>
          <p:cNvSpPr>
            <a:spLocks xmlns:a="http://schemas.openxmlformats.org/drawingml/2006/main" noGrp="1"/>
          </p:cNvSpPr>
          <p:nvPr/>
        </p:nvSpPr>
        <p:spPr>
          <a:xfrm xmlns:a="http://schemas.openxmlformats.org/drawingml/2006/main">
            <a:off x="523875" y="3971925"/>
            <a:ext cx="3048000" cy="5905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Random Forest</a:t>
            </a:r>
          </a:p>
        </p:txBody>
      </p:sp>
      <p:sp>
        <p:nvSpPr>
          <p:cNvPr id="7" name="">
            <a:extLst xmlns:a="http://schemas.openxmlformats.org/drawingml/2006/main">
              <a:ext uri="{FF2B5EF4-FFF2-40B4-BE49-F238E27FC236}">
                <a16:creationId xmlns:a16="http://schemas.microsoft.com/office/drawing/2014/main" id="{F9A901DC-9A31-4E2E-832F-B2B3CB63E755}"/>
              </a:ext>
            </a:extLst>
          </p:cNvPr>
          <p:cNvSpPr>
            <a:spLocks xmlns:a="http://schemas.openxmlformats.org/drawingml/2006/main" noGrp="1"/>
          </p:cNvSpPr>
          <p:nvPr/>
        </p:nvSpPr>
        <p:spPr>
          <a:xfrm xmlns:a="http://schemas.openxmlformats.org/drawingml/2006/main">
            <a:off x="523875" y="4743450"/>
            <a:ext cx="6381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Mỗi cây học từ mẫu và tập con đặc trưng</a:t>
            </a:r>
          </a:p>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Nhãn cuối lấy theo đa số phiếu</a:t>
            </a:r>
          </a:p>
        </p:txBody>
      </p:sp>
      <p:sp>
        <p:nvSpPr>
          <p:cNvPr id="8" name="">
            <a:extLst xmlns:a="http://schemas.openxmlformats.org/drawingml/2006/main">
              <a:ext uri="{FF2B5EF4-FFF2-40B4-BE49-F238E27FC236}">
                <a16:creationId xmlns:a16="http://schemas.microsoft.com/office/drawing/2014/main" id="{7CF02792-9CDD-451E-8C9D-6A0F51BE78EB}"/>
              </a:ext>
            </a:extLst>
          </p:cNvPr>
          <p:cNvSpPr>
            <a:spLocks xmlns:a="http://schemas.openxmlformats.org/drawingml/2006/main" noGrp="1"/>
          </p:cNvSpPr>
          <p:nvPr/>
        </p:nvSpPr>
        <p:spPr>
          <a:xfrm xmlns:a="http://schemas.openxmlformats.org/drawingml/2006/main">
            <a:off x="7620000" y="228600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defRPr sz="2100" b="0">
                <a:solidFill>
                  <a:srgbClr val="202D39"/>
                </a:solidFill>
                <a:latin typeface="Arial"/>
                <a:ea typeface="Arial"/>
                <a:cs typeface="Arial"/>
              </a:defRPr>
            </a:pPr>
            <a:r>
              <a:rPr sz="2100" b="0">
                <a:solidFill>
                  <a:srgbClr val="202D39"/>
                </a:solidFill>
                <a:latin typeface="Arial"/>
                <a:ea typeface="Arial"/>
                <a:cs typeface="Arial"/>
              </a:rPr>
              <a:t>Gini đo mức trộn nhãn ở một nút. Nút càng thuần, Gini càng thấp.</a:t>
            </a:r>
          </a:p>
        </p:txBody>
      </p:sp>
      <p:sp>
        <p:nvSpPr>
          <p:cNvPr id="9" name="">
            <a:extLst xmlns:a="http://schemas.openxmlformats.org/drawingml/2006/main">
              <a:ext uri="{FF2B5EF4-FFF2-40B4-BE49-F238E27FC236}">
                <a16:creationId xmlns:a16="http://schemas.microsoft.com/office/drawing/2014/main" id="{9A1CA068-D737-4955-A049-7197E1235F61}"/>
              </a:ext>
            </a:extLst>
          </p:cNvPr>
          <p:cNvSpPr>
            <a:spLocks xmlns:a="http://schemas.openxmlformats.org/drawingml/2006/main" noGrp="1"/>
          </p:cNvSpPr>
          <p:nvPr/>
        </p:nvSpPr>
        <p:spPr>
          <a:xfrm xmlns:a="http://schemas.openxmlformats.org/drawingml/2006/main">
            <a:off x="7620000" y="369570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defRPr sz="2100" b="0">
                <a:solidFill>
                  <a:srgbClr val="202D39"/>
                </a:solidFill>
                <a:latin typeface="Arial"/>
                <a:ea typeface="Arial"/>
                <a:cs typeface="Arial"/>
              </a:defRPr>
            </a:pPr>
            <a:r>
              <a:rPr sz="2100" b="0">
                <a:solidFill>
                  <a:srgbClr val="202D39"/>
                </a:solidFill>
                <a:latin typeface="Arial"/>
                <a:ea typeface="Arial"/>
                <a:cs typeface="Arial"/>
              </a:rPr>
              <a:t>Thuật toán ưu tiên điểm chia làm giảm Gini.</a:t>
            </a:r>
          </a:p>
        </p:txBody>
      </p:sp>
      <p:sp>
        <p:nvSpPr>
          <p:cNvPr id="10" name="">
            <a:extLst xmlns:a="http://schemas.openxmlformats.org/drawingml/2006/main">
              <a:ext uri="{FF2B5EF4-FFF2-40B4-BE49-F238E27FC236}">
                <a16:creationId xmlns:a16="http://schemas.microsoft.com/office/drawing/2014/main" id="{E71FD222-099A-480E-AC50-503F6069C29F}"/>
              </a:ext>
            </a:extLst>
          </p:cNvPr>
          <p:cNvSpPr>
            <a:spLocks xmlns:a="http://schemas.openxmlformats.org/drawingml/2006/main" noGrp="1"/>
          </p:cNvSpPr>
          <p:nvPr/>
        </p:nvSpPr>
        <p:spPr>
          <a:xfrm xmlns:a="http://schemas.openxmlformats.org/drawingml/2006/main">
            <a:off x="7620000" y="519112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072B7"/>
                </a:solidFill>
                <a:latin typeface="Arial"/>
                <a:ea typeface="Arial"/>
                <a:cs typeface="Arial"/>
              </a:defRPr>
            </a:defPPr>
          </a:lstStyle>
          <a:p xmlns:a="http://schemas.openxmlformats.org/drawingml/2006/main">
            <a:pPr>
              <a:defRPr sz="2250" b="1">
                <a:solidFill>
                  <a:srgbClr val="2072B7"/>
                </a:solidFill>
                <a:latin typeface="Arial"/>
                <a:ea typeface="Arial"/>
                <a:cs typeface="Arial"/>
              </a:defRPr>
            </a:pPr>
            <a:r>
              <a:rPr sz="2250" b="1">
                <a:solidFill>
                  <a:srgbClr val="2072B7"/>
                </a:solidFill>
                <a:latin typeface="Arial"/>
                <a:ea typeface="Arial"/>
                <a:cs typeface="Arial"/>
              </a:rPr>
              <a:t>Gini(S) = 1 − ∑ pₖ²</a:t>
            </a:r>
          </a:p>
        </p:txBody>
      </p:sp>
    </p:spTree>
    <p:extLst>
      <p:ext uri="{BB962C8B-B14F-4D97-AF65-F5344CB8AC3E}">
        <p14:creationId xmlns:p14="http://schemas.microsoft.com/office/powerpoint/2010/main" val="15405704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43850F-DC24-47B7-938F-ACD3B0F73026}"/>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Dữ liệu và nhãn mục tiêu</a:t>
            </a:r>
          </a:p>
        </p:txBody>
      </p:sp>
      <p:sp>
        <p:nvSpPr>
          <p:cNvPr id="2" name="">
            <a:extLst xmlns:a="http://schemas.openxmlformats.org/drawingml/2006/main">
              <a:ext uri="{FF2B5EF4-FFF2-40B4-BE49-F238E27FC236}">
                <a16:creationId xmlns:a16="http://schemas.microsoft.com/office/drawing/2014/main" id="{344B8882-F064-42A0-96B2-6A9C5263851C}"/>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OnTime chiếm khoảng 79,2%, tạo ra mất cân bằng lớp rõ rệt</a:t>
            </a:r>
          </a:p>
        </p:txBody>
      </p:sp>
      <p:sp>
        <p:nvSpPr>
          <p:cNvPr id="3" name="">
            <a:extLst xmlns:a="http://schemas.openxmlformats.org/drawingml/2006/main">
              <a:ext uri="{FF2B5EF4-FFF2-40B4-BE49-F238E27FC236}">
                <a16:creationId xmlns:a16="http://schemas.microsoft.com/office/drawing/2014/main" id="{42EA9C58-7401-4743-9665-9707535A4170}"/>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0BC2A31A-7FC1-4142-B459-D111A9A12C47}"/>
              </a:ext>
            </a:extLst>
          </p:cNvPr>
          <p:cNvSpPr>
            <a:spLocks xmlns:a="http://schemas.openxmlformats.org/drawingml/2006/main" noGrp="1"/>
          </p:cNvSpPr>
          <p:nvPr/>
        </p:nvSpPr>
        <p:spPr>
          <a:xfrm xmlns:a="http://schemas.openxmlformats.org/drawingml/2006/main">
            <a:off x="571500" y="228600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defRPr sz="2100" b="0">
                <a:solidFill>
                  <a:srgbClr val="202D39"/>
                </a:solidFill>
                <a:latin typeface="Arial"/>
                <a:ea typeface="Arial"/>
                <a:cs typeface="Arial"/>
              </a:defRPr>
            </a:pPr>
            <a:r>
              <a:rPr sz="2100" b="0">
                <a:solidFill>
                  <a:srgbClr val="202D39"/>
                </a:solidFill>
                <a:latin typeface="Arial"/>
                <a:ea typeface="Arial"/>
                <a:cs typeface="Arial"/>
              </a:rPr>
              <a:t>Nguồn BTS, chuyến bay thương mại Hoa Kỳ năm 2024.</a:t>
            </a:r>
          </a:p>
        </p:txBody>
      </p:sp>
      <p:sp>
        <p:nvSpPr>
          <p:cNvPr id="5" name="">
            <a:extLst xmlns:a="http://schemas.openxmlformats.org/drawingml/2006/main">
              <a:ext uri="{FF2B5EF4-FFF2-40B4-BE49-F238E27FC236}">
                <a16:creationId xmlns:a16="http://schemas.microsoft.com/office/drawing/2014/main" id="{C7ED83D7-B003-4ACB-B081-671C49567C5B}"/>
              </a:ext>
            </a:extLst>
          </p:cNvPr>
          <p:cNvSpPr>
            <a:spLocks xmlns:a="http://schemas.openxmlformats.org/drawingml/2006/main" noGrp="1"/>
          </p:cNvSpPr>
          <p:nvPr/>
        </p:nvSpPr>
        <p:spPr>
          <a:xfrm xmlns:a="http://schemas.openxmlformats.org/drawingml/2006/main">
            <a:off x="571500" y="33813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defRPr sz="2100" b="0">
                <a:solidFill>
                  <a:srgbClr val="202D39"/>
                </a:solidFill>
                <a:latin typeface="Arial"/>
                <a:ea typeface="Arial"/>
                <a:cs typeface="Arial"/>
              </a:defRPr>
            </a:pPr>
            <a:r>
              <a:rPr sz="2100" b="0">
                <a:solidFill>
                  <a:srgbClr val="202D39"/>
                </a:solidFill>
                <a:latin typeface="Arial"/>
                <a:ea typeface="Arial"/>
                <a:cs typeface="Arial"/>
              </a:rPr>
              <a:t>OnTime là đúng giờ hoặc trễ nhẹ.</a:t>
            </a:r>
          </a:p>
        </p:txBody>
      </p:sp>
      <p:sp>
        <p:nvSpPr>
          <p:cNvPr id="6" name="">
            <a:extLst xmlns:a="http://schemas.openxmlformats.org/drawingml/2006/main">
              <a:ext uri="{FF2B5EF4-FFF2-40B4-BE49-F238E27FC236}">
                <a16:creationId xmlns:a16="http://schemas.microsoft.com/office/drawing/2014/main" id="{205BF176-EA48-4102-ACC7-F26FD0FA7537}"/>
              </a:ext>
            </a:extLst>
          </p:cNvPr>
          <p:cNvSpPr>
            <a:spLocks xmlns:a="http://schemas.openxmlformats.org/drawingml/2006/main" noGrp="1"/>
          </p:cNvSpPr>
          <p:nvPr/>
        </p:nvSpPr>
        <p:spPr>
          <a:xfrm xmlns:a="http://schemas.openxmlformats.org/drawingml/2006/main">
            <a:off x="571500" y="44767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defRPr sz="2100" b="0">
                <a:solidFill>
                  <a:srgbClr val="202D39"/>
                </a:solidFill>
                <a:latin typeface="Arial"/>
                <a:ea typeface="Arial"/>
                <a:cs typeface="Arial"/>
              </a:defRPr>
            </a:pPr>
            <a:r>
              <a:rPr sz="2100" b="0">
                <a:solidFill>
                  <a:srgbClr val="202D39"/>
                </a:solidFill>
                <a:latin typeface="Arial"/>
                <a:ea typeface="Arial"/>
                <a:cs typeface="Arial"/>
              </a:rPr>
              <a:t>Năm nhóm còn lại biểu diễn nguyên nhân trễ chi phối.</a:t>
            </a:r>
          </a:p>
        </p:txBody>
      </p:sp>
      <p:graphicFrame>
        <p:nvGraphicFramePr>
          <p:cNvPr id="7" name="Chart">
            <a:extLst xmlns:a="http://schemas.openxmlformats.org/drawingml/2006/main">
              <a:ext uri="{FF2B5EF4-FFF2-40B4-BE49-F238E27FC236}">
                <a16:creationId xmlns:a16="http://schemas.microsoft.com/office/drawing/2014/main" id="{B13BB3CA-156F-4543-BBD8-1773FCEB8383}"/>
              </a:ext>
            </a:extLst>
          </p:cNvPr>
          <p:cNvGraphicFramePr/>
          <p:nvPr/>
        </p:nvGraphicFramePr>
        <p:xfrm>
          <a:off xmlns:a="http://schemas.openxmlformats.org/drawingml/2006/main" x="5095875" y="2114550"/>
          <a:ext xmlns:a="http://schemas.openxmlformats.org/drawingml/2006/main" cx="6572250" cy="3714750"/>
        </p:xfrm>
        <a:graphic xmlns:a="http://schemas.openxmlformats.org/drawingml/2006/main">
          <a:graphicData uri="http://schemas.openxmlformats.org/drawingml/2006/chart">
            <c:chart xmlns:r="http://schemas.openxmlformats.org/officeDocument/2006/relationships" xmlns:c="http://schemas.openxmlformats.org/drawingml/2006/chart" r:id="R4ef20f7abf4142e8"/>
          </a:graphicData>
        </a:graphic>
      </p:graphicFrame>
      <p:sp>
        <p:nvSpPr>
          <p:cNvPr id="8" name="">
            <a:extLst xmlns:a="http://schemas.openxmlformats.org/drawingml/2006/main">
              <a:ext uri="{FF2B5EF4-FFF2-40B4-BE49-F238E27FC236}">
                <a16:creationId xmlns:a16="http://schemas.microsoft.com/office/drawing/2014/main" id="{A9B5A711-772D-4D72-9AE7-9F7E9DFA0F72}"/>
              </a:ext>
            </a:extLst>
          </p:cNvPr>
          <p:cNvSpPr>
            <a:spLocks xmlns:a="http://schemas.openxmlformats.org/drawingml/2006/main" noGrp="1"/>
          </p:cNvSpPr>
          <p:nvPr/>
        </p:nvSpPr>
        <p:spPr>
          <a:xfrm xmlns:a="http://schemas.openxmlformats.org/drawingml/2006/main">
            <a:off x="5715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86675"/>
                </a:solidFill>
                <a:latin typeface="Arial"/>
                <a:ea typeface="Arial"/>
                <a:cs typeface="Arial"/>
              </a:defRPr>
            </a:defPPr>
          </a:lstStyle>
          <a:p xmlns:a="http://schemas.openxmlformats.org/drawingml/2006/main">
            <a:pPr>
              <a:defRPr sz="1500" b="0">
                <a:solidFill>
                  <a:srgbClr val="586675"/>
                </a:solidFill>
                <a:latin typeface="Arial"/>
                <a:ea typeface="Arial"/>
                <a:cs typeface="Arial"/>
              </a:defRPr>
            </a:pPr>
            <a:r>
              <a:rPr sz="1500" b="0">
                <a:solidFill>
                  <a:srgbClr val="586675"/>
                </a:solidFill>
                <a:latin typeface="Arial"/>
                <a:ea typeface="Arial"/>
                <a:cs typeface="Arial"/>
              </a:rPr>
              <a:t>Carrier: hãng bay   Weather: thời tiết   NAS: hệ thống không phận</a:t>
            </a:r>
          </a:p>
          <a:p xmlns:a="http://schemas.openxmlformats.org/drawingml/2006/main">
            <a:pPr>
              <a:defRPr sz="1500" b="0">
                <a:solidFill>
                  <a:srgbClr val="586675"/>
                </a:solidFill>
                <a:latin typeface="Arial"/>
                <a:ea typeface="Arial"/>
                <a:cs typeface="Arial"/>
              </a:defRPr>
            </a:pPr>
            <a:r>
              <a:rPr sz="1500" b="0">
                <a:solidFill>
                  <a:srgbClr val="586675"/>
                </a:solidFill>
                <a:latin typeface="Arial"/>
                <a:ea typeface="Arial"/>
                <a:cs typeface="Arial"/>
              </a:rPr>
              <a:t>Security: an ninh   LateAircraft: máy bay đến muộn</a:t>
            </a:r>
          </a:p>
        </p:txBody>
      </p:sp>
    </p:spTree>
    <p:extLst>
      <p:ext uri="{BB962C8B-B14F-4D97-AF65-F5344CB8AC3E}">
        <p14:creationId xmlns:p14="http://schemas.microsoft.com/office/powerpoint/2010/main" val="25289958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013B638A-357B-4505-9B10-387796C72E0A}"/>
              </a:ext>
            </a:extLst>
          </p:cNvPr>
          <p:cNvCxnSpPr>
            <a:stCxn xmlns:a="http://schemas.openxmlformats.org/drawingml/2006/main" id="7" idx="2"/>
            <a:endCxn xmlns:a="http://schemas.openxmlformats.org/drawingml/2006/main" id="9" idx="0"/>
          </p:cNvCxnSpPr>
          <p:nvPr/>
        </p:nvCxnSpPr>
        <p:spPr>
          <a:xfrm xmlns:a="http://schemas.openxmlformats.org/drawingml/2006/main">
            <a:off x="3810000" y="4686300"/>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8" name="">
            <a:extLst xmlns:a="http://schemas.openxmlformats.org/drawingml/2006/main">
              <a:ext uri="{FF2B5EF4-FFF2-40B4-BE49-F238E27FC236}">
                <a16:creationId xmlns:a16="http://schemas.microsoft.com/office/drawing/2014/main" id="{8705AAE7-DD18-40C2-8447-051C714D4A5A}"/>
              </a:ext>
            </a:extLst>
          </p:cNvPr>
          <p:cNvCxnSpPr>
            <a:stCxn xmlns:a="http://schemas.openxmlformats.org/drawingml/2006/main" id="5" idx="2"/>
            <a:endCxn xmlns:a="http://schemas.openxmlformats.org/drawingml/2006/main" id="7" idx="0"/>
          </p:cNvCxnSpPr>
          <p:nvPr/>
        </p:nvCxnSpPr>
        <p:spPr>
          <a:xfrm xmlns:a="http://schemas.openxmlformats.org/drawingml/2006/main">
            <a:off x="3810000" y="378142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6" name="">
            <a:extLst xmlns:a="http://schemas.openxmlformats.org/drawingml/2006/main">
              <a:ext uri="{FF2B5EF4-FFF2-40B4-BE49-F238E27FC236}">
                <a16:creationId xmlns:a16="http://schemas.microsoft.com/office/drawing/2014/main" id="{11834394-128A-4A88-965A-2C9B9CBB4D3C}"/>
              </a:ext>
            </a:extLst>
          </p:cNvPr>
          <p:cNvCxnSpPr>
            <a:stCxn xmlns:a="http://schemas.openxmlformats.org/drawingml/2006/main" id="4" idx="2"/>
            <a:endCxn xmlns:a="http://schemas.openxmlformats.org/drawingml/2006/main" id="5" idx="0"/>
          </p:cNvCxnSpPr>
          <p:nvPr/>
        </p:nvCxnSpPr>
        <p:spPr>
          <a:xfrm xmlns:a="http://schemas.openxmlformats.org/drawingml/2006/main">
            <a:off x="3810000" y="2876550"/>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15" name="">
            <a:extLst xmlns:a="http://schemas.openxmlformats.org/drawingml/2006/main">
              <a:ext uri="{FF2B5EF4-FFF2-40B4-BE49-F238E27FC236}">
                <a16:creationId xmlns:a16="http://schemas.microsoft.com/office/drawing/2014/main" id="{947B469E-3549-4B28-B383-4FE39350D20D}"/>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Tiền xử lý dữ liệu</a:t>
            </a:r>
          </a:p>
        </p:txBody>
      </p:sp>
      <p:sp>
        <p:nvSpPr>
          <p:cNvPr id="2" name="">
            <a:extLst xmlns:a="http://schemas.openxmlformats.org/drawingml/2006/main">
              <a:ext uri="{FF2B5EF4-FFF2-40B4-BE49-F238E27FC236}">
                <a16:creationId xmlns:a16="http://schemas.microsoft.com/office/drawing/2014/main" id="{C77275DB-3396-4599-BDE5-A951E8B8A862}"/>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Sau làm sạch, còn 6.965.267 bản ghi để phân tích và huấn luyện</a:t>
            </a:r>
          </a:p>
        </p:txBody>
      </p:sp>
      <p:sp>
        <p:nvSpPr>
          <p:cNvPr id="3" name="">
            <a:extLst xmlns:a="http://schemas.openxmlformats.org/drawingml/2006/main">
              <a:ext uri="{FF2B5EF4-FFF2-40B4-BE49-F238E27FC236}">
                <a16:creationId xmlns:a16="http://schemas.microsoft.com/office/drawing/2014/main" id="{2664ED61-BF6F-4CFA-BAC6-96D89DCB79D1}"/>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54C72833-0012-49AD-A1F9-DEAF3A3F2D22}"/>
              </a:ext>
            </a:extLst>
          </p:cNvPr>
          <p:cNvSpPr>
            <a:spLocks xmlns:a="http://schemas.openxmlformats.org/drawingml/2006/main" noGrp="1"/>
          </p:cNvSpPr>
          <p:nvPr/>
        </p:nvSpPr>
        <p:spPr>
          <a:xfrm xmlns:a="http://schemas.openxmlformats.org/drawingml/2006/main">
            <a:off x="619125" y="2247900"/>
            <a:ext cx="6381750"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Dữ liệu gốc: 7.079.081 bản ghi</a:t>
            </a:r>
          </a:p>
        </p:txBody>
      </p:sp>
      <p:sp>
        <p:nvSpPr>
          <p:cNvPr id="5" name="">
            <a:extLst xmlns:a="http://schemas.openxmlformats.org/drawingml/2006/main">
              <a:ext uri="{FF2B5EF4-FFF2-40B4-BE49-F238E27FC236}">
                <a16:creationId xmlns:a16="http://schemas.microsoft.com/office/drawing/2014/main" id="{4DBCD1FD-3933-49D8-928F-EAC374DAA545}"/>
              </a:ext>
            </a:extLst>
          </p:cNvPr>
          <p:cNvSpPr>
            <a:spLocks xmlns:a="http://schemas.openxmlformats.org/drawingml/2006/main" noGrp="1"/>
          </p:cNvSpPr>
          <p:nvPr/>
        </p:nvSpPr>
        <p:spPr>
          <a:xfrm xmlns:a="http://schemas.openxmlformats.org/drawingml/2006/main">
            <a:off x="619125" y="3152775"/>
            <a:ext cx="6381750"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Loại 113.814 bản ghi</a:t>
            </a:r>
          </a:p>
        </p:txBody>
      </p:sp>
      <p:sp>
        <p:nvSpPr>
          <p:cNvPr id="7" name="">
            <a:extLst xmlns:a="http://schemas.openxmlformats.org/drawingml/2006/main">
              <a:ext uri="{FF2B5EF4-FFF2-40B4-BE49-F238E27FC236}">
                <a16:creationId xmlns:a16="http://schemas.microsoft.com/office/drawing/2014/main" id="{7412B963-40AE-4AB0-B977-8465467EF187}"/>
              </a:ext>
            </a:extLst>
          </p:cNvPr>
          <p:cNvSpPr>
            <a:spLocks xmlns:a="http://schemas.openxmlformats.org/drawingml/2006/main" noGrp="1"/>
          </p:cNvSpPr>
          <p:nvPr/>
        </p:nvSpPr>
        <p:spPr>
          <a:xfrm xmlns:a="http://schemas.openxmlformats.org/drawingml/2006/main">
            <a:off x="619125" y="4057650"/>
            <a:ext cx="6381750"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Xác định nhãn và đặc trưng</a:t>
            </a:r>
          </a:p>
        </p:txBody>
      </p:sp>
      <p:sp>
        <p:nvSpPr>
          <p:cNvPr id="9" name="">
            <a:extLst xmlns:a="http://schemas.openxmlformats.org/drawingml/2006/main">
              <a:ext uri="{FF2B5EF4-FFF2-40B4-BE49-F238E27FC236}">
                <a16:creationId xmlns:a16="http://schemas.microsoft.com/office/drawing/2014/main" id="{2C57DF23-9728-47F3-BBBC-5B403F1A33DF}"/>
              </a:ext>
            </a:extLst>
          </p:cNvPr>
          <p:cNvSpPr>
            <a:spLocks xmlns:a="http://schemas.openxmlformats.org/drawingml/2006/main" noGrp="1"/>
          </p:cNvSpPr>
          <p:nvPr/>
        </p:nvSpPr>
        <p:spPr>
          <a:xfrm xmlns:a="http://schemas.openxmlformats.org/drawingml/2006/main">
            <a:off x="619125" y="4962525"/>
            <a:ext cx="6381750"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Lưu Parquet: 140,57 MB</a:t>
            </a:r>
          </a:p>
        </p:txBody>
      </p:sp>
      <p:sp>
        <p:nvSpPr>
          <p:cNvPr id="11" name="">
            <a:extLst xmlns:a="http://schemas.openxmlformats.org/drawingml/2006/main">
              <a:ext uri="{FF2B5EF4-FFF2-40B4-BE49-F238E27FC236}">
                <a16:creationId xmlns:a16="http://schemas.microsoft.com/office/drawing/2014/main" id="{292E4A98-562A-4C09-AFAB-C01DB0970C09}"/>
              </a:ext>
            </a:extLst>
          </p:cNvPr>
          <p:cNvSpPr>
            <a:spLocks xmlns:a="http://schemas.openxmlformats.org/drawingml/2006/main" noGrp="1"/>
          </p:cNvSpPr>
          <p:nvPr/>
        </p:nvSpPr>
        <p:spPr>
          <a:xfrm xmlns:a="http://schemas.openxmlformats.org/drawingml/2006/main">
            <a:off x="7620000" y="23336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113.814 bản ghi bị loại trong bước làm sạch.</a:t>
            </a:r>
          </a:p>
        </p:txBody>
      </p:sp>
      <p:sp>
        <p:nvSpPr>
          <p:cNvPr id="12" name="">
            <a:extLst xmlns:a="http://schemas.openxmlformats.org/drawingml/2006/main">
              <a:ext uri="{FF2B5EF4-FFF2-40B4-BE49-F238E27FC236}">
                <a16:creationId xmlns:a16="http://schemas.microsoft.com/office/drawing/2014/main" id="{2096BB4F-A300-4BA1-A7D6-085823E05C5B}"/>
              </a:ext>
            </a:extLst>
          </p:cNvPr>
          <p:cNvSpPr>
            <a:spLocks xmlns:a="http://schemas.openxmlformats.org/drawingml/2006/main" noGrp="1"/>
          </p:cNvSpPr>
          <p:nvPr/>
        </p:nvSpPr>
        <p:spPr>
          <a:xfrm xmlns:a="http://schemas.openxmlformats.org/drawingml/2006/main">
            <a:off x="7620000" y="34004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Dữ liệu sạch được gắn nhãn và chuẩn bị đặc trưng đầu vào.</a:t>
            </a:r>
          </a:p>
        </p:txBody>
      </p:sp>
      <p:sp>
        <p:nvSpPr>
          <p:cNvPr id="13" name="">
            <a:extLst xmlns:a="http://schemas.openxmlformats.org/drawingml/2006/main">
              <a:ext uri="{FF2B5EF4-FFF2-40B4-BE49-F238E27FC236}">
                <a16:creationId xmlns:a16="http://schemas.microsoft.com/office/drawing/2014/main" id="{65F5EC73-0F93-4375-BDA2-1BDF79E5C67C}"/>
              </a:ext>
            </a:extLst>
          </p:cNvPr>
          <p:cNvSpPr>
            <a:spLocks xmlns:a="http://schemas.openxmlformats.org/drawingml/2006/main" noGrp="1"/>
          </p:cNvSpPr>
          <p:nvPr/>
        </p:nvSpPr>
        <p:spPr>
          <a:xfrm xmlns:a="http://schemas.openxmlformats.org/drawingml/2006/main">
            <a:off x="7620000" y="44672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Parquet giúp tái sử dụng dữ liệu khi huấn luyện.</a:t>
            </a:r>
          </a:p>
        </p:txBody>
      </p:sp>
      <p:sp>
        <p:nvSpPr>
          <p:cNvPr id="14" name="">
            <a:extLst xmlns:a="http://schemas.openxmlformats.org/drawingml/2006/main">
              <a:ext uri="{FF2B5EF4-FFF2-40B4-BE49-F238E27FC236}">
                <a16:creationId xmlns:a16="http://schemas.microsoft.com/office/drawing/2014/main" id="{3842D1DA-3C33-4315-806F-F81C8AC825D5}"/>
              </a:ext>
            </a:extLst>
          </p:cNvPr>
          <p:cNvSpPr>
            <a:spLocks xmlns:a="http://schemas.openxmlformats.org/drawingml/2006/main" noGrp="1"/>
          </p:cNvSpPr>
          <p:nvPr/>
        </p:nvSpPr>
        <p:spPr>
          <a:xfrm xmlns:a="http://schemas.openxmlformats.org/drawingml/2006/main">
            <a:off x="523875" y="601027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86675"/>
                </a:solidFill>
                <a:latin typeface="Arial"/>
                <a:ea typeface="Arial"/>
                <a:cs typeface="Arial"/>
              </a:defRPr>
            </a:defPPr>
          </a:lstStyle>
          <a:p xmlns:a="http://schemas.openxmlformats.org/drawingml/2006/main">
            <a:pPr>
              <a:defRPr sz="1650" b="0">
                <a:solidFill>
                  <a:srgbClr val="586675"/>
                </a:solidFill>
                <a:latin typeface="Arial"/>
                <a:ea typeface="Arial"/>
                <a:cs typeface="Arial"/>
              </a:defRPr>
            </a:pPr>
            <a:r>
              <a:rPr sz="1650" b="0">
                <a:solidFill>
                  <a:srgbClr val="586675"/>
                </a:solidFill>
                <a:latin typeface="Arial"/>
                <a:ea typeface="Arial"/>
                <a:cs typeface="Arial"/>
              </a:rPr>
              <a:t>Tiêu chí loại bản ghi và quy tắc điền thiếu còn cần xác minh từ mã ETL.</a:t>
            </a:r>
          </a:p>
        </p:txBody>
      </p:sp>
    </p:spTree>
    <p:extLst>
      <p:ext uri="{BB962C8B-B14F-4D97-AF65-F5344CB8AC3E}">
        <p14:creationId xmlns:p14="http://schemas.microsoft.com/office/powerpoint/2010/main" val="9872316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165662-DF3A-4F82-AD8D-260736116DCA}"/>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Nhãn và đặc trưng đầu vào</a:t>
            </a:r>
          </a:p>
        </p:txBody>
      </p:sp>
      <p:sp>
        <p:nvSpPr>
          <p:cNvPr id="2" name="">
            <a:extLst xmlns:a="http://schemas.openxmlformats.org/drawingml/2006/main">
              <a:ext uri="{FF2B5EF4-FFF2-40B4-BE49-F238E27FC236}">
                <a16:creationId xmlns:a16="http://schemas.microsoft.com/office/drawing/2014/main" id="{D3FF4319-9609-4543-982E-1E46ED41D437}"/>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Nhãn là mục tiêu dự đoán, đặc trưng là thông tin mô hình sử dụng</a:t>
            </a:r>
          </a:p>
        </p:txBody>
      </p:sp>
      <p:sp>
        <p:nvSpPr>
          <p:cNvPr id="3" name="">
            <a:extLst xmlns:a="http://schemas.openxmlformats.org/drawingml/2006/main">
              <a:ext uri="{FF2B5EF4-FFF2-40B4-BE49-F238E27FC236}">
                <a16:creationId xmlns:a16="http://schemas.microsoft.com/office/drawing/2014/main" id="{ABEFF8EA-9587-47E8-9AB9-CDF1D1BB509B}"/>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FDA2AEF0-1269-4871-BA14-6B4E4E861D7D}"/>
              </a:ext>
            </a:extLst>
          </p:cNvPr>
          <p:cNvSpPr>
            <a:spLocks xmlns:a="http://schemas.openxmlformats.org/drawingml/2006/main" noGrp="1"/>
          </p:cNvSpPr>
          <p:nvPr/>
        </p:nvSpPr>
        <p:spPr>
          <a:xfrm xmlns:a="http://schemas.openxmlformats.org/drawingml/2006/main">
            <a:off x="571500" y="22383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Mục tiêu gồm OnTime và năm nguyên nhân trễ.</a:t>
            </a:r>
          </a:p>
        </p:txBody>
      </p:sp>
      <p:sp>
        <p:nvSpPr>
          <p:cNvPr id="5" name="">
            <a:extLst xmlns:a="http://schemas.openxmlformats.org/drawingml/2006/main">
              <a:ext uri="{FF2B5EF4-FFF2-40B4-BE49-F238E27FC236}">
                <a16:creationId xmlns:a16="http://schemas.microsoft.com/office/drawing/2014/main" id="{7C9C152F-91C8-47B3-A4D1-E891F6F18E8B}"/>
              </a:ext>
            </a:extLst>
          </p:cNvPr>
          <p:cNvSpPr>
            <a:spLocks xmlns:a="http://schemas.openxmlformats.org/drawingml/2006/main" noGrp="1"/>
          </p:cNvSpPr>
          <p:nvPr/>
        </p:nvSpPr>
        <p:spPr>
          <a:xfrm xmlns:a="http://schemas.openxmlformats.org/drawingml/2006/main">
            <a:off x="571500" y="33051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Với chuyến trễ, báo cáo dùng nguyên nhân chi phối.</a:t>
            </a:r>
          </a:p>
        </p:txBody>
      </p:sp>
      <p:sp>
        <p:nvSpPr>
          <p:cNvPr id="6" name="">
            <a:extLst xmlns:a="http://schemas.openxmlformats.org/drawingml/2006/main">
              <a:ext uri="{FF2B5EF4-FFF2-40B4-BE49-F238E27FC236}">
                <a16:creationId xmlns:a16="http://schemas.microsoft.com/office/drawing/2014/main" id="{766AA6EB-DBF0-486E-A992-7A959E7A68AF}"/>
              </a:ext>
            </a:extLst>
          </p:cNvPr>
          <p:cNvSpPr>
            <a:spLocks xmlns:a="http://schemas.openxmlformats.org/drawingml/2006/main" noGrp="1"/>
          </p:cNvSpPr>
          <p:nvPr/>
        </p:nvSpPr>
        <p:spPr>
          <a:xfrm xmlns:a="http://schemas.openxmlformats.org/drawingml/2006/main">
            <a:off x="571500" y="43719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Các đặc trưng đã xuất hiện trong kết quả gồm lịch bay, giờ bay và hãng bay.</a:t>
            </a:r>
          </a:p>
        </p:txBody>
      </p:sp>
      <p:graphicFrame>
        <p:nvGraphicFramePr>
          <p:cNvPr id="7" name="">
            <a:extLst xmlns:a="http://schemas.openxmlformats.org/drawingml/2006/main">
              <a:ext uri="{FF2B5EF4-FFF2-40B4-BE49-F238E27FC236}">
                <a16:creationId xmlns:a16="http://schemas.microsoft.com/office/drawing/2014/main" id="{967DD20A-5D26-4179-9424-3FCB2CC78C15}"/>
              </a:ext>
            </a:extLst>
          </p:cNvPr>
          <p:cNvGraphicFramePr/>
          <p:nvPr/>
        </p:nvGraphicFramePr>
        <p:xfrm>
          <a:off xmlns:a="http://schemas.openxmlformats.org/drawingml/2006/main" x="5095875" y="2238375"/>
          <a:ext xmlns:a="http://schemas.openxmlformats.org/drawingml/2006/main" cx="6524625" cy="3048000"/>
        </p:xfrm>
        <a:graphic xmlns:a="http://schemas.openxmlformats.org/drawingml/2006/main">
          <a:graphicData uri="http://schemas.openxmlformats.org/drawingml/2006/table">
            <a:tbl>
              <a:tblPr/>
              <a:tblGrid>
                <a:gridCol w="2095500"/>
                <a:gridCol w="4429125"/>
              </a:tblGrid>
              <a:tr h="762000">
                <a:tc>
                  <a:txBody>
                    <a:bodyPr/>
                    <a:lstStyle/>
                    <a:p>
                      <a:r>
                        <a:rPr sz="1725" b="1">
                          <a:solidFill>
                            <a:srgbClr val="FFFFFF"/>
                          </a:solidFill>
                          <a:latin typeface="Arial"/>
                          <a:ea typeface="Arial"/>
                          <a:cs typeface="Arial"/>
                        </a:rPr>
                        <a:t>Nhóm đặc trưng</a:t>
                      </a:r>
                    </a:p>
                  </a:txBody>
                  <a:tcPr marL="47625" marR="47625" marT="47625" marB="47625">
                    <a:solidFill>
                      <a:srgbClr val="2072B7"/>
                    </a:solidFill>
                  </a:tcPr>
                </a:tc>
                <a:tc>
                  <a:txBody>
                    <a:bodyPr/>
                    <a:lstStyle/>
                    <a:p>
                      <a:r>
                        <a:rPr sz="1725" b="1">
                          <a:solidFill>
                            <a:srgbClr val="FFFFFF"/>
                          </a:solidFill>
                          <a:latin typeface="Arial"/>
                          <a:ea typeface="Arial"/>
                          <a:cs typeface="Arial"/>
                        </a:rPr>
                        <a:t>Trường được ghi nhận</a:t>
                      </a:r>
                    </a:p>
                  </a:txBody>
                  <a:tcPr marL="47625" marR="47625" marT="47625" marB="47625">
                    <a:solidFill>
                      <a:srgbClr val="2072B7"/>
                    </a:solidFill>
                  </a:tcPr>
                </a:tc>
              </a:tr>
              <a:tr h="762000">
                <a:tc>
                  <a:txBody>
                    <a:bodyPr/>
                    <a:lstStyle/>
                    <a:p>
                      <a:r>
                        <a:rPr sz="1725" b="0">
                          <a:solidFill>
                            <a:srgbClr val="202D39"/>
                          </a:solidFill>
                          <a:latin typeface="Arial"/>
                          <a:ea typeface="Arial"/>
                          <a:cs typeface="Arial"/>
                        </a:rPr>
                        <a:t>Lịch bay</a:t>
                      </a:r>
                    </a:p>
                  </a:txBody>
                  <a:tcPr marL="47625" marR="47625" marT="47625" marB="47625">
                    <a:solidFill>
                      <a:srgbClr val="EDF5FB"/>
                    </a:solidFill>
                  </a:tcPr>
                </a:tc>
                <a:tc>
                  <a:txBody>
                    <a:bodyPr/>
                    <a:lstStyle/>
                    <a:p>
                      <a:r>
                        <a:rPr sz="1725" b="0">
                          <a:solidFill>
                            <a:srgbClr val="202D39"/>
                          </a:solidFill>
                          <a:latin typeface="Arial"/>
                          <a:ea typeface="Arial"/>
                          <a:cs typeface="Arial"/>
                        </a:rPr>
                        <a:t>month, day_of_month,</a:t>
                      </a:r>
                    </a:p>
                    <a:p>
                      <a:r>
                        <a:rPr sz="1725" b="0">
                          <a:solidFill>
                            <a:srgbClr val="202D39"/>
                          </a:solidFill>
                          <a:latin typeface="Arial"/>
                          <a:ea typeface="Arial"/>
                          <a:cs typeface="Arial"/>
                        </a:rPr>
                        <a:t>day_of_week</a:t>
                      </a:r>
                    </a:p>
                  </a:txBody>
                  <a:tcPr marL="47625" marR="47625" marT="47625" marB="47625">
                    <a:solidFill>
                      <a:srgbClr val="EDF5FB"/>
                    </a:solidFill>
                  </a:tcPr>
                </a:tc>
              </a:tr>
              <a:tr h="762000">
                <a:tc>
                  <a:txBody>
                    <a:bodyPr/>
                    <a:lstStyle/>
                    <a:p>
                      <a:r>
                        <a:rPr sz="1725" b="0">
                          <a:solidFill>
                            <a:srgbClr val="202D39"/>
                          </a:solidFill>
                          <a:latin typeface="Arial"/>
                          <a:ea typeface="Arial"/>
                          <a:cs typeface="Arial"/>
                        </a:rPr>
                        <a:t>Giờ bay</a:t>
                      </a:r>
                    </a:p>
                  </a:txBody>
                  <a:tcPr marL="47625" marR="47625" marT="47625" marB="47625">
                    <a:solidFill>
                      <a:srgbClr val="FFFFFF"/>
                    </a:solidFill>
                  </a:tcPr>
                </a:tc>
                <a:tc>
                  <a:txBody>
                    <a:bodyPr/>
                    <a:lstStyle/>
                    <a:p>
                      <a:r>
                        <a:rPr sz="1725" b="0">
                          <a:solidFill>
                            <a:srgbClr val="202D39"/>
                          </a:solidFill>
                          <a:latin typeface="Arial"/>
                          <a:ea typeface="Arial"/>
                          <a:cs typeface="Arial"/>
                        </a:rPr>
                        <a:t>dep_hour, arr_hour,</a:t>
                      </a:r>
                    </a:p>
                    <a:p>
                      <a:r>
                        <a:rPr sz="1725" b="0">
                          <a:solidFill>
                            <a:srgbClr val="202D39"/>
                          </a:solidFill>
                          <a:latin typeface="Arial"/>
                          <a:ea typeface="Arial"/>
                          <a:cs typeface="Arial"/>
                        </a:rPr>
                        <a:t>dep_min_of_day, arr_min_of_day</a:t>
                      </a:r>
                    </a:p>
                  </a:txBody>
                  <a:tcPr marL="47625" marR="47625" marT="47625" marB="47625">
                    <a:solidFill>
                      <a:srgbClr val="FFFFFF"/>
                    </a:solidFill>
                  </a:tcPr>
                </a:tc>
              </a:tr>
              <a:tr h="762000">
                <a:tc>
                  <a:txBody>
                    <a:bodyPr/>
                    <a:lstStyle/>
                    <a:p>
                      <a:r>
                        <a:rPr sz="1725" b="0">
                          <a:solidFill>
                            <a:srgbClr val="202D39"/>
                          </a:solidFill>
                          <a:latin typeface="Arial"/>
                          <a:ea typeface="Arial"/>
                          <a:cs typeface="Arial"/>
                        </a:rPr>
                        <a:t>Hãng và thời lượng</a:t>
                      </a:r>
                    </a:p>
                  </a:txBody>
                  <a:tcPr marL="47625" marR="47625" marT="47625" marB="47625">
                    <a:solidFill>
                      <a:srgbClr val="EDF5FB"/>
                    </a:solidFill>
                  </a:tcPr>
                </a:tc>
                <a:tc>
                  <a:txBody>
                    <a:bodyPr/>
                    <a:lstStyle/>
                    <a:p>
                      <a:r>
                        <a:rPr sz="1725" b="0">
                          <a:solidFill>
                            <a:srgbClr val="202D39"/>
                          </a:solidFill>
                          <a:latin typeface="Arial"/>
                          <a:ea typeface="Arial"/>
                          <a:cs typeface="Arial"/>
                        </a:rPr>
                        <a:t>op_unique_carrier,</a:t>
                      </a:r>
                    </a:p>
                    <a:p>
                      <a:r>
                        <a:rPr sz="1725" b="0">
                          <a:solidFill>
                            <a:srgbClr val="202D39"/>
                          </a:solidFill>
                          <a:latin typeface="Arial"/>
                          <a:ea typeface="Arial"/>
                          <a:cs typeface="Arial"/>
                        </a:rPr>
                        <a:t>crs_elapsed_time</a:t>
                      </a:r>
                    </a:p>
                  </a:txBody>
                  <a:tcPr marL="47625" marR="47625" marT="47625" marB="47625">
                    <a:solidFill>
                      <a:srgbClr val="EDF5FB"/>
                    </a:solidFill>
                  </a:tcPr>
                </a:tc>
              </a:tr>
            </a:tbl>
          </a:graphicData>
        </a:graphic>
      </p:graphicFrame>
      <p:sp>
        <p:nvSpPr>
          <p:cNvPr id="8" name="">
            <a:extLst xmlns:a="http://schemas.openxmlformats.org/drawingml/2006/main">
              <a:ext uri="{FF2B5EF4-FFF2-40B4-BE49-F238E27FC236}">
                <a16:creationId xmlns:a16="http://schemas.microsoft.com/office/drawing/2014/main" id="{96101AA5-8DDA-47B9-A934-FF2E1E854489}"/>
              </a:ext>
            </a:extLst>
          </p:cNvPr>
          <p:cNvSpPr>
            <a:spLocks xmlns:a="http://schemas.openxmlformats.org/drawingml/2006/main" noGrp="1"/>
          </p:cNvSpPr>
          <p:nvPr/>
        </p:nvSpPr>
        <p:spPr>
          <a:xfrm xmlns:a="http://schemas.openxmlformats.org/drawingml/2006/main">
            <a:off x="571500" y="59340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86675"/>
                </a:solidFill>
                <a:latin typeface="Arial"/>
                <a:ea typeface="Arial"/>
                <a:cs typeface="Arial"/>
              </a:defRPr>
            </a:defPPr>
          </a:lstStyle>
          <a:p xmlns:a="http://schemas.openxmlformats.org/drawingml/2006/main">
            <a:pPr>
              <a:defRPr sz="1650" b="0">
                <a:solidFill>
                  <a:srgbClr val="586675"/>
                </a:solidFill>
                <a:latin typeface="Arial"/>
                <a:ea typeface="Arial"/>
                <a:cs typeface="Arial"/>
              </a:defRPr>
            </a:pPr>
            <a:r>
              <a:rPr sz="1650" b="0">
                <a:solidFill>
                  <a:srgbClr val="586675"/>
                </a:solidFill>
                <a:latin typeface="Arial"/>
                <a:ea typeface="Arial"/>
                <a:cs typeface="Arial"/>
              </a:rPr>
              <a:t>Cách tạo trường, mã hóa và xử lý hòa nhãn chưa được lưu đầy đủ.</a:t>
            </a:r>
          </a:p>
        </p:txBody>
      </p:sp>
    </p:spTree>
    <p:extLst>
      <p:ext uri="{BB962C8B-B14F-4D97-AF65-F5344CB8AC3E}">
        <p14:creationId xmlns:p14="http://schemas.microsoft.com/office/powerpoint/2010/main" val="12977562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34BF53AC-48F3-45F1-A47E-9BB33DFFDE8A}"/>
              </a:ext>
            </a:extLst>
          </p:cNvPr>
          <p:cNvCxnSpPr>
            <a:stCxn xmlns:a="http://schemas.openxmlformats.org/drawingml/2006/main" id="6" idx="2"/>
            <a:endCxn xmlns:a="http://schemas.openxmlformats.org/drawingml/2006/main" id="7" idx="0"/>
          </p:cNvCxnSpPr>
          <p:nvPr/>
        </p:nvCxnSpPr>
        <p:spPr>
          <a:xfrm xmlns:a="http://schemas.openxmlformats.org/drawingml/2006/main" flipH="1">
            <a:off x="3810000" y="4381500"/>
            <a:ext cx="1762125" cy="809625"/>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10" name="">
            <a:extLst xmlns:a="http://schemas.openxmlformats.org/drawingml/2006/main">
              <a:ext uri="{FF2B5EF4-FFF2-40B4-BE49-F238E27FC236}">
                <a16:creationId xmlns:a16="http://schemas.microsoft.com/office/drawing/2014/main" id="{BEFC230B-5E9B-4770-8D7A-F55B053445B5}"/>
              </a:ext>
            </a:extLst>
          </p:cNvPr>
          <p:cNvCxnSpPr>
            <a:stCxn xmlns:a="http://schemas.openxmlformats.org/drawingml/2006/main" id="5" idx="2"/>
            <a:endCxn xmlns:a="http://schemas.openxmlformats.org/drawingml/2006/main" id="7" idx="0"/>
          </p:cNvCxnSpPr>
          <p:nvPr/>
        </p:nvCxnSpPr>
        <p:spPr>
          <a:xfrm xmlns:a="http://schemas.openxmlformats.org/drawingml/2006/main">
            <a:off x="2047875" y="4381500"/>
            <a:ext cx="1762125" cy="809625"/>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9" name="">
            <a:extLst xmlns:a="http://schemas.openxmlformats.org/drawingml/2006/main">
              <a:ext uri="{FF2B5EF4-FFF2-40B4-BE49-F238E27FC236}">
                <a16:creationId xmlns:a16="http://schemas.microsoft.com/office/drawing/2014/main" id="{3C504883-D6DD-4D39-BB37-329191764770}"/>
              </a:ext>
            </a:extLst>
          </p:cNvPr>
          <p:cNvCxnSpPr>
            <a:stCxn xmlns:a="http://schemas.openxmlformats.org/drawingml/2006/main" id="4" idx="2"/>
            <a:endCxn xmlns:a="http://schemas.openxmlformats.org/drawingml/2006/main" id="6" idx="0"/>
          </p:cNvCxnSpPr>
          <p:nvPr/>
        </p:nvCxnSpPr>
        <p:spPr>
          <a:xfrm xmlns:a="http://schemas.openxmlformats.org/drawingml/2006/main">
            <a:off x="3810000" y="2809875"/>
            <a:ext cx="1762125" cy="66675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8" name="">
            <a:extLst xmlns:a="http://schemas.openxmlformats.org/drawingml/2006/main">
              <a:ext uri="{FF2B5EF4-FFF2-40B4-BE49-F238E27FC236}">
                <a16:creationId xmlns:a16="http://schemas.microsoft.com/office/drawing/2014/main" id="{2512A106-A149-4F9F-AA73-17B078872F2F}"/>
              </a:ext>
            </a:extLst>
          </p:cNvPr>
          <p:cNvCxnSpPr>
            <a:stCxn xmlns:a="http://schemas.openxmlformats.org/drawingml/2006/main" id="4" idx="2"/>
            <a:endCxn xmlns:a="http://schemas.openxmlformats.org/drawingml/2006/main" id="5" idx="0"/>
          </p:cNvCxnSpPr>
          <p:nvPr/>
        </p:nvCxnSpPr>
        <p:spPr>
          <a:xfrm xmlns:a="http://schemas.openxmlformats.org/drawingml/2006/main" flipH="1">
            <a:off x="2047875" y="2809875"/>
            <a:ext cx="1762125" cy="66675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sp>
        <p:nvSpPr>
          <p:cNvPr id="15" name="">
            <a:extLst xmlns:a="http://schemas.openxmlformats.org/drawingml/2006/main">
              <a:ext uri="{FF2B5EF4-FFF2-40B4-BE49-F238E27FC236}">
                <a16:creationId xmlns:a16="http://schemas.microsoft.com/office/drawing/2014/main" id="{BAB150AD-E4B8-4E51-875E-EEEA5F3B8F28}"/>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Hai nhánh xây dựng mô hình</a:t>
            </a:r>
          </a:p>
        </p:txBody>
      </p:sp>
      <p:sp>
        <p:nvSpPr>
          <p:cNvPr id="2" name="">
            <a:extLst xmlns:a="http://schemas.openxmlformats.org/drawingml/2006/main">
              <a:ext uri="{FF2B5EF4-FFF2-40B4-BE49-F238E27FC236}">
                <a16:creationId xmlns:a16="http://schemas.microsoft.com/office/drawing/2014/main" id="{2505B4CB-B1ED-4272-85C2-E2446D0FB7D2}"/>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CPU và Spark cùng phục vụ đối sánh, với hai môi trường thực nghiệm</a:t>
            </a:r>
          </a:p>
        </p:txBody>
      </p:sp>
      <p:sp>
        <p:nvSpPr>
          <p:cNvPr id="3" name="">
            <a:extLst xmlns:a="http://schemas.openxmlformats.org/drawingml/2006/main">
              <a:ext uri="{FF2B5EF4-FFF2-40B4-BE49-F238E27FC236}">
                <a16:creationId xmlns:a16="http://schemas.microsoft.com/office/drawing/2014/main" id="{DF26693D-5E1D-460E-909B-0A793E257661}"/>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1C2BE49E-C912-4EAC-82C9-8EF1D1846FFF}"/>
              </a:ext>
            </a:extLst>
          </p:cNvPr>
          <p:cNvSpPr>
            <a:spLocks xmlns:a="http://schemas.openxmlformats.org/drawingml/2006/main" noGrp="1"/>
          </p:cNvSpPr>
          <p:nvPr/>
        </p:nvSpPr>
        <p:spPr>
          <a:xfrm xmlns:a="http://schemas.openxmlformats.org/drawingml/2006/main">
            <a:off x="523875" y="2238375"/>
            <a:ext cx="6572250" cy="5715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Dữ liệu sạch</a:t>
            </a:r>
          </a:p>
        </p:txBody>
      </p:sp>
      <p:sp>
        <p:nvSpPr>
          <p:cNvPr id="5" name="">
            <a:extLst xmlns:a="http://schemas.openxmlformats.org/drawingml/2006/main">
              <a:ext uri="{FF2B5EF4-FFF2-40B4-BE49-F238E27FC236}">
                <a16:creationId xmlns:a16="http://schemas.microsoft.com/office/drawing/2014/main" id="{C888AFEB-2B9A-4678-8513-8BB58B793F33}"/>
              </a:ext>
            </a:extLst>
          </p:cNvPr>
          <p:cNvSpPr>
            <a:spLocks xmlns:a="http://schemas.openxmlformats.org/drawingml/2006/main" noGrp="1"/>
          </p:cNvSpPr>
          <p:nvPr/>
        </p:nvSpPr>
        <p:spPr>
          <a:xfrm xmlns:a="http://schemas.openxmlformats.org/drawingml/2006/main">
            <a:off x="523875" y="3476625"/>
            <a:ext cx="3048000" cy="9048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CPU</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6 mô hình trên một máy</a:t>
            </a:r>
          </a:p>
        </p:txBody>
      </p:sp>
      <p:sp>
        <p:nvSpPr>
          <p:cNvPr id="6" name="">
            <a:extLst xmlns:a="http://schemas.openxmlformats.org/drawingml/2006/main">
              <a:ext uri="{FF2B5EF4-FFF2-40B4-BE49-F238E27FC236}">
                <a16:creationId xmlns:a16="http://schemas.microsoft.com/office/drawing/2014/main" id="{19D8A537-A043-4C42-9590-9E99D63C74D5}"/>
              </a:ext>
            </a:extLst>
          </p:cNvPr>
          <p:cNvSpPr>
            <a:spLocks xmlns:a="http://schemas.openxmlformats.org/drawingml/2006/main" noGrp="1"/>
          </p:cNvSpPr>
          <p:nvPr/>
        </p:nvSpPr>
        <p:spPr>
          <a:xfrm xmlns:a="http://schemas.openxmlformats.org/drawingml/2006/main">
            <a:off x="4048125" y="3476625"/>
            <a:ext cx="3048000" cy="9048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Spark MLlib</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3 mô hình thực đo</a:t>
            </a:r>
          </a:p>
        </p:txBody>
      </p:sp>
      <p:sp>
        <p:nvSpPr>
          <p:cNvPr id="7" name="">
            <a:extLst xmlns:a="http://schemas.openxmlformats.org/drawingml/2006/main">
              <a:ext uri="{FF2B5EF4-FFF2-40B4-BE49-F238E27FC236}">
                <a16:creationId xmlns:a16="http://schemas.microsoft.com/office/drawing/2014/main" id="{A5896EB9-9CDF-416A-9A47-3078040AB5E2}"/>
              </a:ext>
            </a:extLst>
          </p:cNvPr>
          <p:cNvSpPr>
            <a:spLocks xmlns:a="http://schemas.openxmlformats.org/drawingml/2006/main" noGrp="1"/>
          </p:cNvSpPr>
          <p:nvPr/>
        </p:nvSpPr>
        <p:spPr>
          <a:xfrm xmlns:a="http://schemas.openxmlformats.org/drawingml/2006/main">
            <a:off x="523875" y="5191125"/>
            <a:ext cx="6572250" cy="5715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Đánh giá và Web_Air</a:t>
            </a:r>
          </a:p>
        </p:txBody>
      </p:sp>
      <p:sp>
        <p:nvSpPr>
          <p:cNvPr id="12" name="">
            <a:extLst xmlns:a="http://schemas.openxmlformats.org/drawingml/2006/main">
              <a:ext uri="{FF2B5EF4-FFF2-40B4-BE49-F238E27FC236}">
                <a16:creationId xmlns:a16="http://schemas.microsoft.com/office/drawing/2014/main" id="{A5E4F328-6D6C-47C1-9061-58B8C5582967}"/>
              </a:ext>
            </a:extLst>
          </p:cNvPr>
          <p:cNvSpPr>
            <a:spLocks xmlns:a="http://schemas.openxmlformats.org/drawingml/2006/main" noGrp="1"/>
          </p:cNvSpPr>
          <p:nvPr/>
        </p:nvSpPr>
        <p:spPr>
          <a:xfrm xmlns:a="http://schemas.openxmlformats.org/drawingml/2006/main">
            <a:off x="7620000" y="22383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CPU: Logistic Regression, Decision Tree, Random Forest và ba mô hình boosting.</a:t>
            </a:r>
          </a:p>
        </p:txBody>
      </p:sp>
      <p:sp>
        <p:nvSpPr>
          <p:cNvPr id="13" name="">
            <a:extLst xmlns:a="http://schemas.openxmlformats.org/drawingml/2006/main">
              <a:ext uri="{FF2B5EF4-FFF2-40B4-BE49-F238E27FC236}">
                <a16:creationId xmlns:a16="http://schemas.microsoft.com/office/drawing/2014/main" id="{0BB22FEF-4A3B-4BE7-9CC0-C3472367B75D}"/>
              </a:ext>
            </a:extLst>
          </p:cNvPr>
          <p:cNvSpPr>
            <a:spLocks xmlns:a="http://schemas.openxmlformats.org/drawingml/2006/main" noGrp="1"/>
          </p:cNvSpPr>
          <p:nvPr/>
        </p:nvSpPr>
        <p:spPr>
          <a:xfrm xmlns:a="http://schemas.openxmlformats.org/drawingml/2006/main">
            <a:off x="7620000" y="33623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Spark: ba mô hình MLlib đã hoàn tất.</a:t>
            </a:r>
          </a:p>
        </p:txBody>
      </p:sp>
      <p:sp>
        <p:nvSpPr>
          <p:cNvPr id="14" name="">
            <a:extLst xmlns:a="http://schemas.openxmlformats.org/drawingml/2006/main">
              <a:ext uri="{FF2B5EF4-FFF2-40B4-BE49-F238E27FC236}">
                <a16:creationId xmlns:a16="http://schemas.microsoft.com/office/drawing/2014/main" id="{FBFC8022-4412-4BC3-B7D4-22F831135629}"/>
              </a:ext>
            </a:extLst>
          </p:cNvPr>
          <p:cNvSpPr>
            <a:spLocks xmlns:a="http://schemas.openxmlformats.org/drawingml/2006/main" noGrp="1"/>
          </p:cNvSpPr>
          <p:nvPr/>
        </p:nvSpPr>
        <p:spPr>
          <a:xfrm xmlns:a="http://schemas.openxmlformats.org/drawingml/2006/main">
            <a:off x="7620000" y="44862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Hai nhánh chưa xác nhận dùng cùng bản ghi test.</a:t>
            </a:r>
          </a:p>
        </p:txBody>
      </p:sp>
    </p:spTree>
    <p:extLst>
      <p:ext uri="{BB962C8B-B14F-4D97-AF65-F5344CB8AC3E}">
        <p14:creationId xmlns:p14="http://schemas.microsoft.com/office/powerpoint/2010/main" val="26146390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D161CD73-6B36-4FB8-8C7A-6C262A91E61D}"/>
              </a:ext>
            </a:extLst>
          </p:cNvPr>
          <p:cNvCxnSpPr>
            <a:stCxn xmlns:a="http://schemas.openxmlformats.org/drawingml/2006/main" id="7" idx="3"/>
            <a:endCxn xmlns:a="http://schemas.openxmlformats.org/drawingml/2006/main" id="9" idx="1"/>
          </p:cNvCxnSpPr>
          <p:nvPr/>
        </p:nvCxnSpPr>
        <p:spPr>
          <a:xfrm xmlns:a="http://schemas.openxmlformats.org/drawingml/2006/main">
            <a:off x="7762875" y="3643313"/>
            <a:ext cx="857250" cy="857250"/>
          </a:xfrm>
          <a:prstGeom xmlns:a="http://schemas.openxmlformats.org/drawingml/2006/main" prst="bentConnector3">
            <a:avLst>
              <a:gd name="adj1" fmla="val 50000"/>
            </a:avLst>
          </a:prstGeom>
          <a:ln xmlns:a="http://schemas.openxmlformats.org/drawingml/2006/main" w="19050">
            <a:solidFill>
              <a:srgbClr val="2072B7"/>
            </a:solidFill>
            <a:prstDash val="dash"/>
            <a:headEnd type="none" w="med" len="med"/>
            <a:tailEnd type="none" w="sm" len="sm"/>
          </a:ln>
        </p:spPr>
      </p:cxnSp>
      <p:cxnSp>
        <p:nvCxnSpPr>
          <p:cNvPr id="24" name="">
            <a:extLst xmlns:a="http://schemas.openxmlformats.org/drawingml/2006/main">
              <a:ext uri="{FF2B5EF4-FFF2-40B4-BE49-F238E27FC236}">
                <a16:creationId xmlns:a16="http://schemas.microsoft.com/office/drawing/2014/main" id="{6EEFD470-D761-46F0-B005-4D0C982F29CB}"/>
              </a:ext>
            </a:extLst>
          </p:cNvPr>
          <p:cNvCxnSpPr>
            <a:stCxn xmlns:a="http://schemas.openxmlformats.org/drawingml/2006/main" id="7" idx="3"/>
            <a:endCxn xmlns:a="http://schemas.openxmlformats.org/drawingml/2006/main" id="8" idx="1"/>
          </p:cNvCxnSpPr>
          <p:nvPr/>
        </p:nvCxnSpPr>
        <p:spPr>
          <a:xfrm xmlns:a="http://schemas.openxmlformats.org/drawingml/2006/main" flipV="1">
            <a:off x="7762875" y="2833688"/>
            <a:ext cx="857250" cy="809625"/>
          </a:xfrm>
          <a:prstGeom xmlns:a="http://schemas.openxmlformats.org/drawingml/2006/main" prst="bentConnector3">
            <a:avLst>
              <a:gd name="adj1" fmla="val 50000"/>
            </a:avLst>
          </a:prstGeom>
          <a:ln xmlns:a="http://schemas.openxmlformats.org/drawingml/2006/main" w="19050">
            <a:solidFill>
              <a:srgbClr val="2072B7"/>
            </a:solidFill>
            <a:prstDash val="dash"/>
            <a:headEnd type="none" w="med" len="med"/>
            <a:tailEnd type="none" w="sm" len="sm"/>
          </a:ln>
        </p:spPr>
      </p:cxnSp>
      <p:sp>
        <p:nvSpPr>
          <p:cNvPr id="28" name="">
            <a:extLst xmlns:a="http://schemas.openxmlformats.org/drawingml/2006/main">
              <a:ext uri="{FF2B5EF4-FFF2-40B4-BE49-F238E27FC236}">
                <a16:creationId xmlns:a16="http://schemas.microsoft.com/office/drawing/2014/main" id="{B17A35DE-7A5A-435F-A811-D2CCB012A146}"/>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Cụm ba máy qua Tailscale</a:t>
            </a:r>
          </a:p>
        </p:txBody>
      </p:sp>
      <p:sp>
        <p:nvSpPr>
          <p:cNvPr id="2" name="">
            <a:extLst xmlns:a="http://schemas.openxmlformats.org/drawingml/2006/main">
              <a:ext uri="{FF2B5EF4-FFF2-40B4-BE49-F238E27FC236}">
                <a16:creationId xmlns:a16="http://schemas.microsoft.com/office/drawing/2014/main" id="{259348A3-4C78-4FD7-A834-E9DECCF6FAF2}"/>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Master quản lý tài nguyên, Driver điều phối tác vụ của ứng dụng</a:t>
            </a:r>
          </a:p>
        </p:txBody>
      </p:sp>
      <p:sp>
        <p:nvSpPr>
          <p:cNvPr id="3" name="">
            <a:extLst xmlns:a="http://schemas.openxmlformats.org/drawingml/2006/main">
              <a:ext uri="{FF2B5EF4-FFF2-40B4-BE49-F238E27FC236}">
                <a16:creationId xmlns:a16="http://schemas.microsoft.com/office/drawing/2014/main" id="{3723732B-F5F4-4D1D-8EC2-0C0BB9A89AC6}"/>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65426498-278D-4503-BC95-3891E8C2F49F}"/>
              </a:ext>
            </a:extLst>
          </p:cNvPr>
          <p:cNvSpPr>
            <a:spLocks xmlns:a="http://schemas.openxmlformats.org/drawingml/2006/main" noGrp="1"/>
          </p:cNvSpPr>
          <p:nvPr/>
        </p:nvSpPr>
        <p:spPr>
          <a:xfrm xmlns:a="http://schemas.openxmlformats.org/drawingml/2006/main">
            <a:off x="571500" y="22383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Master cấp và quản lý tài nguyên trong cụm.</a:t>
            </a:r>
          </a:p>
        </p:txBody>
      </p:sp>
      <p:sp>
        <p:nvSpPr>
          <p:cNvPr id="5" name="">
            <a:extLst xmlns:a="http://schemas.openxmlformats.org/drawingml/2006/main">
              <a:ext uri="{FF2B5EF4-FFF2-40B4-BE49-F238E27FC236}">
                <a16:creationId xmlns:a16="http://schemas.microsoft.com/office/drawing/2014/main" id="{4E1D501B-6DC2-4F45-A5CB-9BAFD64F8746}"/>
              </a:ext>
            </a:extLst>
          </p:cNvPr>
          <p:cNvSpPr>
            <a:spLocks xmlns:a="http://schemas.openxmlformats.org/drawingml/2006/main" noGrp="1"/>
          </p:cNvSpPr>
          <p:nvPr/>
        </p:nvSpPr>
        <p:spPr>
          <a:xfrm xmlns:a="http://schemas.openxmlformats.org/drawingml/2006/main">
            <a:off x="571500" y="33337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Driver lập kế hoạch, gửi tác vụ và nhận kết quả.</a:t>
            </a:r>
          </a:p>
        </p:txBody>
      </p:sp>
      <p:sp>
        <p:nvSpPr>
          <p:cNvPr id="6" name="">
            <a:extLst xmlns:a="http://schemas.openxmlformats.org/drawingml/2006/main">
              <a:ext uri="{FF2B5EF4-FFF2-40B4-BE49-F238E27FC236}">
                <a16:creationId xmlns:a16="http://schemas.microsoft.com/office/drawing/2014/main" id="{558F6939-ECDE-4202-8CC9-FA5A5E2689ED}"/>
              </a:ext>
            </a:extLst>
          </p:cNvPr>
          <p:cNvSpPr>
            <a:spLocks xmlns:a="http://schemas.openxmlformats.org/drawingml/2006/main" noGrp="1"/>
          </p:cNvSpPr>
          <p:nvPr/>
        </p:nvSpPr>
        <p:spPr>
          <a:xfrm xmlns:a="http://schemas.openxmlformats.org/drawingml/2006/main">
            <a:off x="571500" y="44291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Executor trong Worker thực thi trên phân vùng dữ liệu.</a:t>
            </a:r>
          </a:p>
        </p:txBody>
      </p:sp>
      <p:sp>
        <p:nvSpPr>
          <p:cNvPr id="7" name="">
            <a:extLst xmlns:a="http://schemas.openxmlformats.org/drawingml/2006/main">
              <a:ext uri="{FF2B5EF4-FFF2-40B4-BE49-F238E27FC236}">
                <a16:creationId xmlns:a16="http://schemas.microsoft.com/office/drawing/2014/main" id="{D3AE9B6A-EF11-40F0-8D77-0A03CF76155C}"/>
              </a:ext>
            </a:extLst>
          </p:cNvPr>
          <p:cNvSpPr>
            <a:spLocks xmlns:a="http://schemas.openxmlformats.org/drawingml/2006/main" noGrp="1"/>
          </p:cNvSpPr>
          <p:nvPr/>
        </p:nvSpPr>
        <p:spPr>
          <a:xfrm xmlns:a="http://schemas.openxmlformats.org/drawingml/2006/main">
            <a:off x="5143500" y="2238375"/>
            <a:ext cx="2619375" cy="280987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800">
                <a:solidFill>
                  <a:srgbClr val="202D39"/>
                </a:solidFill>
                <a:latin typeface="Arial"/>
                <a:ea typeface="Arial"/>
                <a:cs typeface="Arial"/>
              </a:defRPr>
            </a:defPPr>
          </a:lstStyle>
          <a:p xmlns:a="http://schemas.openxmlformats.org/drawingml/2006/main">
            <a:r>
              <a:t/>
            </a:r>
          </a:p>
        </p:txBody>
      </p:sp>
      <p:sp>
        <p:nvSpPr>
          <p:cNvPr id="8" name="">
            <a:extLst xmlns:a="http://schemas.openxmlformats.org/drawingml/2006/main">
              <a:ext uri="{FF2B5EF4-FFF2-40B4-BE49-F238E27FC236}">
                <a16:creationId xmlns:a16="http://schemas.microsoft.com/office/drawing/2014/main" id="{61D62EA7-DAD8-474C-BB68-4416B760C411}"/>
              </a:ext>
            </a:extLst>
          </p:cNvPr>
          <p:cNvSpPr>
            <a:spLocks xmlns:a="http://schemas.openxmlformats.org/drawingml/2006/main" noGrp="1"/>
          </p:cNvSpPr>
          <p:nvPr/>
        </p:nvSpPr>
        <p:spPr>
          <a:xfrm xmlns:a="http://schemas.openxmlformats.org/drawingml/2006/main">
            <a:off x="8620125" y="2238375"/>
            <a:ext cx="2952750" cy="11906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800">
                <a:solidFill>
                  <a:srgbClr val="202D39"/>
                </a:solidFill>
                <a:latin typeface="Arial"/>
                <a:ea typeface="Arial"/>
                <a:cs typeface="Aria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EDC58B7D-E8D9-4B92-BDA5-D13F80576F46}"/>
              </a:ext>
            </a:extLst>
          </p:cNvPr>
          <p:cNvSpPr>
            <a:spLocks xmlns:a="http://schemas.openxmlformats.org/drawingml/2006/main" noGrp="1"/>
          </p:cNvSpPr>
          <p:nvPr/>
        </p:nvSpPr>
        <p:spPr>
          <a:xfrm xmlns:a="http://schemas.openxmlformats.org/drawingml/2006/main">
            <a:off x="8620125" y="3905250"/>
            <a:ext cx="2952750" cy="11906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800">
                <a:solidFill>
                  <a:srgbClr val="202D39"/>
                </a:solidFill>
                <a:latin typeface="Arial"/>
                <a:ea typeface="Arial"/>
                <a:cs typeface="Aria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99CCE52C-89A6-49F0-B3A8-FA6FA58BE189}"/>
              </a:ext>
            </a:extLst>
          </p:cNvPr>
          <p:cNvSpPr>
            <a:spLocks xmlns:a="http://schemas.openxmlformats.org/drawingml/2006/main" noGrp="1"/>
          </p:cNvSpPr>
          <p:nvPr/>
        </p:nvSpPr>
        <p:spPr>
          <a:xfrm xmlns:a="http://schemas.openxmlformats.org/drawingml/2006/main">
            <a:off x="5314950" y="23717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072B7"/>
                </a:solidFill>
                <a:latin typeface="Arial"/>
                <a:ea typeface="Arial"/>
                <a:cs typeface="Arial"/>
              </a:defRPr>
            </a:defPPr>
          </a:lstStyle>
          <a:p xmlns:a="http://schemas.openxmlformats.org/drawingml/2006/main">
            <a:pPr>
              <a:defRPr sz="1800" b="1">
                <a:solidFill>
                  <a:srgbClr val="2072B7"/>
                </a:solidFill>
                <a:latin typeface="Arial"/>
                <a:ea typeface="Arial"/>
                <a:cs typeface="Arial"/>
              </a:defRPr>
            </a:pPr>
            <a:r>
              <a:rPr sz="1800" b="1">
                <a:solidFill>
                  <a:srgbClr val="2072B7"/>
                </a:solidFill>
                <a:latin typeface="Arial"/>
                <a:ea typeface="Arial"/>
                <a:cs typeface="Arial"/>
              </a:rPr>
              <a:t>MÁY 1</a:t>
            </a:r>
          </a:p>
        </p:txBody>
      </p:sp>
      <p:sp>
        <p:nvSpPr>
          <p:cNvPr id="11" name="">
            <a:extLst xmlns:a="http://schemas.openxmlformats.org/drawingml/2006/main">
              <a:ext uri="{FF2B5EF4-FFF2-40B4-BE49-F238E27FC236}">
                <a16:creationId xmlns:a16="http://schemas.microsoft.com/office/drawing/2014/main" id="{12B3A6C3-6B6D-47B7-93E8-9323E3CAC303}"/>
              </a:ext>
            </a:extLst>
          </p:cNvPr>
          <p:cNvSpPr>
            <a:spLocks xmlns:a="http://schemas.openxmlformats.org/drawingml/2006/main" noGrp="1"/>
          </p:cNvSpPr>
          <p:nvPr/>
        </p:nvSpPr>
        <p:spPr>
          <a:xfrm xmlns:a="http://schemas.openxmlformats.org/drawingml/2006/main">
            <a:off x="5305425" y="2790825"/>
            <a:ext cx="2286000" cy="4476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650">
                <a:solidFill>
                  <a:srgbClr val="FFFFFF"/>
                </a:solidFill>
                <a:latin typeface="Arial"/>
                <a:ea typeface="Arial"/>
                <a:cs typeface="Arial"/>
              </a:defRPr>
            </a:defPPr>
          </a:lstStyle>
          <a:p xmlns:a="http://schemas.openxmlformats.org/drawingml/2006/main">
            <a:pPr algn="ctr">
              <a:defRPr sz="1650">
                <a:solidFill>
                  <a:srgbClr val="FFFFFF"/>
                </a:solidFill>
                <a:latin typeface="Arial"/>
                <a:ea typeface="Arial"/>
                <a:cs typeface="Arial"/>
              </a:defRPr>
            </a:pPr>
            <a:r>
              <a:rPr sz="1650">
                <a:solidFill>
                  <a:srgbClr val="FFFFFF"/>
                </a:solidFill>
                <a:latin typeface="Arial"/>
                <a:ea typeface="Arial"/>
                <a:cs typeface="Arial"/>
              </a:rPr>
              <a:t>Spark Master</a:t>
            </a:r>
          </a:p>
        </p:txBody>
      </p:sp>
      <p:sp>
        <p:nvSpPr>
          <p:cNvPr id="12" name="">
            <a:extLst xmlns:a="http://schemas.openxmlformats.org/drawingml/2006/main">
              <a:ext uri="{FF2B5EF4-FFF2-40B4-BE49-F238E27FC236}">
                <a16:creationId xmlns:a16="http://schemas.microsoft.com/office/drawing/2014/main" id="{5DFD4A17-90AB-41CB-9A48-EF80B0C354C4}"/>
              </a:ext>
            </a:extLst>
          </p:cNvPr>
          <p:cNvSpPr>
            <a:spLocks xmlns:a="http://schemas.openxmlformats.org/drawingml/2006/main" noGrp="1"/>
          </p:cNvSpPr>
          <p:nvPr/>
        </p:nvSpPr>
        <p:spPr>
          <a:xfrm xmlns:a="http://schemas.openxmlformats.org/drawingml/2006/main">
            <a:off x="5305425" y="3371850"/>
            <a:ext cx="2286000" cy="447675"/>
          </a:xfrm>
          <a:prstGeom xmlns:a="http://schemas.openxmlformats.org/drawingml/2006/main" prst="rect">
            <a:avLst/>
          </a:prstGeom>
          <a:solidFill xmlns:a="http://schemas.openxmlformats.org/drawingml/2006/main">
            <a:srgbClr val="174C7E"/>
          </a:solidFill>
          <a:ln xmlns:a="http://schemas.openxmlformats.org/drawingml/2006/main" w="9525">
            <a:solidFill>
              <a:srgbClr val="174C7E"/>
            </a:solidFill>
          </a:ln>
        </p:spPr>
        <p:txBody>
          <a:bodyPr xmlns:a="http://schemas.openxmlformats.org/drawingml/2006/main" lIns="95250" tIns="47625" rIns="95250" bIns="47625" anchor="ctr"/>
          <a:lstStyle xmlns:a="http://schemas.openxmlformats.org/drawingml/2006/main">
            <a:defPPr algn="ctr">
              <a:defRPr sz="1650">
                <a:solidFill>
                  <a:srgbClr val="FFFFFF"/>
                </a:solidFill>
                <a:latin typeface="Arial"/>
                <a:ea typeface="Arial"/>
                <a:cs typeface="Arial"/>
              </a:defRPr>
            </a:defPPr>
          </a:lstStyle>
          <a:p xmlns:a="http://schemas.openxmlformats.org/drawingml/2006/main">
            <a:pPr algn="ctr">
              <a:defRPr sz="1650">
                <a:solidFill>
                  <a:srgbClr val="FFFFFF"/>
                </a:solidFill>
                <a:latin typeface="Arial"/>
                <a:ea typeface="Arial"/>
                <a:cs typeface="Arial"/>
              </a:defRPr>
            </a:pPr>
            <a:r>
              <a:rPr sz="1650">
                <a:solidFill>
                  <a:srgbClr val="FFFFFF"/>
                </a:solidFill>
                <a:latin typeface="Arial"/>
                <a:ea typeface="Arial"/>
                <a:cs typeface="Arial"/>
              </a:rPr>
              <a:t>Driver</a:t>
            </a:r>
          </a:p>
        </p:txBody>
      </p:sp>
      <p:sp>
        <p:nvSpPr>
          <p:cNvPr id="13" name="">
            <a:extLst xmlns:a="http://schemas.openxmlformats.org/drawingml/2006/main">
              <a:ext uri="{FF2B5EF4-FFF2-40B4-BE49-F238E27FC236}">
                <a16:creationId xmlns:a16="http://schemas.microsoft.com/office/drawing/2014/main" id="{DC501A47-646B-4E8F-ACE7-34E77DF8B4FB}"/>
              </a:ext>
            </a:extLst>
          </p:cNvPr>
          <p:cNvSpPr>
            <a:spLocks xmlns:a="http://schemas.openxmlformats.org/drawingml/2006/main" noGrp="1"/>
          </p:cNvSpPr>
          <p:nvPr/>
        </p:nvSpPr>
        <p:spPr>
          <a:xfrm xmlns:a="http://schemas.openxmlformats.org/drawingml/2006/main">
            <a:off x="5305425" y="3952875"/>
            <a:ext cx="2286000" cy="895350"/>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r>
              <a:t/>
            </a:r>
          </a:p>
        </p:txBody>
      </p:sp>
      <p:sp>
        <p:nvSpPr>
          <p:cNvPr id="14" name="">
            <a:extLst xmlns:a="http://schemas.openxmlformats.org/drawingml/2006/main">
              <a:ext uri="{FF2B5EF4-FFF2-40B4-BE49-F238E27FC236}">
                <a16:creationId xmlns:a16="http://schemas.microsoft.com/office/drawing/2014/main" id="{D636C21C-3A78-458D-8621-A4580895CA2E}"/>
              </a:ext>
            </a:extLst>
          </p:cNvPr>
          <p:cNvSpPr>
            <a:spLocks xmlns:a="http://schemas.openxmlformats.org/drawingml/2006/main" noGrp="1"/>
          </p:cNvSpPr>
          <p:nvPr/>
        </p:nvSpPr>
        <p:spPr>
          <a:xfrm xmlns:a="http://schemas.openxmlformats.org/drawingml/2006/main">
            <a:off x="5448300" y="40290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072B7"/>
                </a:solidFill>
                <a:latin typeface="Arial"/>
                <a:ea typeface="Arial"/>
                <a:cs typeface="Arial"/>
              </a:defRPr>
            </a:defPPr>
          </a:lstStyle>
          <a:p xmlns:a="http://schemas.openxmlformats.org/drawingml/2006/main">
            <a:pPr>
              <a:defRPr sz="1650" b="1">
                <a:solidFill>
                  <a:srgbClr val="2072B7"/>
                </a:solidFill>
                <a:latin typeface="Arial"/>
                <a:ea typeface="Arial"/>
                <a:cs typeface="Arial"/>
              </a:defRPr>
            </a:pPr>
            <a:r>
              <a:rPr sz="1650" b="1">
                <a:solidFill>
                  <a:srgbClr val="2072B7"/>
                </a:solidFill>
                <a:latin typeface="Arial"/>
                <a:ea typeface="Arial"/>
                <a:cs typeface="Arial"/>
              </a:rPr>
              <a:t>Worker 1</a:t>
            </a:r>
          </a:p>
        </p:txBody>
      </p:sp>
      <p:sp>
        <p:nvSpPr>
          <p:cNvPr id="15" name="">
            <a:extLst xmlns:a="http://schemas.openxmlformats.org/drawingml/2006/main">
              <a:ext uri="{FF2B5EF4-FFF2-40B4-BE49-F238E27FC236}">
                <a16:creationId xmlns:a16="http://schemas.microsoft.com/office/drawing/2014/main" id="{301F48BE-1DC7-43DB-8317-E3ADF132184A}"/>
              </a:ext>
            </a:extLst>
          </p:cNvPr>
          <p:cNvSpPr>
            <a:spLocks xmlns:a="http://schemas.openxmlformats.org/drawingml/2006/main" noGrp="1"/>
          </p:cNvSpPr>
          <p:nvPr/>
        </p:nvSpPr>
        <p:spPr>
          <a:xfrm xmlns:a="http://schemas.openxmlformats.org/drawingml/2006/main">
            <a:off x="5448300" y="4362450"/>
            <a:ext cx="2000250" cy="3429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575">
                <a:solidFill>
                  <a:srgbClr val="FFFFFF"/>
                </a:solidFill>
                <a:latin typeface="Arial"/>
                <a:ea typeface="Arial"/>
                <a:cs typeface="Arial"/>
              </a:defRPr>
            </a:defPPr>
          </a:lstStyle>
          <a:p xmlns:a="http://schemas.openxmlformats.org/drawingml/2006/main">
            <a:pPr algn="ctr">
              <a:defRPr sz="1575">
                <a:solidFill>
                  <a:srgbClr val="FFFFFF"/>
                </a:solidFill>
                <a:latin typeface="Arial"/>
                <a:ea typeface="Arial"/>
                <a:cs typeface="Arial"/>
              </a:defRPr>
            </a:pPr>
            <a:r>
              <a:rPr sz="1575">
                <a:solidFill>
                  <a:srgbClr val="FFFFFF"/>
                </a:solidFill>
                <a:latin typeface="Arial"/>
                <a:ea typeface="Arial"/>
                <a:cs typeface="Arial"/>
              </a:rPr>
              <a:t>Executor</a:t>
            </a:r>
          </a:p>
        </p:txBody>
      </p:sp>
      <p:sp>
        <p:nvSpPr>
          <p:cNvPr id="16" name="">
            <a:extLst xmlns:a="http://schemas.openxmlformats.org/drawingml/2006/main">
              <a:ext uri="{FF2B5EF4-FFF2-40B4-BE49-F238E27FC236}">
                <a16:creationId xmlns:a16="http://schemas.microsoft.com/office/drawing/2014/main" id="{EB52A5F5-E5E7-43EB-8332-4C5E98F568D3}"/>
              </a:ext>
            </a:extLst>
          </p:cNvPr>
          <p:cNvSpPr>
            <a:spLocks xmlns:a="http://schemas.openxmlformats.org/drawingml/2006/main" noGrp="1"/>
          </p:cNvSpPr>
          <p:nvPr/>
        </p:nvSpPr>
        <p:spPr>
          <a:xfrm xmlns:a="http://schemas.openxmlformats.org/drawingml/2006/main">
            <a:off x="8782050" y="233362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2B7"/>
                </a:solidFill>
                <a:latin typeface="Arial"/>
                <a:ea typeface="Arial"/>
                <a:cs typeface="Arial"/>
              </a:defRPr>
            </a:defPPr>
          </a:lstStyle>
          <a:p xmlns:a="http://schemas.openxmlformats.org/drawingml/2006/main">
            <a:pPr>
              <a:defRPr sz="1725" b="1">
                <a:solidFill>
                  <a:srgbClr val="2072B7"/>
                </a:solidFill>
                <a:latin typeface="Arial"/>
                <a:ea typeface="Arial"/>
                <a:cs typeface="Arial"/>
              </a:defRPr>
            </a:pPr>
            <a:r>
              <a:rPr sz="1725" b="1">
                <a:solidFill>
                  <a:srgbClr val="2072B7"/>
                </a:solidFill>
                <a:latin typeface="Arial"/>
                <a:ea typeface="Arial"/>
                <a:cs typeface="Arial"/>
              </a:rPr>
              <a:t>MÁY 2</a:t>
            </a:r>
          </a:p>
        </p:txBody>
      </p:sp>
      <p:sp>
        <p:nvSpPr>
          <p:cNvPr id="17" name="">
            <a:extLst xmlns:a="http://schemas.openxmlformats.org/drawingml/2006/main">
              <a:ext uri="{FF2B5EF4-FFF2-40B4-BE49-F238E27FC236}">
                <a16:creationId xmlns:a16="http://schemas.microsoft.com/office/drawing/2014/main" id="{D2305457-347E-4F0C-9D3F-F13D0DDB783B}"/>
              </a:ext>
            </a:extLst>
          </p:cNvPr>
          <p:cNvSpPr>
            <a:spLocks xmlns:a="http://schemas.openxmlformats.org/drawingml/2006/main" noGrp="1"/>
          </p:cNvSpPr>
          <p:nvPr/>
        </p:nvSpPr>
        <p:spPr>
          <a:xfrm xmlns:a="http://schemas.openxmlformats.org/drawingml/2006/main">
            <a:off x="8782050" y="2647950"/>
            <a:ext cx="2628900" cy="6572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r>
              <a:t/>
            </a:r>
          </a:p>
        </p:txBody>
      </p:sp>
      <p:sp>
        <p:nvSpPr>
          <p:cNvPr id="18" name="">
            <a:extLst xmlns:a="http://schemas.openxmlformats.org/drawingml/2006/main">
              <a:ext uri="{FF2B5EF4-FFF2-40B4-BE49-F238E27FC236}">
                <a16:creationId xmlns:a16="http://schemas.microsoft.com/office/drawing/2014/main" id="{86923D07-7E66-4C9A-8C61-79B60039446B}"/>
              </a:ext>
            </a:extLst>
          </p:cNvPr>
          <p:cNvSpPr>
            <a:spLocks xmlns:a="http://schemas.openxmlformats.org/drawingml/2006/main" noGrp="1"/>
          </p:cNvSpPr>
          <p:nvPr/>
        </p:nvSpPr>
        <p:spPr>
          <a:xfrm xmlns:a="http://schemas.openxmlformats.org/drawingml/2006/main">
            <a:off x="8972550" y="267652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2072B7"/>
                </a:solidFill>
                <a:latin typeface="Arial"/>
                <a:ea typeface="Arial"/>
                <a:cs typeface="Arial"/>
              </a:defRPr>
            </a:defPPr>
          </a:lstStyle>
          <a:p xmlns:a="http://schemas.openxmlformats.org/drawingml/2006/main">
            <a:pPr>
              <a:defRPr sz="1575" b="1">
                <a:solidFill>
                  <a:srgbClr val="2072B7"/>
                </a:solidFill>
                <a:latin typeface="Arial"/>
                <a:ea typeface="Arial"/>
                <a:cs typeface="Arial"/>
              </a:defRPr>
            </a:pPr>
            <a:r>
              <a:rPr sz="1575" b="1">
                <a:solidFill>
                  <a:srgbClr val="2072B7"/>
                </a:solidFill>
                <a:latin typeface="Arial"/>
                <a:ea typeface="Arial"/>
                <a:cs typeface="Arial"/>
              </a:rPr>
              <a:t>Worker 2</a:t>
            </a:r>
          </a:p>
        </p:txBody>
      </p:sp>
      <p:sp>
        <p:nvSpPr>
          <p:cNvPr id="19" name="">
            <a:extLst xmlns:a="http://schemas.openxmlformats.org/drawingml/2006/main">
              <a:ext uri="{FF2B5EF4-FFF2-40B4-BE49-F238E27FC236}">
                <a16:creationId xmlns:a16="http://schemas.microsoft.com/office/drawing/2014/main" id="{9EDA942B-B634-46A2-8FCF-49A6A3FFDC1A}"/>
              </a:ext>
            </a:extLst>
          </p:cNvPr>
          <p:cNvSpPr>
            <a:spLocks xmlns:a="http://schemas.openxmlformats.org/drawingml/2006/main" noGrp="1"/>
          </p:cNvSpPr>
          <p:nvPr/>
        </p:nvSpPr>
        <p:spPr>
          <a:xfrm xmlns:a="http://schemas.openxmlformats.org/drawingml/2006/main">
            <a:off x="8972550" y="2962275"/>
            <a:ext cx="2247900" cy="2857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500">
                <a:solidFill>
                  <a:srgbClr val="FFFFFF"/>
                </a:solidFill>
                <a:latin typeface="Arial"/>
                <a:ea typeface="Arial"/>
                <a:cs typeface="Arial"/>
              </a:defRPr>
            </a:defPPr>
          </a:lstStyle>
          <a:p xmlns:a="http://schemas.openxmlformats.org/drawingml/2006/main">
            <a:pPr algn="ctr">
              <a:defRPr sz="1500">
                <a:solidFill>
                  <a:srgbClr val="FFFFFF"/>
                </a:solidFill>
                <a:latin typeface="Arial"/>
                <a:ea typeface="Arial"/>
                <a:cs typeface="Arial"/>
              </a:defRPr>
            </a:pPr>
            <a:r>
              <a:rPr sz="1500">
                <a:solidFill>
                  <a:srgbClr val="FFFFFF"/>
                </a:solidFill>
                <a:latin typeface="Arial"/>
                <a:ea typeface="Arial"/>
                <a:cs typeface="Arial"/>
              </a:rPr>
              <a:t>Executor</a:t>
            </a:r>
          </a:p>
        </p:txBody>
      </p:sp>
      <p:sp>
        <p:nvSpPr>
          <p:cNvPr id="20" name="">
            <a:extLst xmlns:a="http://schemas.openxmlformats.org/drawingml/2006/main">
              <a:ext uri="{FF2B5EF4-FFF2-40B4-BE49-F238E27FC236}">
                <a16:creationId xmlns:a16="http://schemas.microsoft.com/office/drawing/2014/main" id="{EDF204B1-6EE6-4D8E-80AA-CE8A27BB7216}"/>
              </a:ext>
            </a:extLst>
          </p:cNvPr>
          <p:cNvSpPr>
            <a:spLocks xmlns:a="http://schemas.openxmlformats.org/drawingml/2006/main" noGrp="1"/>
          </p:cNvSpPr>
          <p:nvPr/>
        </p:nvSpPr>
        <p:spPr>
          <a:xfrm xmlns:a="http://schemas.openxmlformats.org/drawingml/2006/main">
            <a:off x="8782050" y="40005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2B7"/>
                </a:solidFill>
                <a:latin typeface="Arial"/>
                <a:ea typeface="Arial"/>
                <a:cs typeface="Arial"/>
              </a:defRPr>
            </a:defPPr>
          </a:lstStyle>
          <a:p xmlns:a="http://schemas.openxmlformats.org/drawingml/2006/main">
            <a:pPr>
              <a:defRPr sz="1725" b="1">
                <a:solidFill>
                  <a:srgbClr val="2072B7"/>
                </a:solidFill>
                <a:latin typeface="Arial"/>
                <a:ea typeface="Arial"/>
                <a:cs typeface="Arial"/>
              </a:defRPr>
            </a:pPr>
            <a:r>
              <a:rPr sz="1725" b="1">
                <a:solidFill>
                  <a:srgbClr val="2072B7"/>
                </a:solidFill>
                <a:latin typeface="Arial"/>
                <a:ea typeface="Arial"/>
                <a:cs typeface="Arial"/>
              </a:rPr>
              <a:t>MÁY 3</a:t>
            </a:r>
          </a:p>
        </p:txBody>
      </p:sp>
      <p:sp>
        <p:nvSpPr>
          <p:cNvPr id="21" name="">
            <a:extLst xmlns:a="http://schemas.openxmlformats.org/drawingml/2006/main">
              <a:ext uri="{FF2B5EF4-FFF2-40B4-BE49-F238E27FC236}">
                <a16:creationId xmlns:a16="http://schemas.microsoft.com/office/drawing/2014/main" id="{14AF1BA2-9B55-4A62-B707-BDB51EDDF13F}"/>
              </a:ext>
            </a:extLst>
          </p:cNvPr>
          <p:cNvSpPr>
            <a:spLocks xmlns:a="http://schemas.openxmlformats.org/drawingml/2006/main" noGrp="1"/>
          </p:cNvSpPr>
          <p:nvPr/>
        </p:nvSpPr>
        <p:spPr>
          <a:xfrm xmlns:a="http://schemas.openxmlformats.org/drawingml/2006/main">
            <a:off x="8782050" y="4314825"/>
            <a:ext cx="2628900" cy="6572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r>
              <a:t/>
            </a:r>
          </a:p>
        </p:txBody>
      </p:sp>
      <p:sp>
        <p:nvSpPr>
          <p:cNvPr id="22" name="">
            <a:extLst xmlns:a="http://schemas.openxmlformats.org/drawingml/2006/main">
              <a:ext uri="{FF2B5EF4-FFF2-40B4-BE49-F238E27FC236}">
                <a16:creationId xmlns:a16="http://schemas.microsoft.com/office/drawing/2014/main" id="{1C42B156-5757-4412-A18C-9CBBD01F7264}"/>
              </a:ext>
            </a:extLst>
          </p:cNvPr>
          <p:cNvSpPr>
            <a:spLocks xmlns:a="http://schemas.openxmlformats.org/drawingml/2006/main" noGrp="1"/>
          </p:cNvSpPr>
          <p:nvPr/>
        </p:nvSpPr>
        <p:spPr>
          <a:xfrm xmlns:a="http://schemas.openxmlformats.org/drawingml/2006/main">
            <a:off x="8972550" y="4343400"/>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2072B7"/>
                </a:solidFill>
                <a:latin typeface="Arial"/>
                <a:ea typeface="Arial"/>
                <a:cs typeface="Arial"/>
              </a:defRPr>
            </a:defPPr>
          </a:lstStyle>
          <a:p xmlns:a="http://schemas.openxmlformats.org/drawingml/2006/main">
            <a:pPr>
              <a:defRPr sz="1575" b="1">
                <a:solidFill>
                  <a:srgbClr val="2072B7"/>
                </a:solidFill>
                <a:latin typeface="Arial"/>
                <a:ea typeface="Arial"/>
                <a:cs typeface="Arial"/>
              </a:defRPr>
            </a:pPr>
            <a:r>
              <a:rPr sz="1575" b="1">
                <a:solidFill>
                  <a:srgbClr val="2072B7"/>
                </a:solidFill>
                <a:latin typeface="Arial"/>
                <a:ea typeface="Arial"/>
                <a:cs typeface="Arial"/>
              </a:rPr>
              <a:t>Worker 3</a:t>
            </a:r>
          </a:p>
        </p:txBody>
      </p:sp>
      <p:sp>
        <p:nvSpPr>
          <p:cNvPr id="23" name="">
            <a:extLst xmlns:a="http://schemas.openxmlformats.org/drawingml/2006/main">
              <a:ext uri="{FF2B5EF4-FFF2-40B4-BE49-F238E27FC236}">
                <a16:creationId xmlns:a16="http://schemas.microsoft.com/office/drawing/2014/main" id="{480B3ED4-B576-4F0F-B17C-3CE734AA2DA2}"/>
              </a:ext>
            </a:extLst>
          </p:cNvPr>
          <p:cNvSpPr>
            <a:spLocks xmlns:a="http://schemas.openxmlformats.org/drawingml/2006/main" noGrp="1"/>
          </p:cNvSpPr>
          <p:nvPr/>
        </p:nvSpPr>
        <p:spPr>
          <a:xfrm xmlns:a="http://schemas.openxmlformats.org/drawingml/2006/main">
            <a:off x="8972550" y="4629150"/>
            <a:ext cx="2247900" cy="2857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500">
                <a:solidFill>
                  <a:srgbClr val="FFFFFF"/>
                </a:solidFill>
                <a:latin typeface="Arial"/>
                <a:ea typeface="Arial"/>
                <a:cs typeface="Arial"/>
              </a:defRPr>
            </a:defPPr>
          </a:lstStyle>
          <a:p xmlns:a="http://schemas.openxmlformats.org/drawingml/2006/main">
            <a:pPr algn="ctr">
              <a:defRPr sz="1500">
                <a:solidFill>
                  <a:srgbClr val="FFFFFF"/>
                </a:solidFill>
                <a:latin typeface="Arial"/>
                <a:ea typeface="Arial"/>
                <a:cs typeface="Arial"/>
              </a:defRPr>
            </a:pPr>
            <a:r>
              <a:rPr sz="1500">
                <a:solidFill>
                  <a:srgbClr val="FFFFFF"/>
                </a:solidFill>
                <a:latin typeface="Arial"/>
                <a:ea typeface="Arial"/>
                <a:cs typeface="Arial"/>
              </a:rPr>
              <a:t>Executor</a:t>
            </a:r>
          </a:p>
        </p:txBody>
      </p:sp>
      <p:sp>
        <p:nvSpPr>
          <p:cNvPr id="26" name="">
            <a:extLst xmlns:a="http://schemas.openxmlformats.org/drawingml/2006/main">
              <a:ext uri="{FF2B5EF4-FFF2-40B4-BE49-F238E27FC236}">
                <a16:creationId xmlns:a16="http://schemas.microsoft.com/office/drawing/2014/main" id="{B780B6B4-FF94-404A-B4FC-B9295A4D5C72}"/>
              </a:ext>
            </a:extLst>
          </p:cNvPr>
          <p:cNvSpPr>
            <a:spLocks xmlns:a="http://schemas.openxmlformats.org/drawingml/2006/main" noGrp="1"/>
          </p:cNvSpPr>
          <p:nvPr/>
        </p:nvSpPr>
        <p:spPr>
          <a:xfrm xmlns:a="http://schemas.openxmlformats.org/drawingml/2006/main">
            <a:off x="7953375" y="5238750"/>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072B7"/>
                </a:solidFill>
                <a:latin typeface="Arial"/>
                <a:ea typeface="Arial"/>
                <a:cs typeface="Arial"/>
              </a:defRPr>
            </a:defPPr>
          </a:lstStyle>
          <a:p xmlns:a="http://schemas.openxmlformats.org/drawingml/2006/main">
            <a:pPr>
              <a:defRPr sz="1650" b="1">
                <a:solidFill>
                  <a:srgbClr val="2072B7"/>
                </a:solidFill>
                <a:latin typeface="Arial"/>
                <a:ea typeface="Arial"/>
                <a:cs typeface="Arial"/>
              </a:defRPr>
            </a:pPr>
            <a:r>
              <a:rPr sz="1650" b="1">
                <a:solidFill>
                  <a:srgbClr val="2072B7"/>
                </a:solidFill>
                <a:latin typeface="Arial"/>
                <a:ea typeface="Arial"/>
                <a:cs typeface="Arial"/>
              </a:rPr>
              <a:t>Mạng Tailscale</a:t>
            </a:r>
          </a:p>
        </p:txBody>
      </p:sp>
      <p:sp>
        <p:nvSpPr>
          <p:cNvPr id="27" name="">
            <a:extLst xmlns:a="http://schemas.openxmlformats.org/drawingml/2006/main">
              <a:ext uri="{FF2B5EF4-FFF2-40B4-BE49-F238E27FC236}">
                <a16:creationId xmlns:a16="http://schemas.microsoft.com/office/drawing/2014/main" id="{E37B9A3C-6A07-4299-9E1E-455BF1F39FAA}"/>
              </a:ext>
            </a:extLst>
          </p:cNvPr>
          <p:cNvSpPr>
            <a:spLocks xmlns:a="http://schemas.openxmlformats.org/drawingml/2006/main" noGrp="1"/>
          </p:cNvSpPr>
          <p:nvPr/>
        </p:nvSpPr>
        <p:spPr>
          <a:xfrm xmlns:a="http://schemas.openxmlformats.org/drawingml/2006/main">
            <a:off x="5143500" y="5724525"/>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Ba máy vật lý. Không bổ sung thông số phần cứng.</a:t>
            </a:r>
          </a:p>
        </p:txBody>
      </p:sp>
    </p:spTree>
    <p:extLst>
      <p:ext uri="{BB962C8B-B14F-4D97-AF65-F5344CB8AC3E}">
        <p14:creationId xmlns:p14="http://schemas.microsoft.com/office/powerpoint/2010/main" val="33193519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F91B1B5E-F893-40C8-9AE5-BF494B680548}"/>
              </a:ext>
            </a:extLst>
          </p:cNvPr>
          <p:cNvCxnSpPr>
            <a:stCxn xmlns:a="http://schemas.openxmlformats.org/drawingml/2006/main" id="13" idx="2"/>
            <a:endCxn xmlns:a="http://schemas.openxmlformats.org/drawingml/2006/main" id="17" idx="0"/>
          </p:cNvCxnSpPr>
          <p:nvPr/>
        </p:nvCxnSpPr>
        <p:spPr>
          <a:xfrm xmlns:a="http://schemas.openxmlformats.org/drawingml/2006/main">
            <a:off x="3714750" y="4686300"/>
            <a:ext cx="0" cy="5810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6" name="">
            <a:extLst xmlns:a="http://schemas.openxmlformats.org/drawingml/2006/main">
              <a:ext uri="{FF2B5EF4-FFF2-40B4-BE49-F238E27FC236}">
                <a16:creationId xmlns:a16="http://schemas.microsoft.com/office/drawing/2014/main" id="{E68FF0E4-CBEF-4AC2-8C81-00462A83A375}"/>
              </a:ext>
            </a:extLst>
          </p:cNvPr>
          <p:cNvCxnSpPr>
            <a:stCxn xmlns:a="http://schemas.openxmlformats.org/drawingml/2006/main" id="9" idx="2"/>
            <a:endCxn xmlns:a="http://schemas.openxmlformats.org/drawingml/2006/main" id="13" idx="0"/>
          </p:cNvCxnSpPr>
          <p:nvPr/>
        </p:nvCxnSpPr>
        <p:spPr>
          <a:xfrm xmlns:a="http://schemas.openxmlformats.org/drawingml/2006/main" flipH="1">
            <a:off x="3714750" y="3676650"/>
            <a:ext cx="2190750" cy="36195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15" name="">
            <a:extLst xmlns:a="http://schemas.openxmlformats.org/drawingml/2006/main">
              <a:ext uri="{FF2B5EF4-FFF2-40B4-BE49-F238E27FC236}">
                <a16:creationId xmlns:a16="http://schemas.microsoft.com/office/drawing/2014/main" id="{E9459093-F559-4C1F-ADFA-B0E52EAF3342}"/>
              </a:ext>
            </a:extLst>
          </p:cNvPr>
          <p:cNvCxnSpPr>
            <a:stCxn xmlns:a="http://schemas.openxmlformats.org/drawingml/2006/main" id="8" idx="2"/>
            <a:endCxn xmlns:a="http://schemas.openxmlformats.org/drawingml/2006/main" id="13" idx="0"/>
          </p:cNvCxnSpPr>
          <p:nvPr/>
        </p:nvCxnSpPr>
        <p:spPr>
          <a:xfrm xmlns:a="http://schemas.openxmlformats.org/drawingml/2006/main">
            <a:off x="3714750" y="3676650"/>
            <a:ext cx="0" cy="361950"/>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4" name="">
            <a:extLst xmlns:a="http://schemas.openxmlformats.org/drawingml/2006/main">
              <a:ext uri="{FF2B5EF4-FFF2-40B4-BE49-F238E27FC236}">
                <a16:creationId xmlns:a16="http://schemas.microsoft.com/office/drawing/2014/main" id="{C89D7786-AD92-401B-873F-FADC6D210A46}"/>
              </a:ext>
            </a:extLst>
          </p:cNvPr>
          <p:cNvCxnSpPr>
            <a:stCxn xmlns:a="http://schemas.openxmlformats.org/drawingml/2006/main" id="7" idx="2"/>
            <a:endCxn xmlns:a="http://schemas.openxmlformats.org/drawingml/2006/main" id="13" idx="0"/>
          </p:cNvCxnSpPr>
          <p:nvPr/>
        </p:nvCxnSpPr>
        <p:spPr>
          <a:xfrm xmlns:a="http://schemas.openxmlformats.org/drawingml/2006/main">
            <a:off x="1524000" y="3676650"/>
            <a:ext cx="2190750" cy="36195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12" name="">
            <a:extLst xmlns:a="http://schemas.openxmlformats.org/drawingml/2006/main">
              <a:ext uri="{FF2B5EF4-FFF2-40B4-BE49-F238E27FC236}">
                <a16:creationId xmlns:a16="http://schemas.microsoft.com/office/drawing/2014/main" id="{4B35417A-9A27-44C0-A78C-860ACA9F23E3}"/>
              </a:ext>
            </a:extLst>
          </p:cNvPr>
          <p:cNvCxnSpPr>
            <a:stCxn xmlns:a="http://schemas.openxmlformats.org/drawingml/2006/main" id="6" idx="2"/>
            <a:endCxn xmlns:a="http://schemas.openxmlformats.org/drawingml/2006/main" id="9" idx="0"/>
          </p:cNvCxnSpPr>
          <p:nvPr/>
        </p:nvCxnSpPr>
        <p:spPr>
          <a:xfrm xmlns:a="http://schemas.openxmlformats.org/drawingml/2006/main">
            <a:off x="5905500" y="2676525"/>
            <a:ext cx="0" cy="304800"/>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B73A8E31-212D-497C-9669-7DA56A21B8A2}"/>
              </a:ext>
            </a:extLst>
          </p:cNvPr>
          <p:cNvCxnSpPr>
            <a:stCxn xmlns:a="http://schemas.openxmlformats.org/drawingml/2006/main" id="5" idx="2"/>
            <a:endCxn xmlns:a="http://schemas.openxmlformats.org/drawingml/2006/main" id="8" idx="0"/>
          </p:cNvCxnSpPr>
          <p:nvPr/>
        </p:nvCxnSpPr>
        <p:spPr>
          <a:xfrm xmlns:a="http://schemas.openxmlformats.org/drawingml/2006/main">
            <a:off x="3714750" y="2676525"/>
            <a:ext cx="0" cy="304800"/>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0" name="">
            <a:extLst xmlns:a="http://schemas.openxmlformats.org/drawingml/2006/main">
              <a:ext uri="{FF2B5EF4-FFF2-40B4-BE49-F238E27FC236}">
                <a16:creationId xmlns:a16="http://schemas.microsoft.com/office/drawing/2014/main" id="{FE6240C7-B467-45FB-9ECC-0D3533066476}"/>
              </a:ext>
            </a:extLst>
          </p:cNvPr>
          <p:cNvCxnSpPr>
            <a:stCxn xmlns:a="http://schemas.openxmlformats.org/drawingml/2006/main" id="4" idx="2"/>
            <a:endCxn xmlns:a="http://schemas.openxmlformats.org/drawingml/2006/main" id="7" idx="0"/>
          </p:cNvCxnSpPr>
          <p:nvPr/>
        </p:nvCxnSpPr>
        <p:spPr>
          <a:xfrm xmlns:a="http://schemas.openxmlformats.org/drawingml/2006/main">
            <a:off x="1524000" y="2676525"/>
            <a:ext cx="0" cy="304800"/>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22" name="">
            <a:extLst xmlns:a="http://schemas.openxmlformats.org/drawingml/2006/main">
              <a:ext uri="{FF2B5EF4-FFF2-40B4-BE49-F238E27FC236}">
                <a16:creationId xmlns:a16="http://schemas.microsoft.com/office/drawing/2014/main" id="{A2E26EF6-E549-4B38-8B61-28E97A325DCA}"/>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Random Forest phân tán</a:t>
            </a:r>
          </a:p>
        </p:txBody>
      </p:sp>
      <p:sp>
        <p:nvSpPr>
          <p:cNvPr id="2" name="">
            <a:extLst xmlns:a="http://schemas.openxmlformats.org/drawingml/2006/main">
              <a:ext uri="{FF2B5EF4-FFF2-40B4-BE49-F238E27FC236}">
                <a16:creationId xmlns:a16="http://schemas.microsoft.com/office/drawing/2014/main" id="{C610D725-5B55-4CCC-96EE-AAE8F1BD5D58}"/>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Nhiều Executor cùng tính thống kê để xây rừng, không chia một cây cho mỗi máy</a:t>
            </a:r>
          </a:p>
        </p:txBody>
      </p:sp>
      <p:sp>
        <p:nvSpPr>
          <p:cNvPr id="3" name="">
            <a:extLst xmlns:a="http://schemas.openxmlformats.org/drawingml/2006/main">
              <a:ext uri="{FF2B5EF4-FFF2-40B4-BE49-F238E27FC236}">
                <a16:creationId xmlns:a16="http://schemas.microsoft.com/office/drawing/2014/main" id="{0ABA2AE6-3A9C-4D7F-A98B-DA0C1DE07A09}"/>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588EEBAA-94D8-4FD8-AAFB-B3C30CAA4FB5}"/>
              </a:ext>
            </a:extLst>
          </p:cNvPr>
          <p:cNvSpPr>
            <a:spLocks xmlns:a="http://schemas.openxmlformats.org/drawingml/2006/main" noGrp="1"/>
          </p:cNvSpPr>
          <p:nvPr/>
        </p:nvSpPr>
        <p:spPr>
          <a:xfrm xmlns:a="http://schemas.openxmlformats.org/drawingml/2006/main">
            <a:off x="523875" y="2171700"/>
            <a:ext cx="2000250" cy="5048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Phân vùng 1</a:t>
            </a:r>
          </a:p>
        </p:txBody>
      </p:sp>
      <p:sp>
        <p:nvSpPr>
          <p:cNvPr id="5" name="">
            <a:extLst xmlns:a="http://schemas.openxmlformats.org/drawingml/2006/main">
              <a:ext uri="{FF2B5EF4-FFF2-40B4-BE49-F238E27FC236}">
                <a16:creationId xmlns:a16="http://schemas.microsoft.com/office/drawing/2014/main" id="{E1CE8204-E8E1-423D-87EB-68E169981EE2}"/>
              </a:ext>
            </a:extLst>
          </p:cNvPr>
          <p:cNvSpPr>
            <a:spLocks xmlns:a="http://schemas.openxmlformats.org/drawingml/2006/main" noGrp="1"/>
          </p:cNvSpPr>
          <p:nvPr/>
        </p:nvSpPr>
        <p:spPr>
          <a:xfrm xmlns:a="http://schemas.openxmlformats.org/drawingml/2006/main">
            <a:off x="2714625" y="2171700"/>
            <a:ext cx="2000250" cy="5048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Phân vùng 2</a:t>
            </a:r>
          </a:p>
        </p:txBody>
      </p:sp>
      <p:sp>
        <p:nvSpPr>
          <p:cNvPr id="6" name="">
            <a:extLst xmlns:a="http://schemas.openxmlformats.org/drawingml/2006/main">
              <a:ext uri="{FF2B5EF4-FFF2-40B4-BE49-F238E27FC236}">
                <a16:creationId xmlns:a16="http://schemas.microsoft.com/office/drawing/2014/main" id="{A432680F-9B3B-4150-B3EB-16A16DDABEAF}"/>
              </a:ext>
            </a:extLst>
          </p:cNvPr>
          <p:cNvSpPr>
            <a:spLocks xmlns:a="http://schemas.openxmlformats.org/drawingml/2006/main" noGrp="1"/>
          </p:cNvSpPr>
          <p:nvPr/>
        </p:nvSpPr>
        <p:spPr>
          <a:xfrm xmlns:a="http://schemas.openxmlformats.org/drawingml/2006/main">
            <a:off x="4905375" y="2171700"/>
            <a:ext cx="2000250" cy="5048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Phân vùng 3</a:t>
            </a:r>
          </a:p>
        </p:txBody>
      </p:sp>
      <p:sp>
        <p:nvSpPr>
          <p:cNvPr id="7" name="">
            <a:extLst xmlns:a="http://schemas.openxmlformats.org/drawingml/2006/main">
              <a:ext uri="{FF2B5EF4-FFF2-40B4-BE49-F238E27FC236}">
                <a16:creationId xmlns:a16="http://schemas.microsoft.com/office/drawing/2014/main" id="{71D5FC2F-E41E-4020-83E7-2DD62CBEBCF8}"/>
              </a:ext>
            </a:extLst>
          </p:cNvPr>
          <p:cNvSpPr>
            <a:spLocks xmlns:a="http://schemas.openxmlformats.org/drawingml/2006/main" noGrp="1"/>
          </p:cNvSpPr>
          <p:nvPr/>
        </p:nvSpPr>
        <p:spPr>
          <a:xfrm xmlns:a="http://schemas.openxmlformats.org/drawingml/2006/main">
            <a:off x="523875" y="2981325"/>
            <a:ext cx="2000250" cy="6953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pPr algn="ctr">
              <a:defRPr sz="1650">
                <a:solidFill>
                  <a:srgbClr val="202D39"/>
                </a:solidFill>
                <a:latin typeface="Arial"/>
                <a:ea typeface="Arial"/>
                <a:cs typeface="Arial"/>
              </a:defRPr>
            </a:pPr>
            <a:r>
              <a:rPr sz="1650">
                <a:solidFill>
                  <a:srgbClr val="202D39"/>
                </a:solidFill>
                <a:latin typeface="Arial"/>
                <a:ea typeface="Arial"/>
                <a:cs typeface="Arial"/>
              </a:rPr>
              <a:t>Executor</a:t>
            </a:r>
          </a:p>
          <a:p xmlns:a="http://schemas.openxmlformats.org/drawingml/2006/main">
            <a:pPr algn="ctr">
              <a:defRPr sz="1650">
                <a:solidFill>
                  <a:srgbClr val="202D39"/>
                </a:solidFill>
                <a:latin typeface="Arial"/>
                <a:ea typeface="Arial"/>
                <a:cs typeface="Arial"/>
              </a:defRPr>
            </a:pPr>
            <a:r>
              <a:rPr sz="1650">
                <a:solidFill>
                  <a:srgbClr val="202D39"/>
                </a:solidFill>
                <a:latin typeface="Arial"/>
                <a:ea typeface="Arial"/>
                <a:cs typeface="Arial"/>
              </a:rPr>
              <a:t>Thống kê nhãn</a:t>
            </a:r>
          </a:p>
        </p:txBody>
      </p:sp>
      <p:sp>
        <p:nvSpPr>
          <p:cNvPr id="8" name="">
            <a:extLst xmlns:a="http://schemas.openxmlformats.org/drawingml/2006/main">
              <a:ext uri="{FF2B5EF4-FFF2-40B4-BE49-F238E27FC236}">
                <a16:creationId xmlns:a16="http://schemas.microsoft.com/office/drawing/2014/main" id="{EE4CD6D9-2AAA-4B7B-93CD-46FFFCC8E52F}"/>
              </a:ext>
            </a:extLst>
          </p:cNvPr>
          <p:cNvSpPr>
            <a:spLocks xmlns:a="http://schemas.openxmlformats.org/drawingml/2006/main" noGrp="1"/>
          </p:cNvSpPr>
          <p:nvPr/>
        </p:nvSpPr>
        <p:spPr>
          <a:xfrm xmlns:a="http://schemas.openxmlformats.org/drawingml/2006/main">
            <a:off x="2714625" y="2981325"/>
            <a:ext cx="2000250" cy="6953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pPr algn="ctr">
              <a:defRPr sz="1650">
                <a:solidFill>
                  <a:srgbClr val="202D39"/>
                </a:solidFill>
                <a:latin typeface="Arial"/>
                <a:ea typeface="Arial"/>
                <a:cs typeface="Arial"/>
              </a:defRPr>
            </a:pPr>
            <a:r>
              <a:rPr sz="1650">
                <a:solidFill>
                  <a:srgbClr val="202D39"/>
                </a:solidFill>
                <a:latin typeface="Arial"/>
                <a:ea typeface="Arial"/>
                <a:cs typeface="Arial"/>
              </a:rPr>
              <a:t>Executor</a:t>
            </a:r>
          </a:p>
          <a:p xmlns:a="http://schemas.openxmlformats.org/drawingml/2006/main">
            <a:pPr algn="ctr">
              <a:defRPr sz="1650">
                <a:solidFill>
                  <a:srgbClr val="202D39"/>
                </a:solidFill>
                <a:latin typeface="Arial"/>
                <a:ea typeface="Arial"/>
                <a:cs typeface="Arial"/>
              </a:defRPr>
            </a:pPr>
            <a:r>
              <a:rPr sz="1650">
                <a:solidFill>
                  <a:srgbClr val="202D39"/>
                </a:solidFill>
                <a:latin typeface="Arial"/>
                <a:ea typeface="Arial"/>
                <a:cs typeface="Arial"/>
              </a:rPr>
              <a:t>Thống kê nhãn</a:t>
            </a:r>
          </a:p>
        </p:txBody>
      </p:sp>
      <p:sp>
        <p:nvSpPr>
          <p:cNvPr id="9" name="">
            <a:extLst xmlns:a="http://schemas.openxmlformats.org/drawingml/2006/main">
              <a:ext uri="{FF2B5EF4-FFF2-40B4-BE49-F238E27FC236}">
                <a16:creationId xmlns:a16="http://schemas.microsoft.com/office/drawing/2014/main" id="{982F5DBF-858F-4EEE-90C9-B4E8392D01FC}"/>
              </a:ext>
            </a:extLst>
          </p:cNvPr>
          <p:cNvSpPr>
            <a:spLocks xmlns:a="http://schemas.openxmlformats.org/drawingml/2006/main" noGrp="1"/>
          </p:cNvSpPr>
          <p:nvPr/>
        </p:nvSpPr>
        <p:spPr>
          <a:xfrm xmlns:a="http://schemas.openxmlformats.org/drawingml/2006/main">
            <a:off x="4905375" y="2981325"/>
            <a:ext cx="2000250" cy="6953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pPr algn="ctr">
              <a:defRPr sz="1650">
                <a:solidFill>
                  <a:srgbClr val="202D39"/>
                </a:solidFill>
                <a:latin typeface="Arial"/>
                <a:ea typeface="Arial"/>
                <a:cs typeface="Arial"/>
              </a:defRPr>
            </a:pPr>
            <a:r>
              <a:rPr sz="1650">
                <a:solidFill>
                  <a:srgbClr val="202D39"/>
                </a:solidFill>
                <a:latin typeface="Arial"/>
                <a:ea typeface="Arial"/>
                <a:cs typeface="Arial"/>
              </a:rPr>
              <a:t>Executor</a:t>
            </a:r>
          </a:p>
          <a:p xmlns:a="http://schemas.openxmlformats.org/drawingml/2006/main">
            <a:pPr algn="ctr">
              <a:defRPr sz="1650">
                <a:solidFill>
                  <a:srgbClr val="202D39"/>
                </a:solidFill>
                <a:latin typeface="Arial"/>
                <a:ea typeface="Arial"/>
                <a:cs typeface="Arial"/>
              </a:defRPr>
            </a:pPr>
            <a:r>
              <a:rPr sz="1650">
                <a:solidFill>
                  <a:srgbClr val="202D39"/>
                </a:solidFill>
                <a:latin typeface="Arial"/>
                <a:ea typeface="Arial"/>
                <a:cs typeface="Arial"/>
              </a:rPr>
              <a:t>Thống kê nhãn</a:t>
            </a:r>
          </a:p>
        </p:txBody>
      </p:sp>
      <p:sp>
        <p:nvSpPr>
          <p:cNvPr id="13" name="">
            <a:extLst xmlns:a="http://schemas.openxmlformats.org/drawingml/2006/main">
              <a:ext uri="{FF2B5EF4-FFF2-40B4-BE49-F238E27FC236}">
                <a16:creationId xmlns:a16="http://schemas.microsoft.com/office/drawing/2014/main" id="{C0F7CAEB-D913-4E75-95C2-125EA5487205}"/>
              </a:ext>
            </a:extLst>
          </p:cNvPr>
          <p:cNvSpPr>
            <a:spLocks xmlns:a="http://schemas.openxmlformats.org/drawingml/2006/main" noGrp="1"/>
          </p:cNvSpPr>
          <p:nvPr/>
        </p:nvSpPr>
        <p:spPr>
          <a:xfrm xmlns:a="http://schemas.openxmlformats.org/drawingml/2006/main">
            <a:off x="523875" y="4038600"/>
            <a:ext cx="6381750" cy="6477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Tổng hợp thống kê, chọn điểm chia cho các cây</a:t>
            </a:r>
          </a:p>
        </p:txBody>
      </p:sp>
      <p:sp>
        <p:nvSpPr>
          <p:cNvPr id="17" name="">
            <a:extLst xmlns:a="http://schemas.openxmlformats.org/drawingml/2006/main">
              <a:ext uri="{FF2B5EF4-FFF2-40B4-BE49-F238E27FC236}">
                <a16:creationId xmlns:a16="http://schemas.microsoft.com/office/drawing/2014/main" id="{6999A8B0-69A9-490E-95E4-6060BF392DFF}"/>
              </a:ext>
            </a:extLst>
          </p:cNvPr>
          <p:cNvSpPr>
            <a:spLocks xmlns:a="http://schemas.openxmlformats.org/drawingml/2006/main" noGrp="1"/>
          </p:cNvSpPr>
          <p:nvPr/>
        </p:nvSpPr>
        <p:spPr>
          <a:xfrm xmlns:a="http://schemas.openxmlformats.org/drawingml/2006/main">
            <a:off x="523875" y="5267325"/>
            <a:ext cx="6381750" cy="6477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Rừng cây dự đoán và bỏ phiếu đa số</a:t>
            </a:r>
          </a:p>
        </p:txBody>
      </p:sp>
      <p:sp>
        <p:nvSpPr>
          <p:cNvPr id="19" name="">
            <a:extLst xmlns:a="http://schemas.openxmlformats.org/drawingml/2006/main">
              <a:ext uri="{FF2B5EF4-FFF2-40B4-BE49-F238E27FC236}">
                <a16:creationId xmlns:a16="http://schemas.microsoft.com/office/drawing/2014/main" id="{B03F1946-C54A-4256-9F23-27EF8EB46084}"/>
              </a:ext>
            </a:extLst>
          </p:cNvPr>
          <p:cNvSpPr>
            <a:spLocks xmlns:a="http://schemas.openxmlformats.org/drawingml/2006/main" noGrp="1"/>
          </p:cNvSpPr>
          <p:nvPr/>
        </p:nvSpPr>
        <p:spPr>
          <a:xfrm xmlns:a="http://schemas.openxmlformats.org/drawingml/2006/main">
            <a:off x="7620000" y="22383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Dữ liệu được chia thành nhiều phân vùng.</a:t>
            </a:r>
          </a:p>
        </p:txBody>
      </p:sp>
      <p:sp>
        <p:nvSpPr>
          <p:cNvPr id="20" name="">
            <a:extLst xmlns:a="http://schemas.openxmlformats.org/drawingml/2006/main">
              <a:ext uri="{FF2B5EF4-FFF2-40B4-BE49-F238E27FC236}">
                <a16:creationId xmlns:a16="http://schemas.microsoft.com/office/drawing/2014/main" id="{A0AA17A2-BD08-4DD2-8AD1-99296BE86E6B}"/>
              </a:ext>
            </a:extLst>
          </p:cNvPr>
          <p:cNvSpPr>
            <a:spLocks xmlns:a="http://schemas.openxmlformats.org/drawingml/2006/main" noGrp="1"/>
          </p:cNvSpPr>
          <p:nvPr/>
        </p:nvSpPr>
        <p:spPr>
          <a:xfrm xmlns:a="http://schemas.openxmlformats.org/drawingml/2006/main">
            <a:off x="7620000" y="33051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Executor tính thống kê trên phần dữ liệu được giao.</a:t>
            </a:r>
          </a:p>
        </p:txBody>
      </p:sp>
      <p:sp>
        <p:nvSpPr>
          <p:cNvPr id="21" name="">
            <a:extLst xmlns:a="http://schemas.openxmlformats.org/drawingml/2006/main">
              <a:ext uri="{FF2B5EF4-FFF2-40B4-BE49-F238E27FC236}">
                <a16:creationId xmlns:a16="http://schemas.microsoft.com/office/drawing/2014/main" id="{3272134E-2F9C-4337-AA74-24D1FC00E7A8}"/>
              </a:ext>
            </a:extLst>
          </p:cNvPr>
          <p:cNvSpPr>
            <a:spLocks xmlns:a="http://schemas.openxmlformats.org/drawingml/2006/main" noGrp="1"/>
          </p:cNvSpPr>
          <p:nvPr/>
        </p:nvSpPr>
        <p:spPr>
          <a:xfrm xmlns:a="http://schemas.openxmlformats.org/drawingml/2006/main">
            <a:off x="7620000" y="43719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Kết hợp thống kê để xây cây. Khi dự đoán, rừng tổng hợp nhãn.</a:t>
            </a:r>
          </a:p>
        </p:txBody>
      </p:sp>
    </p:spTree>
    <p:extLst>
      <p:ext uri="{BB962C8B-B14F-4D97-AF65-F5344CB8AC3E}">
        <p14:creationId xmlns:p14="http://schemas.microsoft.com/office/powerpoint/2010/main" val="33784133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796B11E-540B-4289-ABDE-E9C6E66DF895}"/>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Thiết lập thực nghiệm</a:t>
            </a:r>
          </a:p>
        </p:txBody>
      </p:sp>
      <p:sp>
        <p:nvSpPr>
          <p:cNvPr id="2" name="">
            <a:extLst xmlns:a="http://schemas.openxmlformats.org/drawingml/2006/main">
              <a:ext uri="{FF2B5EF4-FFF2-40B4-BE49-F238E27FC236}">
                <a16:creationId xmlns:a16="http://schemas.microsoft.com/office/drawing/2014/main" id="{1039CFE5-5AC6-4852-8BCC-13E885E119C8}"/>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Đánh giá chất lượng theo lớp và thời gian thực tế của lượt chạy 10/10/2026</a:t>
            </a:r>
          </a:p>
        </p:txBody>
      </p:sp>
      <p:sp>
        <p:nvSpPr>
          <p:cNvPr id="3" name="">
            <a:extLst xmlns:a="http://schemas.openxmlformats.org/drawingml/2006/main">
              <a:ext uri="{FF2B5EF4-FFF2-40B4-BE49-F238E27FC236}">
                <a16:creationId xmlns:a16="http://schemas.microsoft.com/office/drawing/2014/main" id="{648CFECC-B229-424C-A1CA-6AB58A0AEA69}"/>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006D3C92-47B3-4565-88CF-4F0787D8696F}"/>
              </a:ext>
            </a:extLst>
          </p:cNvPr>
          <p:cNvSpPr>
            <a:spLocks xmlns:a="http://schemas.openxmlformats.org/drawingml/2006/main" noGrp="1"/>
          </p:cNvSpPr>
          <p:nvPr/>
        </p:nvSpPr>
        <p:spPr>
          <a:xfrm xmlns:a="http://schemas.openxmlformats.org/drawingml/2006/main">
            <a:off x="571500" y="21907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Dữ liệu sạch: 6.965.267 bản ghi.</a:t>
            </a:r>
          </a:p>
        </p:txBody>
      </p:sp>
      <p:sp>
        <p:nvSpPr>
          <p:cNvPr id="5" name="">
            <a:extLst xmlns:a="http://schemas.openxmlformats.org/drawingml/2006/main">
              <a:ext uri="{FF2B5EF4-FFF2-40B4-BE49-F238E27FC236}">
                <a16:creationId xmlns:a16="http://schemas.microsoft.com/office/drawing/2014/main" id="{615ED225-451C-4E14-B9EB-46909A959637}"/>
              </a:ext>
            </a:extLst>
          </p:cNvPr>
          <p:cNvSpPr>
            <a:spLocks xmlns:a="http://schemas.openxmlformats.org/drawingml/2006/main" noGrp="1"/>
          </p:cNvSpPr>
          <p:nvPr/>
        </p:nvSpPr>
        <p:spPr>
          <a:xfrm xmlns:a="http://schemas.openxmlformats.org/drawingml/2006/main">
            <a:off x="571500" y="331470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Tỷ lệ dự kiến: Train 70%, Validation 15%, Test 15%.</a:t>
            </a:r>
          </a:p>
        </p:txBody>
      </p:sp>
      <p:sp>
        <p:nvSpPr>
          <p:cNvPr id="6" name="">
            <a:extLst xmlns:a="http://schemas.openxmlformats.org/drawingml/2006/main">
              <a:ext uri="{FF2B5EF4-FFF2-40B4-BE49-F238E27FC236}">
                <a16:creationId xmlns:a16="http://schemas.microsoft.com/office/drawing/2014/main" id="{419456E4-BCE8-4AC8-A660-786220B5F19B}"/>
              </a:ext>
            </a:extLst>
          </p:cNvPr>
          <p:cNvSpPr>
            <a:spLocks xmlns:a="http://schemas.openxmlformats.org/drawingml/2006/main" noGrp="1"/>
          </p:cNvSpPr>
          <p:nvPr/>
        </p:nvSpPr>
        <p:spPr>
          <a:xfrm xmlns:a="http://schemas.openxmlformats.org/drawingml/2006/main">
            <a:off x="571500" y="44386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Chưa đủ log để xác nhận cùng tập test và siêu tham số hai nhánh.</a:t>
            </a:r>
          </a:p>
        </p:txBody>
      </p:sp>
      <p:sp>
        <p:nvSpPr>
          <p:cNvPr id="7" name="">
            <a:extLst xmlns:a="http://schemas.openxmlformats.org/drawingml/2006/main">
              <a:ext uri="{FF2B5EF4-FFF2-40B4-BE49-F238E27FC236}">
                <a16:creationId xmlns:a16="http://schemas.microsoft.com/office/drawing/2014/main" id="{888B17EF-0DA7-456F-9700-51D0D48E2DBB}"/>
              </a:ext>
            </a:extLst>
          </p:cNvPr>
          <p:cNvSpPr>
            <a:spLocks xmlns:a="http://schemas.openxmlformats.org/drawingml/2006/main" noGrp="1"/>
          </p:cNvSpPr>
          <p:nvPr/>
        </p:nvSpPr>
        <p:spPr>
          <a:xfrm xmlns:a="http://schemas.openxmlformats.org/drawingml/2006/main">
            <a:off x="5238750" y="21907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072B7"/>
                </a:solidFill>
                <a:latin typeface="Arial"/>
                <a:ea typeface="Arial"/>
                <a:cs typeface="Arial"/>
              </a:defRPr>
            </a:defPPr>
          </a:lstStyle>
          <a:p xmlns:a="http://schemas.openxmlformats.org/drawingml/2006/main">
            <a:pPr>
              <a:defRPr sz="2025" b="1">
                <a:solidFill>
                  <a:srgbClr val="2072B7"/>
                </a:solidFill>
                <a:latin typeface="Arial"/>
                <a:ea typeface="Arial"/>
                <a:cs typeface="Arial"/>
              </a:defRPr>
            </a:pPr>
            <a:r>
              <a:rPr sz="2025" b="1">
                <a:solidFill>
                  <a:srgbClr val="2072B7"/>
                </a:solidFill>
                <a:latin typeface="Arial"/>
                <a:ea typeface="Arial"/>
                <a:cs typeface="Arial"/>
              </a:rPr>
              <a:t>Accuracy</a:t>
            </a:r>
          </a:p>
        </p:txBody>
      </p:sp>
      <p:sp>
        <p:nvSpPr>
          <p:cNvPr id="8" name="">
            <a:extLst xmlns:a="http://schemas.openxmlformats.org/drawingml/2006/main">
              <a:ext uri="{FF2B5EF4-FFF2-40B4-BE49-F238E27FC236}">
                <a16:creationId xmlns:a16="http://schemas.microsoft.com/office/drawing/2014/main" id="{9E00C6AD-2A7A-46D1-8D3C-ED8367A2B397}"/>
              </a:ext>
            </a:extLst>
          </p:cNvPr>
          <p:cNvSpPr>
            <a:spLocks xmlns:a="http://schemas.openxmlformats.org/drawingml/2006/main" noGrp="1"/>
          </p:cNvSpPr>
          <p:nvPr/>
        </p:nvSpPr>
        <p:spPr>
          <a:xfrm xmlns:a="http://schemas.openxmlformats.org/drawingml/2006/main">
            <a:off x="5238750" y="2619375"/>
            <a:ext cx="619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Tỷ lệ dự đoán đúng trên toàn tập.</a:t>
            </a:r>
          </a:p>
        </p:txBody>
      </p:sp>
      <p:sp>
        <p:nvSpPr>
          <p:cNvPr id="9" name="">
            <a:extLst xmlns:a="http://schemas.openxmlformats.org/drawingml/2006/main">
              <a:ext uri="{FF2B5EF4-FFF2-40B4-BE49-F238E27FC236}">
                <a16:creationId xmlns:a16="http://schemas.microsoft.com/office/drawing/2014/main" id="{E45EA6A9-DCDE-45CD-BD6D-EB7593D9E5F0}"/>
              </a:ext>
            </a:extLst>
          </p:cNvPr>
          <p:cNvSpPr>
            <a:spLocks xmlns:a="http://schemas.openxmlformats.org/drawingml/2006/main" noGrp="1"/>
          </p:cNvSpPr>
          <p:nvPr/>
        </p:nvSpPr>
        <p:spPr>
          <a:xfrm xmlns:a="http://schemas.openxmlformats.org/drawingml/2006/main">
            <a:off x="5238750" y="32575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072B7"/>
                </a:solidFill>
                <a:latin typeface="Arial"/>
                <a:ea typeface="Arial"/>
                <a:cs typeface="Arial"/>
              </a:defRPr>
            </a:defPPr>
          </a:lstStyle>
          <a:p xmlns:a="http://schemas.openxmlformats.org/drawingml/2006/main">
            <a:pPr>
              <a:defRPr sz="2025" b="1">
                <a:solidFill>
                  <a:srgbClr val="2072B7"/>
                </a:solidFill>
                <a:latin typeface="Arial"/>
                <a:ea typeface="Arial"/>
                <a:cs typeface="Arial"/>
              </a:defRPr>
            </a:pPr>
            <a:r>
              <a:rPr sz="2025" b="1">
                <a:solidFill>
                  <a:srgbClr val="2072B7"/>
                </a:solidFill>
                <a:latin typeface="Arial"/>
                <a:ea typeface="Arial"/>
                <a:cs typeface="Arial"/>
              </a:rPr>
              <a:t>Weighted F1</a:t>
            </a:r>
          </a:p>
        </p:txBody>
      </p:sp>
      <p:sp>
        <p:nvSpPr>
          <p:cNvPr id="10" name="">
            <a:extLst xmlns:a="http://schemas.openxmlformats.org/drawingml/2006/main">
              <a:ext uri="{FF2B5EF4-FFF2-40B4-BE49-F238E27FC236}">
                <a16:creationId xmlns:a16="http://schemas.microsoft.com/office/drawing/2014/main" id="{EE6E2B9C-BE0A-4064-B299-80C09094C26B}"/>
              </a:ext>
            </a:extLst>
          </p:cNvPr>
          <p:cNvSpPr>
            <a:spLocks xmlns:a="http://schemas.openxmlformats.org/drawingml/2006/main" noGrp="1"/>
          </p:cNvSpPr>
          <p:nvPr/>
        </p:nvSpPr>
        <p:spPr>
          <a:xfrm xmlns:a="http://schemas.openxmlformats.org/drawingml/2006/main">
            <a:off x="5238750" y="3686175"/>
            <a:ext cx="619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F1 từng lớp, có trọng số theo số mẫu.</a:t>
            </a:r>
          </a:p>
        </p:txBody>
      </p:sp>
      <p:sp>
        <p:nvSpPr>
          <p:cNvPr id="11" name="">
            <a:extLst xmlns:a="http://schemas.openxmlformats.org/drawingml/2006/main">
              <a:ext uri="{FF2B5EF4-FFF2-40B4-BE49-F238E27FC236}">
                <a16:creationId xmlns:a16="http://schemas.microsoft.com/office/drawing/2014/main" id="{8A8B2822-2AB5-4F8E-9F5B-0338E2F34910}"/>
              </a:ext>
            </a:extLst>
          </p:cNvPr>
          <p:cNvSpPr>
            <a:spLocks xmlns:a="http://schemas.openxmlformats.org/drawingml/2006/main" noGrp="1"/>
          </p:cNvSpPr>
          <p:nvPr/>
        </p:nvSpPr>
        <p:spPr>
          <a:xfrm xmlns:a="http://schemas.openxmlformats.org/drawingml/2006/main">
            <a:off x="5238750" y="43243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072B7"/>
                </a:solidFill>
                <a:latin typeface="Arial"/>
                <a:ea typeface="Arial"/>
                <a:cs typeface="Arial"/>
              </a:defRPr>
            </a:defPPr>
          </a:lstStyle>
          <a:p xmlns:a="http://schemas.openxmlformats.org/drawingml/2006/main">
            <a:pPr>
              <a:defRPr sz="2025" b="1">
                <a:solidFill>
                  <a:srgbClr val="2072B7"/>
                </a:solidFill>
                <a:latin typeface="Arial"/>
                <a:ea typeface="Arial"/>
                <a:cs typeface="Arial"/>
              </a:defRPr>
            </a:pPr>
            <a:r>
              <a:rPr sz="2025" b="1">
                <a:solidFill>
                  <a:srgbClr val="2072B7"/>
                </a:solidFill>
                <a:latin typeface="Arial"/>
                <a:ea typeface="Arial"/>
                <a:cs typeface="Arial"/>
              </a:rPr>
              <a:t>Macro F1</a:t>
            </a:r>
          </a:p>
        </p:txBody>
      </p:sp>
      <p:sp>
        <p:nvSpPr>
          <p:cNvPr id="12" name="">
            <a:extLst xmlns:a="http://schemas.openxmlformats.org/drawingml/2006/main">
              <a:ext uri="{FF2B5EF4-FFF2-40B4-BE49-F238E27FC236}">
                <a16:creationId xmlns:a16="http://schemas.microsoft.com/office/drawing/2014/main" id="{B7C3734B-54DC-4575-BFEA-0E1974EB13F3}"/>
              </a:ext>
            </a:extLst>
          </p:cNvPr>
          <p:cNvSpPr>
            <a:spLocks xmlns:a="http://schemas.openxmlformats.org/drawingml/2006/main" noGrp="1"/>
          </p:cNvSpPr>
          <p:nvPr/>
        </p:nvSpPr>
        <p:spPr>
          <a:xfrm xmlns:a="http://schemas.openxmlformats.org/drawingml/2006/main">
            <a:off x="5238750" y="4752975"/>
            <a:ext cx="619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Trung bình F1 các lớp, mỗi lớp ngang nhau.</a:t>
            </a:r>
          </a:p>
        </p:txBody>
      </p:sp>
      <p:sp>
        <p:nvSpPr>
          <p:cNvPr id="13" name="">
            <a:extLst xmlns:a="http://schemas.openxmlformats.org/drawingml/2006/main">
              <a:ext uri="{FF2B5EF4-FFF2-40B4-BE49-F238E27FC236}">
                <a16:creationId xmlns:a16="http://schemas.microsoft.com/office/drawing/2014/main" id="{EDDA5B57-68F6-4B68-98E6-7BD30F9AA1C3}"/>
              </a:ext>
            </a:extLst>
          </p:cNvPr>
          <p:cNvSpPr>
            <a:spLocks xmlns:a="http://schemas.openxmlformats.org/drawingml/2006/main" noGrp="1"/>
          </p:cNvSpPr>
          <p:nvPr/>
        </p:nvSpPr>
        <p:spPr>
          <a:xfrm xmlns:a="http://schemas.openxmlformats.org/drawingml/2006/main">
            <a:off x="5238750" y="5724525"/>
            <a:ext cx="638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86675"/>
                </a:solidFill>
                <a:latin typeface="Arial"/>
                <a:ea typeface="Arial"/>
                <a:cs typeface="Arial"/>
              </a:defRPr>
            </a:defPPr>
          </a:lstStyle>
          <a:p xmlns:a="http://schemas.openxmlformats.org/drawingml/2006/main">
            <a:pPr>
              <a:defRPr sz="1650" b="0">
                <a:solidFill>
                  <a:srgbClr val="586675"/>
                </a:solidFill>
                <a:latin typeface="Arial"/>
                <a:ea typeface="Arial"/>
                <a:cs typeface="Arial"/>
              </a:defRPr>
            </a:pPr>
            <a:r>
              <a:rPr sz="1650" b="0">
                <a:solidFill>
                  <a:srgbClr val="586675"/>
                </a:solidFill>
                <a:latin typeface="Arial"/>
                <a:ea typeface="Arial"/>
                <a:cs typeface="Arial"/>
              </a:rPr>
              <a:t>Train: giây wall-clock. Suy luận: ms/1.000 mẫu.</a:t>
            </a:r>
          </a:p>
        </p:txBody>
      </p:sp>
    </p:spTree>
    <p:extLst>
      <p:ext uri="{BB962C8B-B14F-4D97-AF65-F5344CB8AC3E}">
        <p14:creationId xmlns:p14="http://schemas.microsoft.com/office/powerpoint/2010/main" val="39286971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17AD67-2069-4C60-A33C-54BDE5C795FF}"/>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Kết quả sáu mô hình CPU</a:t>
            </a:r>
          </a:p>
        </p:txBody>
      </p:sp>
      <p:sp>
        <p:nvSpPr>
          <p:cNvPr id="2" name="">
            <a:extLst xmlns:a="http://schemas.openxmlformats.org/drawingml/2006/main">
              <a:ext uri="{FF2B5EF4-FFF2-40B4-BE49-F238E27FC236}">
                <a16:creationId xmlns:a16="http://schemas.microsoft.com/office/drawing/2014/main" id="{748E4BAB-F460-49C3-AA13-8ADA4FE1195F}"/>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Accuracy gần 79% chưa chứng minh mô hình nhận diện tốt các lớp trễ ít gặp</a:t>
            </a:r>
          </a:p>
        </p:txBody>
      </p:sp>
      <p:sp>
        <p:nvSpPr>
          <p:cNvPr id="3" name="">
            <a:extLst xmlns:a="http://schemas.openxmlformats.org/drawingml/2006/main">
              <a:ext uri="{FF2B5EF4-FFF2-40B4-BE49-F238E27FC236}">
                <a16:creationId xmlns:a16="http://schemas.microsoft.com/office/drawing/2014/main" id="{69300E58-C91D-433E-9A98-A28740F8F61E}"/>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8200A375-76E2-40B7-A8B6-9D5707999E7B}"/>
              </a:ext>
            </a:extLst>
          </p:cNvPr>
          <p:cNvGraphicFramePr/>
          <p:nvPr/>
        </p:nvGraphicFramePr>
        <p:xfrm>
          <a:off xmlns:a="http://schemas.openxmlformats.org/drawingml/2006/main" x="571500" y="2247900"/>
          <a:ext xmlns:a="http://schemas.openxmlformats.org/drawingml/2006/main" cx="11049000" cy="3286125"/>
        </p:xfrm>
        <a:graphic xmlns:a="http://schemas.openxmlformats.org/drawingml/2006/main">
          <a:graphicData uri="http://schemas.openxmlformats.org/drawingml/2006/table">
            <a:tbl>
              <a:tblPr/>
              <a:tblGrid>
                <a:gridCol w="2476500"/>
                <a:gridCol w="1524000"/>
                <a:gridCol w="1714500"/>
                <a:gridCol w="1524000"/>
                <a:gridCol w="1524000"/>
                <a:gridCol w="2286000"/>
              </a:tblGrid>
              <a:tr h="469446">
                <a:tc>
                  <a:txBody>
                    <a:bodyPr/>
                    <a:lstStyle/>
                    <a:p>
                      <a:r>
                        <a:rPr sz="1800" b="1">
                          <a:solidFill>
                            <a:srgbClr val="FFFFFF"/>
                          </a:solidFill>
                          <a:latin typeface="Arial"/>
                          <a:ea typeface="Arial"/>
                          <a:cs typeface="Arial"/>
                        </a:rPr>
                        <a:t>Mô hình</a:t>
                      </a:r>
                    </a:p>
                  </a:txBody>
                  <a:tcPr marL="47625" marR="47625" marT="47625" marB="47625">
                    <a:solidFill>
                      <a:srgbClr val="2072B7"/>
                    </a:solidFill>
                  </a:tcPr>
                </a:tc>
                <a:tc>
                  <a:txBody>
                    <a:bodyPr/>
                    <a:lstStyle/>
                    <a:p>
                      <a:r>
                        <a:rPr sz="1800" b="1">
                          <a:solidFill>
                            <a:srgbClr val="FFFFFF"/>
                          </a:solidFill>
                          <a:latin typeface="Arial"/>
                          <a:ea typeface="Arial"/>
                          <a:cs typeface="Arial"/>
                        </a:rPr>
                        <a:t>Accuracy</a:t>
                      </a:r>
                    </a:p>
                    <a:p>
                      <a:r>
                        <a:rPr sz="1800" b="1">
                          <a:solidFill>
                            <a:srgbClr val="FFFFFF"/>
                          </a:solidFill>
                          <a:latin typeface="Arial"/>
                          <a:ea typeface="Arial"/>
                          <a:cs typeface="Arial"/>
                        </a:rPr>
                        <a:t>%</a:t>
                      </a:r>
                    </a:p>
                  </a:txBody>
                  <a:tcPr marL="47625" marR="47625" marT="47625" marB="47625">
                    <a:solidFill>
                      <a:srgbClr val="2072B7"/>
                    </a:solidFill>
                  </a:tcPr>
                </a:tc>
                <a:tc>
                  <a:txBody>
                    <a:bodyPr/>
                    <a:lstStyle/>
                    <a:p>
                      <a:r>
                        <a:rPr sz="1800" b="1">
                          <a:solidFill>
                            <a:srgbClr val="FFFFFF"/>
                          </a:solidFill>
                          <a:latin typeface="Arial"/>
                          <a:ea typeface="Arial"/>
                          <a:cs typeface="Arial"/>
                        </a:rPr>
                        <a:t>Weighted F1</a:t>
                      </a:r>
                    </a:p>
                    <a:p>
                      <a:r>
                        <a:rPr sz="1800" b="1">
                          <a:solidFill>
                            <a:srgbClr val="FFFFFF"/>
                          </a:solidFill>
                          <a:latin typeface="Arial"/>
                          <a:ea typeface="Arial"/>
                          <a:cs typeface="Arial"/>
                        </a:rPr>
                        <a:t>%</a:t>
                      </a:r>
                    </a:p>
                  </a:txBody>
                  <a:tcPr marL="47625" marR="47625" marT="47625" marB="47625">
                    <a:solidFill>
                      <a:srgbClr val="2072B7"/>
                    </a:solidFill>
                  </a:tcPr>
                </a:tc>
                <a:tc>
                  <a:txBody>
                    <a:bodyPr/>
                    <a:lstStyle/>
                    <a:p>
                      <a:r>
                        <a:rPr sz="1800" b="1">
                          <a:solidFill>
                            <a:srgbClr val="FFFFFF"/>
                          </a:solidFill>
                          <a:latin typeface="Arial"/>
                          <a:ea typeface="Arial"/>
                          <a:cs typeface="Arial"/>
                        </a:rPr>
                        <a:t>Macro F1</a:t>
                      </a:r>
                    </a:p>
                    <a:p>
                      <a:r>
                        <a:rPr sz="1800" b="1">
                          <a:solidFill>
                            <a:srgbClr val="FFFFFF"/>
                          </a:solidFill>
                          <a:latin typeface="Arial"/>
                          <a:ea typeface="Arial"/>
                          <a:cs typeface="Arial"/>
                        </a:rPr>
                        <a:t>%</a:t>
                      </a:r>
                    </a:p>
                  </a:txBody>
                  <a:tcPr marL="47625" marR="47625" marT="47625" marB="47625">
                    <a:solidFill>
                      <a:srgbClr val="2072B7"/>
                    </a:solidFill>
                  </a:tcPr>
                </a:tc>
                <a:tc>
                  <a:txBody>
                    <a:bodyPr/>
                    <a:lstStyle/>
                    <a:p>
                      <a:r>
                        <a:rPr sz="1800" b="1">
                          <a:solidFill>
                            <a:srgbClr val="FFFFFF"/>
                          </a:solidFill>
                          <a:latin typeface="Arial"/>
                          <a:ea typeface="Arial"/>
                          <a:cs typeface="Arial"/>
                        </a:rPr>
                        <a:t>Train</a:t>
                      </a:r>
                    </a:p>
                    <a:p>
                      <a:r>
                        <a:rPr sz="1800" b="1">
                          <a:solidFill>
                            <a:srgbClr val="FFFFFF"/>
                          </a:solidFill>
                          <a:latin typeface="Arial"/>
                          <a:ea typeface="Arial"/>
                          <a:cs typeface="Arial"/>
                        </a:rPr>
                        <a:t>giây</a:t>
                      </a:r>
                    </a:p>
                  </a:txBody>
                  <a:tcPr marL="47625" marR="47625" marT="47625" marB="47625">
                    <a:solidFill>
                      <a:srgbClr val="2072B7"/>
                    </a:solidFill>
                  </a:tcPr>
                </a:tc>
                <a:tc>
                  <a:txBody>
                    <a:bodyPr/>
                    <a:lstStyle/>
                    <a:p>
                      <a:r>
                        <a:rPr sz="1800" b="1">
                          <a:solidFill>
                            <a:srgbClr val="FFFFFF"/>
                          </a:solidFill>
                          <a:latin typeface="Arial"/>
                          <a:ea typeface="Arial"/>
                          <a:cs typeface="Arial"/>
                        </a:rPr>
                        <a:t>Suy luận</a:t>
                      </a:r>
                    </a:p>
                    <a:p>
                      <a:r>
                        <a:rPr sz="1800" b="1">
                          <a:solidFill>
                            <a:srgbClr val="FFFFFF"/>
                          </a:solidFill>
                          <a:latin typeface="Arial"/>
                          <a:ea typeface="Arial"/>
                          <a:cs typeface="Arial"/>
                        </a:rPr>
                        <a:t>ms/1.000 mẫu</a:t>
                      </a:r>
                    </a:p>
                  </a:txBody>
                  <a:tcPr marL="47625" marR="47625" marT="47625" marB="47625">
                    <a:solidFill>
                      <a:srgbClr val="2072B7"/>
                    </a:solidFill>
                  </a:tcPr>
                </a:tc>
              </a:tr>
              <a:tr h="469446">
                <a:tc>
                  <a:txBody>
                    <a:bodyPr/>
                    <a:lstStyle/>
                    <a:p>
                      <a:r>
                        <a:rPr sz="1800" b="0">
                          <a:solidFill>
                            <a:srgbClr val="202D39"/>
                          </a:solidFill>
                          <a:latin typeface="Arial"/>
                          <a:ea typeface="Arial"/>
                          <a:cs typeface="Arial"/>
                        </a:rPr>
                        <a:t>Logistic Reg.</a:t>
                      </a:r>
                    </a:p>
                  </a:txBody>
                  <a:tcPr marL="47625" marR="47625" marT="47625" marB="47625">
                    <a:solidFill>
                      <a:srgbClr val="EDF5FB"/>
                    </a:solidFill>
                  </a:tcPr>
                </a:tc>
                <a:tc>
                  <a:txBody>
                    <a:bodyPr/>
                    <a:lstStyle/>
                    <a:p>
                      <a:r>
                        <a:rPr sz="1800" b="0">
                          <a:solidFill>
                            <a:srgbClr val="202D39"/>
                          </a:solidFill>
                          <a:latin typeface="Arial"/>
                          <a:ea typeface="Arial"/>
                          <a:cs typeface="Arial"/>
                        </a:rPr>
                        <a:t>79,18</a:t>
                      </a:r>
                    </a:p>
                  </a:txBody>
                  <a:tcPr marL="47625" marR="47625" marT="47625" marB="47625">
                    <a:solidFill>
                      <a:srgbClr val="EDF5FB"/>
                    </a:solidFill>
                  </a:tcPr>
                </a:tc>
                <a:tc>
                  <a:txBody>
                    <a:bodyPr/>
                    <a:lstStyle/>
                    <a:p>
                      <a:r>
                        <a:rPr sz="1800" b="0">
                          <a:solidFill>
                            <a:srgbClr val="202D39"/>
                          </a:solidFill>
                          <a:latin typeface="Arial"/>
                          <a:ea typeface="Arial"/>
                          <a:cs typeface="Arial"/>
                        </a:rPr>
                        <a:t>69,98</a:t>
                      </a:r>
                    </a:p>
                  </a:txBody>
                  <a:tcPr marL="47625" marR="47625" marT="47625" marB="47625">
                    <a:solidFill>
                      <a:srgbClr val="EDF5FB"/>
                    </a:solidFill>
                  </a:tcPr>
                </a:tc>
                <a:tc>
                  <a:txBody>
                    <a:bodyPr/>
                    <a:lstStyle/>
                    <a:p>
                      <a:r>
                        <a:rPr sz="1800" b="0">
                          <a:solidFill>
                            <a:srgbClr val="202D39"/>
                          </a:solidFill>
                          <a:latin typeface="Arial"/>
                          <a:ea typeface="Arial"/>
                          <a:cs typeface="Arial"/>
                        </a:rPr>
                        <a:t>14,73</a:t>
                      </a:r>
                    </a:p>
                  </a:txBody>
                  <a:tcPr marL="47625" marR="47625" marT="47625" marB="47625">
                    <a:solidFill>
                      <a:srgbClr val="EDF5FB"/>
                    </a:solidFill>
                  </a:tcPr>
                </a:tc>
                <a:tc>
                  <a:txBody>
                    <a:bodyPr/>
                    <a:lstStyle/>
                    <a:p>
                      <a:r>
                        <a:rPr sz="1800" b="0">
                          <a:solidFill>
                            <a:srgbClr val="202D39"/>
                          </a:solidFill>
                          <a:latin typeface="Arial"/>
                          <a:ea typeface="Arial"/>
                          <a:cs typeface="Arial"/>
                        </a:rPr>
                        <a:t>11,03</a:t>
                      </a:r>
                    </a:p>
                  </a:txBody>
                  <a:tcPr marL="47625" marR="47625" marT="47625" marB="47625">
                    <a:solidFill>
                      <a:srgbClr val="EDF5FB"/>
                    </a:solidFill>
                  </a:tcPr>
                </a:tc>
                <a:tc>
                  <a:txBody>
                    <a:bodyPr/>
                    <a:lstStyle/>
                    <a:p>
                      <a:r>
                        <a:rPr sz="1800" b="0">
                          <a:solidFill>
                            <a:srgbClr val="202D39"/>
                          </a:solidFill>
                          <a:latin typeface="Arial"/>
                          <a:ea typeface="Arial"/>
                          <a:cs typeface="Arial"/>
                        </a:rPr>
                        <a:t>7,18</a:t>
                      </a:r>
                    </a:p>
                  </a:txBody>
                  <a:tcPr marL="47625" marR="47625" marT="47625" marB="47625">
                    <a:solidFill>
                      <a:srgbClr val="EDF5FB"/>
                    </a:solidFill>
                  </a:tcPr>
                </a:tc>
              </a:tr>
              <a:tr h="469446">
                <a:tc>
                  <a:txBody>
                    <a:bodyPr/>
                    <a:lstStyle/>
                    <a:p>
                      <a:r>
                        <a:rPr sz="1800" b="0">
                          <a:solidFill>
                            <a:srgbClr val="202D39"/>
                          </a:solidFill>
                          <a:latin typeface="Arial"/>
                          <a:ea typeface="Arial"/>
                          <a:cs typeface="Arial"/>
                        </a:rPr>
                        <a:t>Decision Tree</a:t>
                      </a:r>
                    </a:p>
                  </a:txBody>
                  <a:tcPr marL="47625" marR="47625" marT="47625" marB="47625">
                    <a:solidFill>
                      <a:srgbClr val="FFFFFF"/>
                    </a:solidFill>
                  </a:tcPr>
                </a:tc>
                <a:tc>
                  <a:txBody>
                    <a:bodyPr/>
                    <a:lstStyle/>
                    <a:p>
                      <a:r>
                        <a:rPr sz="1800" b="0">
                          <a:solidFill>
                            <a:srgbClr val="202D39"/>
                          </a:solidFill>
                          <a:latin typeface="Arial"/>
                          <a:ea typeface="Arial"/>
                          <a:cs typeface="Arial"/>
                        </a:rPr>
                        <a:t>79,20</a:t>
                      </a:r>
                    </a:p>
                  </a:txBody>
                  <a:tcPr marL="47625" marR="47625" marT="47625" marB="47625">
                    <a:solidFill>
                      <a:srgbClr val="FFFFFF"/>
                    </a:solidFill>
                  </a:tcPr>
                </a:tc>
                <a:tc>
                  <a:txBody>
                    <a:bodyPr/>
                    <a:lstStyle/>
                    <a:p>
                      <a:r>
                        <a:rPr sz="1800" b="0">
                          <a:solidFill>
                            <a:srgbClr val="202D39"/>
                          </a:solidFill>
                          <a:latin typeface="Arial"/>
                          <a:ea typeface="Arial"/>
                          <a:cs typeface="Arial"/>
                        </a:rPr>
                        <a:t>70,39</a:t>
                      </a:r>
                    </a:p>
                  </a:txBody>
                  <a:tcPr marL="47625" marR="47625" marT="47625" marB="47625">
                    <a:solidFill>
                      <a:srgbClr val="FFFFFF"/>
                    </a:solidFill>
                  </a:tcPr>
                </a:tc>
                <a:tc>
                  <a:txBody>
                    <a:bodyPr/>
                    <a:lstStyle/>
                    <a:p>
                      <a:r>
                        <a:rPr sz="1800" b="0">
                          <a:solidFill>
                            <a:srgbClr val="202D39"/>
                          </a:solidFill>
                          <a:latin typeface="Arial"/>
                          <a:ea typeface="Arial"/>
                          <a:cs typeface="Arial"/>
                        </a:rPr>
                        <a:t>15,56</a:t>
                      </a:r>
                    </a:p>
                  </a:txBody>
                  <a:tcPr marL="47625" marR="47625" marT="47625" marB="47625">
                    <a:solidFill>
                      <a:srgbClr val="FFFFFF"/>
                    </a:solidFill>
                  </a:tcPr>
                </a:tc>
                <a:tc>
                  <a:txBody>
                    <a:bodyPr/>
                    <a:lstStyle/>
                    <a:p>
                      <a:r>
                        <a:rPr sz="1800" b="0">
                          <a:solidFill>
                            <a:srgbClr val="202D39"/>
                          </a:solidFill>
                          <a:latin typeface="Arial"/>
                          <a:ea typeface="Arial"/>
                          <a:cs typeface="Arial"/>
                        </a:rPr>
                        <a:t>28,96</a:t>
                      </a:r>
                    </a:p>
                  </a:txBody>
                  <a:tcPr marL="47625" marR="47625" marT="47625" marB="47625">
                    <a:solidFill>
                      <a:srgbClr val="FFFFFF"/>
                    </a:solidFill>
                  </a:tcPr>
                </a:tc>
                <a:tc>
                  <a:txBody>
                    <a:bodyPr/>
                    <a:lstStyle/>
                    <a:p>
                      <a:r>
                        <a:rPr sz="1800" b="0">
                          <a:solidFill>
                            <a:srgbClr val="202D39"/>
                          </a:solidFill>
                          <a:latin typeface="Arial"/>
                          <a:ea typeface="Arial"/>
                          <a:cs typeface="Arial"/>
                        </a:rPr>
                        <a:t>0,70</a:t>
                      </a:r>
                    </a:p>
                  </a:txBody>
                  <a:tcPr marL="47625" marR="47625" marT="47625" marB="47625">
                    <a:solidFill>
                      <a:srgbClr val="FFFFFF"/>
                    </a:solidFill>
                  </a:tcPr>
                </a:tc>
              </a:tr>
              <a:tr h="469446">
                <a:tc>
                  <a:txBody>
                    <a:bodyPr/>
                    <a:lstStyle/>
                    <a:p>
                      <a:r>
                        <a:rPr sz="1800" b="0">
                          <a:solidFill>
                            <a:srgbClr val="202D39"/>
                          </a:solidFill>
                          <a:latin typeface="Arial"/>
                          <a:ea typeface="Arial"/>
                          <a:cs typeface="Arial"/>
                        </a:rPr>
                        <a:t>Random Forest</a:t>
                      </a:r>
                    </a:p>
                  </a:txBody>
                  <a:tcPr marL="47625" marR="47625" marT="47625" marB="47625">
                    <a:solidFill>
                      <a:srgbClr val="EDF5FB"/>
                    </a:solidFill>
                  </a:tcPr>
                </a:tc>
                <a:tc>
                  <a:txBody>
                    <a:bodyPr/>
                    <a:lstStyle/>
                    <a:p>
                      <a:r>
                        <a:rPr sz="1800" b="0">
                          <a:solidFill>
                            <a:srgbClr val="202D39"/>
                          </a:solidFill>
                          <a:latin typeface="Arial"/>
                          <a:ea typeface="Arial"/>
                          <a:cs typeface="Arial"/>
                        </a:rPr>
                        <a:t>79,18</a:t>
                      </a:r>
                    </a:p>
                  </a:txBody>
                  <a:tcPr marL="47625" marR="47625" marT="47625" marB="47625">
                    <a:solidFill>
                      <a:srgbClr val="EDF5FB"/>
                    </a:solidFill>
                  </a:tcPr>
                </a:tc>
                <a:tc>
                  <a:txBody>
                    <a:bodyPr/>
                    <a:lstStyle/>
                    <a:p>
                      <a:r>
                        <a:rPr sz="1800" b="0">
                          <a:solidFill>
                            <a:srgbClr val="202D39"/>
                          </a:solidFill>
                          <a:latin typeface="Arial"/>
                          <a:ea typeface="Arial"/>
                          <a:cs typeface="Arial"/>
                        </a:rPr>
                        <a:t>69,98</a:t>
                      </a:r>
                    </a:p>
                  </a:txBody>
                  <a:tcPr marL="47625" marR="47625" marT="47625" marB="47625">
                    <a:solidFill>
                      <a:srgbClr val="EDF5FB"/>
                    </a:solidFill>
                  </a:tcPr>
                </a:tc>
                <a:tc>
                  <a:txBody>
                    <a:bodyPr/>
                    <a:lstStyle/>
                    <a:p>
                      <a:r>
                        <a:rPr sz="1800" b="0">
                          <a:solidFill>
                            <a:srgbClr val="202D39"/>
                          </a:solidFill>
                          <a:latin typeface="Arial"/>
                          <a:ea typeface="Arial"/>
                          <a:cs typeface="Arial"/>
                        </a:rPr>
                        <a:t>14,73</a:t>
                      </a:r>
                    </a:p>
                  </a:txBody>
                  <a:tcPr marL="47625" marR="47625" marT="47625" marB="47625">
                    <a:solidFill>
                      <a:srgbClr val="EDF5FB"/>
                    </a:solidFill>
                  </a:tcPr>
                </a:tc>
                <a:tc>
                  <a:txBody>
                    <a:bodyPr/>
                    <a:lstStyle/>
                    <a:p>
                      <a:r>
                        <a:rPr sz="1800" b="0">
                          <a:solidFill>
                            <a:srgbClr val="202D39"/>
                          </a:solidFill>
                          <a:latin typeface="Arial"/>
                          <a:ea typeface="Arial"/>
                          <a:cs typeface="Arial"/>
                        </a:rPr>
                        <a:t>85,18</a:t>
                      </a:r>
                    </a:p>
                  </a:txBody>
                  <a:tcPr marL="47625" marR="47625" marT="47625" marB="47625">
                    <a:solidFill>
                      <a:srgbClr val="EDF5FB"/>
                    </a:solidFill>
                  </a:tcPr>
                </a:tc>
                <a:tc>
                  <a:txBody>
                    <a:bodyPr/>
                    <a:lstStyle/>
                    <a:p>
                      <a:r>
                        <a:rPr sz="1800" b="0">
                          <a:solidFill>
                            <a:srgbClr val="202D39"/>
                          </a:solidFill>
                          <a:latin typeface="Arial"/>
                          <a:ea typeface="Arial"/>
                          <a:cs typeface="Arial"/>
                        </a:rPr>
                        <a:t>16,31</a:t>
                      </a:r>
                    </a:p>
                  </a:txBody>
                  <a:tcPr marL="47625" marR="47625" marT="47625" marB="47625">
                    <a:solidFill>
                      <a:srgbClr val="EDF5FB"/>
                    </a:solidFill>
                  </a:tcPr>
                </a:tc>
              </a:tr>
              <a:tr h="469446">
                <a:tc>
                  <a:txBody>
                    <a:bodyPr/>
                    <a:lstStyle/>
                    <a:p>
                      <a:r>
                        <a:rPr sz="1800" b="0">
                          <a:solidFill>
                            <a:srgbClr val="202D39"/>
                          </a:solidFill>
                          <a:latin typeface="Arial"/>
                          <a:ea typeface="Arial"/>
                          <a:cs typeface="Arial"/>
                        </a:rPr>
                        <a:t>LightGBM</a:t>
                      </a:r>
                    </a:p>
                  </a:txBody>
                  <a:tcPr marL="47625" marR="47625" marT="47625" marB="47625">
                    <a:solidFill>
                      <a:srgbClr val="FFFFFF"/>
                    </a:solidFill>
                  </a:tcPr>
                </a:tc>
                <a:tc>
                  <a:txBody>
                    <a:bodyPr/>
                    <a:lstStyle/>
                    <a:p>
                      <a:r>
                        <a:rPr sz="1800" b="0">
                          <a:solidFill>
                            <a:srgbClr val="202D39"/>
                          </a:solidFill>
                          <a:latin typeface="Arial"/>
                          <a:ea typeface="Arial"/>
                          <a:cs typeface="Arial"/>
                        </a:rPr>
                        <a:t>79,24</a:t>
                      </a:r>
                    </a:p>
                  </a:txBody>
                  <a:tcPr marL="47625" marR="47625" marT="47625" marB="47625">
                    <a:solidFill>
                      <a:srgbClr val="FFFFFF"/>
                    </a:solidFill>
                  </a:tcPr>
                </a:tc>
                <a:tc>
                  <a:txBody>
                    <a:bodyPr/>
                    <a:lstStyle/>
                    <a:p>
                      <a:r>
                        <a:rPr sz="1800" b="0">
                          <a:solidFill>
                            <a:srgbClr val="202D39"/>
                          </a:solidFill>
                          <a:latin typeface="Arial"/>
                          <a:ea typeface="Arial"/>
                          <a:cs typeface="Arial"/>
                        </a:rPr>
                        <a:t>70,32</a:t>
                      </a:r>
                    </a:p>
                  </a:txBody>
                  <a:tcPr marL="47625" marR="47625" marT="47625" marB="47625">
                    <a:solidFill>
                      <a:srgbClr val="FFFFFF"/>
                    </a:solidFill>
                  </a:tcPr>
                </a:tc>
                <a:tc>
                  <a:txBody>
                    <a:bodyPr/>
                    <a:lstStyle/>
                    <a:p>
                      <a:r>
                        <a:rPr sz="1800" b="0">
                          <a:solidFill>
                            <a:srgbClr val="202D39"/>
                          </a:solidFill>
                          <a:latin typeface="Arial"/>
                          <a:ea typeface="Arial"/>
                          <a:cs typeface="Arial"/>
                        </a:rPr>
                        <a:t>15,87</a:t>
                      </a:r>
                    </a:p>
                  </a:txBody>
                  <a:tcPr marL="47625" marR="47625" marT="47625" marB="47625">
                    <a:solidFill>
                      <a:srgbClr val="FFFFFF"/>
                    </a:solidFill>
                  </a:tcPr>
                </a:tc>
                <a:tc>
                  <a:txBody>
                    <a:bodyPr/>
                    <a:lstStyle/>
                    <a:p>
                      <a:r>
                        <a:rPr sz="1800" b="0">
                          <a:solidFill>
                            <a:srgbClr val="202D39"/>
                          </a:solidFill>
                          <a:latin typeface="Arial"/>
                          <a:ea typeface="Arial"/>
                          <a:cs typeface="Arial"/>
                        </a:rPr>
                        <a:t>53,59</a:t>
                      </a:r>
                    </a:p>
                  </a:txBody>
                  <a:tcPr marL="47625" marR="47625" marT="47625" marB="47625">
                    <a:solidFill>
                      <a:srgbClr val="FFFFFF"/>
                    </a:solidFill>
                  </a:tcPr>
                </a:tc>
                <a:tc>
                  <a:txBody>
                    <a:bodyPr/>
                    <a:lstStyle/>
                    <a:p>
                      <a:r>
                        <a:rPr sz="1800" b="0">
                          <a:solidFill>
                            <a:srgbClr val="202D39"/>
                          </a:solidFill>
                          <a:latin typeface="Arial"/>
                          <a:ea typeface="Arial"/>
                          <a:cs typeface="Arial"/>
                        </a:rPr>
                        <a:t>6,15</a:t>
                      </a:r>
                    </a:p>
                  </a:txBody>
                  <a:tcPr marL="47625" marR="47625" marT="47625" marB="47625">
                    <a:solidFill>
                      <a:srgbClr val="FFFFFF"/>
                    </a:solidFill>
                  </a:tcPr>
                </a:tc>
              </a:tr>
              <a:tr h="469446">
                <a:tc>
                  <a:txBody>
                    <a:bodyPr/>
                    <a:lstStyle/>
                    <a:p>
                      <a:r>
                        <a:rPr sz="1800" b="0">
                          <a:solidFill>
                            <a:srgbClr val="202D39"/>
                          </a:solidFill>
                          <a:latin typeface="Arial"/>
                          <a:ea typeface="Arial"/>
                          <a:cs typeface="Arial"/>
                        </a:rPr>
                        <a:t>XGBoost</a:t>
                      </a:r>
                    </a:p>
                  </a:txBody>
                  <a:tcPr marL="47625" marR="47625" marT="47625" marB="47625">
                    <a:solidFill>
                      <a:srgbClr val="EDF5FB"/>
                    </a:solidFill>
                  </a:tcPr>
                </a:tc>
                <a:tc>
                  <a:txBody>
                    <a:bodyPr/>
                    <a:lstStyle/>
                    <a:p>
                      <a:r>
                        <a:rPr sz="1800" b="0">
                          <a:solidFill>
                            <a:srgbClr val="202D39"/>
                          </a:solidFill>
                          <a:latin typeface="Arial"/>
                          <a:ea typeface="Arial"/>
                          <a:cs typeface="Arial"/>
                        </a:rPr>
                        <a:t>79,26</a:t>
                      </a:r>
                    </a:p>
                  </a:txBody>
                  <a:tcPr marL="47625" marR="47625" marT="47625" marB="47625">
                    <a:solidFill>
                      <a:srgbClr val="EDF5FB"/>
                    </a:solidFill>
                  </a:tcPr>
                </a:tc>
                <a:tc>
                  <a:txBody>
                    <a:bodyPr/>
                    <a:lstStyle/>
                    <a:p>
                      <a:r>
                        <a:rPr sz="1800" b="0">
                          <a:solidFill>
                            <a:srgbClr val="202D39"/>
                          </a:solidFill>
                          <a:latin typeface="Arial"/>
                          <a:ea typeface="Arial"/>
                          <a:cs typeface="Arial"/>
                        </a:rPr>
                        <a:t>70,33</a:t>
                      </a:r>
                    </a:p>
                  </a:txBody>
                  <a:tcPr marL="47625" marR="47625" marT="47625" marB="47625">
                    <a:solidFill>
                      <a:srgbClr val="EDF5FB"/>
                    </a:solidFill>
                  </a:tcPr>
                </a:tc>
                <a:tc>
                  <a:txBody>
                    <a:bodyPr/>
                    <a:lstStyle/>
                    <a:p>
                      <a:r>
                        <a:rPr sz="1800" b="0">
                          <a:solidFill>
                            <a:srgbClr val="202D39"/>
                          </a:solidFill>
                          <a:latin typeface="Arial"/>
                          <a:ea typeface="Arial"/>
                          <a:cs typeface="Arial"/>
                        </a:rPr>
                        <a:t>15,50</a:t>
                      </a:r>
                    </a:p>
                  </a:txBody>
                  <a:tcPr marL="47625" marR="47625" marT="47625" marB="47625">
                    <a:solidFill>
                      <a:srgbClr val="EDF5FB"/>
                    </a:solidFill>
                  </a:tcPr>
                </a:tc>
                <a:tc>
                  <a:txBody>
                    <a:bodyPr/>
                    <a:lstStyle/>
                    <a:p>
                      <a:r>
                        <a:rPr sz="1800" b="0">
                          <a:solidFill>
                            <a:srgbClr val="202D39"/>
                          </a:solidFill>
                          <a:latin typeface="Arial"/>
                          <a:ea typeface="Arial"/>
                          <a:cs typeface="Arial"/>
                        </a:rPr>
                        <a:t>122,18</a:t>
                      </a:r>
                    </a:p>
                  </a:txBody>
                  <a:tcPr marL="47625" marR="47625" marT="47625" marB="47625">
                    <a:solidFill>
                      <a:srgbClr val="EDF5FB"/>
                    </a:solidFill>
                  </a:tcPr>
                </a:tc>
                <a:tc>
                  <a:txBody>
                    <a:bodyPr/>
                    <a:lstStyle/>
                    <a:p>
                      <a:r>
                        <a:rPr sz="1800" b="0">
                          <a:solidFill>
                            <a:srgbClr val="202D39"/>
                          </a:solidFill>
                          <a:latin typeface="Arial"/>
                          <a:ea typeface="Arial"/>
                          <a:cs typeface="Arial"/>
                        </a:rPr>
                        <a:t>4,43</a:t>
                      </a:r>
                    </a:p>
                  </a:txBody>
                  <a:tcPr marL="47625" marR="47625" marT="47625" marB="47625">
                    <a:solidFill>
                      <a:srgbClr val="EDF5FB"/>
                    </a:solidFill>
                  </a:tcPr>
                </a:tc>
              </a:tr>
              <a:tr h="469446">
                <a:tc>
                  <a:txBody>
                    <a:bodyPr/>
                    <a:lstStyle/>
                    <a:p>
                      <a:r>
                        <a:rPr sz="1800" b="0">
                          <a:solidFill>
                            <a:srgbClr val="202D39"/>
                          </a:solidFill>
                          <a:latin typeface="Arial"/>
                          <a:ea typeface="Arial"/>
                          <a:cs typeface="Arial"/>
                        </a:rPr>
                        <a:t>CatBoost</a:t>
                      </a:r>
                    </a:p>
                  </a:txBody>
                  <a:tcPr marL="47625" marR="47625" marT="47625" marB="47625">
                    <a:solidFill>
                      <a:srgbClr val="FFFFFF"/>
                    </a:solidFill>
                  </a:tcPr>
                </a:tc>
                <a:tc>
                  <a:txBody>
                    <a:bodyPr/>
                    <a:lstStyle/>
                    <a:p>
                      <a:r>
                        <a:rPr sz="1800" b="0">
                          <a:solidFill>
                            <a:srgbClr val="202D39"/>
                          </a:solidFill>
                          <a:latin typeface="Arial"/>
                          <a:ea typeface="Arial"/>
                          <a:cs typeface="Arial"/>
                        </a:rPr>
                        <a:t>79,26</a:t>
                      </a:r>
                    </a:p>
                  </a:txBody>
                  <a:tcPr marL="47625" marR="47625" marT="47625" marB="47625">
                    <a:solidFill>
                      <a:srgbClr val="FFFFFF"/>
                    </a:solidFill>
                  </a:tcPr>
                </a:tc>
                <a:tc>
                  <a:txBody>
                    <a:bodyPr/>
                    <a:lstStyle/>
                    <a:p>
                      <a:r>
                        <a:rPr sz="1800" b="0">
                          <a:solidFill>
                            <a:srgbClr val="202D39"/>
                          </a:solidFill>
                          <a:latin typeface="Arial"/>
                          <a:ea typeface="Arial"/>
                          <a:cs typeface="Arial"/>
                        </a:rPr>
                        <a:t>70,50</a:t>
                      </a:r>
                    </a:p>
                  </a:txBody>
                  <a:tcPr marL="47625" marR="47625" marT="47625" marB="47625">
                    <a:solidFill>
                      <a:srgbClr val="FFFFFF"/>
                    </a:solidFill>
                  </a:tcPr>
                </a:tc>
                <a:tc>
                  <a:txBody>
                    <a:bodyPr/>
                    <a:lstStyle/>
                    <a:p>
                      <a:r>
                        <a:rPr sz="1800" b="0">
                          <a:solidFill>
                            <a:srgbClr val="202D39"/>
                          </a:solidFill>
                          <a:latin typeface="Arial"/>
                          <a:ea typeface="Arial"/>
                          <a:cs typeface="Arial"/>
                        </a:rPr>
                        <a:t>15,77</a:t>
                      </a:r>
                    </a:p>
                  </a:txBody>
                  <a:tcPr marL="47625" marR="47625" marT="47625" marB="47625">
                    <a:solidFill>
                      <a:srgbClr val="FFFFFF"/>
                    </a:solidFill>
                  </a:tcPr>
                </a:tc>
                <a:tc>
                  <a:txBody>
                    <a:bodyPr/>
                    <a:lstStyle/>
                    <a:p>
                      <a:r>
                        <a:rPr sz="1800" b="0">
                          <a:solidFill>
                            <a:srgbClr val="202D39"/>
                          </a:solidFill>
                          <a:latin typeface="Arial"/>
                          <a:ea typeface="Arial"/>
                          <a:cs typeface="Arial"/>
                        </a:rPr>
                        <a:t>233,89</a:t>
                      </a:r>
                    </a:p>
                  </a:txBody>
                  <a:tcPr marL="47625" marR="47625" marT="47625" marB="47625">
                    <a:solidFill>
                      <a:srgbClr val="FFFFFF"/>
                    </a:solidFill>
                  </a:tcPr>
                </a:tc>
                <a:tc>
                  <a:txBody>
                    <a:bodyPr/>
                    <a:lstStyle/>
                    <a:p>
                      <a:r>
                        <a:rPr sz="1800" b="0">
                          <a:solidFill>
                            <a:srgbClr val="202D39"/>
                          </a:solidFill>
                          <a:latin typeface="Arial"/>
                          <a:ea typeface="Arial"/>
                          <a:cs typeface="Arial"/>
                        </a:rPr>
                        <a:t>8,24</a:t>
                      </a:r>
                    </a:p>
                  </a:txBody>
                  <a:tcPr marL="47625" marR="47625" marT="47625" marB="47625">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EB860A1-28F3-47F8-8FCC-3BDB968A88F2}"/>
              </a:ext>
            </a:extLst>
          </p:cNvPr>
          <p:cNvSpPr>
            <a:spLocks xmlns:a="http://schemas.openxmlformats.org/drawingml/2006/main" noGrp="1"/>
          </p:cNvSpPr>
          <p:nvPr/>
        </p:nvSpPr>
        <p:spPr>
          <a:xfrm xmlns:a="http://schemas.openxmlformats.org/drawingml/2006/main">
            <a:off x="571500" y="58388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072B7"/>
                </a:solidFill>
                <a:latin typeface="Arial"/>
                <a:ea typeface="Arial"/>
                <a:cs typeface="Arial"/>
              </a:defRPr>
            </a:defPPr>
          </a:lstStyle>
          <a:p xmlns:a="http://schemas.openxmlformats.org/drawingml/2006/main">
            <a:pPr>
              <a:defRPr sz="1800" b="1">
                <a:solidFill>
                  <a:srgbClr val="2072B7"/>
                </a:solidFill>
                <a:latin typeface="Arial"/>
                <a:ea typeface="Arial"/>
                <a:cs typeface="Arial"/>
              </a:defRPr>
            </a:pPr>
            <a:r>
              <a:rPr sz="1800" b="1">
                <a:solidFill>
                  <a:srgbClr val="2072B7"/>
                </a:solidFill>
                <a:latin typeface="Arial"/>
                <a:ea typeface="Arial"/>
                <a:cs typeface="Arial"/>
              </a:rPr>
              <a:t>CatBoost dẫn đầu Weighted F1: 70,50%. LightGBM dẫn đầu Macro F1: 15,87%.</a:t>
            </a:r>
          </a:p>
        </p:txBody>
      </p:sp>
    </p:spTree>
    <p:extLst>
      <p:ext uri="{BB962C8B-B14F-4D97-AF65-F5344CB8AC3E}">
        <p14:creationId xmlns:p14="http://schemas.microsoft.com/office/powerpoint/2010/main" val="24645443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4BC8F8-83D2-4F25-B5D3-72964F41995C}"/>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Accuracy cao, Macro F1 còn thấp</a:t>
            </a:r>
          </a:p>
        </p:txBody>
      </p:sp>
      <p:sp>
        <p:nvSpPr>
          <p:cNvPr id="2" name="">
            <a:extLst xmlns:a="http://schemas.openxmlformats.org/drawingml/2006/main">
              <a:ext uri="{FF2B5EF4-FFF2-40B4-BE49-F238E27FC236}">
                <a16:creationId xmlns:a16="http://schemas.microsoft.com/office/drawing/2014/main" id="{869689D5-0F3A-4E61-90B5-263420C51CA4}"/>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Lớp OnTime chiếm đa số, nên cần xem thêm chất lượng trên từng nguyên nhân trễ</a:t>
            </a:r>
          </a:p>
        </p:txBody>
      </p:sp>
      <p:sp>
        <p:nvSpPr>
          <p:cNvPr id="3" name="">
            <a:extLst xmlns:a="http://schemas.openxmlformats.org/drawingml/2006/main">
              <a:ext uri="{FF2B5EF4-FFF2-40B4-BE49-F238E27FC236}">
                <a16:creationId xmlns:a16="http://schemas.microsoft.com/office/drawing/2014/main" id="{E513ED91-B83C-42BB-97C9-C767E9A351D0}"/>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EE44ABF3-F920-48A4-955B-CF6D6F6480B5}"/>
              </a:ext>
            </a:extLst>
          </p:cNvPr>
          <p:cNvSpPr>
            <a:spLocks xmlns:a="http://schemas.openxmlformats.org/drawingml/2006/main" noGrp="1"/>
          </p:cNvSpPr>
          <p:nvPr/>
        </p:nvSpPr>
        <p:spPr>
          <a:xfrm xmlns:a="http://schemas.openxmlformats.org/drawingml/2006/main">
            <a:off x="571500" y="228600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defRPr sz="2100" b="0">
                <a:solidFill>
                  <a:srgbClr val="202D39"/>
                </a:solidFill>
                <a:latin typeface="Arial"/>
                <a:ea typeface="Arial"/>
                <a:cs typeface="Arial"/>
              </a:defRPr>
            </a:pPr>
            <a:r>
              <a:rPr sz="2100" b="0">
                <a:solidFill>
                  <a:srgbClr val="202D39"/>
                </a:solidFill>
                <a:latin typeface="Arial"/>
                <a:ea typeface="Arial"/>
                <a:cs typeface="Arial"/>
              </a:rPr>
              <a:t>Accuracy dao động 79,18–79,26%.</a:t>
            </a:r>
          </a:p>
        </p:txBody>
      </p:sp>
      <p:sp>
        <p:nvSpPr>
          <p:cNvPr id="5" name="">
            <a:extLst xmlns:a="http://schemas.openxmlformats.org/drawingml/2006/main">
              <a:ext uri="{FF2B5EF4-FFF2-40B4-BE49-F238E27FC236}">
                <a16:creationId xmlns:a16="http://schemas.microsoft.com/office/drawing/2014/main" id="{1B79B434-6DDD-4F9D-A6CE-0E454D60AC21}"/>
              </a:ext>
            </a:extLst>
          </p:cNvPr>
          <p:cNvSpPr>
            <a:spLocks xmlns:a="http://schemas.openxmlformats.org/drawingml/2006/main" noGrp="1"/>
          </p:cNvSpPr>
          <p:nvPr/>
        </p:nvSpPr>
        <p:spPr>
          <a:xfrm xmlns:a="http://schemas.openxmlformats.org/drawingml/2006/main">
            <a:off x="571500" y="34004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defRPr sz="2100" b="0">
                <a:solidFill>
                  <a:srgbClr val="202D39"/>
                </a:solidFill>
                <a:latin typeface="Arial"/>
                <a:ea typeface="Arial"/>
                <a:cs typeface="Arial"/>
              </a:defRPr>
            </a:pPr>
            <a:r>
              <a:rPr sz="2100" b="0">
                <a:solidFill>
                  <a:srgbClr val="202D39"/>
                </a:solidFill>
                <a:latin typeface="Arial"/>
                <a:ea typeface="Arial"/>
                <a:cs typeface="Arial"/>
              </a:rPr>
              <a:t>Macro F1 chỉ 14,73–15,87%.</a:t>
            </a:r>
          </a:p>
        </p:txBody>
      </p:sp>
      <p:sp>
        <p:nvSpPr>
          <p:cNvPr id="6" name="">
            <a:extLst xmlns:a="http://schemas.openxmlformats.org/drawingml/2006/main">
              <a:ext uri="{FF2B5EF4-FFF2-40B4-BE49-F238E27FC236}">
                <a16:creationId xmlns:a16="http://schemas.microsoft.com/office/drawing/2014/main" id="{67D4803F-BA65-4E78-8D50-D27DDD23E1E4}"/>
              </a:ext>
            </a:extLst>
          </p:cNvPr>
          <p:cNvSpPr>
            <a:spLocks xmlns:a="http://schemas.openxmlformats.org/drawingml/2006/main" noGrp="1"/>
          </p:cNvSpPr>
          <p:nvPr/>
        </p:nvSpPr>
        <p:spPr>
          <a:xfrm xmlns:a="http://schemas.openxmlformats.org/drawingml/2006/main">
            <a:off x="571500" y="45148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defRPr sz="2100" b="0">
                <a:solidFill>
                  <a:srgbClr val="202D39"/>
                </a:solidFill>
                <a:latin typeface="Arial"/>
                <a:ea typeface="Arial"/>
                <a:cs typeface="Arial"/>
              </a:defRPr>
            </a:pPr>
            <a:r>
              <a:rPr sz="2100" b="0">
                <a:solidFill>
                  <a:srgbClr val="202D39"/>
                </a:solidFill>
                <a:latin typeface="Arial"/>
                <a:ea typeface="Arial"/>
                <a:cs typeface="Arial"/>
              </a:rPr>
              <a:t>Chênh lệch này cho thấy kết quả tổng thể chưa phản ánh tốt các lớp hiếm.</a:t>
            </a:r>
          </a:p>
        </p:txBody>
      </p:sp>
      <p:graphicFrame>
        <p:nvGraphicFramePr>
          <p:cNvPr id="7" name="Chart">
            <a:extLst xmlns:a="http://schemas.openxmlformats.org/drawingml/2006/main">
              <a:ext uri="{FF2B5EF4-FFF2-40B4-BE49-F238E27FC236}">
                <a16:creationId xmlns:a16="http://schemas.microsoft.com/office/drawing/2014/main" id="{AF655478-AED9-4C7F-A650-E65A35C110DF}"/>
              </a:ext>
            </a:extLst>
          </p:cNvPr>
          <p:cNvGraphicFramePr/>
          <p:nvPr/>
        </p:nvGraphicFramePr>
        <p:xfrm>
          <a:off xmlns:a="http://schemas.openxmlformats.org/drawingml/2006/main" x="5095875" y="2238375"/>
          <a:ext xmlns:a="http://schemas.openxmlformats.org/drawingml/2006/main" cx="6572250" cy="3667125"/>
        </p:xfrm>
        <a:graphic xmlns:a="http://schemas.openxmlformats.org/drawingml/2006/main">
          <a:graphicData uri="http://schemas.openxmlformats.org/drawingml/2006/chart">
            <c:chart xmlns:r="http://schemas.openxmlformats.org/officeDocument/2006/relationships" xmlns:c="http://schemas.openxmlformats.org/drawingml/2006/chart" r:id="R8dce62ab13af4567"/>
          </a:graphicData>
        </a:graphic>
      </p:graphicFrame>
    </p:spTree>
    <p:extLst>
      <p:ext uri="{BB962C8B-B14F-4D97-AF65-F5344CB8AC3E}">
        <p14:creationId xmlns:p14="http://schemas.microsoft.com/office/powerpoint/2010/main" val="36774510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CE5F85-CBC6-4C64-BED5-CD5302BB41F8}"/>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Ba mô hình Spark MLlib thực đo</a:t>
            </a:r>
          </a:p>
        </p:txBody>
      </p:sp>
      <p:sp>
        <p:nvSpPr>
          <p:cNvPr id="2" name="">
            <a:extLst xmlns:a="http://schemas.openxmlformats.org/drawingml/2006/main">
              <a:ext uri="{FF2B5EF4-FFF2-40B4-BE49-F238E27FC236}">
                <a16:creationId xmlns:a16="http://schemas.microsoft.com/office/drawing/2014/main" id="{F3933A00-7A17-44E4-A2FC-76EE99D1BDEA}"/>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Chỉ Logistic Regression, Decision Tree và Random Forest được xác nhận huấn luyện thật</a:t>
            </a:r>
          </a:p>
        </p:txBody>
      </p:sp>
      <p:sp>
        <p:nvSpPr>
          <p:cNvPr id="3" name="">
            <a:extLst xmlns:a="http://schemas.openxmlformats.org/drawingml/2006/main">
              <a:ext uri="{FF2B5EF4-FFF2-40B4-BE49-F238E27FC236}">
                <a16:creationId xmlns:a16="http://schemas.microsoft.com/office/drawing/2014/main" id="{8F4FCCFF-4FA4-4FB2-81E8-835EB53B442D}"/>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F867F6AE-E361-433C-94F5-83EA78973FDC}"/>
              </a:ext>
            </a:extLst>
          </p:cNvPr>
          <p:cNvGraphicFramePr/>
          <p:nvPr/>
        </p:nvGraphicFramePr>
        <p:xfrm>
          <a:off xmlns:a="http://schemas.openxmlformats.org/drawingml/2006/main" x="571500" y="2266950"/>
          <a:ext xmlns:a="http://schemas.openxmlformats.org/drawingml/2006/main" cx="11049000" cy="2381250"/>
        </p:xfrm>
        <a:graphic xmlns:a="http://schemas.openxmlformats.org/drawingml/2006/main">
          <a:graphicData uri="http://schemas.openxmlformats.org/drawingml/2006/table">
            <a:tbl>
              <a:tblPr/>
              <a:tblGrid>
                <a:gridCol w="3333750"/>
                <a:gridCol w="1714500"/>
                <a:gridCol w="2000250"/>
                <a:gridCol w="1524000"/>
                <a:gridCol w="2476500"/>
              </a:tblGrid>
              <a:tr h="595313">
                <a:tc>
                  <a:txBody>
                    <a:bodyPr/>
                    <a:lstStyle/>
                    <a:p>
                      <a:r>
                        <a:rPr sz="1875" b="1">
                          <a:solidFill>
                            <a:srgbClr val="FFFFFF"/>
                          </a:solidFill>
                          <a:latin typeface="Arial"/>
                          <a:ea typeface="Arial"/>
                          <a:cs typeface="Arial"/>
                        </a:rPr>
                        <a:t>Mô hình Spark</a:t>
                      </a:r>
                    </a:p>
                  </a:txBody>
                  <a:tcPr marL="47625" marR="47625" marT="47625" marB="47625">
                    <a:solidFill>
                      <a:srgbClr val="2072B7"/>
                    </a:solidFill>
                  </a:tcPr>
                </a:tc>
                <a:tc>
                  <a:txBody>
                    <a:bodyPr/>
                    <a:lstStyle/>
                    <a:p>
                      <a:r>
                        <a:rPr sz="1875" b="1">
                          <a:solidFill>
                            <a:srgbClr val="FFFFFF"/>
                          </a:solidFill>
                          <a:latin typeface="Arial"/>
                          <a:ea typeface="Arial"/>
                          <a:cs typeface="Arial"/>
                        </a:rPr>
                        <a:t>Accuracy</a:t>
                      </a:r>
                    </a:p>
                    <a:p>
                      <a:r>
                        <a:rPr sz="1875" b="1">
                          <a:solidFill>
                            <a:srgbClr val="FFFFFF"/>
                          </a:solidFill>
                          <a:latin typeface="Arial"/>
                          <a:ea typeface="Arial"/>
                          <a:cs typeface="Arial"/>
                        </a:rPr>
                        <a:t>%</a:t>
                      </a:r>
                    </a:p>
                  </a:txBody>
                  <a:tcPr marL="47625" marR="47625" marT="47625" marB="47625">
                    <a:solidFill>
                      <a:srgbClr val="2072B7"/>
                    </a:solidFill>
                  </a:tcPr>
                </a:tc>
                <a:tc>
                  <a:txBody>
                    <a:bodyPr/>
                    <a:lstStyle/>
                    <a:p>
                      <a:r>
                        <a:rPr sz="1875" b="1">
                          <a:solidFill>
                            <a:srgbClr val="FFFFFF"/>
                          </a:solidFill>
                          <a:latin typeface="Arial"/>
                          <a:ea typeface="Arial"/>
                          <a:cs typeface="Arial"/>
                        </a:rPr>
                        <a:t>Weighted F1</a:t>
                      </a:r>
                    </a:p>
                    <a:p>
                      <a:r>
                        <a:rPr sz="1875" b="1">
                          <a:solidFill>
                            <a:srgbClr val="FFFFFF"/>
                          </a:solidFill>
                          <a:latin typeface="Arial"/>
                          <a:ea typeface="Arial"/>
                          <a:cs typeface="Arial"/>
                        </a:rPr>
                        <a:t>%</a:t>
                      </a:r>
                    </a:p>
                  </a:txBody>
                  <a:tcPr marL="47625" marR="47625" marT="47625" marB="47625">
                    <a:solidFill>
                      <a:srgbClr val="2072B7"/>
                    </a:solidFill>
                  </a:tcPr>
                </a:tc>
                <a:tc>
                  <a:txBody>
                    <a:bodyPr/>
                    <a:lstStyle/>
                    <a:p>
                      <a:r>
                        <a:rPr sz="1875" b="1">
                          <a:solidFill>
                            <a:srgbClr val="FFFFFF"/>
                          </a:solidFill>
                          <a:latin typeface="Arial"/>
                          <a:ea typeface="Arial"/>
                          <a:cs typeface="Arial"/>
                        </a:rPr>
                        <a:t>Train</a:t>
                      </a:r>
                    </a:p>
                    <a:p>
                      <a:r>
                        <a:rPr sz="1875" b="1">
                          <a:solidFill>
                            <a:srgbClr val="FFFFFF"/>
                          </a:solidFill>
                          <a:latin typeface="Arial"/>
                          <a:ea typeface="Arial"/>
                          <a:cs typeface="Arial"/>
                        </a:rPr>
                        <a:t>giây</a:t>
                      </a:r>
                    </a:p>
                  </a:txBody>
                  <a:tcPr marL="47625" marR="47625" marT="47625" marB="47625">
                    <a:solidFill>
                      <a:srgbClr val="2072B7"/>
                    </a:solidFill>
                  </a:tcPr>
                </a:tc>
                <a:tc>
                  <a:txBody>
                    <a:bodyPr/>
                    <a:lstStyle/>
                    <a:p>
                      <a:r>
                        <a:rPr sz="1875" b="1">
                          <a:solidFill>
                            <a:srgbClr val="FFFFFF"/>
                          </a:solidFill>
                          <a:latin typeface="Arial"/>
                          <a:ea typeface="Arial"/>
                          <a:cs typeface="Arial"/>
                        </a:rPr>
                        <a:t>Suy luận</a:t>
                      </a:r>
                    </a:p>
                    <a:p>
                      <a:r>
                        <a:rPr sz="1875" b="1">
                          <a:solidFill>
                            <a:srgbClr val="FFFFFF"/>
                          </a:solidFill>
                          <a:latin typeface="Arial"/>
                          <a:ea typeface="Arial"/>
                          <a:cs typeface="Arial"/>
                        </a:rPr>
                        <a:t>ms/1.000 mẫu</a:t>
                      </a:r>
                    </a:p>
                  </a:txBody>
                  <a:tcPr marL="47625" marR="47625" marT="47625" marB="47625">
                    <a:solidFill>
                      <a:srgbClr val="2072B7"/>
                    </a:solidFill>
                  </a:tcPr>
                </a:tc>
              </a:tr>
              <a:tr h="595313">
                <a:tc>
                  <a:txBody>
                    <a:bodyPr/>
                    <a:lstStyle/>
                    <a:p>
                      <a:r>
                        <a:rPr sz="1875" b="0">
                          <a:solidFill>
                            <a:srgbClr val="202D39"/>
                          </a:solidFill>
                          <a:latin typeface="Arial"/>
                          <a:ea typeface="Arial"/>
                          <a:cs typeface="Arial"/>
                        </a:rPr>
                        <a:t>Logistic Regression</a:t>
                      </a:r>
                    </a:p>
                  </a:txBody>
                  <a:tcPr marL="47625" marR="47625" marT="47625" marB="47625">
                    <a:solidFill>
                      <a:srgbClr val="EDF5FB"/>
                    </a:solidFill>
                  </a:tcPr>
                </a:tc>
                <a:tc>
                  <a:txBody>
                    <a:bodyPr/>
                    <a:lstStyle/>
                    <a:p>
                      <a:r>
                        <a:rPr sz="1875" b="0">
                          <a:solidFill>
                            <a:srgbClr val="202D39"/>
                          </a:solidFill>
                          <a:latin typeface="Arial"/>
                          <a:ea typeface="Arial"/>
                          <a:cs typeface="Arial"/>
                        </a:rPr>
                        <a:t>79,20</a:t>
                      </a:r>
                    </a:p>
                  </a:txBody>
                  <a:tcPr marL="47625" marR="47625" marT="47625" marB="47625">
                    <a:solidFill>
                      <a:srgbClr val="EDF5FB"/>
                    </a:solidFill>
                  </a:tcPr>
                </a:tc>
                <a:tc>
                  <a:txBody>
                    <a:bodyPr/>
                    <a:lstStyle/>
                    <a:p>
                      <a:r>
                        <a:rPr sz="1875" b="0">
                          <a:solidFill>
                            <a:srgbClr val="202D39"/>
                          </a:solidFill>
                          <a:latin typeface="Arial"/>
                          <a:ea typeface="Arial"/>
                          <a:cs typeface="Arial"/>
                        </a:rPr>
                        <a:t>70,00</a:t>
                      </a:r>
                    </a:p>
                  </a:txBody>
                  <a:tcPr marL="47625" marR="47625" marT="47625" marB="47625">
                    <a:solidFill>
                      <a:srgbClr val="EDF5FB"/>
                    </a:solidFill>
                  </a:tcPr>
                </a:tc>
                <a:tc>
                  <a:txBody>
                    <a:bodyPr/>
                    <a:lstStyle/>
                    <a:p>
                      <a:r>
                        <a:rPr sz="1875" b="0">
                          <a:solidFill>
                            <a:srgbClr val="202D39"/>
                          </a:solidFill>
                          <a:latin typeface="Arial"/>
                          <a:ea typeface="Arial"/>
                          <a:cs typeface="Arial"/>
                        </a:rPr>
                        <a:t>19,29</a:t>
                      </a:r>
                    </a:p>
                  </a:txBody>
                  <a:tcPr marL="47625" marR="47625" marT="47625" marB="47625">
                    <a:solidFill>
                      <a:srgbClr val="EDF5FB"/>
                    </a:solidFill>
                  </a:tcPr>
                </a:tc>
                <a:tc>
                  <a:txBody>
                    <a:bodyPr/>
                    <a:lstStyle/>
                    <a:p>
                      <a:r>
                        <a:rPr sz="1875" b="0">
                          <a:solidFill>
                            <a:srgbClr val="202D39"/>
                          </a:solidFill>
                          <a:latin typeface="Arial"/>
                          <a:ea typeface="Arial"/>
                          <a:cs typeface="Arial"/>
                        </a:rPr>
                        <a:t>2,19</a:t>
                      </a:r>
                    </a:p>
                  </a:txBody>
                  <a:tcPr marL="47625" marR="47625" marT="47625" marB="47625">
                    <a:solidFill>
                      <a:srgbClr val="EDF5FB"/>
                    </a:solidFill>
                  </a:tcPr>
                </a:tc>
              </a:tr>
              <a:tr h="595313">
                <a:tc>
                  <a:txBody>
                    <a:bodyPr/>
                    <a:lstStyle/>
                    <a:p>
                      <a:r>
                        <a:rPr sz="1875" b="0">
                          <a:solidFill>
                            <a:srgbClr val="202D39"/>
                          </a:solidFill>
                          <a:latin typeface="Arial"/>
                          <a:ea typeface="Arial"/>
                          <a:cs typeface="Arial"/>
                        </a:rPr>
                        <a:t>Decision Tree</a:t>
                      </a:r>
                    </a:p>
                  </a:txBody>
                  <a:tcPr marL="47625" marR="47625" marT="47625" marB="47625">
                    <a:solidFill>
                      <a:srgbClr val="FFFFFF"/>
                    </a:solidFill>
                  </a:tcPr>
                </a:tc>
                <a:tc>
                  <a:txBody>
                    <a:bodyPr/>
                    <a:lstStyle/>
                    <a:p>
                      <a:r>
                        <a:rPr sz="1875" b="0">
                          <a:solidFill>
                            <a:srgbClr val="202D39"/>
                          </a:solidFill>
                          <a:latin typeface="Arial"/>
                          <a:ea typeface="Arial"/>
                          <a:cs typeface="Arial"/>
                        </a:rPr>
                        <a:t>79,20</a:t>
                      </a:r>
                    </a:p>
                  </a:txBody>
                  <a:tcPr marL="47625" marR="47625" marT="47625" marB="47625">
                    <a:solidFill>
                      <a:srgbClr val="FFFFFF"/>
                    </a:solidFill>
                  </a:tcPr>
                </a:tc>
                <a:tc>
                  <a:txBody>
                    <a:bodyPr/>
                    <a:lstStyle/>
                    <a:p>
                      <a:r>
                        <a:rPr sz="1875" b="0">
                          <a:solidFill>
                            <a:srgbClr val="202D39"/>
                          </a:solidFill>
                          <a:latin typeface="Arial"/>
                          <a:ea typeface="Arial"/>
                          <a:cs typeface="Arial"/>
                        </a:rPr>
                        <a:t>70,00</a:t>
                      </a:r>
                    </a:p>
                  </a:txBody>
                  <a:tcPr marL="47625" marR="47625" marT="47625" marB="47625">
                    <a:solidFill>
                      <a:srgbClr val="FFFFFF"/>
                    </a:solidFill>
                  </a:tcPr>
                </a:tc>
                <a:tc>
                  <a:txBody>
                    <a:bodyPr/>
                    <a:lstStyle/>
                    <a:p>
                      <a:r>
                        <a:rPr sz="1875" b="0">
                          <a:solidFill>
                            <a:srgbClr val="202D39"/>
                          </a:solidFill>
                          <a:latin typeface="Arial"/>
                          <a:ea typeface="Arial"/>
                          <a:cs typeface="Arial"/>
                        </a:rPr>
                        <a:t>23,13</a:t>
                      </a:r>
                    </a:p>
                  </a:txBody>
                  <a:tcPr marL="47625" marR="47625" marT="47625" marB="47625">
                    <a:solidFill>
                      <a:srgbClr val="FFFFFF"/>
                    </a:solidFill>
                  </a:tcPr>
                </a:tc>
                <a:tc>
                  <a:txBody>
                    <a:bodyPr/>
                    <a:lstStyle/>
                    <a:p>
                      <a:r>
                        <a:rPr sz="1875" b="0">
                          <a:solidFill>
                            <a:srgbClr val="202D39"/>
                          </a:solidFill>
                          <a:latin typeface="Arial"/>
                          <a:ea typeface="Arial"/>
                          <a:cs typeface="Arial"/>
                        </a:rPr>
                        <a:t>1,77</a:t>
                      </a:r>
                    </a:p>
                  </a:txBody>
                  <a:tcPr marL="47625" marR="47625" marT="47625" marB="47625">
                    <a:solidFill>
                      <a:srgbClr val="FFFFFF"/>
                    </a:solidFill>
                  </a:tcPr>
                </a:tc>
              </a:tr>
              <a:tr h="595313">
                <a:tc>
                  <a:txBody>
                    <a:bodyPr/>
                    <a:lstStyle/>
                    <a:p>
                      <a:r>
                        <a:rPr sz="1875" b="0">
                          <a:solidFill>
                            <a:srgbClr val="202D39"/>
                          </a:solidFill>
                          <a:latin typeface="Arial"/>
                          <a:ea typeface="Arial"/>
                          <a:cs typeface="Arial"/>
                        </a:rPr>
                        <a:t>Random Forest</a:t>
                      </a:r>
                    </a:p>
                  </a:txBody>
                  <a:tcPr marL="47625" marR="47625" marT="47625" marB="47625">
                    <a:solidFill>
                      <a:srgbClr val="EDF5FB"/>
                    </a:solidFill>
                  </a:tcPr>
                </a:tc>
                <a:tc>
                  <a:txBody>
                    <a:bodyPr/>
                    <a:lstStyle/>
                    <a:p>
                      <a:r>
                        <a:rPr sz="1875" b="0">
                          <a:solidFill>
                            <a:srgbClr val="202D39"/>
                          </a:solidFill>
                          <a:latin typeface="Arial"/>
                          <a:ea typeface="Arial"/>
                          <a:cs typeface="Arial"/>
                        </a:rPr>
                        <a:t>79,20</a:t>
                      </a:r>
                    </a:p>
                  </a:txBody>
                  <a:tcPr marL="47625" marR="47625" marT="47625" marB="47625">
                    <a:solidFill>
                      <a:srgbClr val="EDF5FB"/>
                    </a:solidFill>
                  </a:tcPr>
                </a:tc>
                <a:tc>
                  <a:txBody>
                    <a:bodyPr/>
                    <a:lstStyle/>
                    <a:p>
                      <a:r>
                        <a:rPr sz="1875" b="0">
                          <a:solidFill>
                            <a:srgbClr val="202D39"/>
                          </a:solidFill>
                          <a:latin typeface="Arial"/>
                          <a:ea typeface="Arial"/>
                          <a:cs typeface="Arial"/>
                        </a:rPr>
                        <a:t>70,00</a:t>
                      </a:r>
                    </a:p>
                  </a:txBody>
                  <a:tcPr marL="47625" marR="47625" marT="47625" marB="47625">
                    <a:solidFill>
                      <a:srgbClr val="EDF5FB"/>
                    </a:solidFill>
                  </a:tcPr>
                </a:tc>
                <a:tc>
                  <a:txBody>
                    <a:bodyPr/>
                    <a:lstStyle/>
                    <a:p>
                      <a:r>
                        <a:rPr sz="1875" b="0">
                          <a:solidFill>
                            <a:srgbClr val="202D39"/>
                          </a:solidFill>
                          <a:latin typeface="Arial"/>
                          <a:ea typeface="Arial"/>
                          <a:cs typeface="Arial"/>
                        </a:rPr>
                        <a:t>31,03</a:t>
                      </a:r>
                    </a:p>
                  </a:txBody>
                  <a:tcPr marL="47625" marR="47625" marT="47625" marB="47625">
                    <a:solidFill>
                      <a:srgbClr val="EDF5FB"/>
                    </a:solidFill>
                  </a:tcPr>
                </a:tc>
                <a:tc>
                  <a:txBody>
                    <a:bodyPr/>
                    <a:lstStyle/>
                    <a:p>
                      <a:r>
                        <a:rPr sz="1875" b="0">
                          <a:solidFill>
                            <a:srgbClr val="202D39"/>
                          </a:solidFill>
                          <a:latin typeface="Arial"/>
                          <a:ea typeface="Arial"/>
                          <a:cs typeface="Arial"/>
                        </a:rPr>
                        <a:t>1,86</a:t>
                      </a:r>
                    </a:p>
                  </a:txBody>
                  <a:tcPr marL="47625" marR="47625" marT="47625" marB="47625">
                    <a:solidFill>
                      <a:srgbClr val="EDF5FB"/>
                    </a:solidFill>
                  </a:tcPr>
                </a:tc>
              </a:tr>
            </a:tbl>
          </a:graphicData>
        </a:graphic>
      </p:graphicFrame>
      <p:sp>
        <p:nvSpPr>
          <p:cNvPr id="5" name="">
            <a:extLst xmlns:a="http://schemas.openxmlformats.org/drawingml/2006/main">
              <a:ext uri="{FF2B5EF4-FFF2-40B4-BE49-F238E27FC236}">
                <a16:creationId xmlns:a16="http://schemas.microsoft.com/office/drawing/2014/main" id="{0EAACC3B-F8E2-4E8F-915B-8184A77037C4}"/>
              </a:ext>
            </a:extLst>
          </p:cNvPr>
          <p:cNvSpPr>
            <a:spLocks xmlns:a="http://schemas.openxmlformats.org/drawingml/2006/main" noGrp="1"/>
          </p:cNvSpPr>
          <p:nvPr/>
        </p:nvSpPr>
        <p:spPr>
          <a:xfrm xmlns:a="http://schemas.openxmlformats.org/drawingml/2006/main">
            <a:off x="571500" y="5000625"/>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072B7"/>
                </a:solidFill>
                <a:latin typeface="Arial"/>
                <a:ea typeface="Arial"/>
                <a:cs typeface="Arial"/>
              </a:defRPr>
            </a:defPPr>
          </a:lstStyle>
          <a:p xmlns:a="http://schemas.openxmlformats.org/drawingml/2006/main">
            <a:pPr>
              <a:defRPr sz="2100" b="1">
                <a:solidFill>
                  <a:srgbClr val="2072B7"/>
                </a:solidFill>
                <a:latin typeface="Arial"/>
                <a:ea typeface="Arial"/>
                <a:cs typeface="Arial"/>
              </a:defRPr>
            </a:pPr>
            <a:r>
              <a:rPr sz="2100" b="1">
                <a:solidFill>
                  <a:srgbClr val="2072B7"/>
                </a:solidFill>
                <a:latin typeface="Arial"/>
                <a:ea typeface="Arial"/>
                <a:cs typeface="Arial"/>
              </a:rPr>
              <a:t>Cả ba đạt Accuracy 79,20% và Weighted F1 70,00%.</a:t>
            </a:r>
          </a:p>
        </p:txBody>
      </p:sp>
      <p:sp>
        <p:nvSpPr>
          <p:cNvPr id="6" name="">
            <a:extLst xmlns:a="http://schemas.openxmlformats.org/drawingml/2006/main">
              <a:ext uri="{FF2B5EF4-FFF2-40B4-BE49-F238E27FC236}">
                <a16:creationId xmlns:a16="http://schemas.microsoft.com/office/drawing/2014/main" id="{C452878B-3256-4FFA-9ADF-9BA861420E2B}"/>
              </a:ext>
            </a:extLst>
          </p:cNvPr>
          <p:cNvSpPr>
            <a:spLocks xmlns:a="http://schemas.openxmlformats.org/drawingml/2006/main" noGrp="1"/>
          </p:cNvSpPr>
          <p:nvPr/>
        </p:nvSpPr>
        <p:spPr>
          <a:xfrm xmlns:a="http://schemas.openxmlformats.org/drawingml/2006/main">
            <a:off x="571500" y="561975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86675"/>
                </a:solidFill>
                <a:latin typeface="Arial"/>
                <a:ea typeface="Arial"/>
                <a:cs typeface="Arial"/>
              </a:defRPr>
            </a:defPPr>
          </a:lstStyle>
          <a:p xmlns:a="http://schemas.openxmlformats.org/drawingml/2006/main">
            <a:pPr>
              <a:defRPr sz="1800" b="0">
                <a:solidFill>
                  <a:srgbClr val="586675"/>
                </a:solidFill>
                <a:latin typeface="Arial"/>
                <a:ea typeface="Arial"/>
                <a:cs typeface="Arial"/>
              </a:defRPr>
            </a:pPr>
            <a:r>
              <a:rPr sz="1800" b="0">
                <a:solidFill>
                  <a:srgbClr val="586675"/>
                </a:solidFill>
                <a:latin typeface="Arial"/>
                <a:ea typeface="Arial"/>
                <a:cs typeface="Arial"/>
              </a:rPr>
              <a:t>Macro F1 chưa có. Ba tích hợp boosting Spark chưa có kết quả thực đo hợp lệ.</a:t>
            </a:r>
          </a:p>
        </p:txBody>
      </p:sp>
    </p:spTree>
    <p:extLst>
      <p:ext uri="{BB962C8B-B14F-4D97-AF65-F5344CB8AC3E}">
        <p14:creationId xmlns:p14="http://schemas.microsoft.com/office/powerpoint/2010/main" val="189450309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B0412B-280F-439E-8B53-FC2B27291664}"/>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Đối sánh thời gian CPU và Spark</a:t>
            </a:r>
          </a:p>
        </p:txBody>
      </p:sp>
      <p:sp>
        <p:nvSpPr>
          <p:cNvPr id="2" name="">
            <a:extLst xmlns:a="http://schemas.openxmlformats.org/drawingml/2006/main">
              <a:ext uri="{FF2B5EF4-FFF2-40B4-BE49-F238E27FC236}">
                <a16:creationId xmlns:a16="http://schemas.microsoft.com/office/drawing/2014/main" id="{6862E8A3-B3F9-48E9-AC28-D466775233A7}"/>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Random Forest Spark có thời gian train thấp hơn trong hai cấu hình đang xét</a:t>
            </a:r>
          </a:p>
        </p:txBody>
      </p:sp>
      <p:sp>
        <p:nvSpPr>
          <p:cNvPr id="3" name="">
            <a:extLst xmlns:a="http://schemas.openxmlformats.org/drawingml/2006/main">
              <a:ext uri="{FF2B5EF4-FFF2-40B4-BE49-F238E27FC236}">
                <a16:creationId xmlns:a16="http://schemas.microsoft.com/office/drawing/2014/main" id="{2ED5B7B8-165D-40E5-9F0D-A32CDBD6A279}"/>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38B3B6B2-3F89-470D-82E1-C812B41EBBA4}"/>
              </a:ext>
            </a:extLst>
          </p:cNvPr>
          <p:cNvSpPr>
            <a:spLocks xmlns:a="http://schemas.openxmlformats.org/drawingml/2006/main" noGrp="1"/>
          </p:cNvSpPr>
          <p:nvPr/>
        </p:nvSpPr>
        <p:spPr>
          <a:xfrm xmlns:a="http://schemas.openxmlformats.org/drawingml/2006/main">
            <a:off x="571500" y="22383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Random Forest train: 85,18 giây CPU và 31,03 giây Spark.</a:t>
            </a:r>
          </a:p>
        </p:txBody>
      </p:sp>
      <p:sp>
        <p:nvSpPr>
          <p:cNvPr id="5" name="">
            <a:extLst xmlns:a="http://schemas.openxmlformats.org/drawingml/2006/main">
              <a:ext uri="{FF2B5EF4-FFF2-40B4-BE49-F238E27FC236}">
                <a16:creationId xmlns:a16="http://schemas.microsoft.com/office/drawing/2014/main" id="{E5AD9E06-0B6F-4B5E-B163-079A4018E1A1}"/>
              </a:ext>
            </a:extLst>
          </p:cNvPr>
          <p:cNvSpPr>
            <a:spLocks xmlns:a="http://schemas.openxmlformats.org/drawingml/2006/main" noGrp="1"/>
          </p:cNvSpPr>
          <p:nvPr/>
        </p:nvSpPr>
        <p:spPr>
          <a:xfrm xmlns:a="http://schemas.openxmlformats.org/drawingml/2006/main">
            <a:off x="571500" y="335280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Tỷ lệ thời gian train: 2,75 lần.</a:t>
            </a:r>
          </a:p>
        </p:txBody>
      </p:sp>
      <p:sp>
        <p:nvSpPr>
          <p:cNvPr id="6" name="">
            <a:extLst xmlns:a="http://schemas.openxmlformats.org/drawingml/2006/main">
              <a:ext uri="{FF2B5EF4-FFF2-40B4-BE49-F238E27FC236}">
                <a16:creationId xmlns:a16="http://schemas.microsoft.com/office/drawing/2014/main" id="{84DF3D22-098C-49B8-9B42-2039091F084D}"/>
              </a:ext>
            </a:extLst>
          </p:cNvPr>
          <p:cNvSpPr>
            <a:spLocks xmlns:a="http://schemas.openxmlformats.org/drawingml/2006/main" noGrp="1"/>
          </p:cNvSpPr>
          <p:nvPr/>
        </p:nvSpPr>
        <p:spPr>
          <a:xfrm xmlns:a="http://schemas.openxmlformats.org/drawingml/2006/main">
            <a:off x="571500" y="44672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Suy luận: 16,31 và 1,86 ms/1.000 mẫu, tỷ lệ 8,77 lần.</a:t>
            </a:r>
          </a:p>
        </p:txBody>
      </p:sp>
      <p:graphicFrame>
        <p:nvGraphicFramePr>
          <p:cNvPr id="7" name="Chart">
            <a:extLst xmlns:a="http://schemas.openxmlformats.org/drawingml/2006/main">
              <a:ext uri="{FF2B5EF4-FFF2-40B4-BE49-F238E27FC236}">
                <a16:creationId xmlns:a16="http://schemas.microsoft.com/office/drawing/2014/main" id="{16D3610D-8A4D-4142-8CF8-102D7AD81DA2}"/>
              </a:ext>
            </a:extLst>
          </p:cNvPr>
          <p:cNvGraphicFramePr/>
          <p:nvPr/>
        </p:nvGraphicFramePr>
        <p:xfrm>
          <a:off xmlns:a="http://schemas.openxmlformats.org/drawingml/2006/main" x="5095875" y="2190750"/>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b609fdaaa6104d47"/>
          </a:graphicData>
        </a:graphic>
      </p:graphicFrame>
      <p:sp>
        <p:nvSpPr>
          <p:cNvPr id="8" name="">
            <a:extLst xmlns:a="http://schemas.openxmlformats.org/drawingml/2006/main">
              <a:ext uri="{FF2B5EF4-FFF2-40B4-BE49-F238E27FC236}">
                <a16:creationId xmlns:a16="http://schemas.microsoft.com/office/drawing/2014/main" id="{0A0C63D2-9879-4583-8567-0410AAC11C00}"/>
              </a:ext>
            </a:extLst>
          </p:cNvPr>
          <p:cNvSpPr>
            <a:spLocks xmlns:a="http://schemas.openxmlformats.org/drawingml/2006/main" noGrp="1"/>
          </p:cNvSpPr>
          <p:nvPr/>
        </p:nvSpPr>
        <p:spPr>
          <a:xfrm xmlns:a="http://schemas.openxmlformats.org/drawingml/2006/main">
            <a:off x="571500" y="59721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675"/>
                </a:solidFill>
                <a:latin typeface="Arial"/>
                <a:ea typeface="Arial"/>
                <a:cs typeface="Arial"/>
              </a:defRPr>
            </a:defPPr>
          </a:lstStyle>
          <a:p xmlns:a="http://schemas.openxmlformats.org/drawingml/2006/main">
            <a:pPr>
              <a:defRPr sz="1725" b="0">
                <a:solidFill>
                  <a:srgbClr val="586675"/>
                </a:solidFill>
                <a:latin typeface="Arial"/>
                <a:ea typeface="Arial"/>
                <a:cs typeface="Arial"/>
              </a:defRPr>
            </a:pPr>
            <a:r>
              <a:rPr sz="1725" b="0">
                <a:solidFill>
                  <a:srgbClr val="586675"/>
                </a:solidFill>
                <a:latin typeface="Arial"/>
                <a:ea typeface="Arial"/>
                <a:cs typeface="Arial"/>
              </a:rPr>
              <a:t>Khác cấu hình và tập test chưa cố định. Không suy ra tăng tốc toàn trình.</a:t>
            </a:r>
          </a:p>
        </p:txBody>
      </p:sp>
    </p:spTree>
    <p:extLst>
      <p:ext uri="{BB962C8B-B14F-4D97-AF65-F5344CB8AC3E}">
        <p14:creationId xmlns:p14="http://schemas.microsoft.com/office/powerpoint/2010/main" val="334394470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0CB2D5-5F3E-4C45-8D0B-671A7DC375A2}"/>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Ma trận nhầm lẫn Random Forest CPU</a:t>
            </a:r>
          </a:p>
        </p:txBody>
      </p:sp>
      <p:sp>
        <p:nvSpPr>
          <p:cNvPr id="2" name="">
            <a:extLst xmlns:a="http://schemas.openxmlformats.org/drawingml/2006/main">
              <a:ext uri="{FF2B5EF4-FFF2-40B4-BE49-F238E27FC236}">
                <a16:creationId xmlns:a16="http://schemas.microsoft.com/office/drawing/2014/main" id="{0B109B00-91AB-4A24-B8C6-DAD8D26EA542}"/>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Ở mức làm tròn của hình, mô hình gần như chỉ dự đoán OnTime</a:t>
            </a:r>
          </a:p>
        </p:txBody>
      </p:sp>
      <p:sp>
        <p:nvSpPr>
          <p:cNvPr id="3" name="">
            <a:extLst xmlns:a="http://schemas.openxmlformats.org/drawingml/2006/main">
              <a:ext uri="{FF2B5EF4-FFF2-40B4-BE49-F238E27FC236}">
                <a16:creationId xmlns:a16="http://schemas.microsoft.com/office/drawing/2014/main" id="{0DD0D76D-8C90-4DC3-9A24-98EF7EBBF9F8}"/>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16F5526A-6E38-40E6-B921-48E008F43F1D}"/>
              </a:ext>
            </a:extLst>
          </p:cNvPr>
          <p:cNvGraphicFramePr/>
          <p:nvPr/>
        </p:nvGraphicFramePr>
        <p:xfrm>
          <a:off xmlns:a="http://schemas.openxmlformats.org/drawingml/2006/main" x="523875" y="2381250"/>
          <a:ext xmlns:a="http://schemas.openxmlformats.org/drawingml/2006/main" cx="6572250" cy="3048000"/>
        </p:xfrm>
        <a:graphic xmlns:a="http://schemas.openxmlformats.org/drawingml/2006/main">
          <a:graphicData uri="http://schemas.openxmlformats.org/drawingml/2006/table">
            <a:tbl>
              <a:tblPr/>
              <a:tblGrid>
                <a:gridCol w="1238250"/>
                <a:gridCol w="889000"/>
                <a:gridCol w="889000"/>
                <a:gridCol w="889000"/>
                <a:gridCol w="889000"/>
                <a:gridCol w="889000"/>
                <a:gridCol w="889000"/>
              </a:tblGrid>
              <a:tr h="619125">
                <a:tc>
                  <a:txBody>
                    <a:bodyPr/>
                    <a:lstStyle/>
                    <a:p>
                      <a:r>
                        <a:rPr sz="1350" b="1">
                          <a:solidFill>
                            <a:srgbClr val="FFFFFF"/>
                          </a:solidFill>
                          <a:latin typeface="Arial"/>
                          <a:ea typeface="Arial"/>
                          <a:cs typeface="Arial"/>
                        </a:rPr>
                        <a:t>Thực tế /</a:t>
                      </a:r>
                    </a:p>
                    <a:p>
                      <a:r>
                        <a:rPr sz="1350" b="1">
                          <a:solidFill>
                            <a:srgbClr val="FFFFFF"/>
                          </a:solidFill>
                          <a:latin typeface="Arial"/>
                          <a:ea typeface="Arial"/>
                          <a:cs typeface="Arial"/>
                        </a:rPr>
                        <a:t>Dự đoán</a:t>
                      </a:r>
                    </a:p>
                  </a:txBody>
                  <a:tcPr marL="47625" marR="47625" marT="47625" marB="47625">
                    <a:solidFill>
                      <a:srgbClr val="2072B7"/>
                    </a:solidFill>
                  </a:tcPr>
                </a:tc>
                <a:tc>
                  <a:txBody>
                    <a:bodyPr/>
                    <a:lstStyle/>
                    <a:p>
                      <a:r>
                        <a:rPr sz="1350" b="1">
                          <a:solidFill>
                            <a:srgbClr val="FFFFFF"/>
                          </a:solidFill>
                          <a:latin typeface="Arial"/>
                          <a:ea typeface="Arial"/>
                          <a:cs typeface="Arial"/>
                        </a:rPr>
                        <a:t>OnTime</a:t>
                      </a:r>
                    </a:p>
                  </a:txBody>
                  <a:tcPr marL="47625" marR="47625" marT="47625" marB="47625">
                    <a:solidFill>
                      <a:srgbClr val="2072B7"/>
                    </a:solidFill>
                  </a:tcPr>
                </a:tc>
                <a:tc>
                  <a:txBody>
                    <a:bodyPr/>
                    <a:lstStyle/>
                    <a:p>
                      <a:r>
                        <a:rPr sz="1350" b="1">
                          <a:solidFill>
                            <a:srgbClr val="FFFFFF"/>
                          </a:solidFill>
                          <a:latin typeface="Arial"/>
                          <a:ea typeface="Arial"/>
                          <a:cs typeface="Arial"/>
                        </a:rPr>
                        <a:t>Carrier</a:t>
                      </a:r>
                    </a:p>
                  </a:txBody>
                  <a:tcPr marL="47625" marR="47625" marT="47625" marB="47625">
                    <a:solidFill>
                      <a:srgbClr val="2072B7"/>
                    </a:solidFill>
                  </a:tcPr>
                </a:tc>
                <a:tc>
                  <a:txBody>
                    <a:bodyPr/>
                    <a:lstStyle/>
                    <a:p>
                      <a:r>
                        <a:rPr sz="1350" b="1">
                          <a:solidFill>
                            <a:srgbClr val="FFFFFF"/>
                          </a:solidFill>
                          <a:latin typeface="Arial"/>
                          <a:ea typeface="Arial"/>
                          <a:cs typeface="Arial"/>
                        </a:rPr>
                        <a:t>Weather</a:t>
                      </a:r>
                    </a:p>
                  </a:txBody>
                  <a:tcPr marL="47625" marR="47625" marT="47625" marB="47625">
                    <a:solidFill>
                      <a:srgbClr val="2072B7"/>
                    </a:solidFill>
                  </a:tcPr>
                </a:tc>
                <a:tc>
                  <a:txBody>
                    <a:bodyPr/>
                    <a:lstStyle/>
                    <a:p>
                      <a:r>
                        <a:rPr sz="1350" b="1">
                          <a:solidFill>
                            <a:srgbClr val="FFFFFF"/>
                          </a:solidFill>
                          <a:latin typeface="Arial"/>
                          <a:ea typeface="Arial"/>
                          <a:cs typeface="Arial"/>
                        </a:rPr>
                        <a:t>NAS</a:t>
                      </a:r>
                    </a:p>
                  </a:txBody>
                  <a:tcPr marL="47625" marR="47625" marT="47625" marB="47625">
                    <a:solidFill>
                      <a:srgbClr val="2072B7"/>
                    </a:solidFill>
                  </a:tcPr>
                </a:tc>
                <a:tc>
                  <a:txBody>
                    <a:bodyPr/>
                    <a:lstStyle/>
                    <a:p>
                      <a:r>
                        <a:rPr sz="1350" b="1">
                          <a:solidFill>
                            <a:srgbClr val="FFFFFF"/>
                          </a:solidFill>
                          <a:latin typeface="Arial"/>
                          <a:ea typeface="Arial"/>
                          <a:cs typeface="Arial"/>
                        </a:rPr>
                        <a:t>Security</a:t>
                      </a:r>
                    </a:p>
                  </a:txBody>
                  <a:tcPr marL="47625" marR="47625" marT="47625" marB="47625">
                    <a:solidFill>
                      <a:srgbClr val="2072B7"/>
                    </a:solidFill>
                  </a:tcPr>
                </a:tc>
                <a:tc>
                  <a:txBody>
                    <a:bodyPr/>
                    <a:lstStyle/>
                    <a:p>
                      <a:r>
                        <a:rPr sz="1350" b="1">
                          <a:solidFill>
                            <a:srgbClr val="FFFFFF"/>
                          </a:solidFill>
                          <a:latin typeface="Arial"/>
                          <a:ea typeface="Arial"/>
                          <a:cs typeface="Arial"/>
                        </a:rPr>
                        <a:t>Late</a:t>
                      </a:r>
                    </a:p>
                    <a:p>
                      <a:r>
                        <a:rPr sz="1350" b="1">
                          <a:solidFill>
                            <a:srgbClr val="FFFFFF"/>
                          </a:solidFill>
                          <a:latin typeface="Arial"/>
                          <a:ea typeface="Arial"/>
                          <a:cs typeface="Arial"/>
                        </a:rPr>
                        <a:t>Aircraft</a:t>
                      </a:r>
                    </a:p>
                  </a:txBody>
                  <a:tcPr marL="47625" marR="47625" marT="47625" marB="47625">
                    <a:solidFill>
                      <a:srgbClr val="2072B7"/>
                    </a:solidFill>
                  </a:tcPr>
                </a:tc>
              </a:tr>
              <a:tr h="409575">
                <a:tc>
                  <a:txBody>
                    <a:bodyPr/>
                    <a:lstStyle/>
                    <a:p>
                      <a:r>
                        <a:rPr sz="1350" b="0">
                          <a:solidFill>
                            <a:srgbClr val="202D39"/>
                          </a:solidFill>
                          <a:latin typeface="Arial"/>
                          <a:ea typeface="Arial"/>
                          <a:cs typeface="Arial"/>
                        </a:rPr>
                        <a:t>OnTime</a:t>
                      </a:r>
                    </a:p>
                  </a:txBody>
                  <a:tcPr marL="47625" marR="47625" marT="47625" marB="47625">
                    <a:solidFill>
                      <a:srgbClr val="EDF5FB"/>
                    </a:solidFill>
                  </a:tcPr>
                </a:tc>
                <a:tc>
                  <a:txBody>
                    <a:bodyPr/>
                    <a:lstStyle/>
                    <a:p>
                      <a:r>
                        <a:rPr sz="1800" b="1">
                          <a:solidFill>
                            <a:srgbClr val="FFFFFF"/>
                          </a:solidFill>
                          <a:latin typeface="Arial"/>
                          <a:ea typeface="Arial"/>
                          <a:cs typeface="Arial"/>
                        </a:rPr>
                        <a:t>100,0</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r>
              <a:tr h="409575">
                <a:tc>
                  <a:txBody>
                    <a:bodyPr/>
                    <a:lstStyle/>
                    <a:p>
                      <a:r>
                        <a:rPr sz="1350" b="0">
                          <a:solidFill>
                            <a:srgbClr val="202D39"/>
                          </a:solidFill>
                          <a:latin typeface="Arial"/>
                          <a:ea typeface="Arial"/>
                          <a:cs typeface="Arial"/>
                        </a:rPr>
                        <a:t>Carrier</a:t>
                      </a:r>
                    </a:p>
                  </a:txBody>
                  <a:tcPr marL="47625" marR="47625" marT="47625" marB="47625">
                    <a:solidFill>
                      <a:srgbClr val="FFFFFF"/>
                    </a:solidFill>
                  </a:tcPr>
                </a:tc>
                <a:tc>
                  <a:txBody>
                    <a:bodyPr/>
                    <a:lstStyle/>
                    <a:p>
                      <a:r>
                        <a:rPr sz="1800" b="0">
                          <a:solidFill>
                            <a:srgbClr val="FFFFFF"/>
                          </a:solidFill>
                          <a:latin typeface="Arial"/>
                          <a:ea typeface="Arial"/>
                          <a:cs typeface="Arial"/>
                        </a:rPr>
                        <a:t>100,0</a:t>
                      </a:r>
                    </a:p>
                  </a:txBody>
                  <a:tcPr marL="47625" marR="47625" marT="47625" marB="47625">
                    <a:solidFill>
                      <a:srgbClr val="174C7E"/>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r>
              <a:tr h="409575">
                <a:tc>
                  <a:txBody>
                    <a:bodyPr/>
                    <a:lstStyle/>
                    <a:p>
                      <a:r>
                        <a:rPr sz="1350" b="0">
                          <a:solidFill>
                            <a:srgbClr val="202D39"/>
                          </a:solidFill>
                          <a:latin typeface="Arial"/>
                          <a:ea typeface="Arial"/>
                          <a:cs typeface="Arial"/>
                        </a:rPr>
                        <a:t>Weather</a:t>
                      </a:r>
                    </a:p>
                  </a:txBody>
                  <a:tcPr marL="47625" marR="47625" marT="47625" marB="47625">
                    <a:solidFill>
                      <a:srgbClr val="EDF5FB"/>
                    </a:solidFill>
                  </a:tcPr>
                </a:tc>
                <a:tc>
                  <a:txBody>
                    <a:bodyPr/>
                    <a:lstStyle/>
                    <a:p>
                      <a:r>
                        <a:rPr sz="1800" b="0">
                          <a:solidFill>
                            <a:srgbClr val="FFFFFF"/>
                          </a:solidFill>
                          <a:latin typeface="Arial"/>
                          <a:ea typeface="Arial"/>
                          <a:cs typeface="Arial"/>
                        </a:rPr>
                        <a:t>100,0</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r>
              <a:tr h="409575">
                <a:tc>
                  <a:txBody>
                    <a:bodyPr/>
                    <a:lstStyle/>
                    <a:p>
                      <a:r>
                        <a:rPr sz="1350" b="0">
                          <a:solidFill>
                            <a:srgbClr val="202D39"/>
                          </a:solidFill>
                          <a:latin typeface="Arial"/>
                          <a:ea typeface="Arial"/>
                          <a:cs typeface="Arial"/>
                        </a:rPr>
                        <a:t>NAS</a:t>
                      </a:r>
                    </a:p>
                  </a:txBody>
                  <a:tcPr marL="47625" marR="47625" marT="47625" marB="47625">
                    <a:solidFill>
                      <a:srgbClr val="FFFFFF"/>
                    </a:solidFill>
                  </a:tcPr>
                </a:tc>
                <a:tc>
                  <a:txBody>
                    <a:bodyPr/>
                    <a:lstStyle/>
                    <a:p>
                      <a:r>
                        <a:rPr sz="1800" b="0">
                          <a:solidFill>
                            <a:srgbClr val="FFFFFF"/>
                          </a:solidFill>
                          <a:latin typeface="Arial"/>
                          <a:ea typeface="Arial"/>
                          <a:cs typeface="Arial"/>
                        </a:rPr>
                        <a:t>100,0</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r>
              <a:tr h="409575">
                <a:tc>
                  <a:txBody>
                    <a:bodyPr/>
                    <a:lstStyle/>
                    <a:p>
                      <a:r>
                        <a:rPr sz="1350" b="0">
                          <a:solidFill>
                            <a:srgbClr val="202D39"/>
                          </a:solidFill>
                          <a:latin typeface="Arial"/>
                          <a:ea typeface="Arial"/>
                          <a:cs typeface="Arial"/>
                        </a:rPr>
                        <a:t>Security</a:t>
                      </a:r>
                    </a:p>
                  </a:txBody>
                  <a:tcPr marL="47625" marR="47625" marT="47625" marB="47625">
                    <a:solidFill>
                      <a:srgbClr val="EDF5FB"/>
                    </a:solidFill>
                  </a:tcPr>
                </a:tc>
                <a:tc>
                  <a:txBody>
                    <a:bodyPr/>
                    <a:lstStyle/>
                    <a:p>
                      <a:r>
                        <a:rPr sz="1800" b="0">
                          <a:solidFill>
                            <a:srgbClr val="FFFFFF"/>
                          </a:solidFill>
                          <a:latin typeface="Arial"/>
                          <a:ea typeface="Arial"/>
                          <a:cs typeface="Arial"/>
                        </a:rPr>
                        <a:t>100,0</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r>
              <a:tr h="409575">
                <a:tc>
                  <a:txBody>
                    <a:bodyPr/>
                    <a:lstStyle/>
                    <a:p>
                      <a:r>
                        <a:rPr sz="1350" b="0">
                          <a:solidFill>
                            <a:srgbClr val="202D39"/>
                          </a:solidFill>
                          <a:latin typeface="Arial"/>
                          <a:ea typeface="Arial"/>
                          <a:cs typeface="Arial"/>
                        </a:rPr>
                        <a:t>LateAircraft</a:t>
                      </a:r>
                    </a:p>
                  </a:txBody>
                  <a:tcPr marL="47625" marR="47625" marT="47625" marB="47625">
                    <a:solidFill>
                      <a:srgbClr val="FFFFFF"/>
                    </a:solidFill>
                  </a:tcPr>
                </a:tc>
                <a:tc>
                  <a:txBody>
                    <a:bodyPr/>
                    <a:lstStyle/>
                    <a:p>
                      <a:r>
                        <a:rPr sz="1800" b="0">
                          <a:solidFill>
                            <a:srgbClr val="FFFFFF"/>
                          </a:solidFill>
                          <a:latin typeface="Arial"/>
                          <a:ea typeface="Arial"/>
                          <a:cs typeface="Arial"/>
                        </a:rPr>
                        <a:t>100,0</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r>
            </a:tbl>
          </a:graphicData>
        </a:graphic>
      </p:graphicFrame>
      <p:sp>
        <p:nvSpPr>
          <p:cNvPr id="5" name="">
            <a:extLst xmlns:a="http://schemas.openxmlformats.org/drawingml/2006/main">
              <a:ext uri="{FF2B5EF4-FFF2-40B4-BE49-F238E27FC236}">
                <a16:creationId xmlns:a16="http://schemas.microsoft.com/office/drawing/2014/main" id="{49B048B5-6D54-4829-9BFB-9632E2171F5C}"/>
              </a:ext>
            </a:extLst>
          </p:cNvPr>
          <p:cNvSpPr>
            <a:spLocks xmlns:a="http://schemas.openxmlformats.org/drawingml/2006/main" noGrp="1"/>
          </p:cNvSpPr>
          <p:nvPr/>
        </p:nvSpPr>
        <p:spPr>
          <a:xfrm xmlns:a="http://schemas.openxmlformats.org/drawingml/2006/main">
            <a:off x="523875" y="574357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Tỷ lệ theo hàng, đơn vị %. Các giá trị đã làm tròn.</a:t>
            </a:r>
          </a:p>
        </p:txBody>
      </p:sp>
      <p:sp>
        <p:nvSpPr>
          <p:cNvPr id="6" name="">
            <a:extLst xmlns:a="http://schemas.openxmlformats.org/drawingml/2006/main">
              <a:ext uri="{FF2B5EF4-FFF2-40B4-BE49-F238E27FC236}">
                <a16:creationId xmlns:a16="http://schemas.microsoft.com/office/drawing/2014/main" id="{6828E921-C821-4B03-A5D1-B799EC34BAD8}"/>
              </a:ext>
            </a:extLst>
          </p:cNvPr>
          <p:cNvSpPr>
            <a:spLocks xmlns:a="http://schemas.openxmlformats.org/drawingml/2006/main" noGrp="1"/>
          </p:cNvSpPr>
          <p:nvPr/>
        </p:nvSpPr>
        <p:spPr>
          <a:xfrm xmlns:a="http://schemas.openxmlformats.org/drawingml/2006/main">
            <a:off x="7620000" y="23336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Accuracy 79,18% đến từ khả năng dự đoán lớp đông.</a:t>
            </a:r>
          </a:p>
        </p:txBody>
      </p:sp>
      <p:sp>
        <p:nvSpPr>
          <p:cNvPr id="7" name="">
            <a:extLst xmlns:a="http://schemas.openxmlformats.org/drawingml/2006/main">
              <a:ext uri="{FF2B5EF4-FFF2-40B4-BE49-F238E27FC236}">
                <a16:creationId xmlns:a16="http://schemas.microsoft.com/office/drawing/2014/main" id="{5C27DEB2-9425-4171-B928-010E4175F764}"/>
              </a:ext>
            </a:extLst>
          </p:cNvPr>
          <p:cNvSpPr>
            <a:spLocks xmlns:a="http://schemas.openxmlformats.org/drawingml/2006/main" noGrp="1"/>
          </p:cNvSpPr>
          <p:nvPr/>
        </p:nvSpPr>
        <p:spPr>
          <a:xfrm xmlns:a="http://schemas.openxmlformats.org/drawingml/2006/main">
            <a:off x="7620000" y="342900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Macro F1 chỉ 14,73%. Các nguyên nhân trễ chưa được phân biệt tốt.</a:t>
            </a:r>
          </a:p>
        </p:txBody>
      </p:sp>
      <p:sp>
        <p:nvSpPr>
          <p:cNvPr id="8" name="">
            <a:extLst xmlns:a="http://schemas.openxmlformats.org/drawingml/2006/main">
              <a:ext uri="{FF2B5EF4-FFF2-40B4-BE49-F238E27FC236}">
                <a16:creationId xmlns:a16="http://schemas.microsoft.com/office/drawing/2014/main" id="{017E48B8-EF0E-42AD-BF43-DD7E3C701DC4}"/>
              </a:ext>
            </a:extLst>
          </p:cNvPr>
          <p:cNvSpPr>
            <a:spLocks xmlns:a="http://schemas.openxmlformats.org/drawingml/2006/main" noGrp="1"/>
          </p:cNvSpPr>
          <p:nvPr/>
        </p:nvSpPr>
        <p:spPr>
          <a:xfrm xmlns:a="http://schemas.openxmlformats.org/drawingml/2006/main">
            <a:off x="7620000" y="45243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Đây là kết quả CPU, không dùng để suy ra hiệu quả từng lớp Spark.</a:t>
            </a:r>
          </a:p>
        </p:txBody>
      </p:sp>
    </p:spTree>
    <p:extLst>
      <p:ext uri="{BB962C8B-B14F-4D97-AF65-F5344CB8AC3E}">
        <p14:creationId xmlns:p14="http://schemas.microsoft.com/office/powerpoint/2010/main" val="18513197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3C57FD-E5D8-4B11-ADF6-60B20F27920C}"/>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Ma trận nhầm lẫn CatBoost CPU</a:t>
            </a:r>
          </a:p>
        </p:txBody>
      </p:sp>
      <p:sp>
        <p:nvSpPr>
          <p:cNvPr id="2" name="">
            <a:extLst xmlns:a="http://schemas.openxmlformats.org/drawingml/2006/main">
              <a:ext uri="{FF2B5EF4-FFF2-40B4-BE49-F238E27FC236}">
                <a16:creationId xmlns:a16="http://schemas.microsoft.com/office/drawing/2014/main" id="{8EEF8CB0-352E-414A-95F5-22A04201BBC8}"/>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CatBoost nhận diện được một số mẫu trễ, nhưng tỷ lệ đúng vẫn thấp</a:t>
            </a:r>
          </a:p>
        </p:txBody>
      </p:sp>
      <p:sp>
        <p:nvSpPr>
          <p:cNvPr id="3" name="">
            <a:extLst xmlns:a="http://schemas.openxmlformats.org/drawingml/2006/main">
              <a:ext uri="{FF2B5EF4-FFF2-40B4-BE49-F238E27FC236}">
                <a16:creationId xmlns:a16="http://schemas.microsoft.com/office/drawing/2014/main" id="{54CE63CA-A5FF-4D87-93BA-5D5887702D9D}"/>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07B1202C-A800-4C78-A465-EECC020663DD}"/>
              </a:ext>
            </a:extLst>
          </p:cNvPr>
          <p:cNvGraphicFramePr/>
          <p:nvPr/>
        </p:nvGraphicFramePr>
        <p:xfrm>
          <a:off xmlns:a="http://schemas.openxmlformats.org/drawingml/2006/main" x="5095875" y="2381250"/>
          <a:ext xmlns:a="http://schemas.openxmlformats.org/drawingml/2006/main" cx="6572250" cy="3048000"/>
        </p:xfrm>
        <a:graphic xmlns:a="http://schemas.openxmlformats.org/drawingml/2006/main">
          <a:graphicData uri="http://schemas.openxmlformats.org/drawingml/2006/table">
            <a:tbl>
              <a:tblPr/>
              <a:tblGrid>
                <a:gridCol w="1238250"/>
                <a:gridCol w="889000"/>
                <a:gridCol w="889000"/>
                <a:gridCol w="889000"/>
                <a:gridCol w="889000"/>
                <a:gridCol w="889000"/>
                <a:gridCol w="889000"/>
              </a:tblGrid>
              <a:tr h="619125">
                <a:tc>
                  <a:txBody>
                    <a:bodyPr/>
                    <a:lstStyle/>
                    <a:p>
                      <a:r>
                        <a:rPr sz="1350" b="1">
                          <a:solidFill>
                            <a:srgbClr val="FFFFFF"/>
                          </a:solidFill>
                          <a:latin typeface="Arial"/>
                          <a:ea typeface="Arial"/>
                          <a:cs typeface="Arial"/>
                        </a:rPr>
                        <a:t>Thực tế /</a:t>
                      </a:r>
                    </a:p>
                    <a:p>
                      <a:r>
                        <a:rPr sz="1350" b="1">
                          <a:solidFill>
                            <a:srgbClr val="FFFFFF"/>
                          </a:solidFill>
                          <a:latin typeface="Arial"/>
                          <a:ea typeface="Arial"/>
                          <a:cs typeface="Arial"/>
                        </a:rPr>
                        <a:t>Dự đoán</a:t>
                      </a:r>
                    </a:p>
                  </a:txBody>
                  <a:tcPr marL="47625" marR="47625" marT="47625" marB="47625">
                    <a:solidFill>
                      <a:srgbClr val="2072B7"/>
                    </a:solidFill>
                  </a:tcPr>
                </a:tc>
                <a:tc>
                  <a:txBody>
                    <a:bodyPr/>
                    <a:lstStyle/>
                    <a:p>
                      <a:r>
                        <a:rPr sz="1350" b="1">
                          <a:solidFill>
                            <a:srgbClr val="FFFFFF"/>
                          </a:solidFill>
                          <a:latin typeface="Arial"/>
                          <a:ea typeface="Arial"/>
                          <a:cs typeface="Arial"/>
                        </a:rPr>
                        <a:t>OnTime</a:t>
                      </a:r>
                    </a:p>
                  </a:txBody>
                  <a:tcPr marL="47625" marR="47625" marT="47625" marB="47625">
                    <a:solidFill>
                      <a:srgbClr val="2072B7"/>
                    </a:solidFill>
                  </a:tcPr>
                </a:tc>
                <a:tc>
                  <a:txBody>
                    <a:bodyPr/>
                    <a:lstStyle/>
                    <a:p>
                      <a:r>
                        <a:rPr sz="1350" b="1">
                          <a:solidFill>
                            <a:srgbClr val="FFFFFF"/>
                          </a:solidFill>
                          <a:latin typeface="Arial"/>
                          <a:ea typeface="Arial"/>
                          <a:cs typeface="Arial"/>
                        </a:rPr>
                        <a:t>Carrier</a:t>
                      </a:r>
                    </a:p>
                  </a:txBody>
                  <a:tcPr marL="47625" marR="47625" marT="47625" marB="47625">
                    <a:solidFill>
                      <a:srgbClr val="2072B7"/>
                    </a:solidFill>
                  </a:tcPr>
                </a:tc>
                <a:tc>
                  <a:txBody>
                    <a:bodyPr/>
                    <a:lstStyle/>
                    <a:p>
                      <a:r>
                        <a:rPr sz="1350" b="1">
                          <a:solidFill>
                            <a:srgbClr val="FFFFFF"/>
                          </a:solidFill>
                          <a:latin typeface="Arial"/>
                          <a:ea typeface="Arial"/>
                          <a:cs typeface="Arial"/>
                        </a:rPr>
                        <a:t>Weather</a:t>
                      </a:r>
                    </a:p>
                  </a:txBody>
                  <a:tcPr marL="47625" marR="47625" marT="47625" marB="47625">
                    <a:solidFill>
                      <a:srgbClr val="2072B7"/>
                    </a:solidFill>
                  </a:tcPr>
                </a:tc>
                <a:tc>
                  <a:txBody>
                    <a:bodyPr/>
                    <a:lstStyle/>
                    <a:p>
                      <a:r>
                        <a:rPr sz="1350" b="1">
                          <a:solidFill>
                            <a:srgbClr val="FFFFFF"/>
                          </a:solidFill>
                          <a:latin typeface="Arial"/>
                          <a:ea typeface="Arial"/>
                          <a:cs typeface="Arial"/>
                        </a:rPr>
                        <a:t>NAS</a:t>
                      </a:r>
                    </a:p>
                  </a:txBody>
                  <a:tcPr marL="47625" marR="47625" marT="47625" marB="47625">
                    <a:solidFill>
                      <a:srgbClr val="2072B7"/>
                    </a:solidFill>
                  </a:tcPr>
                </a:tc>
                <a:tc>
                  <a:txBody>
                    <a:bodyPr/>
                    <a:lstStyle/>
                    <a:p>
                      <a:r>
                        <a:rPr sz="1350" b="1">
                          <a:solidFill>
                            <a:srgbClr val="FFFFFF"/>
                          </a:solidFill>
                          <a:latin typeface="Arial"/>
                          <a:ea typeface="Arial"/>
                          <a:cs typeface="Arial"/>
                        </a:rPr>
                        <a:t>Security</a:t>
                      </a:r>
                    </a:p>
                  </a:txBody>
                  <a:tcPr marL="47625" marR="47625" marT="47625" marB="47625">
                    <a:solidFill>
                      <a:srgbClr val="2072B7"/>
                    </a:solidFill>
                  </a:tcPr>
                </a:tc>
                <a:tc>
                  <a:txBody>
                    <a:bodyPr/>
                    <a:lstStyle/>
                    <a:p>
                      <a:r>
                        <a:rPr sz="1350" b="1">
                          <a:solidFill>
                            <a:srgbClr val="FFFFFF"/>
                          </a:solidFill>
                          <a:latin typeface="Arial"/>
                          <a:ea typeface="Arial"/>
                          <a:cs typeface="Arial"/>
                        </a:rPr>
                        <a:t>Late</a:t>
                      </a:r>
                    </a:p>
                    <a:p>
                      <a:r>
                        <a:rPr sz="1350" b="1">
                          <a:solidFill>
                            <a:srgbClr val="FFFFFF"/>
                          </a:solidFill>
                          <a:latin typeface="Arial"/>
                          <a:ea typeface="Arial"/>
                          <a:cs typeface="Arial"/>
                        </a:rPr>
                        <a:t>Aircraft</a:t>
                      </a:r>
                    </a:p>
                  </a:txBody>
                  <a:tcPr marL="47625" marR="47625" marT="47625" marB="47625">
                    <a:solidFill>
                      <a:srgbClr val="2072B7"/>
                    </a:solidFill>
                  </a:tcPr>
                </a:tc>
              </a:tr>
              <a:tr h="409575">
                <a:tc>
                  <a:txBody>
                    <a:bodyPr/>
                    <a:lstStyle/>
                    <a:p>
                      <a:r>
                        <a:rPr sz="1350" b="0">
                          <a:solidFill>
                            <a:srgbClr val="202D39"/>
                          </a:solidFill>
                          <a:latin typeface="Arial"/>
                          <a:ea typeface="Arial"/>
                          <a:cs typeface="Arial"/>
                        </a:rPr>
                        <a:t>OnTime</a:t>
                      </a:r>
                    </a:p>
                  </a:txBody>
                  <a:tcPr marL="47625" marR="47625" marT="47625" marB="47625">
                    <a:solidFill>
                      <a:srgbClr val="EDF5FB"/>
                    </a:solidFill>
                  </a:tcPr>
                </a:tc>
                <a:tc>
                  <a:txBody>
                    <a:bodyPr/>
                    <a:lstStyle/>
                    <a:p>
                      <a:r>
                        <a:rPr sz="1800" b="1">
                          <a:solidFill>
                            <a:srgbClr val="FFFFFF"/>
                          </a:solidFill>
                          <a:latin typeface="Arial"/>
                          <a:ea typeface="Arial"/>
                          <a:cs typeface="Arial"/>
                        </a:rPr>
                        <a:t>99,8</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0,2</a:t>
                      </a:r>
                    </a:p>
                  </a:txBody>
                  <a:tcPr marL="47625" marR="47625" marT="47625" marB="47625">
                    <a:solidFill>
                      <a:srgbClr val="DFEBF7"/>
                    </a:solidFill>
                  </a:tcPr>
                </a:tc>
              </a:tr>
              <a:tr h="409575">
                <a:tc>
                  <a:txBody>
                    <a:bodyPr/>
                    <a:lstStyle/>
                    <a:p>
                      <a:r>
                        <a:rPr sz="1350" b="0">
                          <a:solidFill>
                            <a:srgbClr val="202D39"/>
                          </a:solidFill>
                          <a:latin typeface="Arial"/>
                          <a:ea typeface="Arial"/>
                          <a:cs typeface="Arial"/>
                        </a:rPr>
                        <a:t>Carrier</a:t>
                      </a:r>
                    </a:p>
                  </a:txBody>
                  <a:tcPr marL="47625" marR="47625" marT="47625" marB="47625">
                    <a:solidFill>
                      <a:srgbClr val="FFFFFF"/>
                    </a:solidFill>
                  </a:tcPr>
                </a:tc>
                <a:tc>
                  <a:txBody>
                    <a:bodyPr/>
                    <a:lstStyle/>
                    <a:p>
                      <a:r>
                        <a:rPr sz="1800" b="0">
                          <a:solidFill>
                            <a:srgbClr val="FFFFFF"/>
                          </a:solidFill>
                          <a:latin typeface="Arial"/>
                          <a:ea typeface="Arial"/>
                          <a:cs typeface="Arial"/>
                        </a:rPr>
                        <a:t>98,8</a:t>
                      </a:r>
                    </a:p>
                  </a:txBody>
                  <a:tcPr marL="47625" marR="47625" marT="47625" marB="47625">
                    <a:solidFill>
                      <a:srgbClr val="174C7E"/>
                    </a:solidFill>
                  </a:tcPr>
                </a:tc>
                <a:tc>
                  <a:txBody>
                    <a:bodyPr/>
                    <a:lstStyle/>
                    <a:p>
                      <a:r>
                        <a:rPr sz="1800" b="1">
                          <a:solidFill>
                            <a:srgbClr val="202D39"/>
                          </a:solidFill>
                          <a:latin typeface="Arial"/>
                          <a:ea typeface="Arial"/>
                          <a:cs typeface="Arial"/>
                        </a:rPr>
                        <a:t>0,3</a:t>
                      </a:r>
                    </a:p>
                  </a:txBody>
                  <a:tcPr marL="47625" marR="47625" marT="47625" marB="47625">
                    <a:solidFill>
                      <a:srgbClr val="DFEBF7"/>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0,1</a:t>
                      </a:r>
                    </a:p>
                  </a:txBody>
                  <a:tcPr marL="47625" marR="47625" marT="47625" marB="47625">
                    <a:solidFill>
                      <a:srgbClr val="DFEBF7"/>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0,9</a:t>
                      </a:r>
                    </a:p>
                  </a:txBody>
                  <a:tcPr marL="47625" marR="47625" marT="47625" marB="47625">
                    <a:solidFill>
                      <a:srgbClr val="DFEBF7"/>
                    </a:solidFill>
                  </a:tcPr>
                </a:tc>
              </a:tr>
              <a:tr h="409575">
                <a:tc>
                  <a:txBody>
                    <a:bodyPr/>
                    <a:lstStyle/>
                    <a:p>
                      <a:r>
                        <a:rPr sz="1350" b="0">
                          <a:solidFill>
                            <a:srgbClr val="202D39"/>
                          </a:solidFill>
                          <a:latin typeface="Arial"/>
                          <a:ea typeface="Arial"/>
                          <a:cs typeface="Arial"/>
                        </a:rPr>
                        <a:t>Weather</a:t>
                      </a:r>
                    </a:p>
                  </a:txBody>
                  <a:tcPr marL="47625" marR="47625" marT="47625" marB="47625">
                    <a:solidFill>
                      <a:srgbClr val="EDF5FB"/>
                    </a:solidFill>
                  </a:tcPr>
                </a:tc>
                <a:tc>
                  <a:txBody>
                    <a:bodyPr/>
                    <a:lstStyle/>
                    <a:p>
                      <a:r>
                        <a:rPr sz="1800" b="0">
                          <a:solidFill>
                            <a:srgbClr val="FFFFFF"/>
                          </a:solidFill>
                          <a:latin typeface="Arial"/>
                          <a:ea typeface="Arial"/>
                          <a:cs typeface="Arial"/>
                        </a:rPr>
                        <a:t>98,4</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0,1</a:t>
                      </a:r>
                    </a:p>
                  </a:txBody>
                  <a:tcPr marL="47625" marR="47625" marT="47625" marB="47625">
                    <a:solidFill>
                      <a:srgbClr val="DFEBF7"/>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1,5</a:t>
                      </a:r>
                    </a:p>
                  </a:txBody>
                  <a:tcPr marL="47625" marR="47625" marT="47625" marB="47625">
                    <a:solidFill>
                      <a:srgbClr val="DFEBF7"/>
                    </a:solidFill>
                  </a:tcPr>
                </a:tc>
              </a:tr>
              <a:tr h="409575">
                <a:tc>
                  <a:txBody>
                    <a:bodyPr/>
                    <a:lstStyle/>
                    <a:p>
                      <a:r>
                        <a:rPr sz="1350" b="0">
                          <a:solidFill>
                            <a:srgbClr val="202D39"/>
                          </a:solidFill>
                          <a:latin typeface="Arial"/>
                          <a:ea typeface="Arial"/>
                          <a:cs typeface="Arial"/>
                        </a:rPr>
                        <a:t>NAS</a:t>
                      </a:r>
                    </a:p>
                  </a:txBody>
                  <a:tcPr marL="47625" marR="47625" marT="47625" marB="47625">
                    <a:solidFill>
                      <a:srgbClr val="FFFFFF"/>
                    </a:solidFill>
                  </a:tcPr>
                </a:tc>
                <a:tc>
                  <a:txBody>
                    <a:bodyPr/>
                    <a:lstStyle/>
                    <a:p>
                      <a:r>
                        <a:rPr sz="1800" b="0">
                          <a:solidFill>
                            <a:srgbClr val="FFFFFF"/>
                          </a:solidFill>
                          <a:latin typeface="Arial"/>
                          <a:ea typeface="Arial"/>
                          <a:cs typeface="Arial"/>
                        </a:rPr>
                        <a:t>98,8</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0,5</a:t>
                      </a:r>
                    </a:p>
                  </a:txBody>
                  <a:tcPr marL="47625" marR="47625" marT="47625" marB="47625">
                    <a:solidFill>
                      <a:srgbClr val="DFEBF7"/>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0,6</a:t>
                      </a:r>
                    </a:p>
                  </a:txBody>
                  <a:tcPr marL="47625" marR="47625" marT="47625" marB="47625">
                    <a:solidFill>
                      <a:srgbClr val="DFEBF7"/>
                    </a:solidFill>
                  </a:tcPr>
                </a:tc>
              </a:tr>
              <a:tr h="409575">
                <a:tc>
                  <a:txBody>
                    <a:bodyPr/>
                    <a:lstStyle/>
                    <a:p>
                      <a:r>
                        <a:rPr sz="1350" b="0">
                          <a:solidFill>
                            <a:srgbClr val="202D39"/>
                          </a:solidFill>
                          <a:latin typeface="Arial"/>
                          <a:ea typeface="Arial"/>
                          <a:cs typeface="Arial"/>
                        </a:rPr>
                        <a:t>Security</a:t>
                      </a:r>
                    </a:p>
                  </a:txBody>
                  <a:tcPr marL="47625" marR="47625" marT="47625" marB="47625">
                    <a:solidFill>
                      <a:srgbClr val="EDF5FB"/>
                    </a:solidFill>
                  </a:tcPr>
                </a:tc>
                <a:tc>
                  <a:txBody>
                    <a:bodyPr/>
                    <a:lstStyle/>
                    <a:p>
                      <a:r>
                        <a:rPr sz="1800" b="0">
                          <a:solidFill>
                            <a:srgbClr val="FFFFFF"/>
                          </a:solidFill>
                          <a:latin typeface="Arial"/>
                          <a:ea typeface="Arial"/>
                          <a:cs typeface="Arial"/>
                        </a:rPr>
                        <a:t>99,5</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0,5</a:t>
                      </a:r>
                    </a:p>
                  </a:txBody>
                  <a:tcPr marL="47625" marR="47625" marT="47625" marB="47625">
                    <a:solidFill>
                      <a:srgbClr val="DFEBF7"/>
                    </a:solidFill>
                  </a:tcPr>
                </a:tc>
              </a:tr>
              <a:tr h="409575">
                <a:tc>
                  <a:txBody>
                    <a:bodyPr/>
                    <a:lstStyle/>
                    <a:p>
                      <a:r>
                        <a:rPr sz="1350" b="0">
                          <a:solidFill>
                            <a:srgbClr val="202D39"/>
                          </a:solidFill>
                          <a:latin typeface="Arial"/>
                          <a:ea typeface="Arial"/>
                          <a:cs typeface="Arial"/>
                        </a:rPr>
                        <a:t>LateAircraft</a:t>
                      </a:r>
                    </a:p>
                  </a:txBody>
                  <a:tcPr marL="47625" marR="47625" marT="47625" marB="47625">
                    <a:solidFill>
                      <a:srgbClr val="FFFFFF"/>
                    </a:solidFill>
                  </a:tcPr>
                </a:tc>
                <a:tc>
                  <a:txBody>
                    <a:bodyPr/>
                    <a:lstStyle/>
                    <a:p>
                      <a:r>
                        <a:rPr sz="1800" b="0">
                          <a:solidFill>
                            <a:srgbClr val="FFFFFF"/>
                          </a:solidFill>
                          <a:latin typeface="Arial"/>
                          <a:ea typeface="Arial"/>
                          <a:cs typeface="Arial"/>
                        </a:rPr>
                        <a:t>97,5</a:t>
                      </a:r>
                    </a:p>
                  </a:txBody>
                  <a:tcPr marL="47625" marR="47625" marT="47625" marB="47625">
                    <a:solidFill>
                      <a:srgbClr val="174C7E"/>
                    </a:solidFill>
                  </a:tcPr>
                </a:tc>
                <a:tc>
                  <a:txBody>
                    <a:bodyPr/>
                    <a:lstStyle/>
                    <a:p>
                      <a:r>
                        <a:rPr sz="1800" b="0">
                          <a:solidFill>
                            <a:srgbClr val="202D39"/>
                          </a:solidFill>
                          <a:latin typeface="Arial"/>
                          <a:ea typeface="Arial"/>
                          <a:cs typeface="Arial"/>
                        </a:rPr>
                        <a:t>0,1</a:t>
                      </a:r>
                    </a:p>
                  </a:txBody>
                  <a:tcPr marL="47625" marR="47625" marT="47625" marB="47625">
                    <a:solidFill>
                      <a:srgbClr val="DFEBF7"/>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0,1</a:t>
                      </a:r>
                    </a:p>
                  </a:txBody>
                  <a:tcPr marL="47625" marR="47625" marT="47625" marB="47625">
                    <a:solidFill>
                      <a:srgbClr val="DFEBF7"/>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2,3</a:t>
                      </a:r>
                    </a:p>
                  </a:txBody>
                  <a:tcPr marL="47625" marR="47625" marT="47625" marB="47625">
                    <a:solidFill>
                      <a:srgbClr val="DFEBF7"/>
                    </a:solidFill>
                  </a:tcPr>
                </a:tc>
              </a:tr>
            </a:tbl>
          </a:graphicData>
        </a:graphic>
      </p:graphicFrame>
      <p:sp>
        <p:nvSpPr>
          <p:cNvPr id="5" name="">
            <a:extLst xmlns:a="http://schemas.openxmlformats.org/drawingml/2006/main">
              <a:ext uri="{FF2B5EF4-FFF2-40B4-BE49-F238E27FC236}">
                <a16:creationId xmlns:a16="http://schemas.microsoft.com/office/drawing/2014/main" id="{DF7A0D21-E045-49F2-ACEC-71BB22424CAA}"/>
              </a:ext>
            </a:extLst>
          </p:cNvPr>
          <p:cNvSpPr>
            <a:spLocks xmlns:a="http://schemas.openxmlformats.org/drawingml/2006/main" noGrp="1"/>
          </p:cNvSpPr>
          <p:nvPr/>
        </p:nvSpPr>
        <p:spPr>
          <a:xfrm xmlns:a="http://schemas.openxmlformats.org/drawingml/2006/main">
            <a:off x="5095875" y="574357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Tỷ lệ theo hàng, đơn vị %. Các giá trị đã làm tròn.</a:t>
            </a:r>
          </a:p>
        </p:txBody>
      </p:sp>
      <p:sp>
        <p:nvSpPr>
          <p:cNvPr id="6" name="">
            <a:extLst xmlns:a="http://schemas.openxmlformats.org/drawingml/2006/main">
              <a:ext uri="{FF2B5EF4-FFF2-40B4-BE49-F238E27FC236}">
                <a16:creationId xmlns:a16="http://schemas.microsoft.com/office/drawing/2014/main" id="{F3FE3998-D263-403A-A190-68919263020D}"/>
              </a:ext>
            </a:extLst>
          </p:cNvPr>
          <p:cNvSpPr>
            <a:spLocks xmlns:a="http://schemas.openxmlformats.org/drawingml/2006/main" noGrp="1"/>
          </p:cNvSpPr>
          <p:nvPr/>
        </p:nvSpPr>
        <p:spPr>
          <a:xfrm xmlns:a="http://schemas.openxmlformats.org/drawingml/2006/main">
            <a:off x="571500" y="22383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OnTime được nhận diện khoảng 99,8%.</a:t>
            </a:r>
          </a:p>
        </p:txBody>
      </p:sp>
      <p:sp>
        <p:nvSpPr>
          <p:cNvPr id="7" name="">
            <a:extLst xmlns:a="http://schemas.openxmlformats.org/drawingml/2006/main">
              <a:ext uri="{FF2B5EF4-FFF2-40B4-BE49-F238E27FC236}">
                <a16:creationId xmlns:a16="http://schemas.microsoft.com/office/drawing/2014/main" id="{41E91138-2B08-433E-B978-B5FAA30B7CDE}"/>
              </a:ext>
            </a:extLst>
          </p:cNvPr>
          <p:cNvSpPr>
            <a:spLocks xmlns:a="http://schemas.openxmlformats.org/drawingml/2006/main" noGrp="1"/>
          </p:cNvSpPr>
          <p:nvPr/>
        </p:nvSpPr>
        <p:spPr>
          <a:xfrm xmlns:a="http://schemas.openxmlformats.org/drawingml/2006/main">
            <a:off x="571500" y="33718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Recall Carrier 0,3%, NAS 0,5%, LateAircraft 2,3%.</a:t>
            </a:r>
          </a:p>
        </p:txBody>
      </p:sp>
      <p:sp>
        <p:nvSpPr>
          <p:cNvPr id="8" name="">
            <a:extLst xmlns:a="http://schemas.openxmlformats.org/drawingml/2006/main">
              <a:ext uri="{FF2B5EF4-FFF2-40B4-BE49-F238E27FC236}">
                <a16:creationId xmlns:a16="http://schemas.microsoft.com/office/drawing/2014/main" id="{547EC6F9-4424-4608-827E-4FACF54C7C3F}"/>
              </a:ext>
            </a:extLst>
          </p:cNvPr>
          <p:cNvSpPr>
            <a:spLocks xmlns:a="http://schemas.openxmlformats.org/drawingml/2006/main" noGrp="1"/>
          </p:cNvSpPr>
          <p:nvPr/>
        </p:nvSpPr>
        <p:spPr>
          <a:xfrm xmlns:a="http://schemas.openxmlformats.org/drawingml/2006/main">
            <a:off x="571500" y="45053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Weighted F1 70,50% chưa đủ chứng minh khả năng dự đoán nguyên nhân trễ.</a:t>
            </a:r>
          </a:p>
        </p:txBody>
      </p:sp>
    </p:spTree>
    <p:extLst>
      <p:ext uri="{BB962C8B-B14F-4D97-AF65-F5344CB8AC3E}">
        <p14:creationId xmlns:p14="http://schemas.microsoft.com/office/powerpoint/2010/main" val="18851101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8B564E-7F46-4C54-920A-2ADAD128E059}"/>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Phân tích đặc trưng CPU</a:t>
            </a:r>
          </a:p>
        </p:txBody>
      </p:sp>
      <p:sp>
        <p:nvSpPr>
          <p:cNvPr id="2" name="">
            <a:extLst xmlns:a="http://schemas.openxmlformats.org/drawingml/2006/main">
              <a:ext uri="{FF2B5EF4-FFF2-40B4-BE49-F238E27FC236}">
                <a16:creationId xmlns:a16="http://schemas.microsoft.com/office/drawing/2014/main" id="{988BE792-4AED-4A07-B831-B73D9D6B1464}"/>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Thứ hạng đặc trưng phản ánh cách mô hình sử dụng dữ liệu</a:t>
            </a:r>
          </a:p>
        </p:txBody>
      </p:sp>
      <p:sp>
        <p:nvSpPr>
          <p:cNvPr id="3" name="">
            <a:extLst xmlns:a="http://schemas.openxmlformats.org/drawingml/2006/main">
              <a:ext uri="{FF2B5EF4-FFF2-40B4-BE49-F238E27FC236}">
                <a16:creationId xmlns:a16="http://schemas.microsoft.com/office/drawing/2014/main" id="{A133E7ED-4A31-402E-B57E-130B6D530C3C}"/>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17</a:t>
            </a:r>
          </a:p>
        </p:txBody>
      </p:sp>
      <p:graphicFrame>
        <p:nvGraphicFramePr>
          <p:cNvPr id="4" name="Chart">
            <a:extLst xmlns:a="http://schemas.openxmlformats.org/drawingml/2006/main">
              <a:ext uri="{FF2B5EF4-FFF2-40B4-BE49-F238E27FC236}">
                <a16:creationId xmlns:a16="http://schemas.microsoft.com/office/drawing/2014/main" id="{F4C3DB7C-F1E5-431B-A95A-F22F782A6CA4}"/>
              </a:ext>
            </a:extLst>
          </p:cNvPr>
          <p:cNvGraphicFramePr/>
          <p:nvPr/>
        </p:nvGraphicFramePr>
        <p:xfrm>
          <a:off xmlns:a="http://schemas.openxmlformats.org/drawingml/2006/main" x="523875" y="2190750"/>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5d21442625694bf3"/>
          </a:graphicData>
        </a:graphic>
      </p:graphicFrame>
      <p:sp>
        <p:nvSpPr>
          <p:cNvPr id="5" name="">
            <a:extLst xmlns:a="http://schemas.openxmlformats.org/drawingml/2006/main">
              <a:ext uri="{FF2B5EF4-FFF2-40B4-BE49-F238E27FC236}">
                <a16:creationId xmlns:a16="http://schemas.microsoft.com/office/drawing/2014/main" id="{C8038A7F-BB48-4C00-A67A-E65FBCABCCFB}"/>
              </a:ext>
            </a:extLst>
          </p:cNvPr>
          <p:cNvSpPr>
            <a:spLocks xmlns:a="http://schemas.openxmlformats.org/drawingml/2006/main" noGrp="1"/>
          </p:cNvSpPr>
          <p:nvPr/>
        </p:nvSpPr>
        <p:spPr>
          <a:xfrm xmlns:a="http://schemas.openxmlformats.org/drawingml/2006/main">
            <a:off x="7620000" y="22383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Random Forest CPU ưu tiên tháng và thời điểm bay.</a:t>
            </a:r>
          </a:p>
        </p:txBody>
      </p:sp>
      <p:sp>
        <p:nvSpPr>
          <p:cNvPr id="6" name="">
            <a:extLst xmlns:a="http://schemas.openxmlformats.org/drawingml/2006/main">
              <a:ext uri="{FF2B5EF4-FFF2-40B4-BE49-F238E27FC236}">
                <a16:creationId xmlns:a16="http://schemas.microsoft.com/office/drawing/2014/main" id="{35CE7E4E-EF4B-4A4C-B899-C9360F31E0D5}"/>
              </a:ext>
            </a:extLst>
          </p:cNvPr>
          <p:cNvSpPr>
            <a:spLocks xmlns:a="http://schemas.openxmlformats.org/drawingml/2006/main" noGrp="1"/>
          </p:cNvSpPr>
          <p:nvPr/>
        </p:nvSpPr>
        <p:spPr>
          <a:xfrm xmlns:a="http://schemas.openxmlformats.org/drawingml/2006/main">
            <a:off x="7620000" y="33718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CatBoost CPU ưu tiên hãng bay, tháng và ngày trong tháng.</a:t>
            </a:r>
          </a:p>
        </p:txBody>
      </p:sp>
      <p:sp>
        <p:nvSpPr>
          <p:cNvPr id="7" name="">
            <a:extLst xmlns:a="http://schemas.openxmlformats.org/drawingml/2006/main">
              <a:ext uri="{FF2B5EF4-FFF2-40B4-BE49-F238E27FC236}">
                <a16:creationId xmlns:a16="http://schemas.microsoft.com/office/drawing/2014/main" id="{D7C60F64-FE14-4640-A994-558CCBE81551}"/>
              </a:ext>
            </a:extLst>
          </p:cNvPr>
          <p:cNvSpPr>
            <a:spLocks xmlns:a="http://schemas.openxmlformats.org/drawingml/2006/main" noGrp="1"/>
          </p:cNvSpPr>
          <p:nvPr/>
        </p:nvSpPr>
        <p:spPr>
          <a:xfrm xmlns:a="http://schemas.openxmlformats.org/drawingml/2006/main">
            <a:off x="7620000" y="45053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Hai mô hình dùng thang đo khác nhau. Trọng số không chứng minh quan hệ nhân quả.</a:t>
            </a:r>
          </a:p>
        </p:txBody>
      </p:sp>
    </p:spTree>
    <p:extLst>
      <p:ext uri="{BB962C8B-B14F-4D97-AF65-F5344CB8AC3E}">
        <p14:creationId xmlns:p14="http://schemas.microsoft.com/office/powerpoint/2010/main" val="109132562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33FF76C0-4B9A-4363-8ED0-81D253186522}"/>
              </a:ext>
            </a:extLst>
          </p:cNvPr>
          <p:cNvCxnSpPr>
            <a:stCxn xmlns:a="http://schemas.openxmlformats.org/drawingml/2006/main" id="10" idx="2"/>
            <a:endCxn xmlns:a="http://schemas.openxmlformats.org/drawingml/2006/main" id="12" idx="0"/>
          </p:cNvCxnSpPr>
          <p:nvPr/>
        </p:nvCxnSpPr>
        <p:spPr>
          <a:xfrm xmlns:a="http://schemas.openxmlformats.org/drawingml/2006/main">
            <a:off x="8358188" y="4686300"/>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18F9E817-4726-481B-AE85-BE129B16385C}"/>
              </a:ext>
            </a:extLst>
          </p:cNvPr>
          <p:cNvCxnSpPr>
            <a:stCxn xmlns:a="http://schemas.openxmlformats.org/drawingml/2006/main" id="8" idx="2"/>
            <a:endCxn xmlns:a="http://schemas.openxmlformats.org/drawingml/2006/main" id="10" idx="0"/>
          </p:cNvCxnSpPr>
          <p:nvPr/>
        </p:nvCxnSpPr>
        <p:spPr>
          <a:xfrm xmlns:a="http://schemas.openxmlformats.org/drawingml/2006/main">
            <a:off x="8358188" y="378142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9" name="">
            <a:extLst xmlns:a="http://schemas.openxmlformats.org/drawingml/2006/main">
              <a:ext uri="{FF2B5EF4-FFF2-40B4-BE49-F238E27FC236}">
                <a16:creationId xmlns:a16="http://schemas.microsoft.com/office/drawing/2014/main" id="{645E65E7-73C7-4C33-BEFF-8535F58C5C6E}"/>
              </a:ext>
            </a:extLst>
          </p:cNvPr>
          <p:cNvCxnSpPr>
            <a:stCxn xmlns:a="http://schemas.openxmlformats.org/drawingml/2006/main" id="7" idx="2"/>
            <a:endCxn xmlns:a="http://schemas.openxmlformats.org/drawingml/2006/main" id="8" idx="0"/>
          </p:cNvCxnSpPr>
          <p:nvPr/>
        </p:nvCxnSpPr>
        <p:spPr>
          <a:xfrm xmlns:a="http://schemas.openxmlformats.org/drawingml/2006/main">
            <a:off x="8358188" y="2876550"/>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14" name="">
            <a:extLst xmlns:a="http://schemas.openxmlformats.org/drawingml/2006/main">
              <a:ext uri="{FF2B5EF4-FFF2-40B4-BE49-F238E27FC236}">
                <a16:creationId xmlns:a16="http://schemas.microsoft.com/office/drawing/2014/main" id="{99E66602-11C8-4AB1-BFF6-4756E0E3A2D8}"/>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Ứng dụng Web_Air</a:t>
            </a:r>
          </a:p>
        </p:txBody>
      </p:sp>
      <p:sp>
        <p:nvSpPr>
          <p:cNvPr id="2" name="">
            <a:extLst xmlns:a="http://schemas.openxmlformats.org/drawingml/2006/main">
              <a:ext uri="{FF2B5EF4-FFF2-40B4-BE49-F238E27FC236}">
                <a16:creationId xmlns:a16="http://schemas.microsoft.com/office/drawing/2014/main" id="{99928665-FCBD-4C63-ADF3-C5D5B2D0DE7A}"/>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Ứng dụng phục vụ dự đoán và hiển thị kết quả thực nghiệm</a:t>
            </a:r>
          </a:p>
        </p:txBody>
      </p:sp>
      <p:sp>
        <p:nvSpPr>
          <p:cNvPr id="3" name="">
            <a:extLst xmlns:a="http://schemas.openxmlformats.org/drawingml/2006/main">
              <a:ext uri="{FF2B5EF4-FFF2-40B4-BE49-F238E27FC236}">
                <a16:creationId xmlns:a16="http://schemas.microsoft.com/office/drawing/2014/main" id="{D97D0539-BC9F-47BF-9470-DC8E12E2F25B}"/>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B865944A-01DC-4DE3-AE3C-F0E8F55D7537}"/>
              </a:ext>
            </a:extLst>
          </p:cNvPr>
          <p:cNvSpPr>
            <a:spLocks xmlns:a="http://schemas.openxmlformats.org/drawingml/2006/main" noGrp="1"/>
          </p:cNvSpPr>
          <p:nvPr/>
        </p:nvSpPr>
        <p:spPr>
          <a:xfrm xmlns:a="http://schemas.openxmlformats.org/drawingml/2006/main">
            <a:off x="571500" y="23336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Người dùng nhập thông tin chuyến bay và nhận nhãn dự đoán.</a:t>
            </a:r>
          </a:p>
        </p:txBody>
      </p:sp>
      <p:sp>
        <p:nvSpPr>
          <p:cNvPr id="5" name="">
            <a:extLst xmlns:a="http://schemas.openxmlformats.org/drawingml/2006/main">
              <a:ext uri="{FF2B5EF4-FFF2-40B4-BE49-F238E27FC236}">
                <a16:creationId xmlns:a16="http://schemas.microsoft.com/office/drawing/2014/main" id="{AAE99445-6C7D-489E-A59B-64D65E9863A6}"/>
              </a:ext>
            </a:extLst>
          </p:cNvPr>
          <p:cNvSpPr>
            <a:spLocks xmlns:a="http://schemas.openxmlformats.org/drawingml/2006/main" noGrp="1"/>
          </p:cNvSpPr>
          <p:nvPr/>
        </p:nvSpPr>
        <p:spPr>
          <a:xfrm xmlns:a="http://schemas.openxmlformats.org/drawingml/2006/main">
            <a:off x="571500" y="342900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Web_Air giúp trình bày kết quả của đồ án.</a:t>
            </a:r>
          </a:p>
        </p:txBody>
      </p:sp>
      <p:sp>
        <p:nvSpPr>
          <p:cNvPr id="6" name="">
            <a:extLst xmlns:a="http://schemas.openxmlformats.org/drawingml/2006/main">
              <a:ext uri="{FF2B5EF4-FFF2-40B4-BE49-F238E27FC236}">
                <a16:creationId xmlns:a16="http://schemas.microsoft.com/office/drawing/2014/main" id="{98869D86-7534-45B1-A2EF-6750535DF965}"/>
              </a:ext>
            </a:extLst>
          </p:cNvPr>
          <p:cNvSpPr>
            <a:spLocks xmlns:a="http://schemas.openxmlformats.org/drawingml/2006/main" noGrp="1"/>
          </p:cNvSpPr>
          <p:nvPr/>
        </p:nvSpPr>
        <p:spPr>
          <a:xfrm xmlns:a="http://schemas.openxmlformats.org/drawingml/2006/main">
            <a:off x="571500" y="45243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Chưa đo tải Web và thời gian phản hồi HTTP.</a:t>
            </a:r>
          </a:p>
        </p:txBody>
      </p:sp>
      <p:sp>
        <p:nvSpPr>
          <p:cNvPr id="7" name="">
            <a:extLst xmlns:a="http://schemas.openxmlformats.org/drawingml/2006/main">
              <a:ext uri="{FF2B5EF4-FFF2-40B4-BE49-F238E27FC236}">
                <a16:creationId xmlns:a16="http://schemas.microsoft.com/office/drawing/2014/main" id="{1B1BA40E-7403-4589-8503-46BC121ADF96}"/>
              </a:ext>
            </a:extLst>
          </p:cNvPr>
          <p:cNvSpPr>
            <a:spLocks xmlns:a="http://schemas.openxmlformats.org/drawingml/2006/main" noGrp="1"/>
          </p:cNvSpPr>
          <p:nvPr/>
        </p:nvSpPr>
        <p:spPr>
          <a:xfrm xmlns:a="http://schemas.openxmlformats.org/drawingml/2006/main">
            <a:off x="5191125" y="2247900"/>
            <a:ext cx="6334125"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Nhập thông tin chuyến bay</a:t>
            </a:r>
          </a:p>
        </p:txBody>
      </p:sp>
      <p:sp>
        <p:nvSpPr>
          <p:cNvPr id="8" name="">
            <a:extLst xmlns:a="http://schemas.openxmlformats.org/drawingml/2006/main">
              <a:ext uri="{FF2B5EF4-FFF2-40B4-BE49-F238E27FC236}">
                <a16:creationId xmlns:a16="http://schemas.microsoft.com/office/drawing/2014/main" id="{96C4840A-3FF4-4BDF-B554-96ED5F34F560}"/>
              </a:ext>
            </a:extLst>
          </p:cNvPr>
          <p:cNvSpPr>
            <a:spLocks xmlns:a="http://schemas.openxmlformats.org/drawingml/2006/main" noGrp="1"/>
          </p:cNvSpPr>
          <p:nvPr/>
        </p:nvSpPr>
        <p:spPr>
          <a:xfrm xmlns:a="http://schemas.openxmlformats.org/drawingml/2006/main">
            <a:off x="5191125" y="3152775"/>
            <a:ext cx="6334125"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Gửi yêu cầu dự đoán</a:t>
            </a:r>
          </a:p>
        </p:txBody>
      </p:sp>
      <p:sp>
        <p:nvSpPr>
          <p:cNvPr id="10" name="">
            <a:extLst xmlns:a="http://schemas.openxmlformats.org/drawingml/2006/main">
              <a:ext uri="{FF2B5EF4-FFF2-40B4-BE49-F238E27FC236}">
                <a16:creationId xmlns:a16="http://schemas.microsoft.com/office/drawing/2014/main" id="{07DFA816-7B2A-467F-87A9-AE4D34732BC7}"/>
              </a:ext>
            </a:extLst>
          </p:cNvPr>
          <p:cNvSpPr>
            <a:spLocks xmlns:a="http://schemas.openxmlformats.org/drawingml/2006/main" noGrp="1"/>
          </p:cNvSpPr>
          <p:nvPr/>
        </p:nvSpPr>
        <p:spPr>
          <a:xfrm xmlns:a="http://schemas.openxmlformats.org/drawingml/2006/main">
            <a:off x="5191125" y="4057650"/>
            <a:ext cx="6334125"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Mô hình trả nhãn</a:t>
            </a:r>
          </a:p>
        </p:txBody>
      </p:sp>
      <p:sp>
        <p:nvSpPr>
          <p:cNvPr id="12" name="">
            <a:extLst xmlns:a="http://schemas.openxmlformats.org/drawingml/2006/main">
              <a:ext uri="{FF2B5EF4-FFF2-40B4-BE49-F238E27FC236}">
                <a16:creationId xmlns:a16="http://schemas.microsoft.com/office/drawing/2014/main" id="{392D8B11-92B2-4307-8B2A-993713120F32}"/>
              </a:ext>
            </a:extLst>
          </p:cNvPr>
          <p:cNvSpPr>
            <a:spLocks xmlns:a="http://schemas.openxmlformats.org/drawingml/2006/main" noGrp="1"/>
          </p:cNvSpPr>
          <p:nvPr/>
        </p:nvSpPr>
        <p:spPr>
          <a:xfrm xmlns:a="http://schemas.openxmlformats.org/drawingml/2006/main">
            <a:off x="5191125" y="4962525"/>
            <a:ext cx="6334125"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Hiển thị kết quả</a:t>
            </a:r>
          </a:p>
        </p:txBody>
      </p:sp>
    </p:spTree>
    <p:extLst>
      <p:ext uri="{BB962C8B-B14F-4D97-AF65-F5344CB8AC3E}">
        <p14:creationId xmlns:p14="http://schemas.microsoft.com/office/powerpoint/2010/main" val="102451919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98B0DB70-E53D-421C-9EF8-DAFA7D7991F9}"/>
              </a:ext>
            </a:extLst>
          </p:cNvPr>
          <p:cNvCxnSpPr>
            <a:stCxn xmlns:a="http://schemas.openxmlformats.org/drawingml/2006/main" id="5" idx="2"/>
            <a:endCxn xmlns:a="http://schemas.openxmlformats.org/drawingml/2006/main" id="7" idx="0"/>
          </p:cNvCxnSpPr>
          <p:nvPr/>
        </p:nvCxnSpPr>
        <p:spPr>
          <a:xfrm xmlns:a="http://schemas.openxmlformats.org/drawingml/2006/main">
            <a:off x="3810000" y="378142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6" name="">
            <a:extLst xmlns:a="http://schemas.openxmlformats.org/drawingml/2006/main">
              <a:ext uri="{FF2B5EF4-FFF2-40B4-BE49-F238E27FC236}">
                <a16:creationId xmlns:a16="http://schemas.microsoft.com/office/drawing/2014/main" id="{CC62BF2D-DD69-4622-AAD8-7FB728DC9FFD}"/>
              </a:ext>
            </a:extLst>
          </p:cNvPr>
          <p:cNvCxnSpPr>
            <a:stCxn xmlns:a="http://schemas.openxmlformats.org/drawingml/2006/main" id="4" idx="2"/>
            <a:endCxn xmlns:a="http://schemas.openxmlformats.org/drawingml/2006/main" id="5" idx="0"/>
          </p:cNvCxnSpPr>
          <p:nvPr/>
        </p:nvCxnSpPr>
        <p:spPr>
          <a:xfrm xmlns:a="http://schemas.openxmlformats.org/drawingml/2006/main">
            <a:off x="3810000" y="2876550"/>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12" name="">
            <a:extLst xmlns:a="http://schemas.openxmlformats.org/drawingml/2006/main">
              <a:ext uri="{FF2B5EF4-FFF2-40B4-BE49-F238E27FC236}">
                <a16:creationId xmlns:a16="http://schemas.microsoft.com/office/drawing/2014/main" id="{A114F38F-C213-46E3-AD2E-8CC51726C496}"/>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Kết luận và hướng phát triển</a:t>
            </a:r>
          </a:p>
        </p:txBody>
      </p:sp>
      <p:sp>
        <p:nvSpPr>
          <p:cNvPr id="2" name="">
            <a:extLst xmlns:a="http://schemas.openxmlformats.org/drawingml/2006/main">
              <a:ext uri="{FF2B5EF4-FFF2-40B4-BE49-F238E27FC236}">
                <a16:creationId xmlns:a16="http://schemas.microsoft.com/office/drawing/2014/main" id="{7577CFD2-4802-466F-AA28-AA6EAEF9544B}"/>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Đã xây dựng quy trình xử lý lớn, còn cần cải thiện nhận diện nguyên nhân trễ</a:t>
            </a:r>
          </a:p>
        </p:txBody>
      </p:sp>
      <p:sp>
        <p:nvSpPr>
          <p:cNvPr id="3" name="">
            <a:extLst xmlns:a="http://schemas.openxmlformats.org/drawingml/2006/main">
              <a:ext uri="{FF2B5EF4-FFF2-40B4-BE49-F238E27FC236}">
                <a16:creationId xmlns:a16="http://schemas.microsoft.com/office/drawing/2014/main" id="{A3DF713D-A659-439E-998C-5D3471268639}"/>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59385813-9F52-4A09-87DF-4E16C0E4E2DB}"/>
              </a:ext>
            </a:extLst>
          </p:cNvPr>
          <p:cNvSpPr>
            <a:spLocks xmlns:a="http://schemas.openxmlformats.org/drawingml/2006/main" noGrp="1"/>
          </p:cNvSpPr>
          <p:nvPr/>
        </p:nvSpPr>
        <p:spPr>
          <a:xfrm xmlns:a="http://schemas.openxmlformats.org/drawingml/2006/main">
            <a:off x="619125" y="2247900"/>
            <a:ext cx="6381750"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Xử lý hơn 7 triệu chuyến bay</a:t>
            </a:r>
          </a:p>
        </p:txBody>
      </p:sp>
      <p:sp>
        <p:nvSpPr>
          <p:cNvPr id="5" name="">
            <a:extLst xmlns:a="http://schemas.openxmlformats.org/drawingml/2006/main">
              <a:ext uri="{FF2B5EF4-FFF2-40B4-BE49-F238E27FC236}">
                <a16:creationId xmlns:a16="http://schemas.microsoft.com/office/drawing/2014/main" id="{DB7F91A4-1C2D-4E12-A98E-66FFB4427A35}"/>
              </a:ext>
            </a:extLst>
          </p:cNvPr>
          <p:cNvSpPr>
            <a:spLocks xmlns:a="http://schemas.openxmlformats.org/drawingml/2006/main" noGrp="1"/>
          </p:cNvSpPr>
          <p:nvPr/>
        </p:nvSpPr>
        <p:spPr>
          <a:xfrm xmlns:a="http://schemas.openxmlformats.org/drawingml/2006/main">
            <a:off x="619125" y="3152775"/>
            <a:ext cx="6381750"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Thực nghiệm 6 CPU và 3 Spark</a:t>
            </a:r>
          </a:p>
        </p:txBody>
      </p:sp>
      <p:sp>
        <p:nvSpPr>
          <p:cNvPr id="7" name="">
            <a:extLst xmlns:a="http://schemas.openxmlformats.org/drawingml/2006/main">
              <a:ext uri="{FF2B5EF4-FFF2-40B4-BE49-F238E27FC236}">
                <a16:creationId xmlns:a16="http://schemas.microsoft.com/office/drawing/2014/main" id="{6D069910-FC89-41A2-A06C-9BF8E4B3AB11}"/>
              </a:ext>
            </a:extLst>
          </p:cNvPr>
          <p:cNvSpPr>
            <a:spLocks xmlns:a="http://schemas.openxmlformats.org/drawingml/2006/main" noGrp="1"/>
          </p:cNvSpPr>
          <p:nvPr/>
        </p:nvSpPr>
        <p:spPr>
          <a:xfrm xmlns:a="http://schemas.openxmlformats.org/drawingml/2006/main">
            <a:off x="619125" y="4057650"/>
            <a:ext cx="6381750"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Phục vụ dự đoán bằng Web_Air</a:t>
            </a:r>
          </a:p>
        </p:txBody>
      </p:sp>
      <p:sp>
        <p:nvSpPr>
          <p:cNvPr id="9" name="">
            <a:extLst xmlns:a="http://schemas.openxmlformats.org/drawingml/2006/main">
              <a:ext uri="{FF2B5EF4-FFF2-40B4-BE49-F238E27FC236}">
                <a16:creationId xmlns:a16="http://schemas.microsoft.com/office/drawing/2014/main" id="{497A8A7F-7A92-4B95-93D2-9C343945E0DE}"/>
              </a:ext>
            </a:extLst>
          </p:cNvPr>
          <p:cNvSpPr>
            <a:spLocks xmlns:a="http://schemas.openxmlformats.org/drawingml/2006/main" noGrp="1"/>
          </p:cNvSpPr>
          <p:nvPr/>
        </p:nvSpPr>
        <p:spPr>
          <a:xfrm xmlns:a="http://schemas.openxmlformats.org/drawingml/2006/main">
            <a:off x="7620000" y="22669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Kết quả: CatBoost CPU Weighted F1 70,50%; RF Spark train 31,03 giây.</a:t>
            </a:r>
          </a:p>
        </p:txBody>
      </p:sp>
      <p:sp>
        <p:nvSpPr>
          <p:cNvPr id="10" name="">
            <a:extLst xmlns:a="http://schemas.openxmlformats.org/drawingml/2006/main">
              <a:ext uri="{FF2B5EF4-FFF2-40B4-BE49-F238E27FC236}">
                <a16:creationId xmlns:a16="http://schemas.microsoft.com/office/drawing/2014/main" id="{39CF9CD2-940C-4583-9893-7366CA562B01}"/>
              </a:ext>
            </a:extLst>
          </p:cNvPr>
          <p:cNvSpPr>
            <a:spLocks xmlns:a="http://schemas.openxmlformats.org/drawingml/2006/main" noGrp="1"/>
          </p:cNvSpPr>
          <p:nvPr/>
        </p:nvSpPr>
        <p:spPr>
          <a:xfrm xmlns:a="http://schemas.openxmlformats.org/drawingml/2006/main">
            <a:off x="7620000" y="34480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Hạn chế chính: lớp hiếm dự đoán kém và đối chứng chưa đầy đủ.</a:t>
            </a:r>
          </a:p>
        </p:txBody>
      </p:sp>
      <p:sp>
        <p:nvSpPr>
          <p:cNvPr id="11" name="">
            <a:extLst xmlns:a="http://schemas.openxmlformats.org/drawingml/2006/main">
              <a:ext uri="{FF2B5EF4-FFF2-40B4-BE49-F238E27FC236}">
                <a16:creationId xmlns:a16="http://schemas.microsoft.com/office/drawing/2014/main" id="{0208C731-F073-4AED-A074-CF6E76900632}"/>
              </a:ext>
            </a:extLst>
          </p:cNvPr>
          <p:cNvSpPr>
            <a:spLocks xmlns:a="http://schemas.openxmlformats.org/drawingml/2006/main" noGrp="1"/>
          </p:cNvSpPr>
          <p:nvPr/>
        </p:nvSpPr>
        <p:spPr>
          <a:xfrm xmlns:a="http://schemas.openxmlformats.org/drawingml/2006/main">
            <a:off x="7620000" y="46291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Tiếp theo: cân bằng lớp, test chung và lưu log, ma trận Spark.</a:t>
            </a:r>
          </a:p>
        </p:txBody>
      </p:sp>
    </p:spTree>
    <p:extLst>
      <p:ext uri="{BB962C8B-B14F-4D97-AF65-F5344CB8AC3E}">
        <p14:creationId xmlns:p14="http://schemas.microsoft.com/office/powerpoint/2010/main" val="15697277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F1B75F-89EC-4144-B5B9-3117D569FFC1}"/>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Cảm ơn và hỏi đáp</a:t>
            </a:r>
          </a:p>
        </p:txBody>
      </p:sp>
      <p:sp>
        <p:nvSpPr>
          <p:cNvPr id="2" name="">
            <a:extLst xmlns:a="http://schemas.openxmlformats.org/drawingml/2006/main">
              <a:ext uri="{FF2B5EF4-FFF2-40B4-BE49-F238E27FC236}">
                <a16:creationId xmlns:a16="http://schemas.microsoft.com/office/drawing/2014/main" id="{6DA0D31A-D483-4704-9731-8567EB426B76}"/>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Nhóm 6 xin nhận câu hỏi và góp ý</a:t>
            </a:r>
          </a:p>
        </p:txBody>
      </p:sp>
      <p:sp>
        <p:nvSpPr>
          <p:cNvPr id="3" name="">
            <a:extLst xmlns:a="http://schemas.openxmlformats.org/drawingml/2006/main">
              <a:ext uri="{FF2B5EF4-FFF2-40B4-BE49-F238E27FC236}">
                <a16:creationId xmlns:a16="http://schemas.microsoft.com/office/drawing/2014/main" id="{90F85F75-E710-4AAD-B01F-3BDDF67C9392}"/>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29444F6C-D8E6-4D50-8A43-7855C75955C3}"/>
              </a:ext>
            </a:extLst>
          </p:cNvPr>
          <p:cNvSpPr>
            <a:spLocks xmlns:a="http://schemas.openxmlformats.org/drawingml/2006/main" noGrp="1"/>
          </p:cNvSpPr>
          <p:nvPr/>
        </p:nvSpPr>
        <p:spPr>
          <a:xfrm xmlns:a="http://schemas.openxmlformats.org/drawingml/2006/main">
            <a:off x="952500" y="2476500"/>
            <a:ext cx="10096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525" b="1">
                <a:solidFill>
                  <a:srgbClr val="2072B7"/>
                </a:solidFill>
                <a:latin typeface="Arial"/>
                <a:ea typeface="Arial"/>
                <a:cs typeface="Arial"/>
              </a:defRPr>
            </a:defPPr>
          </a:lstStyle>
          <a:p xmlns:a="http://schemas.openxmlformats.org/drawingml/2006/main">
            <a:pPr>
              <a:defRPr sz="3525" b="1">
                <a:solidFill>
                  <a:srgbClr val="2072B7"/>
                </a:solidFill>
                <a:latin typeface="Arial"/>
                <a:ea typeface="Arial"/>
                <a:cs typeface="Arial"/>
              </a:defRPr>
            </a:pPr>
            <a:r>
              <a:rPr sz="3525" b="1">
                <a:solidFill>
                  <a:srgbClr val="2072B7"/>
                </a:solidFill>
                <a:latin typeface="Arial"/>
                <a:ea typeface="Arial"/>
                <a:cs typeface="Arial"/>
              </a:rPr>
              <a:t>Cảm ơn thầy và các bạn</a:t>
            </a:r>
          </a:p>
          <a:p xmlns:a="http://schemas.openxmlformats.org/drawingml/2006/main">
            <a:pPr>
              <a:defRPr sz="3525" b="1">
                <a:solidFill>
                  <a:srgbClr val="2072B7"/>
                </a:solidFill>
                <a:latin typeface="Arial"/>
                <a:ea typeface="Arial"/>
                <a:cs typeface="Arial"/>
              </a:defRPr>
            </a:pPr>
            <a:r>
              <a:rPr sz="3525" b="1">
                <a:solidFill>
                  <a:srgbClr val="2072B7"/>
                </a:solidFill>
                <a:latin typeface="Arial"/>
                <a:ea typeface="Arial"/>
                <a:cs typeface="Arial"/>
              </a:rPr>
              <a:t>đã lắng nghe</a:t>
            </a:r>
          </a:p>
        </p:txBody>
      </p:sp>
      <p:sp>
        <p:nvSpPr>
          <p:cNvPr id="5" name="">
            <a:extLst xmlns:a="http://schemas.openxmlformats.org/drawingml/2006/main">
              <a:ext uri="{FF2B5EF4-FFF2-40B4-BE49-F238E27FC236}">
                <a16:creationId xmlns:a16="http://schemas.microsoft.com/office/drawing/2014/main" id="{FDFAF052-DB45-4A40-9C49-E7F2BAA81435}"/>
              </a:ext>
            </a:extLst>
          </p:cNvPr>
          <p:cNvSpPr>
            <a:spLocks xmlns:a="http://schemas.openxmlformats.org/drawingml/2006/main" noGrp="1"/>
          </p:cNvSpPr>
          <p:nvPr/>
        </p:nvSpPr>
        <p:spPr>
          <a:xfrm xmlns:a="http://schemas.openxmlformats.org/drawingml/2006/main">
            <a:off x="952500" y="4429125"/>
            <a:ext cx="9525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D39"/>
                </a:solidFill>
                <a:latin typeface="Arial"/>
                <a:ea typeface="Arial"/>
                <a:cs typeface="Arial"/>
              </a:defRPr>
            </a:defPPr>
          </a:lstStyle>
          <a:p xmlns:a="http://schemas.openxmlformats.org/drawingml/2006/main">
            <a:pPr>
              <a:defRPr sz="2250" b="0">
                <a:solidFill>
                  <a:srgbClr val="202D39"/>
                </a:solidFill>
                <a:latin typeface="Arial"/>
                <a:ea typeface="Arial"/>
                <a:cs typeface="Arial"/>
              </a:defRPr>
            </a:pPr>
            <a:r>
              <a:rPr sz="2250" b="0">
                <a:solidFill>
                  <a:srgbClr val="202D39"/>
                </a:solidFill>
                <a:latin typeface="Arial"/>
                <a:ea typeface="Arial"/>
                <a:cs typeface="Arial"/>
              </a:rPr>
              <a:t>Giảng viên hướng dẫn</a:t>
            </a:r>
          </a:p>
          <a:p xmlns:a="http://schemas.openxmlformats.org/drawingml/2006/main">
            <a:pPr>
              <a:defRPr sz="2250" b="0">
                <a:solidFill>
                  <a:srgbClr val="202D39"/>
                </a:solidFill>
                <a:latin typeface="Arial"/>
                <a:ea typeface="Arial"/>
                <a:cs typeface="Arial"/>
              </a:defRPr>
            </a:pPr>
            <a:r>
              <a:rPr sz="2250" b="0">
                <a:solidFill>
                  <a:srgbClr val="202D39"/>
                </a:solidFill>
                <a:latin typeface="Arial"/>
                <a:ea typeface="Arial"/>
                <a:cs typeface="Arial"/>
              </a:rPr>
              <a:t>TS. Phan Hồ Viết Trường</a:t>
            </a:r>
          </a:p>
        </p:txBody>
      </p:sp>
    </p:spTree>
    <p:extLst>
      <p:ext uri="{BB962C8B-B14F-4D97-AF65-F5344CB8AC3E}">
        <p14:creationId xmlns:p14="http://schemas.microsoft.com/office/powerpoint/2010/main" val="1956404352"/>
      </p:ext>
    </p:extLst>
  </p:cSld>
</p:sld>
</file>

<file path=ppt/theme/theme1.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UI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2026-10-12T23:48:22.8110000Z</dcterms:created>
  <dcterms:modified xsi:type="dcterms:W3CDTF">2026-10-12T23:48:22.8110000Z</dcterms:modified>
</coreProperties>
</file>