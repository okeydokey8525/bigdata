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50"/>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Lst>
  <p:sldSz cx="18288000" cy="10287000"/>
  <p:notesSz cx="6858000" cy="9144000"/>
  <p:embeddedFontLst>
    <p:embeddedFont>
      <p:font typeface="Calibri (MS)" charset="1" panose="020F0502020204030204"/>
      <p:regular r:id="rId40"/>
    </p:embeddedFont>
    <p:embeddedFont>
      <p:font typeface="Arial" charset="1" panose="020B0604020202020204"/>
      <p:regular r:id="rId41"/>
    </p:embeddedFont>
    <p:embeddedFont>
      <p:font typeface="Arial Bold" charset="1" panose="020B0704020202020204"/>
      <p:regular r:id="rId42"/>
    </p:embeddedFont>
    <p:embeddedFont>
      <p:font typeface="Arimo Bold" charset="1" panose="020B0704020202020204"/>
      <p:regular r:id="rId43"/>
    </p:embeddedFont>
    <p:embeddedFont>
      <p:font typeface="Arimo" charset="1" panose="020B0604020202020204"/>
      <p:regular r:id="rId44"/>
    </p:embeddedFont>
    <p:embeddedFont>
      <p:font typeface="Noto Sans" charset="1" panose="020B0502040504020204"/>
      <p:regular r:id="rId45"/>
    </p:embeddedFont>
    <p:embeddedFont>
      <p:font typeface="Quicksand Bold" charset="1" panose="00000000000000000000"/>
      <p:regular r:id="rId46"/>
    </p:embeddedFont>
    <p:embeddedFont>
      <p:font typeface="Quicksand" charset="1" panose="00000000000000000000"/>
      <p:regular r:id="rId47"/>
    </p:embeddedFont>
    <p:embeddedFont>
      <p:font typeface="Canva Sans" charset="1" panose="020B0503030501040103"/>
      <p:regular r:id="rId48"/>
    </p:embeddedFont>
    <p:embeddedFont>
      <p:font typeface="Calibri (MS) Bold" charset="1" panose="020F0702030404030204"/>
      <p:regular r:id="rId4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44" Target="fonts/font44.fntdata" Type="http://schemas.openxmlformats.org/officeDocument/2006/relationships/font"/><Relationship Id="rId45" Target="fonts/font45.fntdata" Type="http://schemas.openxmlformats.org/officeDocument/2006/relationships/font"/><Relationship Id="rId46" Target="fonts/font46.fntdata" Type="http://schemas.openxmlformats.org/officeDocument/2006/relationships/font"/><Relationship Id="rId47" Target="fonts/font47.fntdata" Type="http://schemas.openxmlformats.org/officeDocument/2006/relationships/font"/><Relationship Id="rId48" Target="fonts/font48.fntdata" Type="http://schemas.openxmlformats.org/officeDocument/2006/relationships/font"/><Relationship Id="rId49" Target="fonts/font49.fntdata" Type="http://schemas.openxmlformats.org/officeDocument/2006/relationships/font"/><Relationship Id="rId5" Target="tableStyles.xml" Type="http://schemas.openxmlformats.org/officeDocument/2006/relationships/tableStyles"/><Relationship Id="rId50" Target="notesMasters/notesMaster1.xml" Type="http://schemas.openxmlformats.org/officeDocument/2006/relationships/notesMaster"/><Relationship Id="rId51" Target="theme/theme2.xml" Type="http://schemas.openxmlformats.org/officeDocument/2006/relationships/theme"/><Relationship Id="rId52" Target="notesSlides/notesSlide1.xml" Type="http://schemas.openxmlformats.org/officeDocument/2006/relationships/notesSlide"/><Relationship Id="rId53" Target="notesSlides/notesSlide2.xml" Type="http://schemas.openxmlformats.org/officeDocument/2006/relationships/notesSlide"/><Relationship Id="rId54" Target="notesSlides/notesSlide3.xml" Type="http://schemas.openxmlformats.org/officeDocument/2006/relationships/notesSlide"/><Relationship Id="rId55" Target="notesSlides/notesSlide4.xml" Type="http://schemas.openxmlformats.org/officeDocument/2006/relationships/notesSlide"/><Relationship Id="rId56" Target="notesSlides/notesSlide5.xml" Type="http://schemas.openxmlformats.org/officeDocument/2006/relationships/notesSlide"/><Relationship Id="rId57" Target="notesSlides/notesSlide6.xml" Type="http://schemas.openxmlformats.org/officeDocument/2006/relationships/notesSlide"/><Relationship Id="rId58" Target="notesSlides/notesSlide7.xml" Type="http://schemas.openxmlformats.org/officeDocument/2006/relationships/notesSlide"/><Relationship Id="rId59" Target="notesSlides/notesSlide8.xml" Type="http://schemas.openxmlformats.org/officeDocument/2006/relationships/notesSlide"/><Relationship Id="rId6" Target="slides/slide1.xml" Type="http://schemas.openxmlformats.org/officeDocument/2006/relationships/slide"/><Relationship Id="rId60" Target="notesSlides/notesSlide9.xml" Type="http://schemas.openxmlformats.org/officeDocument/2006/relationships/notesSlide"/><Relationship Id="rId61" Target="notesSlides/notesSlide10.xml" Type="http://schemas.openxmlformats.org/officeDocument/2006/relationships/notesSlide"/><Relationship Id="rId62" Target="notesSlides/notesSlide11.xml" Type="http://schemas.openxmlformats.org/officeDocument/2006/relationships/notesSlide"/><Relationship Id="rId63" Target="notesSlides/notesSlide12.xml" Type="http://schemas.openxmlformats.org/officeDocument/2006/relationships/notesSlide"/><Relationship Id="rId64" Target="notesSlides/notesSlide13.xml" Type="http://schemas.openxmlformats.org/officeDocument/2006/relationships/notesSlide"/><Relationship Id="rId65" Target="notesSlides/notesSlide14.xml" Type="http://schemas.openxmlformats.org/officeDocument/2006/relationships/notesSlide"/><Relationship Id="rId66" Target="notesSlides/notesSlide15.xml" Type="http://schemas.openxmlformats.org/officeDocument/2006/relationships/notesSlide"/><Relationship Id="rId67" Target="notesSlides/notesSlide16.xml" Type="http://schemas.openxmlformats.org/officeDocument/2006/relationships/notesSlide"/><Relationship Id="rId68" Target="notesSlides/notesSlide17.xml" Type="http://schemas.openxmlformats.org/officeDocument/2006/relationships/notesSlide"/><Relationship Id="rId69" Target="notesSlides/notesSlide18.xml" Type="http://schemas.openxmlformats.org/officeDocument/2006/relationships/notesSlide"/><Relationship Id="rId7" Target="slides/slide2.xml" Type="http://schemas.openxmlformats.org/officeDocument/2006/relationships/slide"/><Relationship Id="rId70" Target="notesSlides/notesSlide19.xml" Type="http://schemas.openxmlformats.org/officeDocument/2006/relationships/notesSlide"/><Relationship Id="rId71" Target="notesSlides/notesSlide20.xml" Type="http://schemas.openxmlformats.org/officeDocument/2006/relationships/notesSlide"/><Relationship Id="rId72" Target="notesSlides/notesSlide21.xml" Type="http://schemas.openxmlformats.org/officeDocument/2006/relationships/notesSlide"/><Relationship Id="rId73" Target="notesSlides/notesSlide22.xml" Type="http://schemas.openxmlformats.org/officeDocument/2006/relationships/notesSlide"/><Relationship Id="rId74" Target="notesSlides/notesSlide23.xml" Type="http://schemas.openxmlformats.org/officeDocument/2006/relationships/notesSlide"/><Relationship Id="rId75" Target="notesSlides/notesSlide24.xml" Type="http://schemas.openxmlformats.org/officeDocument/2006/relationships/note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Nguồn: DOC_TRUOC_KHI_LAM_V4.txt; code_commit_10_10_dca2d78 và code_hien_tai. Commit dca2d78 được tạo ngày 10/10/2026 lúc 21:56:51 +0700, sau metrics Spark lúc 21:09:08. Đây là bản tham chiếu, chưa chứng minh đúng mã đã thực thi.</a:t>
            </a:r>
          </a:p>
          <a:p>
            <a:r>
              <a:rPr lang="en-US"/>
              <a:t/>
            </a:r>
          </a:p>
          <a:p>
            <a:r>
              <a:rPr lang="en-US"/>
              <a:t>Mô hình tuyến tính biến các đặc trưng thành điểm lớp. Xác suất giúp diễn giải việc chọn lớp. Các số 55%, 20% và 25% chỉ là ví dụ minh họa. CPU trong code dùng SGDClassifier với loss=log_loss, học theo one-vs-rest, và StandardScaler fit trên Train. Spark dùng LogisticRegression đa lớp family=multinomial. Các cấu hình trong snapshot chưa được log xác nhận cho lượt cũ. Nguồn: https://scikit-learn.org/stable/modules/generated/sklearn.linear_model.SGDClassifier.html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Nguồn: DOC_TRUOC_KHI_LAM_V4.txt; code_commit_10_10_dca2d78 và code_hien_tai. Commit dca2d78 được tạo ngày 10/10/2026 lúc 21:56:51 +0700, sau metrics Spark lúc 21:09:08. Đây là bản tham chiếu, chưa chứng minh đúng mã đã thực thi.</a:t>
            </a:r>
          </a:p>
          <a:p>
            <a:r>
              <a:rPr lang="en-US"/>
              <a:t/>
            </a:r>
          </a:p>
          <a:p>
            <a:r>
              <a:rPr lang="en-US"/>
              <a:t>Cây chọn điều kiện để giảm mức trộn nhãn, rồi tiếp tục chia từng nhánh. Khi dự đoán, một chuyến bay đi từ gốc tới lá. Ngưỡng giờ đi 17 và khoảng cách 1.000, cùng nhãn ở lá, chỉ là minh họa. CPU snapshot đặt max_depth=12 và min_samples_split=50; Spark đặt maxDepth=6, maxBins=32. Không khẳng định đây là cấu hình đúng lúc lưu kết quả. Nguồn: https://scikit-learn.org/stable/modules/tree.html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Nguồn: DOC_TRUOC_KHI_LAM_V4.txt; code_commit_10_10_dca2d78 và code_hien_tai. Commit dca2d78 được tạo ngày 10/10/2026 lúc 21:56:51 +0700, sau metrics Spark lúc 21:09:08. Đây là bản tham chiếu, chưa chứng minh đúng mã đã thực thi.</a:t>
            </a:r>
          </a:p>
          <a:p>
            <a:r>
              <a:rPr lang="en-US"/>
              <a:t/>
            </a:r>
          </a:p>
          <a:p>
            <a:r>
              <a:rPr lang="en-US"/>
              <a:t>Các cây học từ các mẫu bootstrap và tập con đặc trưng. Ví dụ Carrier/Carrier/NAS giải thích trực giác đa số phiếu. Bản scikit-learn thực tế chọn lớp có trung bình xác suất cao nhất, không phải luôn đếm nhãn cứng. Snapshot CPU đặt 50 cây, depth 10. Spark snapshot đặt cứng 10 cây, depth 6, dù CLI ghi mặc định 20/10. Số cây không tương ứng số máy. Nguồn: https://scikit-learn.org/stable/modules/generated/sklearn.ensemble.RandomForestClassifier.html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Nguồn: DOC_TRUOC_KHI_LAM_V4.txt; code_commit_10_10_dca2d78 và code_hien_tai. Commit dca2d78 được tạo ngày 10/10/2026 lúc 21:56:51 +0700, sau metrics Spark lúc 21:09:08. Đây là bản tham chiếu, chưa chứng minh đúng mã đã thực thi.</a:t>
            </a:r>
          </a:p>
          <a:p>
            <a:r>
              <a:rPr lang="en-US"/>
              <a:t/>
            </a:r>
          </a:p>
          <a:p>
            <a:r>
              <a:rPr lang="en-US"/>
              <a:t>XGBoost thêm cây để cải thiện hàm mất mát của mô hình hiện tại. Cây mới học theo thông tin gradient và Hessian; cụm từ giảm sai số trên slide là cách giải thích đơn giản. Khi dự đoán, cộng đóng góp các cây rồi chọn lớp, không bỏ phiếu. CPU snapshot đặt device=cpu, tree_method=hist, 100 cây, depth 8 và learning_rate=0,08; Validation dùng early stopping. Đây là cấu hình trong code tham chiếu. Nguồn: https://xgboost.readthedocs.io/en/latest/tutorials/model.html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Nguồn: DOC_TRUOC_KHI_LAM_V4.txt; code_commit_10_10_dca2d78 và code_hien_tai. Commit dca2d78 được tạo ngày 10/10/2026 lúc 21:56:51 +0700, sau metrics Spark lúc 21:09:08. Đây là bản tham chiếu, chưa chứng minh đúng mã đã thực thi.</a:t>
            </a:r>
          </a:p>
          <a:p>
            <a:r>
              <a:rPr lang="en-US"/>
              <a:t/>
            </a:r>
          </a:p>
          <a:p>
            <a:r>
              <a:rPr lang="en-US"/>
              <a:t>Histogram gom giá trị liên tục vào các bins và tích lũy thống kê gradient/Hessian. LightGBM chọn lá có mức giảm loss lớn nhất để phát triển tiếp, thay vì mở cả tầng đồng thời. Các cây vẫn được thêm theo gradient boosting. Lá A/B và các bins trên slide chỉ minh họa. CPU snapshot có 100 cây, depth 10, learning_rate=0,08 và early stopping 15 vòng. Nguồn: https://lightgbm.readthedocs.io/en/v4.2.0/Features.html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Nguồn: DOC_TRUOC_KHI_LAM_V4.txt; code_commit_10_10_dca2d78 và code_hien_tai. Commit dca2d78 được tạo ngày 10/10/2026 lúc 21:56:51 +0700, sau metrics Spark lúc 21:09:08. Đây là bản tham chiếu, chưa chứng minh đúng mã đã thực thi.</a:t>
            </a:r>
          </a:p>
          <a:p>
            <a:r>
              <a:rPr lang="en-US"/>
              <a:t/>
            </a:r>
          </a:p>
          <a:p>
            <a:r>
              <a:rPr lang="en-US"/>
              <a:t>CatBoost hỗ trợ dữ liệu phân loại bằng các thống kê theo hoán vị. Ordered boosting là một lựa chọn, không tự khẳng định code đã dùng vì không đặt boosting_type. CPU của dự án đã dùng LabelEncoder, chuyển tất cả cột thành ma trận float32 và không truyền cat_features. Vì vậy, sơ đồ thể hiện năng lực nguyên lý, chưa phải cơ chế categorical mà cấu hình dự án đã kích hoạt. Snapshot đặt iterations=100, depth=8, task_type=CPU. Nguồn: https://catboost.ai/docs/en/concepts/algorithm-main-stages_cat-to-numberic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Kính thưa thầy cô, ở bước chọn dữ liệu, nguyên tắc cốt lõi của nhóm là tách bạch hoàn toàn giữa nhãn và đặc trưng đầu vào để tránh rò rỉ dữ liệu (data leakage).</a:t>
            </a:r>
          </a:p>
          <a:p>
            <a:r>
              <a:rPr lang="en-US"/>
              <a:t/>
            </a:r>
          </a:p>
          <a:p>
            <a:r>
              <a:rPr lang="en-US"/>
              <a:t>Dữ liệu được chia thành 3 nhóm rõ ràng:</a:t>
            </a:r>
          </a:p>
          <a:p>
            <a:r>
              <a:rPr lang="en-US"/>
              <a:t/>
            </a:r>
          </a:p>
          <a:p>
            <a:r>
              <a:rPr lang="en-US"/>
              <a:t>Nhóm lọc và tạo nhãn: Dùng trạng thái hủy/đổi hướng bay (cancelled, diverted), độ trễ thực tế (arr_delay) và 5 nhóm nguyên nhân trễ để xác định ground truth. Nhóm này hoàn toàn bị loại khỏi tập </a:t>
            </a:r>
          </a:p>
          <a:p>
            <a:r>
              <a:rPr lang="en-US"/>
              <a:t>𝑋</a:t>
            </a:r>
          </a:p>
          <a:p>
            <a:r>
              <a:rPr lang="en-US"/>
              <a:t>X khi huấn luyện.</a:t>
            </a:r>
          </a:p>
          <a:p>
            <a:r>
              <a:rPr lang="en-US"/>
              <a:t/>
            </a:r>
          </a:p>
          <a:p>
            <a:r>
              <a:rPr lang="en-US"/>
              <a:t>Nhóm lịch trình kế hoạch: Gồm ngày, thứ trong tuần và giờ bay/giờ đến dự kiến (crs_dep_time, crs_arr_time).</a:t>
            </a:r>
          </a:p>
          <a:p>
            <a:r>
              <a:rPr lang="en-US"/>
              <a:t/>
            </a:r>
          </a:p>
          <a:p>
            <a:r>
              <a:rPr lang="en-US"/>
              <a:t>Nhóm vận hành: Gồm mã hãng bay, sân bay đi - đến, thời gian bay dự kiến và khoảng cách.</a:t>
            </a:r>
          </a:p>
          <a:p>
            <a:r>
              <a:rPr lang="en-US"/>
              <a:t/>
            </a:r>
          </a:p>
          <a:p>
            <a:r>
              <a:rPr lang="en-US"/>
              <a:t>Như vậy, mô hình chỉ học từ những thông tin kế hoạch đã biết trước giờ cất cánh, đảm bảo tính khả thi khi dự báo ngoài thực tế."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Tiếp theo là các quy tắc làm sạch dữ liệu thực tế được triển khai trong code.</a:t>
            </a:r>
          </a:p>
          <a:p>
            <a:r>
              <a:rPr lang="en-US"/>
              <a:t/>
            </a:r>
          </a:p>
          <a:p>
            <a:r>
              <a:rPr lang="en-US"/>
              <a:t>Quy trình tập trung vào hai xử lý cốt lõi:</a:t>
            </a:r>
          </a:p>
          <a:p>
            <a:r>
              <a:rPr lang="en-US"/>
              <a:t/>
            </a:r>
          </a:p>
          <a:p>
            <a:r>
              <a:rPr lang="en-US"/>
              <a:t>Lọc bản ghi (Filtering): Chỉ giữ các chuyến bay bình thường với cancelled = 0 và diverted = 0, đồng thời arr_delay bắt buộc phải có giá trị để tạo ground truth. Các chuyến bị hủy, chuyển hướng hoặc thiếu nhãn đều bị loại bỏ hoàn toàn.</a:t>
            </a:r>
          </a:p>
          <a:p>
            <a:r>
              <a:rPr lang="en-US"/>
              <a:t/>
            </a:r>
          </a:p>
          <a:p>
            <a:r>
              <a:rPr lang="en-US"/>
              <a:t>Xử lý giá trị thiếu (Imputation): Với 5 cột nguyên nhân gây trễ và cột dep_delay, nếu bị thiếu sẽ được điền mặc định bằng </a:t>
            </a:r>
          </a:p>
          <a:p>
            <a:r>
              <a:rPr lang="en-US"/>
              <a:t>0</a:t>
            </a:r>
          </a:p>
          <a:p>
            <a:r>
              <a:rPr lang="en-US"/>
              <a:t>0.</a:t>
            </a:r>
          </a:p>
          <a:p>
            <a:r>
              <a:rPr lang="en-US"/>
              <a:t/>
            </a:r>
          </a:p>
          <a:p>
            <a:r>
              <a:rPr lang="en-US"/>
              <a:t>Về mặt kỹ thuật, Spark tiến hành ép kiểu số trước khi lọc, còn pipeline CPU sẽ tiếp tục xử lý các lỗi ép kiểu khi chuẩn bị ma trận </a:t>
            </a:r>
          </a:p>
          <a:p>
            <a:r>
              <a:rPr lang="en-US"/>
              <a:t>𝑋</a:t>
            </a:r>
          </a:p>
          <a:p>
            <a:r>
              <a:rPr lang="en-US"/>
              <a:t>X."</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Tiếp theo là thuật toán gán nhãn đa lớp cho bài toán dự báo nguyên nhân trễ.Quy tắc phân loại gồm 2 nhánh chính:Đúng giờ hoặc trễ không đáng kể: Nếu arr_delay &lt; 15 phút, chuyến bay được gán ngay mã nhãn là 0 (OnTime).Trễ từ 15 phút trở lên: Nhóm sẽ xét 5 cột nguyên nhân gây trễ và chọn nguyên nhân có số phút lớn nhất làm nhãn chi phối.Để tránh xung đột khi có nhiều nguyên nhân cùng đạt số phút bằng nhau (hoặc trường hợp đặc biệt max $\le 0$), hệ thống áp dụng thứ tự ưu tiên cố định trong mã nguồn: Hãng bay (Carrier) $\rightarrow$ Thời tiết (Weather) $\rightarrow$ Hệ thống hàng không (NAS) $\rightarrow$ An ninh (Security) $\rightarrow$ Trễ dây chuyền (LateAircraft).Ví dụ trên slide: Một chuyến bay trễ 40 phút có cả lỗi hãng và thời tiết đều bằng 20 phút, nhãn sẽ được ưu tiên gán là do Hãng bay</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Nguồn: DOC_TRUOC_KHI_LAM_V4.txt; code_commit_10_10_dca2d78 và code_hien_tai. Commit dca2d78 được tạo ngày 10/10/2026 lúc 21:56:51 +0700, sau metrics Spark lúc 21:09:08. Đây là bản tham chiếu, chưa chứng minh đúng mã đã thực thi.</a:t>
            </a:r>
          </a:p>
          <a:p>
            <a:r>
              <a:rPr lang="en-US"/>
              <a:t/>
            </a:r>
          </a:p>
          <a:p>
            <a:r>
              <a:rPr lang="en-US"/>
              <a:t>Nguồn: add_time_features và clean_spark_dataframe. HHMM tách giờ bằng chia nguyên 100, phút bằng phần dư 100. CPU giới hạn giờ 0–23 và phút trong ngày 0–1.439. Spark giới hạn cột giờ nhưng tính phút trong ngày từ giờ gốc, không clip phút. Nhóm Morning là [5,12), Afternoon [12,17), Evening [17,22), còn lại Night. CPU dựa giờ đã clip, Spark dựa giờ gốc. Với dữ liệu lỗi, hai cách có thể khác. Code không xác nhận phần phút HHMM luôn nằm 0–59. CPU ép lịch sang int8, phút int16, elapsed/distance/arr_delay float32; Spark dùng Integer/Float.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Kịch bản thuyết trình ngắn gọn, tự nhiên cho Trang 19: Tạo đặc trưng thời gian (khoảng 35 – 40 giây):</a:t>
            </a:r>
          </a:p>
          <a:p>
            <a:r>
              <a:rPr lang="en-US"/>
              <a:t/>
            </a:r>
          </a:p>
          <a:p>
            <a:r>
              <a:rPr lang="en-US"/>
              <a:t>"Sau khi làm sạch dữ liệu, nhóm tiến hành trích xuất đặc trưng thời gian (Feature Engineering).</a:t>
            </a:r>
          </a:p>
          <a:p>
            <a:r>
              <a:rPr lang="en-US"/>
              <a:t/>
            </a:r>
          </a:p>
          <a:p>
            <a:r>
              <a:rPr lang="en-US"/>
              <a:t>Từ cột giờ kế hoạch ban đầu ở định dạng số nguyên HHMM, hệ thống tách và tạo ra 3 nhóm thông tin chính:</a:t>
            </a:r>
          </a:p>
          <a:p>
            <a:r>
              <a:rPr lang="en-US"/>
              <a:t/>
            </a:r>
          </a:p>
          <a:p>
            <a:r>
              <a:rPr lang="en-US"/>
              <a:t>Giờ và phút trong ngày: Lấy phần nguyên chia 100 để được giờ (giới hạn từ 0–23), và tính tổng số phút trong ngày (hour * 60 + min) từ 0 đến 1.439 phút.</a:t>
            </a:r>
          </a:p>
          <a:p>
            <a:r>
              <a:rPr lang="en-US"/>
              <a:t/>
            </a:r>
          </a:p>
          <a:p>
            <a:r>
              <a:rPr lang="en-US"/>
              <a:t>Phân nhóm khung giờ trong ngày (time_of_day): Chia thành 4 ca vận hành: Sáng (05–11h), Chiều (12–16h), Tối (17–21h) và Đêm (các giờ còn lại).</a:t>
            </a:r>
          </a:p>
          <a:p>
            <a:r>
              <a:rPr lang="en-US"/>
              <a:t/>
            </a:r>
          </a:p>
          <a:p>
            <a:r>
              <a:rPr lang="en-US"/>
              <a:t>Ví dụ trực quan trên slide: Chuyến bay có giờ cất cánh dự kiến là 1730 sẽ được chuyển đổi thành giờ 17, phút thứ 1.050 trong ngày, và thuộc ca Tối (Evening).</a:t>
            </a:r>
          </a:p>
          <a:p>
            <a:r>
              <a:rPr lang="en-US"/>
              <a:t/>
            </a:r>
          </a:p>
          <a:p>
            <a:r>
              <a:rPr lang="en-US"/>
              <a:t>Việc bóc tách này giúp mô hình bắt được tính quy luật theo chu kỳ thời gian và mật độ chuyến bay trong ngày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Sau bước tiền xử lý, dữ liệu được chuyển đổi sang định dạng Parquet và phân chia tập dữ liệu huấn luyện.</a:t>
            </a:r>
          </a:p>
          <a:p>
            <a:r>
              <a:rPr lang="en-US"/>
              <a:t/>
            </a:r>
          </a:p>
          <a:p>
            <a:r>
              <a:rPr lang="en-US"/>
              <a:t>Quy trình gồm 3 điểm kỹ thuật đáng lưu ý:</a:t>
            </a:r>
          </a:p>
          <a:p>
            <a:r>
              <a:rPr lang="en-US"/>
              <a:t/>
            </a:r>
          </a:p>
          <a:p>
            <a:r>
              <a:rPr lang="en-US"/>
              <a:t>Lưu trữ tối ưu: Dữ liệu CSV sau khi làm sạch được ghi sang định dạng Parquet và phân vùng (partition) theo tháng (month) để tối ưu hóa tốc độ truy vấn I/O.</a:t>
            </a:r>
          </a:p>
          <a:p>
            <a:r>
              <a:rPr lang="en-US"/>
              <a:t/>
            </a:r>
          </a:p>
          <a:p>
            <a:r>
              <a:rPr lang="en-US"/>
              <a:t>Đóng gói đặc trưng: Mô hình đọc từ Parquet để thực hiện mã hóa và đóng gói vector đặc trưng.</a:t>
            </a:r>
          </a:p>
          <a:p>
            <a:r>
              <a:rPr lang="en-US"/>
              <a:t/>
            </a:r>
          </a:p>
          <a:p>
            <a:r>
              <a:rPr lang="en-US"/>
              <a:t>Chiến lược chia 70 / 15 / 15: Dù cùng tỷ lệ Train 70%, Validation 15%, Test 15%, nhưng hai môi trường có sự khác biệt:</a:t>
            </a:r>
          </a:p>
          <a:p>
            <a:r>
              <a:rPr lang="en-US"/>
              <a:t/>
            </a:r>
          </a:p>
          <a:p>
            <a:r>
              <a:rPr lang="en-US"/>
              <a:t>CPU (Scikit-learn): Chia có phân tầng theo nhãn (stratified) với random_state = 42 để giữ nguyên phân phối lớp.</a:t>
            </a:r>
          </a:p>
          <a:p>
            <a:r>
              <a:rPr lang="en-US"/>
              <a:t/>
            </a:r>
          </a:p>
          <a:p>
            <a:r>
              <a:rPr lang="en-US"/>
              <a:t>Spark MLlib: Dùng hàm randomSplit với seed = 42, không phân tầng nên tỷ lệ nhãn thực tế giữa các tập có thể dao động nhẹ.</a:t>
            </a:r>
          </a:p>
          <a:p>
            <a:r>
              <a:rPr lang="en-US"/>
              <a:t/>
            </a:r>
          </a:p>
          <a:p>
            <a:r>
              <a:rPr lang="en-US"/>
              <a:t>Sự khác biệt này là yếu tố quan trọng cần lưu ý khi đối sánh kết quả giữa CPU và Spark ở các slide tiếp theo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Tiếp theo là kiến trúc hạ tầng phân tán thực nghiệm của hệ thống.</a:t>
            </a:r>
          </a:p>
          <a:p>
            <a:r>
              <a:rPr lang="en-US"/>
              <a:t/>
            </a:r>
          </a:p>
          <a:p>
            <a:r>
              <a:rPr lang="en-US"/>
              <a:t>Cụm tính toán gồm 3 máy vật lý được kết nối mạng riêng ảo thông qua Tailscale, với sự phân định vai trò rõ ràng:</a:t>
            </a:r>
          </a:p>
          <a:p>
            <a:r>
              <a:rPr lang="en-US"/>
              <a:t/>
            </a:r>
          </a:p>
          <a:p>
            <a:r>
              <a:rPr lang="en-US"/>
              <a:t>Máy 1: Đóng vai trò nút chính, chạy đồng thời Spark Master, Driver và Worker 1.</a:t>
            </a:r>
          </a:p>
          <a:p>
            <a:r>
              <a:rPr lang="en-US"/>
              <a:t/>
            </a:r>
          </a:p>
          <a:p>
            <a:r>
              <a:rPr lang="en-US"/>
              <a:t>Máy 2 và Máy 3: Đóng vai trò các nút tính toán mở rộng, chạy lần lượt Worker 2 và Worker 3.</a:t>
            </a:r>
          </a:p>
          <a:p>
            <a:r>
              <a:rPr lang="en-US"/>
              <a:t/>
            </a:r>
          </a:p>
          <a:p>
            <a:r>
              <a:rPr lang="en-US"/>
              <a:t>Điểm mấu chốt về mặt kiến trúc:</a:t>
            </a:r>
          </a:p>
          <a:p>
            <a:r>
              <a:rPr lang="en-US"/>
              <a:t/>
            </a:r>
          </a:p>
          <a:p>
            <a:r>
              <a:rPr lang="en-US"/>
              <a:t>Spark Master: Chỉ quản lý và phân bổ tài nguyên trên toàn cụm.</a:t>
            </a:r>
          </a:p>
          <a:p>
            <a:r>
              <a:rPr lang="en-US"/>
              <a:t/>
            </a:r>
          </a:p>
          <a:p>
            <a:r>
              <a:rPr lang="en-US"/>
              <a:t>Driver: Chịu trách nhiệm trực tiếp lập kế hoạch, điều phối DAG tác vụ của ứng dụng và nhận kết quả.</a:t>
            </a:r>
          </a:p>
          <a:p>
            <a:r>
              <a:rPr lang="en-US"/>
              <a:t/>
            </a:r>
          </a:p>
          <a:p>
            <a:r>
              <a:rPr lang="en-US"/>
              <a:t>Executors: Nằm bên trong các Worker để trực tiếp thực thi tính toán trên từng phân vùng dữ liệu.</a:t>
            </a:r>
          </a:p>
          <a:p>
            <a:r>
              <a:rPr lang="en-US"/>
              <a:t/>
            </a:r>
          </a:p>
          <a:p>
            <a:r>
              <a:rPr lang="en-US"/>
              <a:t>Mô hình này giúp phân tán tải xử lý cho tập dữ liệu lớn mà không bị nghẽn tài nguyên trên một máy đơn lẻ."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Tiếp theo là cơ chế huấn luyện Random Forest phân tán trong Spark MLlib.</a:t>
            </a:r>
          </a:p>
          <a:p>
            <a:r>
              <a:rPr lang="en-US"/>
              <a:t/>
            </a:r>
          </a:p>
          <a:p>
            <a:r>
              <a:rPr lang="en-US"/>
              <a:t>Điểm mấu chốt cần làm rõ là: Hệ thống không chia mỗi máy huấn luyện một cây riêng lẻ, mà toàn bộ cụm sẽ cùng phối hợp để dựng từng cây theo 3 bước:</a:t>
            </a:r>
          </a:p>
          <a:p>
            <a:r>
              <a:rPr lang="en-US"/>
              <a:t/>
            </a:r>
          </a:p>
          <a:p>
            <a:r>
              <a:rPr lang="en-US"/>
              <a:t>Phân vùng dữ liệu: Tập dữ liệu lớn được chia thành nhiều phân vùng (partitions) nằm trên các Executor.</a:t>
            </a:r>
          </a:p>
          <a:p>
            <a:r>
              <a:rPr lang="en-US"/>
              <a:t/>
            </a:r>
          </a:p>
          <a:p>
            <a:r>
              <a:rPr lang="en-US"/>
              <a:t>Tính toán thống kê cục bộ: Tại mỗi nút chia của cây, từng Executor chỉ tính toán thống kê nhãn (histogram/sufficients) trên phần dữ liệu mà nó nắm giữ.</a:t>
            </a:r>
          </a:p>
          <a:p>
            <a:r>
              <a:rPr lang="en-US"/>
              <a:t/>
            </a:r>
          </a:p>
          <a:p>
            <a:r>
              <a:rPr lang="en-US"/>
              <a:t>Tổng hợp và quyết định: Driver thu nhận các thống kê cục bộ để tìm ra điểm chia tối ưu nhất trên toàn cục, rồi lặp lại để hoàn thiện rừng cây. Khi dự đoán, các cây sẽ cùng bỏ phiếu theo nguyên tắc đa số.</a:t>
            </a:r>
          </a:p>
          <a:p>
            <a:r>
              <a:rPr lang="en-US"/>
              <a:t/>
            </a:r>
          </a:p>
          <a:p>
            <a:r>
              <a:rPr lang="en-US"/>
              <a:t>Cách tiếp cận này giúp mô hình mở rộng tốt trên dữ liệu lớn vượt quá dung lượng RAM của một máy đơn."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Sources: BaoCao_DoAn_BigData_Nhom6_IEEE.docx (bản biên tập); HUONG_DAN_CHO_GPT_WORK.txt; baseline_summary_7m.json; grand_model_comparison_7m.csv; spark_end_to_end_metrics.json. Bộ thực nghiệm 10/10/2026. F1 cân bằng precision và recall: 2PR/(P+R). Weighted F1 chịu ảnh hưởng mạnh của lớp đông; Macro F1 giúp xem khả năng trên lớp ít gặp. Tỷ lệ 70/15/15 là dự kiến theo Word, chưa xác nhận đúng các bản ghi train/test của CPU và Spark. Không có cấu hình numTrees, maxDepth, maxBins, seed, số phân vùng hoặc log phần cứng gắn lượt chạy cũ. Không lấy cấu hình code ngày 12/10 mô tả 10/10. Spark JSON timestamp 2026-10-10 21:09:08.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Sources: BaoCao_DoAn_BigData_Nhom6_IEEE.docx (bản biên tập); HUONG_DAN_CHO_GPT_WORK.txt; baseline_summary_7m.json; grand_model_comparison_7m.csv; spark_end_to_end_metrics.json. Bộ thực nghiệm 10/10/2026. Sáu dòng CPU đối chiếu JSON và CSV khớp. RAM được giữ trong dữ liệu gốc: LR 1991.1, DT 1716.2, RF 1756.5, LightGBM 1803.6, XGBoost 2053.8, CatBoost 4069.4 MB. Không so RAM CPU mô hình với RAM ETL Spark. Tên Logistic Reg. viết gọn từ Logistic Regression.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Sources: BaoCao_DoAn_BigData_Nhom6_IEEE.docx (bản biên tập); HUONG_DAN_CHO_GPT_WORK.txt; baseline_summary_7m.json; grand_model_comparison_7m.csv; spark_end_to_end_metrics.json. Bộ thực nghiệm 10/10/2026. Biểu đồ chỉ thể hiện Macro F1 để phục vụ nhận xét, tránh lặp toàn bộ bảng. Không bỏ gốc trục để phóng đại khác biệt. Weighted F1 cao nhất 70,50% vẫn bị lớp đông ảnh hưởng. Các ma trận CPU ở trang 15–16 giải thích cụ thể xu hướng dự đoán.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Sources: BaoCao_DoAn_BigData_Nhom6_IEEE.docx (bản biên tập); HUONG_DAN_CHO_GPT_WORK.txt; baseline_summary_7m.json; grand_model_comparison_7m.csv; spark_end_to_end_metrics.json. Bộ thực nghiệm 10/10/2026. Nguồn Spark JSON 10/10 21:09:08, chỉ ba mô hình MLlib đầu được xác nhận huấn luyện thật. Không dùng Macro F1 gán sẵn 28,25% trong CSV cũ. XGBoost có barrier fallback; LightGBM và CatBoost chưa hoàn tất thư viện tích hợp hoặc có số thay thế. Dòng RF Spark ở baseline_summary_7m.json thuộc lượt khác. Kết quả từng lớp Spark chưa có ma trận nhầm lẫn trong gói; không suy từ ma trận CPU.</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Sources: BaoCao_DoAn_BigData_Nhom6_IEEE.docx (bản biên tập); HUONG_DAN_CHO_GPT_WORK.txt; baseline_summary_7m.json; grand_model_comparison_7m.csv; spark_end_to_end_metrics.json. Bộ thực nghiệm 10/10/2026. Đối sánh cùng loại chỉ số: train wall-clock CPU từ JSON/CSV, Spark từ wall_clock_time_seconds. RF 85.18/31.03=2.745, làm tròn thông thường thành 2,75 lần; báo cáo ghi 2,74 do khác cách làm tròn. Latency 16.31/1.86=8.769 ~8,77. LR Spark 19,29 giây lớn hơn CPU 11,03 giây, nên không kết luận Spark luôn nhanh hơn. Tổng train sáu CPU 534,83 giây khác phạm vi toàn trình Spark 295,03 giây. Tổng ETL cộng sáu dòng model trong JSON=345,39 giây, có dòng thay thế; không dùng tổng đó xác nhận sáu model huấn luyện. pure/network là giá trị suy diễn, không số đo độc lập. Không quy toàn bộ chênh lệch cho phân tán khi siêu tham số, phần cứng và test chưa đối chứng.</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Sources: BaoCao_DoAn_BigData_Nhom6_IEEE.docx (bản biên tập); HUONG_DAN_CHO_GPT_WORK.txt; baseline_summary_7m.json; grand_model_comparison_7m.csv; spark_end_to_end_metrics.json. Bộ thực nghiệm 10/10/2026. Ma trận dựng lại từ các tỷ lệ hiển thị của cm_random_forest_cpu_7m.png ngày 10/10. Không có số đếm thô; không coi 0,0% là tuyệt đối không có mẫu nếu ảnh đã làm tròn. Cột OnTime hiển thị 100,0% ở cả sáu hàng. Hàng là nhãn thực, cột là dự đoán; ô chéo là recall lớp.</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Sources: BaoCao_DoAn_BigData_Nhom6_IEEE.docx (bản biên tập); HUONG_DAN_CHO_GPT_WORK.txt; baseline_summary_7m.json; grand_model_comparison_7m.csv; spark_end_to_end_metrics.json. Bộ thực nghiệm 10/10/2026. Dựng lại các số đã làm tròn từ cm_catboost_7m.png, không tính lại từ dự đoán thô. Một số hàng cộng thành 100,1% do làm tròn. Weather và Security hiển thị recall 0,0%. Không gán ma trận này cho CatBoost Spark hoặc Random Forest Spark.</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Sources: BaoCao_DoAn_BigData_Nhom6_IEEE.docx (bản biên tập); HUONG_DAN_CHO_GPT_WORK.txt; baseline_summary_7m.json; grand_model_comparison_7m.csv; spark_end_to_end_metrics.json. Bộ thực nghiệm 10/10/2026. Nguồn cpu_feature_importance_20261010.png và báo cáo. RF: month 0.2208, arr_min_of_day 0.1527, dep_min_of_day 0.1484. CatBoost: op_unique_carrier 24.8778, month 18.0367, day_of_month 9.7724. Chỉ so thứ hạng trong từng mô hình. Không dùng đặc trưng CPU thay cho kết quả Spark. Các top_features Spark trong JSON là 0,0, chưa đủ để phân tích tác động.</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Sources: BaoCao_DoAn_BigData_Nhom6_IEEE.docx (bản biên tập); HUONG_DAN_CHO_GPT_WORK.txt; baseline_summary_7m.json; grand_model_comparison_7m.csv; spark_end_to_end_metrics.json. Bộ thực nghiệm 10/10/2026. Gói không có ảnh Web_Air và log đầu vào–kết quả thật. Sơ đồ là luồng khái niệm theo báo cáo, không phải ảnh chụp ứng dụng. Cần người dùng bổ sung ảnh giao diện thật và một ví dụ chạy thực tế. Không tự tạo ví dụ với nhãn hoặc độ tin cậy để xem là kết quả thực đo. Latency ms/1.000 mẫu trong bảng mô hình khác độ trễ người dùng chờ một HTTP request.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Sources: BaoCao_DoAn_BigData_Nhom6_IEEE.docx (bản biên tập); HUONG_DAN_CHO_GPT_WORK.txt; baseline_summary_7m.json; grand_model_comparison_7m.csv; spark_end_to_end_metrics.json. Bộ thực nghiệm 10/10/2026. Giữ ba ý kết luận: công việc đã làm, kết quả chính và giới hạn. Chưa kết luận mô hình dự đoán tốt mọi nguyên nhân trễ, chưa xác nhận lợi ích phân tán độc lập, chưa có kết quả thực đo cho sáu tích hợp Spark. Cần lưu cấu hình, seed, danh sách bản ghi test, dự đoán thô, log wall-clock và tài nguyên của mỗi máy.</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jpeg" Type="http://schemas.openxmlformats.org/officeDocument/2006/relationships/image"/><Relationship Id="rId5" Target="../media/image7.png" Type="http://schemas.openxmlformats.org/officeDocument/2006/relationships/image"/><Relationship Id="rId6" Target="../embeddings/oleObject1.bin" Type="http://schemas.openxmlformats.org/officeDocument/2006/relationships/oleObjec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11" Target="../media/image15.svg" Type="http://schemas.openxmlformats.org/officeDocument/2006/relationships/image"/><Relationship Id="rId2" Target="../media/image8.png" Type="http://schemas.openxmlformats.org/officeDocument/2006/relationships/image"/><Relationship Id="rId3" Target="../media/image9.sv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12.png" Type="http://schemas.openxmlformats.org/officeDocument/2006/relationships/image"/><Relationship Id="rId9" Target="../media/image1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6.png" Type="http://schemas.openxmlformats.org/officeDocument/2006/relationships/image"/><Relationship Id="rId4" Target="../media/image1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6.png" Type="http://schemas.openxmlformats.org/officeDocument/2006/relationships/image"/><Relationship Id="rId4" Target="../media/image1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6.png" Type="http://schemas.openxmlformats.org/officeDocument/2006/relationships/image"/><Relationship Id="rId4" Target="../media/image1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6.png" Type="http://schemas.openxmlformats.org/officeDocument/2006/relationships/image"/><Relationship Id="rId4" Target="../media/image1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6.png" Type="http://schemas.openxmlformats.org/officeDocument/2006/relationships/image"/><Relationship Id="rId4" Target="../media/image1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6.png" Type="http://schemas.openxmlformats.org/officeDocument/2006/relationships/image"/><Relationship Id="rId4" Target="../media/image1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6.png" Type="http://schemas.openxmlformats.org/officeDocument/2006/relationships/image"/><Relationship Id="rId4" Target="../media/image1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6.png" Type="http://schemas.openxmlformats.org/officeDocument/2006/relationships/image"/><Relationship Id="rId4" Target="../media/image1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6.png" Type="http://schemas.openxmlformats.org/officeDocument/2006/relationships/image"/><Relationship Id="rId4" Target="../media/image17.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6.png" Type="http://schemas.openxmlformats.org/officeDocument/2006/relationships/image"/><Relationship Id="rId4" Target="../media/image17.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6.png" Type="http://schemas.openxmlformats.org/officeDocument/2006/relationships/image"/><Relationship Id="rId4" Target="../media/image17.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6.png" Type="http://schemas.openxmlformats.org/officeDocument/2006/relationships/image"/><Relationship Id="rId4" Target="../media/image17.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6.png" Type="http://schemas.openxmlformats.org/officeDocument/2006/relationships/image"/><Relationship Id="rId4" Target="../media/image17.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6.png" Type="http://schemas.openxmlformats.org/officeDocument/2006/relationships/image"/><Relationship Id="rId4" Target="../media/image17.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 Id="rId4" Target="../media/image19.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5.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6.png" Type="http://schemas.openxmlformats.org/officeDocument/2006/relationships/image"/><Relationship Id="rId4" Target="../media/image17.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16.png" Type="http://schemas.openxmlformats.org/officeDocument/2006/relationships/image"/><Relationship Id="rId4" Target="../media/image17.png" Type="http://schemas.openxmlformats.org/officeDocument/2006/relationships/image"/></Relationships>
</file>

<file path=ppt/slides/_rels/slide25.xml.rels><?xml version='1.0' encoding='UTF-8' standalone='yes'?>
<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16.png" Type="http://schemas.openxmlformats.org/officeDocument/2006/relationships/image"/><Relationship Id="rId4" Target="../media/image17.png" Type="http://schemas.openxmlformats.org/officeDocument/2006/relationships/image"/><Relationship Id="rId5" Target="../media/image20.png" Type="http://schemas.openxmlformats.org/officeDocument/2006/relationships/image"/><Relationship Id="rIdResultPicture25" Type="http://schemas.openxmlformats.org/officeDocument/2006/relationships/image" Target="../media/review_result_25.png"/></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16.png" Type="http://schemas.openxmlformats.org/officeDocument/2006/relationships/image"/><Relationship Id="rId4" Target="../media/image17.png" Type="http://schemas.openxmlformats.org/officeDocument/2006/relationships/image"/></Relationships>
</file>

<file path=ppt/slides/_rels/slide27.xml.rels><?xml version='1.0' encoding='UTF-8' standalone='yes'?>
<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16.png" Type="http://schemas.openxmlformats.org/officeDocument/2006/relationships/image"/><Relationship Id="rId4" Target="../media/image17.png" Type="http://schemas.openxmlformats.org/officeDocument/2006/relationships/image"/><Relationship Id="rId5" Target="../media/image21.png" Type="http://schemas.openxmlformats.org/officeDocument/2006/relationships/image"/><Relationship Id="rIdResultPicture27" Type="http://schemas.openxmlformats.org/officeDocument/2006/relationships/image" Target="../media/review_result_27.png"/></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16.png" Type="http://schemas.openxmlformats.org/officeDocument/2006/relationships/image"/><Relationship Id="rId4" Target="../media/image17.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16.png" Type="http://schemas.openxmlformats.org/officeDocument/2006/relationships/image"/><Relationship Id="rId4" Target="../media/image17.png" Type="http://schemas.openxmlformats.org/officeDocument/2006/relationships/image"/></Relationships>
</file>

<file path=ppt/slides/_rels/slide30.xml.rels><?xml version='1.0' encoding='UTF-8' standalone='yes'?>
<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16.png" Type="http://schemas.openxmlformats.org/officeDocument/2006/relationships/image"/><Relationship Id="rId4" Target="../media/image17.png" Type="http://schemas.openxmlformats.org/officeDocument/2006/relationships/image"/><Relationship Id="rId5" Target="../media/image22.png" Type="http://schemas.openxmlformats.org/officeDocument/2006/relationships/image"/><Relationship Id="rIdResultPicture30" Type="http://schemas.openxmlformats.org/officeDocument/2006/relationships/image" Target="../media/review_result_30.png"/></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5.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16.png" Type="http://schemas.openxmlformats.org/officeDocument/2006/relationships/image"/><Relationship Id="rId4" Target="../media/image17.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16.png" Type="http://schemas.openxmlformats.org/officeDocument/2006/relationships/image"/><Relationship Id="rId4" Target="../media/image17.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18.png" Type="http://schemas.openxmlformats.org/officeDocument/2006/relationships/image"/><Relationship Id="rId4" Target="../media/image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668"/>
            <a:ext cx="18288000" cy="1070038"/>
            <a:chOff x="0" y="0"/>
            <a:chExt cx="24384000" cy="1426718"/>
          </a:xfrm>
        </p:grpSpPr>
        <p:sp>
          <p:nvSpPr>
            <p:cNvPr name="Freeform 3" id="3"/>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2072B7"/>
            </a:solidFill>
          </p:spPr>
        </p:sp>
      </p:grpSp>
      <p:grpSp>
        <p:nvGrpSpPr>
          <p:cNvPr name="Group 4" id="4"/>
          <p:cNvGrpSpPr/>
          <p:nvPr/>
        </p:nvGrpSpPr>
        <p:grpSpPr>
          <a:xfrm rot="0">
            <a:off x="2663190" y="10082212"/>
            <a:ext cx="15624810" cy="204845"/>
            <a:chOff x="0" y="0"/>
            <a:chExt cx="20833080" cy="273126"/>
          </a:xfrm>
        </p:grpSpPr>
        <p:sp>
          <p:nvSpPr>
            <p:cNvPr name="Freeform 5" id="5"/>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2072B7"/>
            </a:solidFill>
          </p:spPr>
        </p:sp>
      </p:grpSp>
      <p:grpSp>
        <p:nvGrpSpPr>
          <p:cNvPr name="Group 6" id="6"/>
          <p:cNvGrpSpPr/>
          <p:nvPr/>
        </p:nvGrpSpPr>
        <p:grpSpPr>
          <a:xfrm rot="0">
            <a:off x="2743238" y="10108759"/>
            <a:ext cx="15544724" cy="152705"/>
            <a:chOff x="0" y="0"/>
            <a:chExt cx="20726298" cy="203606"/>
          </a:xfrm>
        </p:grpSpPr>
        <p:sp>
          <p:nvSpPr>
            <p:cNvPr name="Freeform 7" id="7"/>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2"/>
              <a:stretch>
                <a:fillRect l="0" t="0" r="0" b="-35745"/>
              </a:stretch>
            </a:blipFill>
          </p:spPr>
        </p:sp>
      </p:grpSp>
      <p:sp>
        <p:nvSpPr>
          <p:cNvPr name="TextBox 8" id="8"/>
          <p:cNvSpPr txBox="true"/>
          <p:nvPr/>
        </p:nvSpPr>
        <p:spPr>
          <a:xfrm rot="0">
            <a:off x="302009" y="10002231"/>
            <a:ext cx="2254501" cy="327536"/>
          </a:xfrm>
          <a:prstGeom prst="rect">
            <a:avLst/>
          </a:prstGeom>
        </p:spPr>
        <p:txBody>
          <a:bodyPr anchor="t" rtlCol="false" tIns="0" lIns="0" bIns="0" rIns="0">
            <a:spAutoFit/>
          </a:bodyPr>
          <a:lstStyle/>
          <a:p>
            <a:pPr algn="l">
              <a:lnSpc>
                <a:spcPts val="1800"/>
              </a:lnSpc>
            </a:pPr>
            <a:r>
              <a:rPr lang="en-US" sz="1500">
                <a:solidFill>
                  <a:srgbClr val="0070C0"/>
                </a:solidFill>
                <a:latin typeface="Calibri (MS)"/>
                <a:ea typeface="Calibri (MS)"/>
                <a:cs typeface="Calibri (MS)"/>
                <a:sym typeface="Calibri (MS)"/>
              </a:rPr>
              <a:t>https://huit.edu.vn</a:t>
            </a:r>
          </a:p>
        </p:txBody>
      </p:sp>
      <p:grpSp>
        <p:nvGrpSpPr>
          <p:cNvPr name="Group 9" id="9"/>
          <p:cNvGrpSpPr/>
          <p:nvPr/>
        </p:nvGrpSpPr>
        <p:grpSpPr>
          <a:xfrm rot="0">
            <a:off x="-15240" y="7567612"/>
            <a:ext cx="18303240" cy="2514600"/>
            <a:chOff x="0" y="0"/>
            <a:chExt cx="24404320" cy="3352800"/>
          </a:xfrm>
        </p:grpSpPr>
        <p:sp>
          <p:nvSpPr>
            <p:cNvPr name="Freeform 10" id="10" descr="A building with trees in the background  Description automatically generated"/>
            <p:cNvSpPr/>
            <p:nvPr/>
          </p:nvSpPr>
          <p:spPr>
            <a:xfrm flipH="false" flipV="false" rot="0">
              <a:off x="0" y="0"/>
              <a:ext cx="24404320" cy="3352800"/>
            </a:xfrm>
            <a:custGeom>
              <a:avLst/>
              <a:gdLst/>
              <a:ahLst/>
              <a:cxnLst/>
              <a:rect r="r" b="b" t="t" l="l"/>
              <a:pathLst>
                <a:path h="3352800" w="24404320">
                  <a:moveTo>
                    <a:pt x="0" y="0"/>
                  </a:moveTo>
                  <a:lnTo>
                    <a:pt x="24404320" y="0"/>
                  </a:lnTo>
                  <a:lnTo>
                    <a:pt x="24404320" y="3352800"/>
                  </a:lnTo>
                  <a:lnTo>
                    <a:pt x="0" y="3352800"/>
                  </a:lnTo>
                  <a:lnTo>
                    <a:pt x="0" y="0"/>
                  </a:lnTo>
                  <a:close/>
                </a:path>
              </a:pathLst>
            </a:custGeom>
            <a:blipFill>
              <a:blip r:embed="rId3"/>
              <a:stretch>
                <a:fillRect l="0" t="-16633" r="0" b="-16633"/>
              </a:stretch>
            </a:blipFill>
          </p:spPr>
        </p:sp>
      </p:grpSp>
      <p:sp>
        <p:nvSpPr>
          <p:cNvPr name="TextBox 11" id="11"/>
          <p:cNvSpPr txBox="true"/>
          <p:nvPr/>
        </p:nvSpPr>
        <p:spPr>
          <a:xfrm rot="0">
            <a:off x="3910012" y="74790"/>
            <a:ext cx="10452725" cy="897103"/>
          </a:xfrm>
          <a:prstGeom prst="rect">
            <a:avLst/>
          </a:prstGeom>
        </p:spPr>
        <p:txBody>
          <a:bodyPr anchor="t" rtlCol="false" tIns="0" lIns="0" bIns="0" rIns="0">
            <a:spAutoFit/>
          </a:bodyPr>
          <a:lstStyle/>
          <a:p>
            <a:pPr algn="ctr">
              <a:lnSpc>
                <a:spcPts val="3240"/>
              </a:lnSpc>
            </a:pPr>
            <a:r>
              <a:rPr lang="en-US" sz="2700">
                <a:solidFill>
                  <a:srgbClr val="FFFFFF"/>
                </a:solidFill>
                <a:latin typeface="Arial"/>
                <a:ea typeface="Arial"/>
                <a:cs typeface="Arial"/>
                <a:sym typeface="Arial"/>
              </a:rPr>
              <a:t>BỘ CÔNG THƯƠNG</a:t>
            </a:r>
          </a:p>
          <a:p>
            <a:pPr algn="ctr">
              <a:lnSpc>
                <a:spcPts val="3240"/>
              </a:lnSpc>
            </a:pPr>
            <a:r>
              <a:rPr lang="en-US" sz="2700" b="true">
                <a:solidFill>
                  <a:srgbClr val="FFFFFF"/>
                </a:solidFill>
                <a:latin typeface="Arial Bold"/>
                <a:ea typeface="Arial Bold"/>
                <a:cs typeface="Arial Bold"/>
                <a:sym typeface="Arial Bold"/>
              </a:rPr>
              <a:t>TRƯỜNG ĐẠI HỌC CÔNG THƯƠNG THÀNH PHỐ HỒ CHÍ MINH</a:t>
            </a:r>
          </a:p>
        </p:txBody>
      </p:sp>
      <p:grpSp>
        <p:nvGrpSpPr>
          <p:cNvPr name="Group 12" id="12"/>
          <p:cNvGrpSpPr/>
          <p:nvPr/>
        </p:nvGrpSpPr>
        <p:grpSpPr>
          <a:xfrm rot="0">
            <a:off x="534200" y="27089"/>
            <a:ext cx="999001" cy="999001"/>
            <a:chOff x="0" y="0"/>
            <a:chExt cx="1332001" cy="1332001"/>
          </a:xfrm>
        </p:grpSpPr>
        <p:sp>
          <p:nvSpPr>
            <p:cNvPr name="Freeform 13" id="13" descr="A white circle with blue and red text and a book with a graduation cap  Description automatically generated"/>
            <p:cNvSpPr/>
            <p:nvPr/>
          </p:nvSpPr>
          <p:spPr>
            <a:xfrm flipH="false" flipV="false" rot="0">
              <a:off x="0" y="0"/>
              <a:ext cx="1331976" cy="1331976"/>
            </a:xfrm>
            <a:custGeom>
              <a:avLst/>
              <a:gdLst/>
              <a:ahLst/>
              <a:cxnLst/>
              <a:rect r="r" b="b" t="t" l="l"/>
              <a:pathLst>
                <a:path h="1331976" w="1331976">
                  <a:moveTo>
                    <a:pt x="0" y="0"/>
                  </a:moveTo>
                  <a:lnTo>
                    <a:pt x="1331976" y="0"/>
                  </a:lnTo>
                  <a:lnTo>
                    <a:pt x="1331976" y="1331976"/>
                  </a:lnTo>
                  <a:lnTo>
                    <a:pt x="0" y="1331976"/>
                  </a:lnTo>
                  <a:lnTo>
                    <a:pt x="0" y="0"/>
                  </a:lnTo>
                  <a:close/>
                </a:path>
              </a:pathLst>
            </a:custGeom>
            <a:blipFill>
              <a:blip r:embed="rId4"/>
              <a:stretch>
                <a:fillRect l="0" t="0" r="-1" b="-1"/>
              </a:stretch>
            </a:blipFill>
          </p:spPr>
        </p:sp>
      </p:grpSp>
      <p:sp>
        <p:nvSpPr>
          <p:cNvPr name="TextBox 14" id="14"/>
          <p:cNvSpPr txBox="true"/>
          <p:nvPr/>
        </p:nvSpPr>
        <p:spPr>
          <a:xfrm rot="0">
            <a:off x="854277" y="1864509"/>
            <a:ext cx="16897221" cy="4000500"/>
          </a:xfrm>
          <a:prstGeom prst="rect">
            <a:avLst/>
          </a:prstGeom>
        </p:spPr>
        <p:txBody>
          <a:bodyPr anchor="t" rtlCol="false" tIns="0" lIns="0" bIns="0" rIns="0">
            <a:spAutoFit/>
          </a:bodyPr>
          <a:lstStyle/>
          <a:p>
            <a:pPr algn="ctr">
              <a:lnSpc>
                <a:spcPts val="7800"/>
              </a:lnSpc>
            </a:pPr>
            <a:r>
              <a:rPr lang="en-US" b="true" sz="6500">
                <a:solidFill>
                  <a:srgbClr val="ED1C24"/>
                </a:solidFill>
                <a:latin typeface="Arimo Bold"/>
                <a:ea typeface="Arimo Bold"/>
                <a:cs typeface="Arimo Bold"/>
                <a:sym typeface="Arimo Bold"/>
              </a:rPr>
              <a:t>ỨNG</a:t>
            </a:r>
            <a:r>
              <a:rPr lang="en-US" b="true" sz="6500">
                <a:solidFill>
                  <a:srgbClr val="ED1C24"/>
                </a:solidFill>
                <a:latin typeface="Arimo Bold"/>
                <a:ea typeface="Arimo Bold"/>
                <a:cs typeface="Arimo Bold"/>
                <a:sym typeface="Arimo Bold"/>
              </a:rPr>
              <a:t> DỤNG RANDOM FOREST PHÂN TÁN DỰ ĐOÁN NGUYÊN NHÂN TRỄ CHUYẾN BAY THƯƠNG MẠI HOA KỲ NĂM 2024</a:t>
            </a:r>
          </a:p>
          <a:p>
            <a:pPr algn="ctr">
              <a:lnSpc>
                <a:spcPts val="7800"/>
              </a:lnSpc>
            </a:pPr>
          </a:p>
        </p:txBody>
      </p:sp>
      <p:sp>
        <p:nvSpPr>
          <p:cNvPr name="TextBox 15" id="15"/>
          <p:cNvSpPr txBox="true"/>
          <p:nvPr/>
        </p:nvSpPr>
        <p:spPr>
          <a:xfrm rot="0">
            <a:off x="5808278" y="5231654"/>
            <a:ext cx="6366510" cy="657225"/>
          </a:xfrm>
          <a:prstGeom prst="rect">
            <a:avLst/>
          </a:prstGeom>
        </p:spPr>
        <p:txBody>
          <a:bodyPr anchor="t" rtlCol="false" tIns="0" lIns="0" bIns="0" rIns="0">
            <a:spAutoFit/>
          </a:bodyPr>
          <a:lstStyle/>
          <a:p>
            <a:pPr algn="ctr">
              <a:lnSpc>
                <a:spcPts val="5040"/>
              </a:lnSpc>
            </a:pPr>
            <a:r>
              <a:rPr lang="en-US" sz="4200" b="true">
                <a:solidFill>
                  <a:srgbClr val="000000"/>
                </a:solidFill>
                <a:latin typeface="Arimo Bold"/>
                <a:ea typeface="Arimo Bold"/>
                <a:cs typeface="Arimo Bold"/>
                <a:sym typeface="Arimo Bold"/>
              </a:rPr>
              <a:t>TS. Phan Hồ Viết Trường</a:t>
            </a:r>
          </a:p>
        </p:txBody>
      </p:sp>
      <p:sp>
        <p:nvSpPr>
          <p:cNvPr name="TextBox 16" id="16"/>
          <p:cNvSpPr txBox="true"/>
          <p:nvPr/>
        </p:nvSpPr>
        <p:spPr>
          <a:xfrm rot="0">
            <a:off x="2859948" y="6322209"/>
            <a:ext cx="12263171" cy="428625"/>
          </a:xfrm>
          <a:prstGeom prst="rect">
            <a:avLst/>
          </a:prstGeom>
        </p:spPr>
        <p:txBody>
          <a:bodyPr anchor="t" rtlCol="false" tIns="0" lIns="0" bIns="0" rIns="0">
            <a:spAutoFit/>
          </a:bodyPr>
          <a:lstStyle/>
          <a:p>
            <a:pPr algn="ctr">
              <a:lnSpc>
                <a:spcPts val="3240"/>
              </a:lnSpc>
            </a:pPr>
            <a:r>
              <a:rPr lang="en-US" sz="2700">
                <a:solidFill>
                  <a:srgbClr val="000000"/>
                </a:solidFill>
                <a:latin typeface="Arimo"/>
                <a:ea typeface="Arimo"/>
                <a:cs typeface="Arimo"/>
                <a:sym typeface="Arimo"/>
              </a:rPr>
              <a:t>Nhóm 6</a:t>
            </a:r>
          </a:p>
        </p:txBody>
      </p:sp>
      <p:sp>
        <p:nvSpPr>
          <p:cNvPr name="TextBox 17" id="1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668"/>
            <a:ext cx="18288000" cy="1070038"/>
            <a:chOff x="0" y="0"/>
            <a:chExt cx="24384000" cy="1426718"/>
          </a:xfrm>
        </p:grpSpPr>
        <p:sp>
          <p:nvSpPr>
            <p:cNvPr name="Freeform 3" id="3"/>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2072B7"/>
            </a:solidFill>
          </p:spPr>
        </p:sp>
      </p:grpSp>
      <p:grpSp>
        <p:nvGrpSpPr>
          <p:cNvPr name="Group 4" id="4"/>
          <p:cNvGrpSpPr/>
          <p:nvPr/>
        </p:nvGrpSpPr>
        <p:grpSpPr>
          <a:xfrm rot="0">
            <a:off x="477926" y="3334"/>
            <a:ext cx="4935598" cy="1027605"/>
            <a:chOff x="0" y="0"/>
            <a:chExt cx="6580797" cy="1370140"/>
          </a:xfrm>
        </p:grpSpPr>
        <p:sp>
          <p:nvSpPr>
            <p:cNvPr name="Freeform 5" id="5" descr="A black background with white text  Description automatically generated"/>
            <p:cNvSpPr/>
            <p:nvPr/>
          </p:nvSpPr>
          <p:spPr>
            <a:xfrm flipH="false" flipV="false" rot="0">
              <a:off x="0" y="0"/>
              <a:ext cx="6580759" cy="1370203"/>
            </a:xfrm>
            <a:custGeom>
              <a:avLst/>
              <a:gdLst/>
              <a:ahLst/>
              <a:cxnLst/>
              <a:rect r="r" b="b" t="t" l="l"/>
              <a:pathLst>
                <a:path h="1370203" w="6580759">
                  <a:moveTo>
                    <a:pt x="0" y="0"/>
                  </a:moveTo>
                  <a:lnTo>
                    <a:pt x="6580759" y="0"/>
                  </a:lnTo>
                  <a:lnTo>
                    <a:pt x="6580759" y="1370203"/>
                  </a:lnTo>
                  <a:lnTo>
                    <a:pt x="0" y="1370203"/>
                  </a:lnTo>
                  <a:lnTo>
                    <a:pt x="0" y="0"/>
                  </a:lnTo>
                  <a:close/>
                </a:path>
              </a:pathLst>
            </a:custGeom>
            <a:blipFill>
              <a:blip r:embed="rId2"/>
              <a:stretch>
                <a:fillRect l="-191" t="0" r="-192" b="4"/>
              </a:stretch>
            </a:blipFill>
          </p:spPr>
        </p:sp>
      </p:grpSp>
      <p:grpSp>
        <p:nvGrpSpPr>
          <p:cNvPr name="Group 6" id="6"/>
          <p:cNvGrpSpPr/>
          <p:nvPr/>
        </p:nvGrpSpPr>
        <p:grpSpPr>
          <a:xfrm rot="0">
            <a:off x="2663190" y="10082212"/>
            <a:ext cx="15624810" cy="204845"/>
            <a:chOff x="0" y="0"/>
            <a:chExt cx="20833080" cy="273126"/>
          </a:xfrm>
        </p:grpSpPr>
        <p:sp>
          <p:nvSpPr>
            <p:cNvPr name="Freeform 7" id="7"/>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2072B7"/>
            </a:solidFill>
          </p:spPr>
        </p:sp>
      </p:grpSp>
      <p:grpSp>
        <p:nvGrpSpPr>
          <p:cNvPr name="Group 8" id="8"/>
          <p:cNvGrpSpPr/>
          <p:nvPr/>
        </p:nvGrpSpPr>
        <p:grpSpPr>
          <a:xfrm rot="0">
            <a:off x="2743238" y="10108759"/>
            <a:ext cx="15544724" cy="152705"/>
            <a:chOff x="0" y="0"/>
            <a:chExt cx="20726298" cy="203606"/>
          </a:xfrm>
        </p:grpSpPr>
        <p:sp>
          <p:nvSpPr>
            <p:cNvPr name="Freeform 9" id="9"/>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3"/>
              <a:stretch>
                <a:fillRect l="0" t="0" r="0" b="-35745"/>
              </a:stretch>
            </a:blipFill>
          </p:spPr>
        </p:sp>
      </p:grpSp>
      <p:grpSp>
        <p:nvGrpSpPr>
          <p:cNvPr name="Group 10" id="10"/>
          <p:cNvGrpSpPr/>
          <p:nvPr/>
        </p:nvGrpSpPr>
        <p:grpSpPr>
          <a:xfrm rot="0">
            <a:off x="6316226" y="1398810"/>
            <a:ext cx="5655549" cy="1492825"/>
            <a:chOff x="0" y="0"/>
            <a:chExt cx="7937551" cy="2095177"/>
          </a:xfrm>
        </p:grpSpPr>
        <p:sp>
          <p:nvSpPr>
            <p:cNvPr name="Freeform 11" id="11"/>
            <p:cNvSpPr/>
            <p:nvPr/>
          </p:nvSpPr>
          <p:spPr>
            <a:xfrm flipH="false" flipV="false" rot="0">
              <a:off x="0" y="0"/>
              <a:ext cx="7937550" cy="2095180"/>
            </a:xfrm>
            <a:custGeom>
              <a:avLst/>
              <a:gdLst/>
              <a:ahLst/>
              <a:cxnLst/>
              <a:rect r="r" b="b" t="t" l="l"/>
              <a:pathLst>
                <a:path h="2095180" w="7937550">
                  <a:moveTo>
                    <a:pt x="0" y="0"/>
                  </a:moveTo>
                  <a:lnTo>
                    <a:pt x="7937550" y="0"/>
                  </a:lnTo>
                  <a:lnTo>
                    <a:pt x="7937550" y="2095180"/>
                  </a:lnTo>
                  <a:lnTo>
                    <a:pt x="0" y="2095180"/>
                  </a:lnTo>
                  <a:close/>
                </a:path>
              </a:pathLst>
            </a:custGeom>
            <a:blipFill>
              <a:blip r:embed="rId4">
                <a:alphaModFix amt="0"/>
              </a:blip>
              <a:stretch>
                <a:fillRect l="0" t="-32302" r="0" b="-15335"/>
              </a:stretch>
            </a:blipFill>
          </p:spPr>
        </p:sp>
        <p:sp>
          <p:nvSpPr>
            <p:cNvPr name="TextBox 12" id="12"/>
            <p:cNvSpPr txBox="true"/>
            <p:nvPr/>
          </p:nvSpPr>
          <p:spPr>
            <a:xfrm>
              <a:off x="0" y="76200"/>
              <a:ext cx="7937551" cy="2018977"/>
            </a:xfrm>
            <a:prstGeom prst="rect">
              <a:avLst/>
            </a:prstGeom>
          </p:spPr>
          <p:txBody>
            <a:bodyPr anchor="b" rtlCol="false" tIns="0" lIns="0" bIns="0" rIns="0"/>
            <a:lstStyle/>
            <a:p>
              <a:pPr algn="l">
                <a:lnSpc>
                  <a:spcPts val="7560"/>
                </a:lnSpc>
              </a:pPr>
              <a:r>
                <a:rPr lang="en-US" b="true" sz="7000" spc="-42">
                  <a:solidFill>
                    <a:srgbClr val="0070C0"/>
                  </a:solidFill>
                  <a:latin typeface="Quicksand Bold"/>
                  <a:ea typeface="Quicksand Bold"/>
                  <a:cs typeface="Quicksand Bold"/>
                  <a:sym typeface="Quicksand Bold"/>
                </a:rPr>
                <a:t>THÀNH VIÊN</a:t>
              </a:r>
            </a:p>
          </p:txBody>
        </p:sp>
      </p:grpSp>
      <p:graphicFrame>
        <p:nvGraphicFramePr>
          <p:cNvPr name="Object 13" id="13"/>
          <p:cNvGraphicFramePr/>
          <p:nvPr/>
        </p:nvGraphicFramePr>
        <p:xfrm>
          <a:off x="477926" y="2891636"/>
          <a:ext cx="7586157" cy="4274588"/>
        </p:xfrm>
        <a:graphic>
          <a:graphicData uri="http://schemas.openxmlformats.org/presentationml/2006/ole">
            <p:oleObj imgW="9105900" imgH="5791200" r:id="rId6" progId="Excel.Sheet.12" name="Worksheet">
              <p:embed/>
              <p:pic>
                <p:nvPicPr>
                  <p:cNvPr name="" id="0"/>
                  <p:cNvPicPr/>
                  <p:nvPr/>
                </p:nvPicPr>
                <p:blipFill>
                  <a:blip r:embed="rId5"/>
                  <a:stretch>
                    <a:fillRect/>
                  </a:stretch>
                </p:blipFill>
                <p:spPr>
                  <a:xfrm>
                    <a:off x="1270000" y="1270000"/>
                    <a:ext cx="1270000" cy="1270000"/>
                  </a:xfrm>
                  <a:prstGeom prst="rect"/>
                </p:spPr>
              </p:pic>
            </p:oleObj>
          </a:graphicData>
        </a:graphic>
      </p:graphicFrame>
      <p:sp>
        <p:nvSpPr>
          <p:cNvPr name="TextBox 14" id="14"/>
          <p:cNvSpPr txBox="true"/>
          <p:nvPr/>
        </p:nvSpPr>
        <p:spPr>
          <a:xfrm rot="0">
            <a:off x="302009" y="10040331"/>
            <a:ext cx="2254501" cy="228534"/>
          </a:xfrm>
          <a:prstGeom prst="rect">
            <a:avLst/>
          </a:prstGeom>
        </p:spPr>
        <p:txBody>
          <a:bodyPr anchor="t" rtlCol="false" tIns="0" lIns="0" bIns="0" rIns="0">
            <a:spAutoFit/>
          </a:bodyPr>
          <a:lstStyle/>
          <a:p>
            <a:pPr algn="l">
              <a:lnSpc>
                <a:spcPts val="1800"/>
              </a:lnSpc>
            </a:pPr>
            <a:r>
              <a:rPr lang="en-US" sz="1500">
                <a:solidFill>
                  <a:srgbClr val="0070C0"/>
                </a:solidFill>
                <a:latin typeface="Quicksand"/>
                <a:ea typeface="Quicksand"/>
                <a:cs typeface="Quicksand"/>
                <a:sym typeface="Quicksand"/>
              </a:rPr>
              <a:t>https://huit.edu.vn</a:t>
            </a:r>
          </a:p>
        </p:txBody>
      </p:sp>
      <p:sp>
        <p:nvSpPr>
          <p:cNvPr name="TextBox 15" id="1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70C0"/>
                </a:solidFill>
                <a:latin typeface="Canva Sans"/>
                <a:ea typeface="Canva Sans"/>
                <a:cs typeface="Canva Sans"/>
                <a:sym typeface="Canva Sans"/>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540330" y="-1487927"/>
            <a:ext cx="13960430" cy="13960430"/>
          </a:xfrm>
          <a:custGeom>
            <a:avLst/>
            <a:gdLst/>
            <a:ahLst/>
            <a:cxnLst/>
            <a:rect r="r" b="b" t="t" l="l"/>
            <a:pathLst>
              <a:path h="13960430" w="13960430">
                <a:moveTo>
                  <a:pt x="0" y="0"/>
                </a:moveTo>
                <a:lnTo>
                  <a:pt x="13960430" y="0"/>
                </a:lnTo>
                <a:lnTo>
                  <a:pt x="13960430" y="13960430"/>
                </a:lnTo>
                <a:lnTo>
                  <a:pt x="0" y="139604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12668"/>
            <a:ext cx="18288000" cy="1070038"/>
            <a:chOff x="0" y="0"/>
            <a:chExt cx="24384000" cy="1426718"/>
          </a:xfrm>
        </p:grpSpPr>
        <p:sp>
          <p:nvSpPr>
            <p:cNvPr name="Freeform 4" id="4"/>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2072B7"/>
            </a:solidFill>
          </p:spPr>
        </p:sp>
      </p:grpSp>
      <p:grpSp>
        <p:nvGrpSpPr>
          <p:cNvPr name="Group 5" id="5"/>
          <p:cNvGrpSpPr/>
          <p:nvPr/>
        </p:nvGrpSpPr>
        <p:grpSpPr>
          <a:xfrm rot="0">
            <a:off x="477926" y="3334"/>
            <a:ext cx="4935598" cy="1027605"/>
            <a:chOff x="0" y="0"/>
            <a:chExt cx="6580797" cy="1370140"/>
          </a:xfrm>
        </p:grpSpPr>
        <p:sp>
          <p:nvSpPr>
            <p:cNvPr name="Freeform 6" id="6" descr="A black background with white text  Description automatically generated"/>
            <p:cNvSpPr/>
            <p:nvPr/>
          </p:nvSpPr>
          <p:spPr>
            <a:xfrm flipH="false" flipV="false" rot="0">
              <a:off x="0" y="0"/>
              <a:ext cx="6580759" cy="1370203"/>
            </a:xfrm>
            <a:custGeom>
              <a:avLst/>
              <a:gdLst/>
              <a:ahLst/>
              <a:cxnLst/>
              <a:rect r="r" b="b" t="t" l="l"/>
              <a:pathLst>
                <a:path h="1370203" w="6580759">
                  <a:moveTo>
                    <a:pt x="0" y="0"/>
                  </a:moveTo>
                  <a:lnTo>
                    <a:pt x="6580759" y="0"/>
                  </a:lnTo>
                  <a:lnTo>
                    <a:pt x="6580759" y="1370203"/>
                  </a:lnTo>
                  <a:lnTo>
                    <a:pt x="0" y="1370203"/>
                  </a:lnTo>
                  <a:lnTo>
                    <a:pt x="0" y="0"/>
                  </a:lnTo>
                  <a:close/>
                </a:path>
              </a:pathLst>
            </a:custGeom>
            <a:blipFill>
              <a:blip r:embed="rId4"/>
              <a:stretch>
                <a:fillRect l="-191" t="0" r="-192" b="4"/>
              </a:stretch>
            </a:blipFill>
          </p:spPr>
        </p:sp>
      </p:grpSp>
      <p:grpSp>
        <p:nvGrpSpPr>
          <p:cNvPr name="Group 7" id="7"/>
          <p:cNvGrpSpPr/>
          <p:nvPr/>
        </p:nvGrpSpPr>
        <p:grpSpPr>
          <a:xfrm rot="0">
            <a:off x="2663190" y="10082212"/>
            <a:ext cx="15624810" cy="204845"/>
            <a:chOff x="0" y="0"/>
            <a:chExt cx="20833080" cy="273126"/>
          </a:xfrm>
        </p:grpSpPr>
        <p:sp>
          <p:nvSpPr>
            <p:cNvPr name="Freeform 8" id="8"/>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2072B7"/>
            </a:solidFill>
          </p:spPr>
        </p:sp>
      </p:grpSp>
      <p:grpSp>
        <p:nvGrpSpPr>
          <p:cNvPr name="Group 9" id="9"/>
          <p:cNvGrpSpPr/>
          <p:nvPr/>
        </p:nvGrpSpPr>
        <p:grpSpPr>
          <a:xfrm rot="0">
            <a:off x="2743238" y="10108759"/>
            <a:ext cx="15544724" cy="152705"/>
            <a:chOff x="0" y="0"/>
            <a:chExt cx="20726298" cy="203606"/>
          </a:xfrm>
        </p:grpSpPr>
        <p:sp>
          <p:nvSpPr>
            <p:cNvPr name="Freeform 10" id="10"/>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5"/>
              <a:stretch>
                <a:fillRect l="0" t="0" r="0" b="-35745"/>
              </a:stretch>
            </a:blipFill>
          </p:spPr>
        </p:sp>
      </p:grpSp>
      <p:sp>
        <p:nvSpPr>
          <p:cNvPr name="TextBox 11" id="11"/>
          <p:cNvSpPr txBox="true"/>
          <p:nvPr/>
        </p:nvSpPr>
        <p:spPr>
          <a:xfrm rot="0">
            <a:off x="302009" y="10040331"/>
            <a:ext cx="2254501" cy="228600"/>
          </a:xfrm>
          <a:prstGeom prst="rect">
            <a:avLst/>
          </a:prstGeom>
        </p:spPr>
        <p:txBody>
          <a:bodyPr anchor="t" rtlCol="false" tIns="0" lIns="0" bIns="0" rIns="0">
            <a:spAutoFit/>
          </a:bodyPr>
          <a:lstStyle/>
          <a:p>
            <a:pPr algn="l">
              <a:lnSpc>
                <a:spcPts val="1800"/>
              </a:lnSpc>
            </a:pPr>
            <a:r>
              <a:rPr lang="en-US" sz="1500">
                <a:solidFill>
                  <a:srgbClr val="0070C0"/>
                </a:solidFill>
                <a:latin typeface="Quicksand"/>
                <a:ea typeface="Quicksand"/>
                <a:cs typeface="Quicksand"/>
                <a:sym typeface="Quicksand"/>
              </a:rPr>
              <a:t>https://huit.edu.vn</a:t>
            </a:r>
          </a:p>
        </p:txBody>
      </p:sp>
      <p:sp>
        <p:nvSpPr>
          <p:cNvPr name="TextBox 12" id="12"/>
          <p:cNvSpPr txBox="true"/>
          <p:nvPr/>
        </p:nvSpPr>
        <p:spPr>
          <a:xfrm rot="0">
            <a:off x="1140543" y="4722384"/>
            <a:ext cx="6095232" cy="1377949"/>
          </a:xfrm>
          <a:prstGeom prst="rect">
            <a:avLst/>
          </a:prstGeom>
        </p:spPr>
        <p:txBody>
          <a:bodyPr anchor="t" rtlCol="false" tIns="0" lIns="0" bIns="0" rIns="0">
            <a:spAutoFit/>
          </a:bodyPr>
          <a:lstStyle/>
          <a:p>
            <a:pPr algn="l">
              <a:lnSpc>
                <a:spcPts val="11200"/>
              </a:lnSpc>
            </a:pPr>
            <a:r>
              <a:rPr lang="en-US" sz="8000" b="true">
                <a:solidFill>
                  <a:srgbClr val="0070C0"/>
                </a:solidFill>
                <a:latin typeface="Quicksand Bold"/>
                <a:ea typeface="Quicksand Bold"/>
                <a:cs typeface="Quicksand Bold"/>
                <a:sym typeface="Quicksand Bold"/>
              </a:rPr>
              <a:t>NỘI DUNG</a:t>
            </a:r>
          </a:p>
        </p:txBody>
      </p:sp>
      <p:grpSp>
        <p:nvGrpSpPr>
          <p:cNvPr name="Group 13" id="13"/>
          <p:cNvGrpSpPr/>
          <p:nvPr/>
        </p:nvGrpSpPr>
        <p:grpSpPr>
          <a:xfrm rot="0">
            <a:off x="8492145" y="1209122"/>
            <a:ext cx="8914495" cy="1645307"/>
            <a:chOff x="0" y="0"/>
            <a:chExt cx="11885994" cy="2193743"/>
          </a:xfrm>
        </p:grpSpPr>
        <p:sp>
          <p:nvSpPr>
            <p:cNvPr name="Freeform 14" id="14"/>
            <p:cNvSpPr/>
            <p:nvPr/>
          </p:nvSpPr>
          <p:spPr>
            <a:xfrm flipH="false" flipV="false" rot="0">
              <a:off x="0" y="0"/>
              <a:ext cx="2193743" cy="2193743"/>
            </a:xfrm>
            <a:custGeom>
              <a:avLst/>
              <a:gdLst/>
              <a:ahLst/>
              <a:cxnLst/>
              <a:rect r="r" b="b" t="t" l="l"/>
              <a:pathLst>
                <a:path h="2193743" w="2193743">
                  <a:moveTo>
                    <a:pt x="0" y="0"/>
                  </a:moveTo>
                  <a:lnTo>
                    <a:pt x="2193743" y="0"/>
                  </a:lnTo>
                  <a:lnTo>
                    <a:pt x="2193743" y="2193743"/>
                  </a:lnTo>
                  <a:lnTo>
                    <a:pt x="0" y="2193743"/>
                  </a:lnTo>
                  <a:lnTo>
                    <a:pt x="0" y="0"/>
                  </a:lnTo>
                  <a:close/>
                </a:path>
              </a:pathLst>
            </a:custGeom>
            <a:blipFill>
              <a:blip r:embed="rId6">
                <a:alphaModFix amt="44999"/>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0">
              <a:off x="227805" y="227805"/>
              <a:ext cx="1738133" cy="1738133"/>
            </a:xfrm>
            <a:custGeom>
              <a:avLst/>
              <a:gdLst/>
              <a:ahLst/>
              <a:cxnLst/>
              <a:rect r="r" b="b" t="t" l="l"/>
              <a:pathLst>
                <a:path h="1738133" w="1738133">
                  <a:moveTo>
                    <a:pt x="0" y="0"/>
                  </a:moveTo>
                  <a:lnTo>
                    <a:pt x="1738133" y="0"/>
                  </a:lnTo>
                  <a:lnTo>
                    <a:pt x="1738133" y="1738133"/>
                  </a:lnTo>
                  <a:lnTo>
                    <a:pt x="0" y="173813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0">
              <a:off x="840629" y="755628"/>
              <a:ext cx="512485" cy="682487"/>
            </a:xfrm>
            <a:custGeom>
              <a:avLst/>
              <a:gdLst/>
              <a:ahLst/>
              <a:cxnLst/>
              <a:rect r="r" b="b" t="t" l="l"/>
              <a:pathLst>
                <a:path h="682487" w="512485">
                  <a:moveTo>
                    <a:pt x="0" y="0"/>
                  </a:moveTo>
                  <a:lnTo>
                    <a:pt x="512485" y="0"/>
                  </a:lnTo>
                  <a:lnTo>
                    <a:pt x="512485" y="682487"/>
                  </a:lnTo>
                  <a:lnTo>
                    <a:pt x="0" y="68248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7" id="17"/>
            <p:cNvSpPr txBox="true"/>
            <p:nvPr/>
          </p:nvSpPr>
          <p:spPr>
            <a:xfrm rot="0">
              <a:off x="3154017" y="383169"/>
              <a:ext cx="6403425" cy="787400"/>
            </a:xfrm>
            <a:prstGeom prst="rect">
              <a:avLst/>
            </a:prstGeom>
          </p:spPr>
          <p:txBody>
            <a:bodyPr anchor="t" rtlCol="false" tIns="0" lIns="0" bIns="0" rIns="0">
              <a:spAutoFit/>
            </a:bodyPr>
            <a:lstStyle/>
            <a:p>
              <a:pPr algn="l" marL="0" indent="0" lvl="0">
                <a:lnSpc>
                  <a:spcPts val="4660"/>
                </a:lnSpc>
                <a:spcBef>
                  <a:spcPct val="0"/>
                </a:spcBef>
              </a:pPr>
              <a:r>
                <a:rPr lang="en-US" b="true" sz="3883">
                  <a:solidFill>
                    <a:srgbClr val="2A2E3A"/>
                  </a:solidFill>
                  <a:latin typeface="Quicksand Bold"/>
                  <a:ea typeface="Quicksand Bold"/>
                  <a:cs typeface="Quicksand Bold"/>
                  <a:sym typeface="Quicksand Bold"/>
                </a:rPr>
                <a:t>PHẦN 1</a:t>
              </a:r>
            </a:p>
          </p:txBody>
        </p:sp>
        <p:sp>
          <p:nvSpPr>
            <p:cNvPr name="TextBox 18" id="18"/>
            <p:cNvSpPr txBox="true"/>
            <p:nvPr/>
          </p:nvSpPr>
          <p:spPr>
            <a:xfrm rot="0">
              <a:off x="3154017" y="1299110"/>
              <a:ext cx="8731976" cy="708920"/>
            </a:xfrm>
            <a:prstGeom prst="rect">
              <a:avLst/>
            </a:prstGeom>
          </p:spPr>
          <p:txBody>
            <a:bodyPr anchor="t" rtlCol="false" tIns="0" lIns="0" bIns="0" rIns="0">
              <a:spAutoFit/>
            </a:bodyPr>
            <a:lstStyle/>
            <a:p>
              <a:pPr algn="l" marL="0" indent="0" lvl="0">
                <a:lnSpc>
                  <a:spcPts val="4425"/>
                </a:lnSpc>
                <a:spcBef>
                  <a:spcPct val="0"/>
                </a:spcBef>
              </a:pPr>
              <a:r>
                <a:rPr lang="en-US" sz="3161">
                  <a:solidFill>
                    <a:srgbClr val="2A2E3A"/>
                  </a:solidFill>
                  <a:latin typeface="Quicksand"/>
                  <a:ea typeface="Quicksand"/>
                  <a:cs typeface="Quicksand"/>
                  <a:sym typeface="Quicksand"/>
                </a:rPr>
                <a:t>CƠ SỞ LÍ THUYẾT</a:t>
              </a:r>
            </a:p>
          </p:txBody>
        </p:sp>
      </p:grpSp>
      <p:grpSp>
        <p:nvGrpSpPr>
          <p:cNvPr name="Group 19" id="19"/>
          <p:cNvGrpSpPr/>
          <p:nvPr/>
        </p:nvGrpSpPr>
        <p:grpSpPr>
          <a:xfrm rot="0">
            <a:off x="8590268" y="5670652"/>
            <a:ext cx="8718248" cy="1645307"/>
            <a:chOff x="0" y="0"/>
            <a:chExt cx="11624330" cy="2193743"/>
          </a:xfrm>
        </p:grpSpPr>
        <p:sp>
          <p:nvSpPr>
            <p:cNvPr name="TextBox 20" id="20"/>
            <p:cNvSpPr txBox="true"/>
            <p:nvPr/>
          </p:nvSpPr>
          <p:spPr>
            <a:xfrm rot="0">
              <a:off x="3188410" y="382387"/>
              <a:ext cx="8435920" cy="762000"/>
            </a:xfrm>
            <a:prstGeom prst="rect">
              <a:avLst/>
            </a:prstGeom>
          </p:spPr>
          <p:txBody>
            <a:bodyPr anchor="t" rtlCol="false" tIns="0" lIns="0" bIns="0" rIns="0">
              <a:spAutoFit/>
            </a:bodyPr>
            <a:lstStyle/>
            <a:p>
              <a:pPr algn="l" marL="0" indent="0" lvl="0">
                <a:lnSpc>
                  <a:spcPts val="4551"/>
                </a:lnSpc>
                <a:spcBef>
                  <a:spcPct val="0"/>
                </a:spcBef>
              </a:pPr>
              <a:r>
                <a:rPr lang="en-US" b="true" sz="3793">
                  <a:solidFill>
                    <a:srgbClr val="2A2E3A"/>
                  </a:solidFill>
                  <a:latin typeface="Quicksand Bold"/>
                  <a:ea typeface="Quicksand Bold"/>
                  <a:cs typeface="Quicksand Bold"/>
                  <a:sym typeface="Quicksand Bold"/>
                </a:rPr>
                <a:t>PHẦN 3</a:t>
              </a:r>
            </a:p>
          </p:txBody>
        </p:sp>
        <p:sp>
          <p:nvSpPr>
            <p:cNvPr name="TextBox 21" id="21"/>
            <p:cNvSpPr txBox="true"/>
            <p:nvPr/>
          </p:nvSpPr>
          <p:spPr>
            <a:xfrm rot="0">
              <a:off x="3188410" y="1284378"/>
              <a:ext cx="8435920" cy="708920"/>
            </a:xfrm>
            <a:prstGeom prst="rect">
              <a:avLst/>
            </a:prstGeom>
          </p:spPr>
          <p:txBody>
            <a:bodyPr anchor="t" rtlCol="false" tIns="0" lIns="0" bIns="0" rIns="0">
              <a:spAutoFit/>
            </a:bodyPr>
            <a:lstStyle/>
            <a:p>
              <a:pPr algn="l" marL="0" indent="0" lvl="0">
                <a:lnSpc>
                  <a:spcPts val="4425"/>
                </a:lnSpc>
                <a:spcBef>
                  <a:spcPct val="0"/>
                </a:spcBef>
              </a:pPr>
              <a:r>
                <a:rPr lang="en-US" sz="3161">
                  <a:solidFill>
                    <a:srgbClr val="2A2E3A"/>
                  </a:solidFill>
                  <a:latin typeface="Quicksand"/>
                  <a:ea typeface="Quicksand"/>
                  <a:cs typeface="Quicksand"/>
                  <a:sym typeface="Quicksand"/>
                </a:rPr>
                <a:t>DỮ LIỆU VÀ TIỀN XỬ LÝ</a:t>
              </a:r>
            </a:p>
          </p:txBody>
        </p:sp>
        <p:sp>
          <p:nvSpPr>
            <p:cNvPr name="Freeform 22" id="22"/>
            <p:cNvSpPr/>
            <p:nvPr/>
          </p:nvSpPr>
          <p:spPr>
            <a:xfrm flipH="false" flipV="false" rot="0">
              <a:off x="0" y="0"/>
              <a:ext cx="2193743" cy="2193743"/>
            </a:xfrm>
            <a:custGeom>
              <a:avLst/>
              <a:gdLst/>
              <a:ahLst/>
              <a:cxnLst/>
              <a:rect r="r" b="b" t="t" l="l"/>
              <a:pathLst>
                <a:path h="2193743" w="2193743">
                  <a:moveTo>
                    <a:pt x="0" y="0"/>
                  </a:moveTo>
                  <a:lnTo>
                    <a:pt x="2193743" y="0"/>
                  </a:lnTo>
                  <a:lnTo>
                    <a:pt x="2193743" y="2193743"/>
                  </a:lnTo>
                  <a:lnTo>
                    <a:pt x="0" y="2193743"/>
                  </a:lnTo>
                  <a:lnTo>
                    <a:pt x="0" y="0"/>
                  </a:lnTo>
                  <a:close/>
                </a:path>
              </a:pathLst>
            </a:custGeom>
            <a:blipFill>
              <a:blip r:embed="rId6">
                <a:alphaModFix amt="44999"/>
                <a:extLst>
                  <a:ext uri="{96DAC541-7B7A-43D3-8B79-37D633B846F1}">
                    <asvg:svgBlip xmlns:asvg="http://schemas.microsoft.com/office/drawing/2016/SVG/main" r:embed="rId7"/>
                  </a:ext>
                </a:extLst>
              </a:blip>
              <a:stretch>
                <a:fillRect l="0" t="0" r="0" b="0"/>
              </a:stretch>
            </a:blipFill>
          </p:spPr>
        </p:sp>
        <p:sp>
          <p:nvSpPr>
            <p:cNvPr name="Freeform 23" id="23"/>
            <p:cNvSpPr/>
            <p:nvPr/>
          </p:nvSpPr>
          <p:spPr>
            <a:xfrm flipH="false" flipV="false" rot="0">
              <a:off x="227805" y="227805"/>
              <a:ext cx="1738133" cy="1738133"/>
            </a:xfrm>
            <a:custGeom>
              <a:avLst/>
              <a:gdLst/>
              <a:ahLst/>
              <a:cxnLst/>
              <a:rect r="r" b="b" t="t" l="l"/>
              <a:pathLst>
                <a:path h="1738133" w="1738133">
                  <a:moveTo>
                    <a:pt x="0" y="0"/>
                  </a:moveTo>
                  <a:lnTo>
                    <a:pt x="1738133" y="0"/>
                  </a:lnTo>
                  <a:lnTo>
                    <a:pt x="1738133" y="1738133"/>
                  </a:lnTo>
                  <a:lnTo>
                    <a:pt x="0" y="173813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4" id="24"/>
            <p:cNvSpPr/>
            <p:nvPr/>
          </p:nvSpPr>
          <p:spPr>
            <a:xfrm flipH="false" flipV="false" rot="0">
              <a:off x="840629" y="755628"/>
              <a:ext cx="512485" cy="682487"/>
            </a:xfrm>
            <a:custGeom>
              <a:avLst/>
              <a:gdLst/>
              <a:ahLst/>
              <a:cxnLst/>
              <a:rect r="r" b="b" t="t" l="l"/>
              <a:pathLst>
                <a:path h="682487" w="512485">
                  <a:moveTo>
                    <a:pt x="0" y="0"/>
                  </a:moveTo>
                  <a:lnTo>
                    <a:pt x="512485" y="0"/>
                  </a:lnTo>
                  <a:lnTo>
                    <a:pt x="512485" y="682487"/>
                  </a:lnTo>
                  <a:lnTo>
                    <a:pt x="0" y="68248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grpSp>
        <p:nvGrpSpPr>
          <p:cNvPr name="Group 25" id="25"/>
          <p:cNvGrpSpPr/>
          <p:nvPr/>
        </p:nvGrpSpPr>
        <p:grpSpPr>
          <a:xfrm rot="0">
            <a:off x="8496808" y="3439887"/>
            <a:ext cx="8905167" cy="1645307"/>
            <a:chOff x="0" y="0"/>
            <a:chExt cx="11873557" cy="2193743"/>
          </a:xfrm>
        </p:grpSpPr>
        <p:sp>
          <p:nvSpPr>
            <p:cNvPr name="TextBox 26" id="26"/>
            <p:cNvSpPr txBox="true"/>
            <p:nvPr/>
          </p:nvSpPr>
          <p:spPr>
            <a:xfrm rot="0">
              <a:off x="3188410" y="350514"/>
              <a:ext cx="4654078" cy="774700"/>
            </a:xfrm>
            <a:prstGeom prst="rect">
              <a:avLst/>
            </a:prstGeom>
          </p:spPr>
          <p:txBody>
            <a:bodyPr anchor="t" rtlCol="false" tIns="0" lIns="0" bIns="0" rIns="0">
              <a:spAutoFit/>
            </a:bodyPr>
            <a:lstStyle/>
            <a:p>
              <a:pPr algn="l" marL="0" indent="0" lvl="0">
                <a:lnSpc>
                  <a:spcPts val="4633"/>
                </a:lnSpc>
                <a:spcBef>
                  <a:spcPct val="0"/>
                </a:spcBef>
              </a:pPr>
              <a:r>
                <a:rPr lang="en-US" b="true" sz="3861">
                  <a:solidFill>
                    <a:srgbClr val="2A2E3A"/>
                  </a:solidFill>
                  <a:latin typeface="Quicksand Bold"/>
                  <a:ea typeface="Quicksand Bold"/>
                  <a:cs typeface="Quicksand Bold"/>
                  <a:sym typeface="Quicksand Bold"/>
                </a:rPr>
                <a:t>PHẦN 2</a:t>
              </a:r>
            </a:p>
          </p:txBody>
        </p:sp>
        <p:sp>
          <p:nvSpPr>
            <p:cNvPr name="Freeform 27" id="27"/>
            <p:cNvSpPr/>
            <p:nvPr/>
          </p:nvSpPr>
          <p:spPr>
            <a:xfrm flipH="false" flipV="false" rot="0">
              <a:off x="0" y="0"/>
              <a:ext cx="2193743" cy="2193743"/>
            </a:xfrm>
            <a:custGeom>
              <a:avLst/>
              <a:gdLst/>
              <a:ahLst/>
              <a:cxnLst/>
              <a:rect r="r" b="b" t="t" l="l"/>
              <a:pathLst>
                <a:path h="2193743" w="2193743">
                  <a:moveTo>
                    <a:pt x="0" y="0"/>
                  </a:moveTo>
                  <a:lnTo>
                    <a:pt x="2193743" y="0"/>
                  </a:lnTo>
                  <a:lnTo>
                    <a:pt x="2193743" y="2193743"/>
                  </a:lnTo>
                  <a:lnTo>
                    <a:pt x="0" y="2193743"/>
                  </a:lnTo>
                  <a:lnTo>
                    <a:pt x="0" y="0"/>
                  </a:lnTo>
                  <a:close/>
                </a:path>
              </a:pathLst>
            </a:custGeom>
            <a:blipFill>
              <a:blip r:embed="rId6">
                <a:alphaModFix amt="44999"/>
                <a:extLst>
                  <a:ext uri="{96DAC541-7B7A-43D3-8B79-37D633B846F1}">
                    <asvg:svgBlip xmlns:asvg="http://schemas.microsoft.com/office/drawing/2016/SVG/main" r:embed="rId7"/>
                  </a:ext>
                </a:extLst>
              </a:blip>
              <a:stretch>
                <a:fillRect l="0" t="0" r="0" b="0"/>
              </a:stretch>
            </a:blipFill>
          </p:spPr>
        </p:sp>
        <p:sp>
          <p:nvSpPr>
            <p:cNvPr name="Freeform 28" id="28"/>
            <p:cNvSpPr/>
            <p:nvPr/>
          </p:nvSpPr>
          <p:spPr>
            <a:xfrm flipH="false" flipV="false" rot="0">
              <a:off x="227805" y="227805"/>
              <a:ext cx="1738133" cy="1738133"/>
            </a:xfrm>
            <a:custGeom>
              <a:avLst/>
              <a:gdLst/>
              <a:ahLst/>
              <a:cxnLst/>
              <a:rect r="r" b="b" t="t" l="l"/>
              <a:pathLst>
                <a:path h="1738133" w="1738133">
                  <a:moveTo>
                    <a:pt x="0" y="0"/>
                  </a:moveTo>
                  <a:lnTo>
                    <a:pt x="1738133" y="0"/>
                  </a:lnTo>
                  <a:lnTo>
                    <a:pt x="1738133" y="1738133"/>
                  </a:lnTo>
                  <a:lnTo>
                    <a:pt x="0" y="173813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9" id="29"/>
            <p:cNvSpPr/>
            <p:nvPr/>
          </p:nvSpPr>
          <p:spPr>
            <a:xfrm flipH="false" flipV="false" rot="0">
              <a:off x="840629" y="755628"/>
              <a:ext cx="512485" cy="682487"/>
            </a:xfrm>
            <a:custGeom>
              <a:avLst/>
              <a:gdLst/>
              <a:ahLst/>
              <a:cxnLst/>
              <a:rect r="r" b="b" t="t" l="l"/>
              <a:pathLst>
                <a:path h="682487" w="512485">
                  <a:moveTo>
                    <a:pt x="0" y="0"/>
                  </a:moveTo>
                  <a:lnTo>
                    <a:pt x="512485" y="0"/>
                  </a:lnTo>
                  <a:lnTo>
                    <a:pt x="512485" y="682487"/>
                  </a:lnTo>
                  <a:lnTo>
                    <a:pt x="0" y="68248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30" id="30"/>
            <p:cNvSpPr txBox="true"/>
            <p:nvPr/>
          </p:nvSpPr>
          <p:spPr>
            <a:xfrm rot="0">
              <a:off x="3188410" y="1330938"/>
              <a:ext cx="8685146" cy="635000"/>
            </a:xfrm>
            <a:prstGeom prst="rect">
              <a:avLst/>
            </a:prstGeom>
          </p:spPr>
          <p:txBody>
            <a:bodyPr anchor="t" rtlCol="false" tIns="0" lIns="0" bIns="0" rIns="0">
              <a:spAutoFit/>
            </a:bodyPr>
            <a:lstStyle/>
            <a:p>
              <a:pPr algn="l">
                <a:lnSpc>
                  <a:spcPts val="3793"/>
                </a:lnSpc>
                <a:spcBef>
                  <a:spcPct val="0"/>
                </a:spcBef>
              </a:pPr>
              <a:r>
                <a:rPr lang="en-US" sz="3161">
                  <a:solidFill>
                    <a:srgbClr val="000000"/>
                  </a:solidFill>
                  <a:latin typeface="Quicksand"/>
                  <a:ea typeface="Quicksand"/>
                  <a:cs typeface="Quicksand"/>
                  <a:sym typeface="Quicksand"/>
                </a:rPr>
                <a:t>LÝ THUYẾT SÁU MÔ HÌNH</a:t>
              </a:r>
            </a:p>
          </p:txBody>
        </p:sp>
      </p:grpSp>
      <p:grpSp>
        <p:nvGrpSpPr>
          <p:cNvPr name="Group 31" id="31"/>
          <p:cNvGrpSpPr/>
          <p:nvPr/>
        </p:nvGrpSpPr>
        <p:grpSpPr>
          <a:xfrm rot="0">
            <a:off x="8566847" y="7901417"/>
            <a:ext cx="8692453" cy="1645307"/>
            <a:chOff x="0" y="0"/>
            <a:chExt cx="11589937" cy="2193743"/>
          </a:xfrm>
        </p:grpSpPr>
        <p:sp>
          <p:nvSpPr>
            <p:cNvPr name="Freeform 32" id="32"/>
            <p:cNvSpPr/>
            <p:nvPr/>
          </p:nvSpPr>
          <p:spPr>
            <a:xfrm flipH="false" flipV="false" rot="0">
              <a:off x="0" y="0"/>
              <a:ext cx="2193743" cy="2193743"/>
            </a:xfrm>
            <a:custGeom>
              <a:avLst/>
              <a:gdLst/>
              <a:ahLst/>
              <a:cxnLst/>
              <a:rect r="r" b="b" t="t" l="l"/>
              <a:pathLst>
                <a:path h="2193743" w="2193743">
                  <a:moveTo>
                    <a:pt x="0" y="0"/>
                  </a:moveTo>
                  <a:lnTo>
                    <a:pt x="2193743" y="0"/>
                  </a:lnTo>
                  <a:lnTo>
                    <a:pt x="2193743" y="2193743"/>
                  </a:lnTo>
                  <a:lnTo>
                    <a:pt x="0" y="2193743"/>
                  </a:lnTo>
                  <a:lnTo>
                    <a:pt x="0" y="0"/>
                  </a:lnTo>
                  <a:close/>
                </a:path>
              </a:pathLst>
            </a:custGeom>
            <a:blipFill>
              <a:blip r:embed="rId6">
                <a:alphaModFix amt="44999"/>
                <a:extLst>
                  <a:ext uri="{96DAC541-7B7A-43D3-8B79-37D633B846F1}">
                    <asvg:svgBlip xmlns:asvg="http://schemas.microsoft.com/office/drawing/2016/SVG/main" r:embed="rId7"/>
                  </a:ext>
                </a:extLst>
              </a:blip>
              <a:stretch>
                <a:fillRect l="0" t="0" r="0" b="0"/>
              </a:stretch>
            </a:blipFill>
          </p:spPr>
        </p:sp>
        <p:sp>
          <p:nvSpPr>
            <p:cNvPr name="Freeform 33" id="33"/>
            <p:cNvSpPr/>
            <p:nvPr/>
          </p:nvSpPr>
          <p:spPr>
            <a:xfrm flipH="false" flipV="false" rot="0">
              <a:off x="227805" y="227805"/>
              <a:ext cx="1738133" cy="1738133"/>
            </a:xfrm>
            <a:custGeom>
              <a:avLst/>
              <a:gdLst/>
              <a:ahLst/>
              <a:cxnLst/>
              <a:rect r="r" b="b" t="t" l="l"/>
              <a:pathLst>
                <a:path h="1738133" w="1738133">
                  <a:moveTo>
                    <a:pt x="0" y="0"/>
                  </a:moveTo>
                  <a:lnTo>
                    <a:pt x="1738133" y="0"/>
                  </a:lnTo>
                  <a:lnTo>
                    <a:pt x="1738133" y="1738133"/>
                  </a:lnTo>
                  <a:lnTo>
                    <a:pt x="0" y="173813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4" id="34"/>
            <p:cNvSpPr/>
            <p:nvPr/>
          </p:nvSpPr>
          <p:spPr>
            <a:xfrm flipH="false" flipV="false" rot="0">
              <a:off x="840629" y="755628"/>
              <a:ext cx="512485" cy="682487"/>
            </a:xfrm>
            <a:custGeom>
              <a:avLst/>
              <a:gdLst/>
              <a:ahLst/>
              <a:cxnLst/>
              <a:rect r="r" b="b" t="t" l="l"/>
              <a:pathLst>
                <a:path h="682487" w="512485">
                  <a:moveTo>
                    <a:pt x="0" y="0"/>
                  </a:moveTo>
                  <a:lnTo>
                    <a:pt x="512485" y="0"/>
                  </a:lnTo>
                  <a:lnTo>
                    <a:pt x="512485" y="682487"/>
                  </a:lnTo>
                  <a:lnTo>
                    <a:pt x="0" y="68248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35" id="35"/>
            <p:cNvSpPr txBox="true"/>
            <p:nvPr/>
          </p:nvSpPr>
          <p:spPr>
            <a:xfrm rot="0">
              <a:off x="3154017" y="297681"/>
              <a:ext cx="8435920" cy="762000"/>
            </a:xfrm>
            <a:prstGeom prst="rect">
              <a:avLst/>
            </a:prstGeom>
          </p:spPr>
          <p:txBody>
            <a:bodyPr anchor="t" rtlCol="false" tIns="0" lIns="0" bIns="0" rIns="0">
              <a:spAutoFit/>
            </a:bodyPr>
            <a:lstStyle/>
            <a:p>
              <a:pPr algn="l" marL="0" indent="0" lvl="0">
                <a:lnSpc>
                  <a:spcPts val="4551"/>
                </a:lnSpc>
                <a:spcBef>
                  <a:spcPct val="0"/>
                </a:spcBef>
              </a:pPr>
              <a:r>
                <a:rPr lang="en-US" b="true" sz="3793">
                  <a:solidFill>
                    <a:srgbClr val="2A2E3A"/>
                  </a:solidFill>
                  <a:latin typeface="Quicksand Bold"/>
                  <a:ea typeface="Quicksand Bold"/>
                  <a:cs typeface="Quicksand Bold"/>
                  <a:sym typeface="Quicksand Bold"/>
                </a:rPr>
                <a:t>PHẦN 4</a:t>
              </a:r>
            </a:p>
          </p:txBody>
        </p:sp>
        <p:sp>
          <p:nvSpPr>
            <p:cNvPr name="TextBox 36" id="36"/>
            <p:cNvSpPr txBox="true"/>
            <p:nvPr/>
          </p:nvSpPr>
          <p:spPr>
            <a:xfrm rot="0">
              <a:off x="3154017" y="1519941"/>
              <a:ext cx="8219581" cy="635000"/>
            </a:xfrm>
            <a:prstGeom prst="rect">
              <a:avLst/>
            </a:prstGeom>
          </p:spPr>
          <p:txBody>
            <a:bodyPr anchor="t" rtlCol="false" tIns="0" lIns="0" bIns="0" rIns="0">
              <a:spAutoFit/>
            </a:bodyPr>
            <a:lstStyle/>
            <a:p>
              <a:pPr algn="l">
                <a:lnSpc>
                  <a:spcPts val="3793"/>
                </a:lnSpc>
                <a:spcBef>
                  <a:spcPct val="0"/>
                </a:spcBef>
              </a:pPr>
              <a:r>
                <a:rPr lang="en-US" sz="3161">
                  <a:solidFill>
                    <a:srgbClr val="000000"/>
                  </a:solidFill>
                  <a:latin typeface="Quicksand"/>
                  <a:ea typeface="Quicksand"/>
                  <a:cs typeface="Quicksand"/>
                  <a:sym typeface="Quicksand"/>
                </a:rPr>
                <a:t>THỰC NGHIỆM VÀ KẾT QUẢ</a:t>
              </a:r>
            </a:p>
          </p:txBody>
        </p:sp>
      </p:grpSp>
      <p:sp>
        <p:nvSpPr>
          <p:cNvPr name="TextBox 37" id="3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668"/>
            <a:ext cx="18288000" cy="1070038"/>
            <a:chOff x="0" y="0"/>
            <a:chExt cx="24384000" cy="1426718"/>
          </a:xfrm>
        </p:grpSpPr>
        <p:sp>
          <p:nvSpPr>
            <p:cNvPr name="Freeform 3" id="3"/>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2072B7"/>
            </a:solidFill>
          </p:spPr>
        </p:sp>
      </p:grpSp>
      <p:grpSp>
        <p:nvGrpSpPr>
          <p:cNvPr name="Group 4" id="4"/>
          <p:cNvGrpSpPr/>
          <p:nvPr/>
        </p:nvGrpSpPr>
        <p:grpSpPr>
          <a:xfrm rot="0">
            <a:off x="477926" y="3334"/>
            <a:ext cx="4935598" cy="1027605"/>
            <a:chOff x="0" y="0"/>
            <a:chExt cx="6580797" cy="1370140"/>
          </a:xfrm>
        </p:grpSpPr>
        <p:sp>
          <p:nvSpPr>
            <p:cNvPr name="Freeform 5" id="5"/>
            <p:cNvSpPr/>
            <p:nvPr/>
          </p:nvSpPr>
          <p:spPr>
            <a:xfrm flipH="false" flipV="false" rot="0">
              <a:off x="0" y="0"/>
              <a:ext cx="6580759" cy="1370203"/>
            </a:xfrm>
            <a:custGeom>
              <a:avLst/>
              <a:gdLst/>
              <a:ahLst/>
              <a:cxnLst/>
              <a:rect r="r" b="b" t="t" l="l"/>
              <a:pathLst>
                <a:path h="1370203" w="6580759">
                  <a:moveTo>
                    <a:pt x="0" y="0"/>
                  </a:moveTo>
                  <a:lnTo>
                    <a:pt x="6580759" y="0"/>
                  </a:lnTo>
                  <a:lnTo>
                    <a:pt x="6580759" y="1370203"/>
                  </a:lnTo>
                  <a:lnTo>
                    <a:pt x="0" y="1370203"/>
                  </a:lnTo>
                  <a:lnTo>
                    <a:pt x="0" y="0"/>
                  </a:lnTo>
                  <a:close/>
                </a:path>
              </a:pathLst>
            </a:custGeom>
            <a:blipFill>
              <a:blip r:embed="rId2"/>
              <a:stretch>
                <a:fillRect l="-191" t="0" r="-192" b="4"/>
              </a:stretch>
            </a:blipFill>
          </p:spPr>
        </p:sp>
      </p:grpSp>
      <p:grpSp>
        <p:nvGrpSpPr>
          <p:cNvPr name="Group 6" id="6"/>
          <p:cNvGrpSpPr/>
          <p:nvPr/>
        </p:nvGrpSpPr>
        <p:grpSpPr>
          <a:xfrm rot="0">
            <a:off x="2663190" y="10082212"/>
            <a:ext cx="15624810" cy="204845"/>
            <a:chOff x="0" y="0"/>
            <a:chExt cx="20833080" cy="273126"/>
          </a:xfrm>
        </p:grpSpPr>
        <p:sp>
          <p:nvSpPr>
            <p:cNvPr name="Freeform 7" id="7"/>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2072B7"/>
            </a:solidFill>
          </p:spPr>
        </p:sp>
      </p:grpSp>
      <p:grpSp>
        <p:nvGrpSpPr>
          <p:cNvPr name="Group 8" id="8"/>
          <p:cNvGrpSpPr/>
          <p:nvPr/>
        </p:nvGrpSpPr>
        <p:grpSpPr>
          <a:xfrm rot="0">
            <a:off x="2743238" y="10108759"/>
            <a:ext cx="15544724" cy="152705"/>
            <a:chOff x="0" y="0"/>
            <a:chExt cx="20726298" cy="203606"/>
          </a:xfrm>
        </p:grpSpPr>
        <p:sp>
          <p:nvSpPr>
            <p:cNvPr name="Freeform 9" id="9"/>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3"/>
              <a:stretch>
                <a:fillRect l="0" t="0" r="0" b="-35745"/>
              </a:stretch>
            </a:blipFill>
          </p:spPr>
        </p:sp>
      </p:grpSp>
      <p:sp>
        <p:nvSpPr>
          <p:cNvPr name="TextBox 10" id="10"/>
          <p:cNvSpPr txBox="true"/>
          <p:nvPr/>
        </p:nvSpPr>
        <p:spPr>
          <a:xfrm rot="0">
            <a:off x="302009" y="10002231"/>
            <a:ext cx="2254501" cy="327536"/>
          </a:xfrm>
          <a:prstGeom prst="rect">
            <a:avLst/>
          </a:prstGeom>
        </p:spPr>
        <p:txBody>
          <a:bodyPr anchor="t" rtlCol="false" tIns="0" lIns="0" bIns="0" rIns="0">
            <a:spAutoFit/>
          </a:bodyPr>
          <a:lstStyle/>
          <a:p>
            <a:pPr algn="l">
              <a:lnSpc>
                <a:spcPts val="1800"/>
              </a:lnSpc>
            </a:pPr>
            <a:r>
              <a:rPr lang="en-US" sz="1500">
                <a:solidFill>
                  <a:srgbClr val="0070C0"/>
                </a:solidFill>
                <a:latin typeface="Calibri (MS)"/>
                <a:ea typeface="Calibri (MS)"/>
                <a:cs typeface="Calibri (MS)"/>
                <a:sym typeface="Calibri (MS)"/>
              </a:rPr>
              <a:t>https://huit.edu.vn</a:t>
            </a:r>
          </a:p>
        </p:txBody>
      </p:sp>
      <p:sp>
        <p:nvSpPr>
          <p:cNvPr name="TextBox 11" id="11"/>
          <p:cNvSpPr txBox="true"/>
          <p:nvPr/>
        </p:nvSpPr>
        <p:spPr>
          <a:xfrm rot="0">
            <a:off x="928688" y="1400175"/>
            <a:ext cx="16430625" cy="1014413"/>
          </a:xfrm>
          <a:prstGeom prst="rect">
            <a:avLst/>
          </a:prstGeom>
        </p:spPr>
        <p:txBody>
          <a:bodyPr anchor="t" rtlCol="false" tIns="0" lIns="0" bIns="0" rIns="0">
            <a:spAutoFit/>
          </a:bodyPr>
          <a:lstStyle/>
          <a:p>
            <a:pPr algn="l">
              <a:lnSpc>
                <a:spcPts val="5130"/>
              </a:lnSpc>
            </a:pPr>
            <a:r>
              <a:rPr lang="en-US" sz="4275" b="true">
                <a:solidFill>
                  <a:srgbClr val="2072B7"/>
                </a:solidFill>
                <a:latin typeface="Calibri (MS) Bold"/>
                <a:ea typeface="Calibri (MS) Bold"/>
                <a:cs typeface="Calibri (MS) Bold"/>
                <a:sym typeface="Calibri (MS) Bold"/>
              </a:rPr>
              <a:t>Lý do và mục tiêu</a:t>
            </a:r>
          </a:p>
        </p:txBody>
      </p:sp>
      <p:sp>
        <p:nvSpPr>
          <p:cNvPr name="TextBox 12" id="12"/>
          <p:cNvSpPr txBox="true"/>
          <p:nvPr/>
        </p:nvSpPr>
        <p:spPr>
          <a:xfrm rot="0">
            <a:off x="928688" y="2905125"/>
            <a:ext cx="7072312" cy="2066925"/>
          </a:xfrm>
          <a:prstGeom prst="rect">
            <a:avLst/>
          </a:prstGeom>
        </p:spPr>
        <p:txBody>
          <a:bodyPr anchor="t" rtlCol="false" tIns="0" lIns="0" bIns="0" rIns="0">
            <a:spAutoFit/>
          </a:bodyPr>
          <a:lstStyle/>
          <a:p>
            <a:pPr algn="l">
              <a:lnSpc>
                <a:spcPts val="5204"/>
              </a:lnSpc>
            </a:pPr>
            <a:r>
              <a:rPr lang="en-US" sz="4337">
                <a:solidFill>
                  <a:srgbClr val="222222"/>
                </a:solidFill>
                <a:latin typeface="Calibri (MS)"/>
                <a:ea typeface="Calibri (MS)"/>
                <a:cs typeface="Calibri (MS)"/>
                <a:sym typeface="Calibri (MS)"/>
              </a:rPr>
              <a:t>Dữ liệu hơn 7 triệu chuyến bay cần một quy trình xử lý phù hợp.</a:t>
            </a:r>
          </a:p>
        </p:txBody>
      </p:sp>
      <p:sp>
        <p:nvSpPr>
          <p:cNvPr name="TextBox 13" id="13"/>
          <p:cNvSpPr txBox="true"/>
          <p:nvPr/>
        </p:nvSpPr>
        <p:spPr>
          <a:xfrm rot="0">
            <a:off x="928688" y="5116722"/>
            <a:ext cx="7072312" cy="2066925"/>
          </a:xfrm>
          <a:prstGeom prst="rect">
            <a:avLst/>
          </a:prstGeom>
        </p:spPr>
        <p:txBody>
          <a:bodyPr anchor="t" rtlCol="false" tIns="0" lIns="0" bIns="0" rIns="0">
            <a:spAutoFit/>
          </a:bodyPr>
          <a:lstStyle/>
          <a:p>
            <a:pPr algn="l">
              <a:lnSpc>
                <a:spcPts val="5204"/>
              </a:lnSpc>
            </a:pPr>
            <a:r>
              <a:rPr lang="en-US" sz="4337">
                <a:solidFill>
                  <a:srgbClr val="222222"/>
                </a:solidFill>
                <a:latin typeface="Calibri (MS)"/>
                <a:ea typeface="Calibri (MS)"/>
                <a:cs typeface="Calibri (MS)"/>
                <a:sym typeface="Calibri (MS)"/>
              </a:rPr>
              <a:t>Nhóm dự đoán nguyên nhân trễ chi phối, bên cạnh lớp OnTime.</a:t>
            </a:r>
          </a:p>
        </p:txBody>
      </p:sp>
      <p:sp>
        <p:nvSpPr>
          <p:cNvPr name="TextBox 14" id="14"/>
          <p:cNvSpPr txBox="true"/>
          <p:nvPr/>
        </p:nvSpPr>
        <p:spPr>
          <a:xfrm rot="0">
            <a:off x="928688" y="7328318"/>
            <a:ext cx="7072312" cy="752475"/>
          </a:xfrm>
          <a:prstGeom prst="rect">
            <a:avLst/>
          </a:prstGeom>
        </p:spPr>
        <p:txBody>
          <a:bodyPr anchor="t" rtlCol="false" tIns="0" lIns="0" bIns="0" rIns="0">
            <a:spAutoFit/>
          </a:bodyPr>
          <a:lstStyle/>
          <a:p>
            <a:pPr algn="l">
              <a:lnSpc>
                <a:spcPts val="5204"/>
              </a:lnSpc>
            </a:pPr>
            <a:r>
              <a:rPr lang="en-US" sz="4337">
                <a:solidFill>
                  <a:srgbClr val="222222"/>
                </a:solidFill>
                <a:latin typeface="Calibri (MS)"/>
                <a:ea typeface="Calibri (MS)"/>
                <a:cs typeface="Calibri (MS)"/>
                <a:sym typeface="Calibri (MS)"/>
              </a:rPr>
              <a:t>So sánh CPU với Spark </a:t>
            </a:r>
          </a:p>
        </p:txBody>
      </p:sp>
      <p:grpSp>
        <p:nvGrpSpPr>
          <p:cNvPr name="Group 15" id="15"/>
          <p:cNvGrpSpPr/>
          <p:nvPr/>
        </p:nvGrpSpPr>
        <p:grpSpPr>
          <a:xfrm rot="0">
            <a:off x="8730252" y="2857500"/>
            <a:ext cx="8843373" cy="1173101"/>
            <a:chOff x="0" y="0"/>
            <a:chExt cx="9334500" cy="1238250"/>
          </a:xfrm>
        </p:grpSpPr>
        <p:sp>
          <p:nvSpPr>
            <p:cNvPr name="Freeform 16" id="16"/>
            <p:cNvSpPr/>
            <p:nvPr/>
          </p:nvSpPr>
          <p:spPr>
            <a:xfrm flipH="false" flipV="false" rot="0">
              <a:off x="0" y="0"/>
              <a:ext cx="9334500" cy="1238250"/>
            </a:xfrm>
            <a:custGeom>
              <a:avLst/>
              <a:gdLst/>
              <a:ahLst/>
              <a:cxnLst/>
              <a:rect r="r" b="b" t="t" l="l"/>
              <a:pathLst>
                <a:path h="1238250" w="9334500">
                  <a:moveTo>
                    <a:pt x="0" y="0"/>
                  </a:moveTo>
                  <a:lnTo>
                    <a:pt x="9334500" y="0"/>
                  </a:lnTo>
                  <a:lnTo>
                    <a:pt x="9334500" y="1238250"/>
                  </a:lnTo>
                  <a:lnTo>
                    <a:pt x="0" y="1238250"/>
                  </a:lnTo>
                  <a:close/>
                </a:path>
              </a:pathLst>
            </a:custGeom>
            <a:solidFill>
              <a:srgbClr val="2072B7"/>
            </a:solidFill>
          </p:spPr>
        </p:sp>
        <p:sp>
          <p:nvSpPr>
            <p:cNvPr name="TextBox 17" id="17"/>
            <p:cNvSpPr txBox="true"/>
            <p:nvPr/>
          </p:nvSpPr>
          <p:spPr>
            <a:xfrm>
              <a:off x="0" y="-85725"/>
              <a:ext cx="9334500" cy="1323975"/>
            </a:xfrm>
            <a:prstGeom prst="rect">
              <a:avLst/>
            </a:prstGeom>
          </p:spPr>
          <p:txBody>
            <a:bodyPr anchor="ctr" rtlCol="false" tIns="50800" lIns="50800" bIns="50800" rIns="50800"/>
            <a:lstStyle/>
            <a:p>
              <a:pPr algn="ctr">
                <a:lnSpc>
                  <a:spcPts val="4934"/>
                </a:lnSpc>
              </a:pPr>
              <a:r>
                <a:rPr lang="en-US" sz="4112">
                  <a:solidFill>
                    <a:srgbClr val="FFFFFF"/>
                  </a:solidFill>
                  <a:latin typeface="Calibri (MS)"/>
                  <a:ea typeface="Calibri (MS)"/>
                  <a:cs typeface="Calibri (MS)"/>
                  <a:sym typeface="Calibri (MS)"/>
                </a:rPr>
                <a:t>Dữ liệu chuyến bay 2024</a:t>
              </a:r>
            </a:p>
          </p:txBody>
        </p:sp>
      </p:grpSp>
      <p:sp>
        <p:nvSpPr>
          <p:cNvPr name="TextBox 18" id="18"/>
          <p:cNvSpPr txBox="true"/>
          <p:nvPr/>
        </p:nvSpPr>
        <p:spPr>
          <a:xfrm rot="0">
            <a:off x="12971461" y="3954401"/>
            <a:ext cx="541431" cy="617631"/>
          </a:xfrm>
          <a:prstGeom prst="rect">
            <a:avLst/>
          </a:prstGeom>
        </p:spPr>
        <p:txBody>
          <a:bodyPr anchor="t" rtlCol="false" tIns="0" lIns="0" bIns="0" rIns="0">
            <a:spAutoFit/>
          </a:bodyPr>
          <a:lstStyle/>
          <a:p>
            <a:pPr algn="l">
              <a:lnSpc>
                <a:spcPts val="4263"/>
              </a:lnSpc>
            </a:pPr>
            <a:r>
              <a:rPr lang="en-US" sz="3552">
                <a:solidFill>
                  <a:srgbClr val="2072B7"/>
                </a:solidFill>
                <a:latin typeface="Calibri (MS)"/>
                <a:ea typeface="Calibri (MS)"/>
                <a:cs typeface="Calibri (MS)"/>
                <a:sym typeface="Calibri (MS)"/>
              </a:rPr>
              <a:t>↓</a:t>
            </a:r>
          </a:p>
        </p:txBody>
      </p:sp>
      <p:grpSp>
        <p:nvGrpSpPr>
          <p:cNvPr name="Group 19" id="19"/>
          <p:cNvGrpSpPr/>
          <p:nvPr/>
        </p:nvGrpSpPr>
        <p:grpSpPr>
          <a:xfrm rot="0">
            <a:off x="8730252" y="4553984"/>
            <a:ext cx="8843373" cy="1173101"/>
            <a:chOff x="0" y="0"/>
            <a:chExt cx="9334500" cy="1238250"/>
          </a:xfrm>
        </p:grpSpPr>
        <p:sp>
          <p:nvSpPr>
            <p:cNvPr name="Freeform 20" id="20"/>
            <p:cNvSpPr/>
            <p:nvPr/>
          </p:nvSpPr>
          <p:spPr>
            <a:xfrm flipH="false" flipV="false" rot="0">
              <a:off x="0" y="0"/>
              <a:ext cx="9334500" cy="1238250"/>
            </a:xfrm>
            <a:custGeom>
              <a:avLst/>
              <a:gdLst/>
              <a:ahLst/>
              <a:cxnLst/>
              <a:rect r="r" b="b" t="t" l="l"/>
              <a:pathLst>
                <a:path h="1238250" w="9334500">
                  <a:moveTo>
                    <a:pt x="0" y="0"/>
                  </a:moveTo>
                  <a:lnTo>
                    <a:pt x="9334500" y="0"/>
                  </a:lnTo>
                  <a:lnTo>
                    <a:pt x="9334500" y="1238250"/>
                  </a:lnTo>
                  <a:lnTo>
                    <a:pt x="0" y="1238250"/>
                  </a:lnTo>
                  <a:close/>
                </a:path>
              </a:pathLst>
            </a:custGeom>
            <a:solidFill>
              <a:srgbClr val="2072B7"/>
            </a:solidFill>
          </p:spPr>
        </p:sp>
        <p:sp>
          <p:nvSpPr>
            <p:cNvPr name="TextBox 21" id="21"/>
            <p:cNvSpPr txBox="true"/>
            <p:nvPr/>
          </p:nvSpPr>
          <p:spPr>
            <a:xfrm>
              <a:off x="0" y="-85725"/>
              <a:ext cx="9334500" cy="1323975"/>
            </a:xfrm>
            <a:prstGeom prst="rect">
              <a:avLst/>
            </a:prstGeom>
          </p:spPr>
          <p:txBody>
            <a:bodyPr anchor="ctr" rtlCol="false" tIns="50800" lIns="50800" bIns="50800" rIns="50800"/>
            <a:lstStyle/>
            <a:p>
              <a:pPr algn="ctr">
                <a:lnSpc>
                  <a:spcPts val="4934"/>
                </a:lnSpc>
              </a:pPr>
              <a:r>
                <a:rPr lang="en-US" sz="4112">
                  <a:solidFill>
                    <a:srgbClr val="FFFFFF"/>
                  </a:solidFill>
                  <a:latin typeface="Calibri (MS)"/>
                  <a:ea typeface="Calibri (MS)"/>
                  <a:cs typeface="Calibri (MS)"/>
                  <a:sym typeface="Calibri (MS)"/>
                </a:rPr>
                <a:t>Dự đoán 6 nhóm mục tiêu</a:t>
              </a:r>
            </a:p>
          </p:txBody>
        </p:sp>
      </p:grpSp>
      <p:sp>
        <p:nvSpPr>
          <p:cNvPr name="TextBox 22" id="22"/>
          <p:cNvSpPr txBox="true"/>
          <p:nvPr/>
        </p:nvSpPr>
        <p:spPr>
          <a:xfrm rot="0">
            <a:off x="12971461" y="5650884"/>
            <a:ext cx="541431" cy="617631"/>
          </a:xfrm>
          <a:prstGeom prst="rect">
            <a:avLst/>
          </a:prstGeom>
        </p:spPr>
        <p:txBody>
          <a:bodyPr anchor="t" rtlCol="false" tIns="0" lIns="0" bIns="0" rIns="0">
            <a:spAutoFit/>
          </a:bodyPr>
          <a:lstStyle/>
          <a:p>
            <a:pPr algn="l">
              <a:lnSpc>
                <a:spcPts val="4263"/>
              </a:lnSpc>
            </a:pPr>
            <a:r>
              <a:rPr lang="en-US" sz="3552">
                <a:solidFill>
                  <a:srgbClr val="2072B7"/>
                </a:solidFill>
                <a:latin typeface="Calibri (MS)"/>
                <a:ea typeface="Calibri (MS)"/>
                <a:cs typeface="Calibri (MS)"/>
                <a:sym typeface="Calibri (MS)"/>
              </a:rPr>
              <a:t>↓</a:t>
            </a:r>
          </a:p>
        </p:txBody>
      </p:sp>
      <p:grpSp>
        <p:nvGrpSpPr>
          <p:cNvPr name="Group 23" id="23"/>
          <p:cNvGrpSpPr/>
          <p:nvPr/>
        </p:nvGrpSpPr>
        <p:grpSpPr>
          <a:xfrm rot="0">
            <a:off x="8730252" y="6250468"/>
            <a:ext cx="8843373" cy="1173101"/>
            <a:chOff x="0" y="0"/>
            <a:chExt cx="9334500" cy="1238250"/>
          </a:xfrm>
        </p:grpSpPr>
        <p:sp>
          <p:nvSpPr>
            <p:cNvPr name="Freeform 24" id="24"/>
            <p:cNvSpPr/>
            <p:nvPr/>
          </p:nvSpPr>
          <p:spPr>
            <a:xfrm flipH="false" flipV="false" rot="0">
              <a:off x="0" y="0"/>
              <a:ext cx="9334500" cy="1238250"/>
            </a:xfrm>
            <a:custGeom>
              <a:avLst/>
              <a:gdLst/>
              <a:ahLst/>
              <a:cxnLst/>
              <a:rect r="r" b="b" t="t" l="l"/>
              <a:pathLst>
                <a:path h="1238250" w="9334500">
                  <a:moveTo>
                    <a:pt x="0" y="0"/>
                  </a:moveTo>
                  <a:lnTo>
                    <a:pt x="9334500" y="0"/>
                  </a:lnTo>
                  <a:lnTo>
                    <a:pt x="9334500" y="1238250"/>
                  </a:lnTo>
                  <a:lnTo>
                    <a:pt x="0" y="1238250"/>
                  </a:lnTo>
                  <a:close/>
                </a:path>
              </a:pathLst>
            </a:custGeom>
            <a:solidFill>
              <a:srgbClr val="2072B7"/>
            </a:solidFill>
          </p:spPr>
        </p:sp>
        <p:sp>
          <p:nvSpPr>
            <p:cNvPr name="TextBox 25" id="25"/>
            <p:cNvSpPr txBox="true"/>
            <p:nvPr/>
          </p:nvSpPr>
          <p:spPr>
            <a:xfrm>
              <a:off x="0" y="-85725"/>
              <a:ext cx="9334500" cy="1323975"/>
            </a:xfrm>
            <a:prstGeom prst="rect">
              <a:avLst/>
            </a:prstGeom>
          </p:spPr>
          <p:txBody>
            <a:bodyPr anchor="ctr" rtlCol="false" tIns="50800" lIns="50800" bIns="50800" rIns="50800"/>
            <a:lstStyle/>
            <a:p>
              <a:pPr algn="ctr">
                <a:lnSpc>
                  <a:spcPts val="4934"/>
                </a:lnSpc>
              </a:pPr>
              <a:r>
                <a:rPr lang="en-US" sz="4112">
                  <a:solidFill>
                    <a:srgbClr val="FFFFFF"/>
                  </a:solidFill>
                  <a:latin typeface="Calibri (MS)"/>
                  <a:ea typeface="Calibri (MS)"/>
                  <a:cs typeface="Calibri (MS)"/>
                  <a:sym typeface="Calibri (MS)"/>
                </a:rPr>
                <a:t>Đánh giá và ứng dụng</a:t>
              </a:r>
            </a:p>
          </p:txBody>
        </p:sp>
      </p:grpSp>
      <p:sp>
        <p:nvSpPr>
          <p:cNvPr name="TextBox 26" id="2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F72B6"/>
        </a:solidFill>
      </p:bgPr>
    </p:bg>
    <p:spTree>
      <p:nvGrpSpPr>
        <p:cNvPr id="1" name=""/>
        <p:cNvGrpSpPr/>
        <p:nvPr/>
      </p:nvGrpSpPr>
      <p:grpSpPr>
        <a:xfrm>
          <a:off x="0" y="0"/>
          <a:ext cx="0" cy="0"/>
          <a:chOff x="0" y="0"/>
          <a:chExt cx="0" cy="0"/>
        </a:xfrm>
      </p:grpSpPr>
      <p:grpSp>
        <p:nvGrpSpPr>
          <p:cNvPr name="Group 2" id="2"/>
          <p:cNvGrpSpPr/>
          <p:nvPr/>
        </p:nvGrpSpPr>
        <p:grpSpPr>
          <a:xfrm rot="0">
            <a:off x="0" y="-12668"/>
            <a:ext cx="18288000" cy="1070038"/>
            <a:chOff x="0" y="0"/>
            <a:chExt cx="24384000" cy="1426718"/>
          </a:xfrm>
        </p:grpSpPr>
        <p:sp>
          <p:nvSpPr>
            <p:cNvPr name="Freeform 3" id="3"/>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FFFFFF"/>
            </a:solidFill>
          </p:spPr>
        </p:sp>
      </p:grpSp>
      <p:grpSp>
        <p:nvGrpSpPr>
          <p:cNvPr name="Group 4" id="4"/>
          <p:cNvGrpSpPr/>
          <p:nvPr/>
        </p:nvGrpSpPr>
        <p:grpSpPr>
          <a:xfrm rot="0">
            <a:off x="477926" y="3334"/>
            <a:ext cx="4935598" cy="1027605"/>
            <a:chOff x="0" y="0"/>
            <a:chExt cx="6580797" cy="1370140"/>
          </a:xfrm>
        </p:grpSpPr>
        <p:sp>
          <p:nvSpPr>
            <p:cNvPr name="Freeform 5" id="5"/>
            <p:cNvSpPr/>
            <p:nvPr/>
          </p:nvSpPr>
          <p:spPr>
            <a:xfrm flipH="false" flipV="false" rot="0">
              <a:off x="0" y="0"/>
              <a:ext cx="6580759" cy="1370203"/>
            </a:xfrm>
            <a:custGeom>
              <a:avLst/>
              <a:gdLst/>
              <a:ahLst/>
              <a:cxnLst/>
              <a:rect r="r" b="b" t="t" l="l"/>
              <a:pathLst>
                <a:path h="1370203" w="6580759">
                  <a:moveTo>
                    <a:pt x="0" y="0"/>
                  </a:moveTo>
                  <a:lnTo>
                    <a:pt x="6580759" y="0"/>
                  </a:lnTo>
                  <a:lnTo>
                    <a:pt x="6580759" y="1370203"/>
                  </a:lnTo>
                  <a:lnTo>
                    <a:pt x="0" y="1370203"/>
                  </a:lnTo>
                  <a:lnTo>
                    <a:pt x="0" y="0"/>
                  </a:lnTo>
                  <a:close/>
                </a:path>
              </a:pathLst>
            </a:custGeom>
            <a:blipFill>
              <a:blip r:embed="rId2"/>
              <a:stretch>
                <a:fillRect l="0" t="0" r="-384" b="4"/>
              </a:stretch>
            </a:blipFill>
          </p:spPr>
        </p:sp>
      </p:grpSp>
      <p:grpSp>
        <p:nvGrpSpPr>
          <p:cNvPr name="Group 6" id="6"/>
          <p:cNvGrpSpPr/>
          <p:nvPr/>
        </p:nvGrpSpPr>
        <p:grpSpPr>
          <a:xfrm rot="0">
            <a:off x="2663190" y="10082212"/>
            <a:ext cx="15624810" cy="204845"/>
            <a:chOff x="0" y="0"/>
            <a:chExt cx="20833080" cy="273126"/>
          </a:xfrm>
        </p:grpSpPr>
        <p:sp>
          <p:nvSpPr>
            <p:cNvPr name="Freeform 7" id="7"/>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FFFFFF"/>
            </a:solidFill>
          </p:spPr>
        </p:sp>
      </p:grpSp>
      <p:grpSp>
        <p:nvGrpSpPr>
          <p:cNvPr name="Group 8" id="8"/>
          <p:cNvGrpSpPr/>
          <p:nvPr/>
        </p:nvGrpSpPr>
        <p:grpSpPr>
          <a:xfrm rot="0">
            <a:off x="2743238" y="10108759"/>
            <a:ext cx="15544724" cy="152705"/>
            <a:chOff x="0" y="0"/>
            <a:chExt cx="20726298" cy="203606"/>
          </a:xfrm>
        </p:grpSpPr>
        <p:sp>
          <p:nvSpPr>
            <p:cNvPr name="Freeform 9" id="9"/>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3"/>
              <a:stretch>
                <a:fillRect l="0" t="0" r="0" b="-35745"/>
              </a:stretch>
            </a:blipFill>
          </p:spPr>
        </p:sp>
      </p:grpSp>
      <p:sp>
        <p:nvSpPr>
          <p:cNvPr name="TextBox 10" id="10"/>
          <p:cNvSpPr txBox="true"/>
          <p:nvPr/>
        </p:nvSpPr>
        <p:spPr>
          <a:xfrm rot="0">
            <a:off x="302009" y="10040331"/>
            <a:ext cx="2254501" cy="228600"/>
          </a:xfrm>
          <a:prstGeom prst="rect">
            <a:avLst/>
          </a:prstGeom>
        </p:spPr>
        <p:txBody>
          <a:bodyPr anchor="t" rtlCol="false" tIns="0" lIns="0" bIns="0" rIns="0">
            <a:spAutoFit/>
          </a:bodyPr>
          <a:lstStyle/>
          <a:p>
            <a:pPr algn="l">
              <a:lnSpc>
                <a:spcPts val="1800"/>
              </a:lnSpc>
            </a:pPr>
            <a:r>
              <a:rPr lang="en-US" sz="1500">
                <a:solidFill>
                  <a:srgbClr val="FFFFFF"/>
                </a:solidFill>
                <a:latin typeface="Quicksand"/>
                <a:ea typeface="Quicksand"/>
                <a:cs typeface="Quicksand"/>
                <a:sym typeface="Quicksand"/>
              </a:rPr>
              <a:t>https://huit.edu.vn</a:t>
            </a:r>
          </a:p>
        </p:txBody>
      </p:sp>
      <p:sp>
        <p:nvSpPr>
          <p:cNvPr name="TextBox 11" id="11"/>
          <p:cNvSpPr txBox="true"/>
          <p:nvPr/>
        </p:nvSpPr>
        <p:spPr>
          <a:xfrm rot="0">
            <a:off x="3201001" y="4713732"/>
            <a:ext cx="11885999" cy="916686"/>
          </a:xfrm>
          <a:prstGeom prst="rect">
            <a:avLst/>
          </a:prstGeom>
        </p:spPr>
        <p:txBody>
          <a:bodyPr anchor="t" rtlCol="false" tIns="0" lIns="0" bIns="0" rIns="0">
            <a:spAutoFit/>
          </a:bodyPr>
          <a:lstStyle/>
          <a:p>
            <a:pPr algn="ctr">
              <a:lnSpc>
                <a:spcPts val="6911"/>
              </a:lnSpc>
            </a:pPr>
            <a:r>
              <a:rPr lang="en-US" b="true" sz="6399">
                <a:solidFill>
                  <a:srgbClr val="FFFFFF"/>
                </a:solidFill>
                <a:latin typeface="Quicksand Bold"/>
                <a:ea typeface="Quicksand Bold"/>
                <a:cs typeface="Quicksand Bold"/>
                <a:sym typeface="Quicksand Bold"/>
              </a:rPr>
              <a:t>CƠ SỞ LÝ THUYẾT</a:t>
            </a:r>
          </a:p>
        </p:txBody>
      </p:sp>
      <p:sp>
        <p:nvSpPr>
          <p:cNvPr name="TextBox 12" id="1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Noto Sans"/>
                <a:ea typeface="Noto Sans"/>
                <a:cs typeface="Noto Sans"/>
                <a:sym typeface="Noto Sans"/>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668"/>
            <a:ext cx="18288000" cy="1070038"/>
            <a:chOff x="0" y="0"/>
            <a:chExt cx="24384000" cy="1426718"/>
          </a:xfrm>
        </p:grpSpPr>
        <p:sp>
          <p:nvSpPr>
            <p:cNvPr name="Freeform 3" id="3"/>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2072B7"/>
            </a:solidFill>
          </p:spPr>
        </p:sp>
      </p:grpSp>
      <p:grpSp>
        <p:nvGrpSpPr>
          <p:cNvPr name="Group 4" id="4"/>
          <p:cNvGrpSpPr/>
          <p:nvPr/>
        </p:nvGrpSpPr>
        <p:grpSpPr>
          <a:xfrm rot="0">
            <a:off x="477926" y="3334"/>
            <a:ext cx="4935598" cy="1027605"/>
            <a:chOff x="0" y="0"/>
            <a:chExt cx="6580797" cy="1370140"/>
          </a:xfrm>
        </p:grpSpPr>
        <p:sp>
          <p:nvSpPr>
            <p:cNvPr name="Freeform 5" id="5"/>
            <p:cNvSpPr/>
            <p:nvPr/>
          </p:nvSpPr>
          <p:spPr>
            <a:xfrm flipH="false" flipV="false" rot="0">
              <a:off x="0" y="0"/>
              <a:ext cx="6580759" cy="1370203"/>
            </a:xfrm>
            <a:custGeom>
              <a:avLst/>
              <a:gdLst/>
              <a:ahLst/>
              <a:cxnLst/>
              <a:rect r="r" b="b" t="t" l="l"/>
              <a:pathLst>
                <a:path h="1370203" w="6580759">
                  <a:moveTo>
                    <a:pt x="0" y="0"/>
                  </a:moveTo>
                  <a:lnTo>
                    <a:pt x="6580759" y="0"/>
                  </a:lnTo>
                  <a:lnTo>
                    <a:pt x="6580759" y="1370203"/>
                  </a:lnTo>
                  <a:lnTo>
                    <a:pt x="0" y="1370203"/>
                  </a:lnTo>
                  <a:lnTo>
                    <a:pt x="0" y="0"/>
                  </a:lnTo>
                  <a:close/>
                </a:path>
              </a:pathLst>
            </a:custGeom>
            <a:blipFill>
              <a:blip r:embed="rId3"/>
              <a:stretch>
                <a:fillRect l="-191" t="0" r="-192" b="4"/>
              </a:stretch>
            </a:blipFill>
          </p:spPr>
        </p:sp>
      </p:grpSp>
      <p:grpSp>
        <p:nvGrpSpPr>
          <p:cNvPr name="Group 6" id="6"/>
          <p:cNvGrpSpPr/>
          <p:nvPr/>
        </p:nvGrpSpPr>
        <p:grpSpPr>
          <a:xfrm rot="0">
            <a:off x="2663190" y="10082212"/>
            <a:ext cx="15624810" cy="204845"/>
            <a:chOff x="0" y="0"/>
            <a:chExt cx="20833080" cy="273126"/>
          </a:xfrm>
        </p:grpSpPr>
        <p:sp>
          <p:nvSpPr>
            <p:cNvPr name="Freeform 7" id="7"/>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2072B7"/>
            </a:solidFill>
          </p:spPr>
        </p:sp>
      </p:grpSp>
      <p:grpSp>
        <p:nvGrpSpPr>
          <p:cNvPr name="Group 8" id="8"/>
          <p:cNvGrpSpPr/>
          <p:nvPr/>
        </p:nvGrpSpPr>
        <p:grpSpPr>
          <a:xfrm rot="0">
            <a:off x="2743238" y="10108759"/>
            <a:ext cx="15544724" cy="152705"/>
            <a:chOff x="0" y="0"/>
            <a:chExt cx="20726298" cy="203606"/>
          </a:xfrm>
        </p:grpSpPr>
        <p:sp>
          <p:nvSpPr>
            <p:cNvPr name="Freeform 9" id="9"/>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4"/>
              <a:stretch>
                <a:fillRect l="0" t="0" r="0" b="-35745"/>
              </a:stretch>
            </a:blipFill>
          </p:spPr>
        </p:sp>
      </p:grpSp>
      <p:sp>
        <p:nvSpPr>
          <p:cNvPr name="TextBox 10" id="10"/>
          <p:cNvSpPr txBox="true"/>
          <p:nvPr/>
        </p:nvSpPr>
        <p:spPr>
          <a:xfrm rot="0">
            <a:off x="302009" y="10002231"/>
            <a:ext cx="2254501" cy="327536"/>
          </a:xfrm>
          <a:prstGeom prst="rect">
            <a:avLst/>
          </a:prstGeom>
        </p:spPr>
        <p:txBody>
          <a:bodyPr anchor="t" rtlCol="false" tIns="0" lIns="0" bIns="0" rIns="0">
            <a:spAutoFit/>
          </a:bodyPr>
          <a:lstStyle/>
          <a:p>
            <a:pPr algn="l">
              <a:lnSpc>
                <a:spcPts val="1800"/>
              </a:lnSpc>
            </a:pPr>
            <a:r>
              <a:rPr lang="en-US" sz="1500">
                <a:solidFill>
                  <a:srgbClr val="0070C0"/>
                </a:solidFill>
                <a:latin typeface="Calibri (MS)"/>
                <a:ea typeface="Calibri (MS)"/>
                <a:cs typeface="Calibri (MS)"/>
                <a:sym typeface="Calibri (MS)"/>
              </a:rPr>
              <a:t>https://huit.edu.vn</a:t>
            </a:r>
          </a:p>
        </p:txBody>
      </p:sp>
      <p:sp>
        <p:nvSpPr>
          <p:cNvPr name="AutoShape 11" id="11"/>
          <p:cNvSpPr/>
          <p:nvPr/>
        </p:nvSpPr>
        <p:spPr>
          <a:xfrm>
            <a:off x="5715000" y="5693569"/>
            <a:ext cx="0" cy="428625"/>
          </a:xfrm>
          <a:prstGeom prst="line">
            <a:avLst/>
          </a:prstGeom>
          <a:ln cap="rnd" w="19050">
            <a:solidFill>
              <a:srgbClr val="2072B7"/>
            </a:solidFill>
            <a:prstDash val="solid"/>
            <a:headEnd type="none" len="sm" w="sm"/>
            <a:tailEnd type="triangle" len="med" w="lg"/>
          </a:ln>
        </p:spPr>
      </p:sp>
      <p:sp>
        <p:nvSpPr>
          <p:cNvPr name="AutoShape 12" id="12"/>
          <p:cNvSpPr/>
          <p:nvPr/>
        </p:nvSpPr>
        <p:spPr>
          <a:xfrm>
            <a:off x="5715000" y="4321969"/>
            <a:ext cx="0" cy="428625"/>
          </a:xfrm>
          <a:prstGeom prst="line">
            <a:avLst/>
          </a:prstGeom>
          <a:ln cap="rnd" w="19050">
            <a:solidFill>
              <a:srgbClr val="2072B7"/>
            </a:solidFill>
            <a:prstDash val="solid"/>
            <a:headEnd type="none" len="sm" w="sm"/>
            <a:tailEnd type="triangle" len="med" w="lg"/>
          </a:ln>
        </p:spPr>
      </p:sp>
      <p:sp>
        <p:nvSpPr>
          <p:cNvPr name="TextBox 13" id="13"/>
          <p:cNvSpPr txBox="true"/>
          <p:nvPr/>
        </p:nvSpPr>
        <p:spPr>
          <a:xfrm rot="0">
            <a:off x="857250" y="1466850"/>
            <a:ext cx="16573500" cy="666750"/>
          </a:xfrm>
          <a:prstGeom prst="rect">
            <a:avLst/>
          </a:prstGeom>
        </p:spPr>
        <p:txBody>
          <a:bodyPr anchor="t" rtlCol="false" tIns="0" lIns="0" bIns="0" rIns="0">
            <a:spAutoFit/>
          </a:bodyPr>
          <a:lstStyle/>
          <a:p>
            <a:pPr algn="l">
              <a:lnSpc>
                <a:spcPts val="5114"/>
              </a:lnSpc>
            </a:pPr>
            <a:r>
              <a:rPr lang="en-US" sz="4262" b="true">
                <a:solidFill>
                  <a:srgbClr val="2072B7"/>
                </a:solidFill>
                <a:latin typeface="Arial Bold"/>
                <a:ea typeface="Arial Bold"/>
                <a:cs typeface="Arial Bold"/>
                <a:sym typeface="Arial Bold"/>
              </a:rPr>
              <a:t>Logistic Regression</a:t>
            </a:r>
          </a:p>
        </p:txBody>
      </p:sp>
      <p:sp>
        <p:nvSpPr>
          <p:cNvPr name="TextBox 14" id="14"/>
          <p:cNvSpPr txBox="true"/>
          <p:nvPr/>
        </p:nvSpPr>
        <p:spPr>
          <a:xfrm rot="0">
            <a:off x="857250" y="2352675"/>
            <a:ext cx="16573500" cy="438150"/>
          </a:xfrm>
          <a:prstGeom prst="rect">
            <a:avLst/>
          </a:prstGeom>
        </p:spPr>
        <p:txBody>
          <a:bodyPr anchor="t" rtlCol="false" tIns="0" lIns="0" bIns="0" rIns="0">
            <a:spAutoFit/>
          </a:bodyPr>
          <a:lstStyle/>
          <a:p>
            <a:pPr algn="l">
              <a:lnSpc>
                <a:spcPts val="3359"/>
              </a:lnSpc>
            </a:pPr>
            <a:r>
              <a:rPr lang="en-US" sz="2799" b="true">
                <a:solidFill>
                  <a:srgbClr val="174C7E"/>
                </a:solidFill>
                <a:latin typeface="Arial Bold"/>
                <a:ea typeface="Arial Bold"/>
                <a:cs typeface="Arial Bold"/>
                <a:sym typeface="Arial Bold"/>
              </a:rPr>
              <a:t>Chuyển đặc trưng chuyến bay thành điểm và xác suất cho các lớp</a:t>
            </a:r>
          </a:p>
        </p:txBody>
      </p:sp>
      <p:sp>
        <p:nvSpPr>
          <p:cNvPr name="TextBox 15" id="15"/>
          <p:cNvSpPr txBox="true"/>
          <p:nvPr/>
        </p:nvSpPr>
        <p:spPr>
          <a:xfrm rot="0">
            <a:off x="11430000" y="3309938"/>
            <a:ext cx="6000750" cy="1390650"/>
          </a:xfrm>
          <a:prstGeom prst="rect">
            <a:avLst/>
          </a:prstGeom>
        </p:spPr>
        <p:txBody>
          <a:bodyPr anchor="t" rtlCol="false" tIns="0" lIns="0" bIns="0" rIns="0">
            <a:spAutoFit/>
          </a:bodyPr>
          <a:lstStyle/>
          <a:p>
            <a:pPr algn="l">
              <a:lnSpc>
                <a:spcPts val="3629"/>
              </a:lnSpc>
            </a:pPr>
            <a:r>
              <a:rPr lang="en-US" sz="3024">
                <a:solidFill>
                  <a:srgbClr val="202D39"/>
                </a:solidFill>
                <a:latin typeface="Arial"/>
                <a:ea typeface="Arial"/>
                <a:cs typeface="Arial"/>
                <a:sym typeface="Arial"/>
              </a:rPr>
              <a:t>Đầu vào: lịch bay, giờ bay, hãng và sân bay.</a:t>
            </a:r>
          </a:p>
          <a:p>
            <a:pPr algn="l">
              <a:lnSpc>
                <a:spcPts val="3629"/>
              </a:lnSpc>
            </a:pPr>
            <a:r>
              <a:rPr lang="en-US" sz="3024">
                <a:solidFill>
                  <a:srgbClr val="202D39"/>
                </a:solidFill>
                <a:latin typeface="Arial"/>
                <a:ea typeface="Arial"/>
                <a:cs typeface="Arial"/>
                <a:sym typeface="Arial"/>
              </a:rPr>
              <a:t>Đầu ra: một trong sáu nhãn.</a:t>
            </a:r>
          </a:p>
        </p:txBody>
      </p:sp>
      <p:sp>
        <p:nvSpPr>
          <p:cNvPr name="TextBox 16" id="16"/>
          <p:cNvSpPr txBox="true"/>
          <p:nvPr/>
        </p:nvSpPr>
        <p:spPr>
          <a:xfrm rot="0">
            <a:off x="11430000" y="4938712"/>
            <a:ext cx="6000750" cy="933450"/>
          </a:xfrm>
          <a:prstGeom prst="rect">
            <a:avLst/>
          </a:prstGeom>
        </p:spPr>
        <p:txBody>
          <a:bodyPr anchor="t" rtlCol="false" tIns="0" lIns="0" bIns="0" rIns="0">
            <a:spAutoFit/>
          </a:bodyPr>
          <a:lstStyle/>
          <a:p>
            <a:pPr algn="l">
              <a:lnSpc>
                <a:spcPts val="3629"/>
              </a:lnSpc>
            </a:pPr>
            <a:r>
              <a:rPr lang="en-US" sz="3024">
                <a:solidFill>
                  <a:srgbClr val="202D39"/>
                </a:solidFill>
                <a:latin typeface="Arial"/>
                <a:ea typeface="Arial"/>
                <a:cs typeface="Arial"/>
                <a:sym typeface="Arial"/>
              </a:rPr>
              <a:t>Ưu điểm: nhẹ, tạo được mốc so sánh nhanh.</a:t>
            </a:r>
          </a:p>
        </p:txBody>
      </p:sp>
      <p:sp>
        <p:nvSpPr>
          <p:cNvPr name="TextBox 17" id="17"/>
          <p:cNvSpPr txBox="true"/>
          <p:nvPr/>
        </p:nvSpPr>
        <p:spPr>
          <a:xfrm rot="0">
            <a:off x="11430000" y="6567488"/>
            <a:ext cx="6000750" cy="933450"/>
          </a:xfrm>
          <a:prstGeom prst="rect">
            <a:avLst/>
          </a:prstGeom>
        </p:spPr>
        <p:txBody>
          <a:bodyPr anchor="t" rtlCol="false" tIns="0" lIns="0" bIns="0" rIns="0">
            <a:spAutoFit/>
          </a:bodyPr>
          <a:lstStyle/>
          <a:p>
            <a:pPr algn="l">
              <a:lnSpc>
                <a:spcPts val="3629"/>
              </a:lnSpc>
            </a:pPr>
            <a:r>
              <a:rPr lang="en-US" sz="3024">
                <a:solidFill>
                  <a:srgbClr val="202D39"/>
                </a:solidFill>
                <a:latin typeface="Arial"/>
                <a:ea typeface="Arial"/>
                <a:cs typeface="Arial"/>
                <a:sym typeface="Arial"/>
              </a:rPr>
              <a:t>Hạn chế: ranh giới tuyến tính khó nắm các tương tác phức tạp.</a:t>
            </a:r>
          </a:p>
        </p:txBody>
      </p:sp>
      <p:grpSp>
        <p:nvGrpSpPr>
          <p:cNvPr name="Group 18" id="18"/>
          <p:cNvGrpSpPr/>
          <p:nvPr/>
        </p:nvGrpSpPr>
        <p:grpSpPr>
          <a:xfrm rot="0">
            <a:off x="921544" y="3378994"/>
            <a:ext cx="9586912" cy="942975"/>
            <a:chOff x="0" y="0"/>
            <a:chExt cx="12782550" cy="1257300"/>
          </a:xfrm>
        </p:grpSpPr>
        <p:sp>
          <p:nvSpPr>
            <p:cNvPr name="Freeform 19" id="19"/>
            <p:cNvSpPr/>
            <p:nvPr/>
          </p:nvSpPr>
          <p:spPr>
            <a:xfrm flipH="false" flipV="false" rot="0">
              <a:off x="0" y="0"/>
              <a:ext cx="12782550" cy="1257300"/>
            </a:xfrm>
            <a:custGeom>
              <a:avLst/>
              <a:gdLst/>
              <a:ahLst/>
              <a:cxnLst/>
              <a:rect r="r" b="b" t="t" l="l"/>
              <a:pathLst>
                <a:path h="1257300" w="12782550">
                  <a:moveTo>
                    <a:pt x="0" y="0"/>
                  </a:moveTo>
                  <a:lnTo>
                    <a:pt x="12782550" y="0"/>
                  </a:lnTo>
                  <a:lnTo>
                    <a:pt x="12782550" y="1257300"/>
                  </a:lnTo>
                  <a:lnTo>
                    <a:pt x="0" y="1257300"/>
                  </a:lnTo>
                  <a:close/>
                </a:path>
              </a:pathLst>
            </a:custGeom>
            <a:solidFill>
              <a:srgbClr val="2072B7"/>
            </a:solidFill>
            <a:ln w="14288" cap="sq">
              <a:solidFill>
                <a:srgbClr val="2072B7"/>
              </a:solidFill>
              <a:prstDash val="solid"/>
              <a:miter/>
            </a:ln>
          </p:spPr>
        </p:sp>
        <p:sp>
          <p:nvSpPr>
            <p:cNvPr name="TextBox 20" id="20"/>
            <p:cNvSpPr txBox="true"/>
            <p:nvPr/>
          </p:nvSpPr>
          <p:spPr>
            <a:xfrm>
              <a:off x="0" y="-19050"/>
              <a:ext cx="12782550" cy="1276350"/>
            </a:xfrm>
            <a:prstGeom prst="rect">
              <a:avLst/>
            </a:prstGeom>
          </p:spPr>
          <p:txBody>
            <a:bodyPr anchor="ctr" rtlCol="false" tIns="50800" lIns="50800" bIns="50800" rIns="50800"/>
            <a:lstStyle/>
            <a:p>
              <a:pPr algn="ctr">
                <a:lnSpc>
                  <a:spcPts val="3359"/>
                </a:lnSpc>
              </a:pPr>
              <a:r>
                <a:rPr lang="en-US" sz="2799">
                  <a:solidFill>
                    <a:srgbClr val="FFFFFF"/>
                  </a:solidFill>
                  <a:latin typeface="Arial"/>
                  <a:ea typeface="Arial"/>
                  <a:cs typeface="Arial"/>
                  <a:sym typeface="Arial"/>
                </a:rPr>
                <a:t>Đặc trưng chuyến bay đã mã hóa</a:t>
              </a:r>
            </a:p>
          </p:txBody>
        </p:sp>
      </p:grpSp>
      <p:grpSp>
        <p:nvGrpSpPr>
          <p:cNvPr name="Group 21" id="21"/>
          <p:cNvGrpSpPr/>
          <p:nvPr/>
        </p:nvGrpSpPr>
        <p:grpSpPr>
          <a:xfrm rot="0">
            <a:off x="921544" y="4750594"/>
            <a:ext cx="9586912" cy="942975"/>
            <a:chOff x="0" y="0"/>
            <a:chExt cx="12782550" cy="1257300"/>
          </a:xfrm>
        </p:grpSpPr>
        <p:sp>
          <p:nvSpPr>
            <p:cNvPr name="Freeform 22" id="22"/>
            <p:cNvSpPr/>
            <p:nvPr/>
          </p:nvSpPr>
          <p:spPr>
            <a:xfrm flipH="false" flipV="false" rot="0">
              <a:off x="0" y="0"/>
              <a:ext cx="12782550" cy="1257300"/>
            </a:xfrm>
            <a:custGeom>
              <a:avLst/>
              <a:gdLst/>
              <a:ahLst/>
              <a:cxnLst/>
              <a:rect r="r" b="b" t="t" l="l"/>
              <a:pathLst>
                <a:path h="1257300" w="12782550">
                  <a:moveTo>
                    <a:pt x="0" y="0"/>
                  </a:moveTo>
                  <a:lnTo>
                    <a:pt x="12782550" y="0"/>
                  </a:lnTo>
                  <a:lnTo>
                    <a:pt x="12782550" y="1257300"/>
                  </a:lnTo>
                  <a:lnTo>
                    <a:pt x="0" y="1257300"/>
                  </a:lnTo>
                  <a:close/>
                </a:path>
              </a:pathLst>
            </a:custGeom>
            <a:solidFill>
              <a:srgbClr val="2072B7"/>
            </a:solidFill>
            <a:ln w="14288" cap="sq">
              <a:solidFill>
                <a:srgbClr val="2072B7"/>
              </a:solidFill>
              <a:prstDash val="solid"/>
              <a:miter/>
            </a:ln>
          </p:spPr>
        </p:sp>
        <p:sp>
          <p:nvSpPr>
            <p:cNvPr name="TextBox 23" id="23"/>
            <p:cNvSpPr txBox="true"/>
            <p:nvPr/>
          </p:nvSpPr>
          <p:spPr>
            <a:xfrm>
              <a:off x="0" y="-19050"/>
              <a:ext cx="12782550" cy="1276350"/>
            </a:xfrm>
            <a:prstGeom prst="rect">
              <a:avLst/>
            </a:prstGeom>
          </p:spPr>
          <p:txBody>
            <a:bodyPr anchor="ctr" rtlCol="false" tIns="50800" lIns="50800" bIns="50800" rIns="50800"/>
            <a:lstStyle/>
            <a:p>
              <a:pPr algn="ctr">
                <a:lnSpc>
                  <a:spcPts val="3359"/>
                </a:lnSpc>
              </a:pPr>
              <a:r>
                <a:rPr lang="en-US" sz="2799">
                  <a:solidFill>
                    <a:srgbClr val="FFFFFF"/>
                  </a:solidFill>
                  <a:latin typeface="Arial"/>
                  <a:ea typeface="Arial"/>
                  <a:cs typeface="Arial"/>
                  <a:sym typeface="Arial"/>
                </a:rPr>
                <a:t>Tính điểm và xác suất 6 lớp</a:t>
              </a:r>
            </a:p>
          </p:txBody>
        </p:sp>
      </p:grpSp>
      <p:grpSp>
        <p:nvGrpSpPr>
          <p:cNvPr name="Group 24" id="24"/>
          <p:cNvGrpSpPr/>
          <p:nvPr/>
        </p:nvGrpSpPr>
        <p:grpSpPr>
          <a:xfrm rot="0">
            <a:off x="921544" y="6122194"/>
            <a:ext cx="9586912" cy="942975"/>
            <a:chOff x="0" y="0"/>
            <a:chExt cx="12782550" cy="1257300"/>
          </a:xfrm>
        </p:grpSpPr>
        <p:sp>
          <p:nvSpPr>
            <p:cNvPr name="Freeform 25" id="25"/>
            <p:cNvSpPr/>
            <p:nvPr/>
          </p:nvSpPr>
          <p:spPr>
            <a:xfrm flipH="false" flipV="false" rot="0">
              <a:off x="0" y="0"/>
              <a:ext cx="12782550" cy="1257300"/>
            </a:xfrm>
            <a:custGeom>
              <a:avLst/>
              <a:gdLst/>
              <a:ahLst/>
              <a:cxnLst/>
              <a:rect r="r" b="b" t="t" l="l"/>
              <a:pathLst>
                <a:path h="1257300" w="12782550">
                  <a:moveTo>
                    <a:pt x="0" y="0"/>
                  </a:moveTo>
                  <a:lnTo>
                    <a:pt x="12782550" y="0"/>
                  </a:lnTo>
                  <a:lnTo>
                    <a:pt x="12782550" y="1257300"/>
                  </a:lnTo>
                  <a:lnTo>
                    <a:pt x="0" y="1257300"/>
                  </a:lnTo>
                  <a:close/>
                </a:path>
              </a:pathLst>
            </a:custGeom>
            <a:solidFill>
              <a:srgbClr val="2072B7"/>
            </a:solidFill>
            <a:ln w="14288" cap="sq">
              <a:solidFill>
                <a:srgbClr val="2072B7"/>
              </a:solidFill>
              <a:prstDash val="solid"/>
              <a:miter/>
            </a:ln>
          </p:spPr>
        </p:sp>
        <p:sp>
          <p:nvSpPr>
            <p:cNvPr name="TextBox 26" id="26"/>
            <p:cNvSpPr txBox="true"/>
            <p:nvPr/>
          </p:nvSpPr>
          <p:spPr>
            <a:xfrm>
              <a:off x="0" y="-19050"/>
              <a:ext cx="12782550" cy="1276350"/>
            </a:xfrm>
            <a:prstGeom prst="rect">
              <a:avLst/>
            </a:prstGeom>
          </p:spPr>
          <p:txBody>
            <a:bodyPr anchor="ctr" rtlCol="false" tIns="50800" lIns="50800" bIns="50800" rIns="50800"/>
            <a:lstStyle/>
            <a:p>
              <a:pPr algn="ctr">
                <a:lnSpc>
                  <a:spcPts val="3359"/>
                </a:lnSpc>
              </a:pPr>
              <a:r>
                <a:rPr lang="en-US" sz="2799">
                  <a:solidFill>
                    <a:srgbClr val="FFFFFF"/>
                  </a:solidFill>
                  <a:latin typeface="Arial"/>
                  <a:ea typeface="Arial"/>
                  <a:cs typeface="Arial"/>
                  <a:sym typeface="Arial"/>
                </a:rPr>
                <a:t>Chọn lớp có xác suất cao nhất</a:t>
              </a:r>
            </a:p>
          </p:txBody>
        </p:sp>
      </p:grpSp>
      <p:sp>
        <p:nvSpPr>
          <p:cNvPr name="TextBox 27" id="27"/>
          <p:cNvSpPr txBox="true"/>
          <p:nvPr/>
        </p:nvSpPr>
        <p:spPr>
          <a:xfrm rot="0">
            <a:off x="928688" y="7700963"/>
            <a:ext cx="9049550" cy="1657350"/>
          </a:xfrm>
          <a:prstGeom prst="rect">
            <a:avLst/>
          </a:prstGeom>
        </p:spPr>
        <p:txBody>
          <a:bodyPr anchor="t" rtlCol="false" tIns="0" lIns="0" bIns="0" rIns="0">
            <a:spAutoFit/>
          </a:bodyPr>
          <a:lstStyle/>
          <a:p>
            <a:pPr algn="l">
              <a:lnSpc>
                <a:spcPts val="4334"/>
              </a:lnSpc>
            </a:pPr>
            <a:r>
              <a:rPr lang="en-US" sz="3612" b="true">
                <a:solidFill>
                  <a:srgbClr val="2072B7"/>
                </a:solidFill>
                <a:latin typeface="Arial Bold"/>
                <a:ea typeface="Arial Bold"/>
                <a:cs typeface="Arial Bold"/>
                <a:sym typeface="Arial Bold"/>
              </a:rPr>
              <a:t>Minh họa: OnTime 55%, Carrier 20%, các lớp khác 25%.</a:t>
            </a:r>
          </a:p>
          <a:p>
            <a:pPr algn="l">
              <a:lnSpc>
                <a:spcPts val="4334"/>
              </a:lnSpc>
            </a:pPr>
            <a:r>
              <a:rPr lang="en-US" sz="3612" b="true">
                <a:solidFill>
                  <a:srgbClr val="2072B7"/>
                </a:solidFill>
                <a:latin typeface="Arial Bold"/>
                <a:ea typeface="Arial Bold"/>
                <a:cs typeface="Arial Bold"/>
                <a:sym typeface="Arial Bold"/>
              </a:rPr>
              <a:t>Dự đoán minh họa: OnTime.</a:t>
            </a:r>
          </a:p>
        </p:txBody>
      </p:sp>
      <p:sp>
        <p:nvSpPr>
          <p:cNvPr name="TextBox 28" id="2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668"/>
            <a:ext cx="18288000" cy="1070038"/>
            <a:chOff x="0" y="0"/>
            <a:chExt cx="24384000" cy="1426718"/>
          </a:xfrm>
        </p:grpSpPr>
        <p:sp>
          <p:nvSpPr>
            <p:cNvPr name="Freeform 3" id="3"/>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2072B7"/>
            </a:solidFill>
          </p:spPr>
        </p:sp>
      </p:grpSp>
      <p:grpSp>
        <p:nvGrpSpPr>
          <p:cNvPr name="Group 4" id="4"/>
          <p:cNvGrpSpPr/>
          <p:nvPr/>
        </p:nvGrpSpPr>
        <p:grpSpPr>
          <a:xfrm rot="0">
            <a:off x="477926" y="3334"/>
            <a:ext cx="4935598" cy="1027605"/>
            <a:chOff x="0" y="0"/>
            <a:chExt cx="6580797" cy="1370140"/>
          </a:xfrm>
        </p:grpSpPr>
        <p:sp>
          <p:nvSpPr>
            <p:cNvPr name="Freeform 5" id="5"/>
            <p:cNvSpPr/>
            <p:nvPr/>
          </p:nvSpPr>
          <p:spPr>
            <a:xfrm flipH="false" flipV="false" rot="0">
              <a:off x="0" y="0"/>
              <a:ext cx="6580759" cy="1370203"/>
            </a:xfrm>
            <a:custGeom>
              <a:avLst/>
              <a:gdLst/>
              <a:ahLst/>
              <a:cxnLst/>
              <a:rect r="r" b="b" t="t" l="l"/>
              <a:pathLst>
                <a:path h="1370203" w="6580759">
                  <a:moveTo>
                    <a:pt x="0" y="0"/>
                  </a:moveTo>
                  <a:lnTo>
                    <a:pt x="6580759" y="0"/>
                  </a:lnTo>
                  <a:lnTo>
                    <a:pt x="6580759" y="1370203"/>
                  </a:lnTo>
                  <a:lnTo>
                    <a:pt x="0" y="1370203"/>
                  </a:lnTo>
                  <a:lnTo>
                    <a:pt x="0" y="0"/>
                  </a:lnTo>
                  <a:close/>
                </a:path>
              </a:pathLst>
            </a:custGeom>
            <a:blipFill>
              <a:blip r:embed="rId3"/>
              <a:stretch>
                <a:fillRect l="-191" t="0" r="-192" b="4"/>
              </a:stretch>
            </a:blipFill>
          </p:spPr>
        </p:sp>
      </p:grpSp>
      <p:grpSp>
        <p:nvGrpSpPr>
          <p:cNvPr name="Group 6" id="6"/>
          <p:cNvGrpSpPr/>
          <p:nvPr/>
        </p:nvGrpSpPr>
        <p:grpSpPr>
          <a:xfrm rot="0">
            <a:off x="2663190" y="10082212"/>
            <a:ext cx="15624810" cy="204845"/>
            <a:chOff x="0" y="0"/>
            <a:chExt cx="20833080" cy="273126"/>
          </a:xfrm>
        </p:grpSpPr>
        <p:sp>
          <p:nvSpPr>
            <p:cNvPr name="Freeform 7" id="7"/>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2072B7"/>
            </a:solidFill>
          </p:spPr>
        </p:sp>
      </p:grpSp>
      <p:grpSp>
        <p:nvGrpSpPr>
          <p:cNvPr name="Group 8" id="8"/>
          <p:cNvGrpSpPr/>
          <p:nvPr/>
        </p:nvGrpSpPr>
        <p:grpSpPr>
          <a:xfrm rot="0">
            <a:off x="2743238" y="10108759"/>
            <a:ext cx="15544724" cy="152705"/>
            <a:chOff x="0" y="0"/>
            <a:chExt cx="20726298" cy="203606"/>
          </a:xfrm>
        </p:grpSpPr>
        <p:sp>
          <p:nvSpPr>
            <p:cNvPr name="Freeform 9" id="9"/>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4"/>
              <a:stretch>
                <a:fillRect l="0" t="0" r="0" b="-35745"/>
              </a:stretch>
            </a:blipFill>
          </p:spPr>
        </p:sp>
      </p:grpSp>
      <p:sp>
        <p:nvSpPr>
          <p:cNvPr name="TextBox 10" id="10"/>
          <p:cNvSpPr txBox="true"/>
          <p:nvPr/>
        </p:nvSpPr>
        <p:spPr>
          <a:xfrm rot="0">
            <a:off x="302009" y="10002231"/>
            <a:ext cx="2254501" cy="327536"/>
          </a:xfrm>
          <a:prstGeom prst="rect">
            <a:avLst/>
          </a:prstGeom>
        </p:spPr>
        <p:txBody>
          <a:bodyPr anchor="t" rtlCol="false" tIns="0" lIns="0" bIns="0" rIns="0">
            <a:spAutoFit/>
          </a:bodyPr>
          <a:lstStyle/>
          <a:p>
            <a:pPr algn="l">
              <a:lnSpc>
                <a:spcPts val="1800"/>
              </a:lnSpc>
            </a:pPr>
            <a:r>
              <a:rPr lang="en-US" sz="1500">
                <a:solidFill>
                  <a:srgbClr val="0070C0"/>
                </a:solidFill>
                <a:latin typeface="Calibri (MS)"/>
                <a:ea typeface="Calibri (MS)"/>
                <a:cs typeface="Calibri (MS)"/>
                <a:sym typeface="Calibri (MS)"/>
              </a:rPr>
              <a:t>https://huit.edu.vn</a:t>
            </a:r>
          </a:p>
        </p:txBody>
      </p:sp>
      <p:sp>
        <p:nvSpPr>
          <p:cNvPr name="AutoShape 11" id="11"/>
          <p:cNvSpPr/>
          <p:nvPr/>
        </p:nvSpPr>
        <p:spPr>
          <a:xfrm rot="1507380">
            <a:off x="9854841" y="6598444"/>
            <a:ext cx="2793121" cy="19050"/>
          </a:xfrm>
          <a:prstGeom prst="line">
            <a:avLst/>
          </a:prstGeom>
          <a:ln cap="rnd" w="19050">
            <a:solidFill>
              <a:srgbClr val="2072B7"/>
            </a:solidFill>
            <a:prstDash val="solid"/>
            <a:headEnd type="none" len="sm" w="sm"/>
            <a:tailEnd type="triangle" len="med" w="lg"/>
          </a:ln>
        </p:spPr>
      </p:sp>
      <p:sp>
        <p:nvSpPr>
          <p:cNvPr name="AutoShape 12" id="12"/>
          <p:cNvSpPr/>
          <p:nvPr/>
        </p:nvSpPr>
        <p:spPr>
          <a:xfrm rot="7796460">
            <a:off x="8745693" y="6598444"/>
            <a:ext cx="1546698" cy="19050"/>
          </a:xfrm>
          <a:prstGeom prst="line">
            <a:avLst/>
          </a:prstGeom>
          <a:ln cap="rnd" w="19050">
            <a:solidFill>
              <a:srgbClr val="2072B7"/>
            </a:solidFill>
            <a:prstDash val="solid"/>
            <a:headEnd type="none" len="sm" w="sm"/>
            <a:tailEnd type="triangle" len="med" w="lg"/>
          </a:ln>
        </p:spPr>
      </p:sp>
      <p:sp>
        <p:nvSpPr>
          <p:cNvPr name="AutoShape 13" id="13"/>
          <p:cNvSpPr/>
          <p:nvPr/>
        </p:nvSpPr>
        <p:spPr>
          <a:xfrm rot="1087080">
            <a:off x="12263533" y="4712494"/>
            <a:ext cx="3262122" cy="19050"/>
          </a:xfrm>
          <a:prstGeom prst="line">
            <a:avLst/>
          </a:prstGeom>
          <a:ln cap="rnd" w="19050">
            <a:solidFill>
              <a:srgbClr val="2072B7"/>
            </a:solidFill>
            <a:prstDash val="solid"/>
            <a:headEnd type="none" len="sm" w="sm"/>
            <a:tailEnd type="triangle" len="med" w="lg"/>
          </a:ln>
        </p:spPr>
      </p:sp>
      <p:sp>
        <p:nvSpPr>
          <p:cNvPr name="AutoShape 14" id="14"/>
          <p:cNvSpPr/>
          <p:nvPr/>
        </p:nvSpPr>
        <p:spPr>
          <a:xfrm rot="9506160">
            <a:off x="9897170" y="4676775"/>
            <a:ext cx="2565587" cy="19050"/>
          </a:xfrm>
          <a:prstGeom prst="line">
            <a:avLst/>
          </a:prstGeom>
          <a:ln cap="rnd" w="19050">
            <a:solidFill>
              <a:srgbClr val="2072B7"/>
            </a:solidFill>
            <a:prstDash val="solid"/>
            <a:headEnd type="none" len="sm" w="sm"/>
            <a:tailEnd type="triangle" len="med" w="lg"/>
          </a:ln>
        </p:spPr>
      </p:sp>
      <p:sp>
        <p:nvSpPr>
          <p:cNvPr name="TextBox 15" id="15"/>
          <p:cNvSpPr txBox="true"/>
          <p:nvPr/>
        </p:nvSpPr>
        <p:spPr>
          <a:xfrm rot="0">
            <a:off x="857250" y="1466850"/>
            <a:ext cx="16573500" cy="819150"/>
          </a:xfrm>
          <a:prstGeom prst="rect">
            <a:avLst/>
          </a:prstGeom>
        </p:spPr>
        <p:txBody>
          <a:bodyPr anchor="t" rtlCol="false" tIns="0" lIns="0" bIns="0" rIns="0">
            <a:spAutoFit/>
          </a:bodyPr>
          <a:lstStyle/>
          <a:p>
            <a:pPr algn="l">
              <a:lnSpc>
                <a:spcPts val="4995"/>
              </a:lnSpc>
            </a:pPr>
            <a:r>
              <a:rPr lang="en-US" sz="4162" b="true">
                <a:solidFill>
                  <a:srgbClr val="2072B7"/>
                </a:solidFill>
                <a:latin typeface="Arial Bold"/>
                <a:ea typeface="Arial Bold"/>
                <a:cs typeface="Arial Bold"/>
                <a:sym typeface="Arial Bold"/>
              </a:rPr>
              <a:t>Decision Tree</a:t>
            </a:r>
          </a:p>
        </p:txBody>
      </p:sp>
      <p:sp>
        <p:nvSpPr>
          <p:cNvPr name="TextBox 16" id="16"/>
          <p:cNvSpPr txBox="true"/>
          <p:nvPr/>
        </p:nvSpPr>
        <p:spPr>
          <a:xfrm rot="0">
            <a:off x="857250" y="2352675"/>
            <a:ext cx="16573500" cy="647700"/>
          </a:xfrm>
          <a:prstGeom prst="rect">
            <a:avLst/>
          </a:prstGeom>
        </p:spPr>
        <p:txBody>
          <a:bodyPr anchor="t" rtlCol="false" tIns="0" lIns="0" bIns="0" rIns="0">
            <a:spAutoFit/>
          </a:bodyPr>
          <a:lstStyle/>
          <a:p>
            <a:pPr algn="l">
              <a:lnSpc>
                <a:spcPts val="3240"/>
              </a:lnSpc>
            </a:pPr>
            <a:r>
              <a:rPr lang="en-US" sz="2700" b="true">
                <a:solidFill>
                  <a:srgbClr val="174C7E"/>
                </a:solidFill>
                <a:latin typeface="Arial Bold"/>
                <a:ea typeface="Arial Bold"/>
                <a:cs typeface="Arial Bold"/>
                <a:sym typeface="Arial Bold"/>
              </a:rPr>
              <a:t>Đi qua các câu hỏi điều kiện để tới nhãn ở nút lá</a:t>
            </a:r>
          </a:p>
        </p:txBody>
      </p:sp>
      <p:sp>
        <p:nvSpPr>
          <p:cNvPr name="TextBox 17" id="17"/>
          <p:cNvSpPr txBox="true"/>
          <p:nvPr/>
        </p:nvSpPr>
        <p:spPr>
          <a:xfrm rot="0">
            <a:off x="857250" y="3309938"/>
            <a:ext cx="6072188" cy="1376362"/>
          </a:xfrm>
          <a:prstGeom prst="rect">
            <a:avLst/>
          </a:prstGeom>
        </p:spPr>
        <p:txBody>
          <a:bodyPr anchor="t" rtlCol="false" tIns="0" lIns="0" bIns="0" rIns="0">
            <a:spAutoFit/>
          </a:bodyPr>
          <a:lstStyle/>
          <a:p>
            <a:pPr algn="l">
              <a:lnSpc>
                <a:spcPts val="3510"/>
              </a:lnSpc>
            </a:pPr>
            <a:r>
              <a:rPr lang="en-US" sz="2925">
                <a:solidFill>
                  <a:srgbClr val="202D39"/>
                </a:solidFill>
                <a:latin typeface="Arial"/>
                <a:ea typeface="Arial"/>
                <a:cs typeface="Arial"/>
                <a:sym typeface="Arial"/>
              </a:rPr>
              <a:t>Đầu vào: lịch bay, giờ bay, hãng và sân bay.</a:t>
            </a:r>
          </a:p>
          <a:p>
            <a:pPr algn="l">
              <a:lnSpc>
                <a:spcPts val="3510"/>
              </a:lnSpc>
            </a:pPr>
            <a:r>
              <a:rPr lang="en-US" sz="2925">
                <a:solidFill>
                  <a:srgbClr val="202D39"/>
                </a:solidFill>
                <a:latin typeface="Arial"/>
                <a:ea typeface="Arial"/>
                <a:cs typeface="Arial"/>
                <a:sym typeface="Arial"/>
              </a:rPr>
              <a:t>Đầu ra: một trong sáu nhãn.</a:t>
            </a:r>
          </a:p>
        </p:txBody>
      </p:sp>
      <p:sp>
        <p:nvSpPr>
          <p:cNvPr name="TextBox 18" id="18"/>
          <p:cNvSpPr txBox="true"/>
          <p:nvPr/>
        </p:nvSpPr>
        <p:spPr>
          <a:xfrm rot="0">
            <a:off x="857250" y="4938712"/>
            <a:ext cx="6072188" cy="1376362"/>
          </a:xfrm>
          <a:prstGeom prst="rect">
            <a:avLst/>
          </a:prstGeom>
        </p:spPr>
        <p:txBody>
          <a:bodyPr anchor="t" rtlCol="false" tIns="0" lIns="0" bIns="0" rIns="0">
            <a:spAutoFit/>
          </a:bodyPr>
          <a:lstStyle/>
          <a:p>
            <a:pPr algn="l">
              <a:lnSpc>
                <a:spcPts val="3510"/>
              </a:lnSpc>
            </a:pPr>
            <a:r>
              <a:rPr lang="en-US" sz="2925">
                <a:solidFill>
                  <a:srgbClr val="202D39"/>
                </a:solidFill>
                <a:latin typeface="Arial"/>
                <a:ea typeface="Arial"/>
                <a:cs typeface="Arial"/>
                <a:sym typeface="Arial"/>
              </a:rPr>
              <a:t>Ưu điểm: đường đi dễ giải thích cho người xem.</a:t>
            </a:r>
          </a:p>
        </p:txBody>
      </p:sp>
      <p:sp>
        <p:nvSpPr>
          <p:cNvPr name="TextBox 19" id="19"/>
          <p:cNvSpPr txBox="true"/>
          <p:nvPr/>
        </p:nvSpPr>
        <p:spPr>
          <a:xfrm rot="0">
            <a:off x="857250" y="6567488"/>
            <a:ext cx="6072188" cy="1376362"/>
          </a:xfrm>
          <a:prstGeom prst="rect">
            <a:avLst/>
          </a:prstGeom>
        </p:spPr>
        <p:txBody>
          <a:bodyPr anchor="t" rtlCol="false" tIns="0" lIns="0" bIns="0" rIns="0">
            <a:spAutoFit/>
          </a:bodyPr>
          <a:lstStyle/>
          <a:p>
            <a:pPr algn="l">
              <a:lnSpc>
                <a:spcPts val="3510"/>
              </a:lnSpc>
            </a:pPr>
            <a:r>
              <a:rPr lang="en-US" sz="2925">
                <a:solidFill>
                  <a:srgbClr val="202D39"/>
                </a:solidFill>
                <a:latin typeface="Arial"/>
                <a:ea typeface="Arial"/>
                <a:cs typeface="Arial"/>
                <a:sym typeface="Arial"/>
              </a:rPr>
              <a:t>Hạn chế: một cây dễ học lệch về lớp đông hoặc quá khớp.</a:t>
            </a:r>
          </a:p>
        </p:txBody>
      </p:sp>
      <p:grpSp>
        <p:nvGrpSpPr>
          <p:cNvPr name="Group 20" id="20"/>
          <p:cNvGrpSpPr/>
          <p:nvPr/>
        </p:nvGrpSpPr>
        <p:grpSpPr>
          <a:xfrm rot="0">
            <a:off x="10279856" y="3336131"/>
            <a:ext cx="4157662" cy="900112"/>
            <a:chOff x="0" y="0"/>
            <a:chExt cx="5543550" cy="1200150"/>
          </a:xfrm>
        </p:grpSpPr>
        <p:sp>
          <p:nvSpPr>
            <p:cNvPr name="Freeform 21" id="21"/>
            <p:cNvSpPr/>
            <p:nvPr/>
          </p:nvSpPr>
          <p:spPr>
            <a:xfrm flipH="false" flipV="false" rot="0">
              <a:off x="0" y="0"/>
              <a:ext cx="5543550" cy="1200150"/>
            </a:xfrm>
            <a:custGeom>
              <a:avLst/>
              <a:gdLst/>
              <a:ahLst/>
              <a:cxnLst/>
              <a:rect r="r" b="b" t="t" l="l"/>
              <a:pathLst>
                <a:path h="1200150" w="5543550">
                  <a:moveTo>
                    <a:pt x="0" y="0"/>
                  </a:moveTo>
                  <a:lnTo>
                    <a:pt x="5543550" y="0"/>
                  </a:lnTo>
                  <a:lnTo>
                    <a:pt x="5543550" y="1200150"/>
                  </a:lnTo>
                  <a:lnTo>
                    <a:pt x="0" y="1200150"/>
                  </a:lnTo>
                  <a:close/>
                </a:path>
              </a:pathLst>
            </a:custGeom>
            <a:solidFill>
              <a:srgbClr val="2072B7"/>
            </a:solidFill>
            <a:ln w="14288" cap="sq">
              <a:solidFill>
                <a:srgbClr val="2072B7"/>
              </a:solidFill>
              <a:prstDash val="solid"/>
              <a:miter/>
            </a:ln>
          </p:spPr>
        </p:sp>
        <p:sp>
          <p:nvSpPr>
            <p:cNvPr name="TextBox 22" id="22"/>
            <p:cNvSpPr txBox="true"/>
            <p:nvPr/>
          </p:nvSpPr>
          <p:spPr>
            <a:xfrm>
              <a:off x="0" y="-19050"/>
              <a:ext cx="5543550" cy="1219200"/>
            </a:xfrm>
            <a:prstGeom prst="rect">
              <a:avLst/>
            </a:prstGeom>
          </p:spPr>
          <p:txBody>
            <a:bodyPr anchor="ctr" rtlCol="false" tIns="50800" lIns="50800" bIns="50800" rIns="50800"/>
            <a:lstStyle/>
            <a:p>
              <a:pPr algn="ctr">
                <a:lnSpc>
                  <a:spcPts val="3240"/>
                </a:lnSpc>
              </a:pPr>
              <a:r>
                <a:rPr lang="en-US" sz="2700">
                  <a:solidFill>
                    <a:srgbClr val="FFFFFF"/>
                  </a:solidFill>
                  <a:latin typeface="Arial"/>
                  <a:ea typeface="Arial"/>
                  <a:cs typeface="Arial"/>
                  <a:sym typeface="Arial"/>
                </a:rPr>
                <a:t>Giờ đi ≥ 17?</a:t>
              </a:r>
            </a:p>
          </p:txBody>
        </p:sp>
      </p:grpSp>
      <p:grpSp>
        <p:nvGrpSpPr>
          <p:cNvPr name="Group 23" id="23"/>
          <p:cNvGrpSpPr/>
          <p:nvPr/>
        </p:nvGrpSpPr>
        <p:grpSpPr>
          <a:xfrm rot="0">
            <a:off x="7850981" y="5136356"/>
            <a:ext cx="4300538" cy="900112"/>
            <a:chOff x="0" y="0"/>
            <a:chExt cx="5734050" cy="1200150"/>
          </a:xfrm>
        </p:grpSpPr>
        <p:sp>
          <p:nvSpPr>
            <p:cNvPr name="Freeform 24" id="24"/>
            <p:cNvSpPr/>
            <p:nvPr/>
          </p:nvSpPr>
          <p:spPr>
            <a:xfrm flipH="false" flipV="false" rot="0">
              <a:off x="0" y="0"/>
              <a:ext cx="5734050" cy="1200150"/>
            </a:xfrm>
            <a:custGeom>
              <a:avLst/>
              <a:gdLst/>
              <a:ahLst/>
              <a:cxnLst/>
              <a:rect r="r" b="b" t="t" l="l"/>
              <a:pathLst>
                <a:path h="1200150" w="5734050">
                  <a:moveTo>
                    <a:pt x="0" y="0"/>
                  </a:moveTo>
                  <a:lnTo>
                    <a:pt x="5734050" y="0"/>
                  </a:lnTo>
                  <a:lnTo>
                    <a:pt x="5734050" y="1200150"/>
                  </a:lnTo>
                  <a:lnTo>
                    <a:pt x="0" y="1200150"/>
                  </a:lnTo>
                  <a:close/>
                </a:path>
              </a:pathLst>
            </a:custGeom>
            <a:solidFill>
              <a:srgbClr val="EDF5FB"/>
            </a:solidFill>
            <a:ln w="14288" cap="sq">
              <a:solidFill>
                <a:srgbClr val="B9D2E7"/>
              </a:solidFill>
              <a:prstDash val="solid"/>
              <a:miter/>
            </a:ln>
          </p:spPr>
        </p:sp>
        <p:sp>
          <p:nvSpPr>
            <p:cNvPr name="TextBox 25" id="25"/>
            <p:cNvSpPr txBox="true"/>
            <p:nvPr/>
          </p:nvSpPr>
          <p:spPr>
            <a:xfrm>
              <a:off x="0" y="-19050"/>
              <a:ext cx="5734050" cy="1219200"/>
            </a:xfrm>
            <a:prstGeom prst="rect">
              <a:avLst/>
            </a:prstGeom>
          </p:spPr>
          <p:txBody>
            <a:bodyPr anchor="ctr" rtlCol="false" tIns="50800" lIns="50800" bIns="50800" rIns="50800"/>
            <a:lstStyle/>
            <a:p>
              <a:pPr algn="ctr">
                <a:lnSpc>
                  <a:spcPts val="3104"/>
                </a:lnSpc>
              </a:pPr>
              <a:r>
                <a:rPr lang="en-US" sz="2587">
                  <a:solidFill>
                    <a:srgbClr val="202D39"/>
                  </a:solidFill>
                  <a:latin typeface="Arial"/>
                  <a:ea typeface="Arial"/>
                  <a:cs typeface="Arial"/>
                  <a:sym typeface="Arial"/>
                </a:rPr>
                <a:t>Khoảng cách &gt; 1.000?</a:t>
              </a:r>
            </a:p>
          </p:txBody>
        </p:sp>
      </p:grpSp>
      <p:grpSp>
        <p:nvGrpSpPr>
          <p:cNvPr name="Group 26" id="26"/>
          <p:cNvGrpSpPr/>
          <p:nvPr/>
        </p:nvGrpSpPr>
        <p:grpSpPr>
          <a:xfrm rot="0">
            <a:off x="13708856" y="5207794"/>
            <a:ext cx="3443288" cy="900112"/>
            <a:chOff x="0" y="0"/>
            <a:chExt cx="4591050" cy="1200150"/>
          </a:xfrm>
        </p:grpSpPr>
        <p:sp>
          <p:nvSpPr>
            <p:cNvPr name="Freeform 27" id="27"/>
            <p:cNvSpPr/>
            <p:nvPr/>
          </p:nvSpPr>
          <p:spPr>
            <a:xfrm flipH="false" flipV="false" rot="0">
              <a:off x="0" y="0"/>
              <a:ext cx="4591050" cy="1200150"/>
            </a:xfrm>
            <a:custGeom>
              <a:avLst/>
              <a:gdLst/>
              <a:ahLst/>
              <a:cxnLst/>
              <a:rect r="r" b="b" t="t" l="l"/>
              <a:pathLst>
                <a:path h="1200150" w="4591050">
                  <a:moveTo>
                    <a:pt x="0" y="0"/>
                  </a:moveTo>
                  <a:lnTo>
                    <a:pt x="4591050" y="0"/>
                  </a:lnTo>
                  <a:lnTo>
                    <a:pt x="4591050" y="1200150"/>
                  </a:lnTo>
                  <a:lnTo>
                    <a:pt x="0" y="1200150"/>
                  </a:lnTo>
                  <a:close/>
                </a:path>
              </a:pathLst>
            </a:custGeom>
            <a:solidFill>
              <a:srgbClr val="2072B7"/>
            </a:solidFill>
            <a:ln w="14288" cap="sq">
              <a:solidFill>
                <a:srgbClr val="2072B7"/>
              </a:solidFill>
              <a:prstDash val="solid"/>
              <a:miter/>
            </a:ln>
          </p:spPr>
        </p:sp>
        <p:sp>
          <p:nvSpPr>
            <p:cNvPr name="TextBox 28" id="28"/>
            <p:cNvSpPr txBox="true"/>
            <p:nvPr/>
          </p:nvSpPr>
          <p:spPr>
            <a:xfrm>
              <a:off x="0" y="-19050"/>
              <a:ext cx="4591050" cy="1219200"/>
            </a:xfrm>
            <a:prstGeom prst="rect">
              <a:avLst/>
            </a:prstGeom>
          </p:spPr>
          <p:txBody>
            <a:bodyPr anchor="ctr" rtlCol="false" tIns="50800" lIns="50800" bIns="50800" rIns="50800"/>
            <a:lstStyle/>
            <a:p>
              <a:pPr algn="ctr">
                <a:lnSpc>
                  <a:spcPts val="3240"/>
                </a:lnSpc>
              </a:pPr>
              <a:r>
                <a:rPr lang="en-US" sz="2700">
                  <a:solidFill>
                    <a:srgbClr val="FFFFFF"/>
                  </a:solidFill>
                  <a:latin typeface="Arial"/>
                  <a:ea typeface="Arial"/>
                  <a:cs typeface="Arial"/>
                  <a:sym typeface="Arial"/>
                </a:rPr>
                <a:t>Lá: Carrier</a:t>
              </a:r>
            </a:p>
          </p:txBody>
        </p:sp>
      </p:grpSp>
      <p:sp>
        <p:nvSpPr>
          <p:cNvPr name="TextBox 29" id="29"/>
          <p:cNvSpPr txBox="true"/>
          <p:nvPr/>
        </p:nvSpPr>
        <p:spPr>
          <a:xfrm rot="0">
            <a:off x="9872662" y="4362450"/>
            <a:ext cx="928688" cy="438150"/>
          </a:xfrm>
          <a:prstGeom prst="rect">
            <a:avLst/>
          </a:prstGeom>
        </p:spPr>
        <p:txBody>
          <a:bodyPr anchor="t" rtlCol="false" tIns="0" lIns="0" bIns="0" rIns="0">
            <a:spAutoFit/>
          </a:bodyPr>
          <a:lstStyle/>
          <a:p>
            <a:pPr algn="l">
              <a:lnSpc>
                <a:spcPts val="2970"/>
              </a:lnSpc>
            </a:pPr>
            <a:r>
              <a:rPr lang="en-US" sz="2475" b="true">
                <a:solidFill>
                  <a:srgbClr val="2072B7"/>
                </a:solidFill>
                <a:latin typeface="Arial Bold"/>
                <a:ea typeface="Arial Bold"/>
                <a:cs typeface="Arial Bold"/>
                <a:sym typeface="Arial Bold"/>
              </a:rPr>
              <a:t>Có</a:t>
            </a:r>
          </a:p>
        </p:txBody>
      </p:sp>
      <p:sp>
        <p:nvSpPr>
          <p:cNvPr name="TextBox 30" id="30"/>
          <p:cNvSpPr txBox="true"/>
          <p:nvPr/>
        </p:nvSpPr>
        <p:spPr>
          <a:xfrm rot="0">
            <a:off x="14716125" y="4376737"/>
            <a:ext cx="1357312" cy="438150"/>
          </a:xfrm>
          <a:prstGeom prst="rect">
            <a:avLst/>
          </a:prstGeom>
        </p:spPr>
        <p:txBody>
          <a:bodyPr anchor="t" rtlCol="false" tIns="0" lIns="0" bIns="0" rIns="0">
            <a:spAutoFit/>
          </a:bodyPr>
          <a:lstStyle/>
          <a:p>
            <a:pPr algn="l">
              <a:lnSpc>
                <a:spcPts val="2970"/>
              </a:lnSpc>
            </a:pPr>
            <a:r>
              <a:rPr lang="en-US" sz="2475" b="true">
                <a:solidFill>
                  <a:srgbClr val="2072B7"/>
                </a:solidFill>
                <a:latin typeface="Arial Bold"/>
                <a:ea typeface="Arial Bold"/>
                <a:cs typeface="Arial Bold"/>
                <a:sym typeface="Arial Bold"/>
              </a:rPr>
              <a:t>Không</a:t>
            </a:r>
          </a:p>
        </p:txBody>
      </p:sp>
      <p:grpSp>
        <p:nvGrpSpPr>
          <p:cNvPr name="Group 31" id="31"/>
          <p:cNvGrpSpPr/>
          <p:nvPr/>
        </p:nvGrpSpPr>
        <p:grpSpPr>
          <a:xfrm rot="0">
            <a:off x="7708106" y="7179469"/>
            <a:ext cx="2657475" cy="900112"/>
            <a:chOff x="0" y="0"/>
            <a:chExt cx="3543300" cy="1200150"/>
          </a:xfrm>
        </p:grpSpPr>
        <p:sp>
          <p:nvSpPr>
            <p:cNvPr name="Freeform 32" id="32"/>
            <p:cNvSpPr/>
            <p:nvPr/>
          </p:nvSpPr>
          <p:spPr>
            <a:xfrm flipH="false" flipV="false" rot="0">
              <a:off x="0" y="0"/>
              <a:ext cx="3543300" cy="1200150"/>
            </a:xfrm>
            <a:custGeom>
              <a:avLst/>
              <a:gdLst/>
              <a:ahLst/>
              <a:cxnLst/>
              <a:rect r="r" b="b" t="t" l="l"/>
              <a:pathLst>
                <a:path h="1200150" w="3543300">
                  <a:moveTo>
                    <a:pt x="0" y="0"/>
                  </a:moveTo>
                  <a:lnTo>
                    <a:pt x="3543300" y="0"/>
                  </a:lnTo>
                  <a:lnTo>
                    <a:pt x="3543300" y="1200150"/>
                  </a:lnTo>
                  <a:lnTo>
                    <a:pt x="0" y="1200150"/>
                  </a:lnTo>
                  <a:close/>
                </a:path>
              </a:pathLst>
            </a:custGeom>
            <a:solidFill>
              <a:srgbClr val="2072B7"/>
            </a:solidFill>
            <a:ln w="14288" cap="sq">
              <a:solidFill>
                <a:srgbClr val="2072B7"/>
              </a:solidFill>
              <a:prstDash val="solid"/>
              <a:miter/>
            </a:ln>
          </p:spPr>
        </p:sp>
        <p:sp>
          <p:nvSpPr>
            <p:cNvPr name="TextBox 33" id="33"/>
            <p:cNvSpPr txBox="true"/>
            <p:nvPr/>
          </p:nvSpPr>
          <p:spPr>
            <a:xfrm>
              <a:off x="0" y="-19050"/>
              <a:ext cx="3543300" cy="1219200"/>
            </a:xfrm>
            <a:prstGeom prst="rect">
              <a:avLst/>
            </a:prstGeom>
          </p:spPr>
          <p:txBody>
            <a:bodyPr anchor="ctr" rtlCol="false" tIns="50800" lIns="50800" bIns="50800" rIns="50800"/>
            <a:lstStyle/>
            <a:p>
              <a:pPr algn="ctr">
                <a:lnSpc>
                  <a:spcPts val="3240"/>
                </a:lnSpc>
              </a:pPr>
              <a:r>
                <a:rPr lang="en-US" sz="2700">
                  <a:solidFill>
                    <a:srgbClr val="FFFFFF"/>
                  </a:solidFill>
                  <a:latin typeface="Arial"/>
                  <a:ea typeface="Arial"/>
                  <a:cs typeface="Arial"/>
                  <a:sym typeface="Arial"/>
                </a:rPr>
                <a:t>Lá: NAS</a:t>
              </a:r>
            </a:p>
          </p:txBody>
        </p:sp>
      </p:grpSp>
      <p:grpSp>
        <p:nvGrpSpPr>
          <p:cNvPr name="Group 34" id="34"/>
          <p:cNvGrpSpPr/>
          <p:nvPr/>
        </p:nvGrpSpPr>
        <p:grpSpPr>
          <a:xfrm rot="0">
            <a:off x="11137106" y="7179469"/>
            <a:ext cx="2728912" cy="900112"/>
            <a:chOff x="0" y="0"/>
            <a:chExt cx="3638550" cy="1200150"/>
          </a:xfrm>
        </p:grpSpPr>
        <p:sp>
          <p:nvSpPr>
            <p:cNvPr name="Freeform 35" id="35"/>
            <p:cNvSpPr/>
            <p:nvPr/>
          </p:nvSpPr>
          <p:spPr>
            <a:xfrm flipH="false" flipV="false" rot="0">
              <a:off x="0" y="0"/>
              <a:ext cx="3638550" cy="1200150"/>
            </a:xfrm>
            <a:custGeom>
              <a:avLst/>
              <a:gdLst/>
              <a:ahLst/>
              <a:cxnLst/>
              <a:rect r="r" b="b" t="t" l="l"/>
              <a:pathLst>
                <a:path h="1200150" w="3638550">
                  <a:moveTo>
                    <a:pt x="0" y="0"/>
                  </a:moveTo>
                  <a:lnTo>
                    <a:pt x="3638550" y="0"/>
                  </a:lnTo>
                  <a:lnTo>
                    <a:pt x="3638550" y="1200150"/>
                  </a:lnTo>
                  <a:lnTo>
                    <a:pt x="0" y="1200150"/>
                  </a:lnTo>
                  <a:close/>
                </a:path>
              </a:pathLst>
            </a:custGeom>
            <a:solidFill>
              <a:srgbClr val="2072B7"/>
            </a:solidFill>
            <a:ln w="14288" cap="sq">
              <a:solidFill>
                <a:srgbClr val="2072B7"/>
              </a:solidFill>
              <a:prstDash val="solid"/>
              <a:miter/>
            </a:ln>
          </p:spPr>
        </p:sp>
        <p:sp>
          <p:nvSpPr>
            <p:cNvPr name="TextBox 36" id="36"/>
            <p:cNvSpPr txBox="true"/>
            <p:nvPr/>
          </p:nvSpPr>
          <p:spPr>
            <a:xfrm>
              <a:off x="0" y="-19050"/>
              <a:ext cx="3638550" cy="1219200"/>
            </a:xfrm>
            <a:prstGeom prst="rect">
              <a:avLst/>
            </a:prstGeom>
          </p:spPr>
          <p:txBody>
            <a:bodyPr anchor="ctr" rtlCol="false" tIns="50800" lIns="50800" bIns="50800" rIns="50800"/>
            <a:lstStyle/>
            <a:p>
              <a:pPr algn="ctr">
                <a:lnSpc>
                  <a:spcPts val="3240"/>
                </a:lnSpc>
              </a:pPr>
              <a:r>
                <a:rPr lang="en-US" sz="2700">
                  <a:solidFill>
                    <a:srgbClr val="FFFFFF"/>
                  </a:solidFill>
                  <a:latin typeface="Arial"/>
                  <a:ea typeface="Arial"/>
                  <a:cs typeface="Arial"/>
                  <a:sym typeface="Arial"/>
                </a:rPr>
                <a:t>Lá: OnTime</a:t>
              </a:r>
            </a:p>
          </p:txBody>
        </p:sp>
      </p:grpSp>
      <p:sp>
        <p:nvSpPr>
          <p:cNvPr name="TextBox 37" id="37"/>
          <p:cNvSpPr txBox="true"/>
          <p:nvPr/>
        </p:nvSpPr>
        <p:spPr>
          <a:xfrm rot="0">
            <a:off x="7929562" y="6462713"/>
            <a:ext cx="1000125" cy="438150"/>
          </a:xfrm>
          <a:prstGeom prst="rect">
            <a:avLst/>
          </a:prstGeom>
        </p:spPr>
        <p:txBody>
          <a:bodyPr anchor="t" rtlCol="false" tIns="0" lIns="0" bIns="0" rIns="0">
            <a:spAutoFit/>
          </a:bodyPr>
          <a:lstStyle/>
          <a:p>
            <a:pPr algn="l">
              <a:lnSpc>
                <a:spcPts val="2970"/>
              </a:lnSpc>
            </a:pPr>
            <a:r>
              <a:rPr lang="en-US" sz="2475" b="true">
                <a:solidFill>
                  <a:srgbClr val="2072B7"/>
                </a:solidFill>
                <a:latin typeface="Arial Bold"/>
                <a:ea typeface="Arial Bold"/>
                <a:cs typeface="Arial Bold"/>
                <a:sym typeface="Arial Bold"/>
              </a:rPr>
              <a:t>Có</a:t>
            </a:r>
          </a:p>
        </p:txBody>
      </p:sp>
      <p:sp>
        <p:nvSpPr>
          <p:cNvPr name="TextBox 38" id="38"/>
          <p:cNvSpPr txBox="true"/>
          <p:nvPr/>
        </p:nvSpPr>
        <p:spPr>
          <a:xfrm rot="0">
            <a:off x="12015788" y="6462713"/>
            <a:ext cx="1428750" cy="438150"/>
          </a:xfrm>
          <a:prstGeom prst="rect">
            <a:avLst/>
          </a:prstGeom>
        </p:spPr>
        <p:txBody>
          <a:bodyPr anchor="t" rtlCol="false" tIns="0" lIns="0" bIns="0" rIns="0">
            <a:spAutoFit/>
          </a:bodyPr>
          <a:lstStyle/>
          <a:p>
            <a:pPr algn="l">
              <a:lnSpc>
                <a:spcPts val="2970"/>
              </a:lnSpc>
            </a:pPr>
            <a:r>
              <a:rPr lang="en-US" sz="2475" b="true">
                <a:solidFill>
                  <a:srgbClr val="2072B7"/>
                </a:solidFill>
                <a:latin typeface="Arial Bold"/>
                <a:ea typeface="Arial Bold"/>
                <a:cs typeface="Arial Bold"/>
                <a:sym typeface="Arial Bold"/>
              </a:rPr>
              <a:t>Không</a:t>
            </a:r>
          </a:p>
        </p:txBody>
      </p:sp>
      <p:sp>
        <p:nvSpPr>
          <p:cNvPr name="TextBox 39" id="3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668"/>
            <a:ext cx="18288000" cy="1070038"/>
            <a:chOff x="0" y="0"/>
            <a:chExt cx="24384000" cy="1426718"/>
          </a:xfrm>
        </p:grpSpPr>
        <p:sp>
          <p:nvSpPr>
            <p:cNvPr name="Freeform 3" id="3"/>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2072B7"/>
            </a:solidFill>
          </p:spPr>
        </p:sp>
      </p:grpSp>
      <p:grpSp>
        <p:nvGrpSpPr>
          <p:cNvPr name="Group 4" id="4"/>
          <p:cNvGrpSpPr/>
          <p:nvPr/>
        </p:nvGrpSpPr>
        <p:grpSpPr>
          <a:xfrm rot="0">
            <a:off x="477926" y="3334"/>
            <a:ext cx="4935598" cy="1027605"/>
            <a:chOff x="0" y="0"/>
            <a:chExt cx="6580797" cy="1370140"/>
          </a:xfrm>
        </p:grpSpPr>
        <p:sp>
          <p:nvSpPr>
            <p:cNvPr name="Freeform 5" id="5"/>
            <p:cNvSpPr/>
            <p:nvPr/>
          </p:nvSpPr>
          <p:spPr>
            <a:xfrm flipH="false" flipV="false" rot="0">
              <a:off x="0" y="0"/>
              <a:ext cx="6580759" cy="1370203"/>
            </a:xfrm>
            <a:custGeom>
              <a:avLst/>
              <a:gdLst/>
              <a:ahLst/>
              <a:cxnLst/>
              <a:rect r="r" b="b" t="t" l="l"/>
              <a:pathLst>
                <a:path h="1370203" w="6580759">
                  <a:moveTo>
                    <a:pt x="0" y="0"/>
                  </a:moveTo>
                  <a:lnTo>
                    <a:pt x="6580759" y="0"/>
                  </a:lnTo>
                  <a:lnTo>
                    <a:pt x="6580759" y="1370203"/>
                  </a:lnTo>
                  <a:lnTo>
                    <a:pt x="0" y="1370203"/>
                  </a:lnTo>
                  <a:lnTo>
                    <a:pt x="0" y="0"/>
                  </a:lnTo>
                  <a:close/>
                </a:path>
              </a:pathLst>
            </a:custGeom>
            <a:blipFill>
              <a:blip r:embed="rId3"/>
              <a:stretch>
                <a:fillRect l="-191" t="0" r="-192" b="4"/>
              </a:stretch>
            </a:blipFill>
          </p:spPr>
        </p:sp>
      </p:grpSp>
      <p:grpSp>
        <p:nvGrpSpPr>
          <p:cNvPr name="Group 6" id="6"/>
          <p:cNvGrpSpPr/>
          <p:nvPr/>
        </p:nvGrpSpPr>
        <p:grpSpPr>
          <a:xfrm rot="0">
            <a:off x="2663190" y="10082212"/>
            <a:ext cx="15624810" cy="204845"/>
            <a:chOff x="0" y="0"/>
            <a:chExt cx="20833080" cy="273126"/>
          </a:xfrm>
        </p:grpSpPr>
        <p:sp>
          <p:nvSpPr>
            <p:cNvPr name="Freeform 7" id="7"/>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2072B7"/>
            </a:solidFill>
          </p:spPr>
        </p:sp>
      </p:grpSp>
      <p:grpSp>
        <p:nvGrpSpPr>
          <p:cNvPr name="Group 8" id="8"/>
          <p:cNvGrpSpPr/>
          <p:nvPr/>
        </p:nvGrpSpPr>
        <p:grpSpPr>
          <a:xfrm rot="0">
            <a:off x="2743238" y="10108759"/>
            <a:ext cx="15544724" cy="152705"/>
            <a:chOff x="0" y="0"/>
            <a:chExt cx="20726298" cy="203606"/>
          </a:xfrm>
        </p:grpSpPr>
        <p:sp>
          <p:nvSpPr>
            <p:cNvPr name="Freeform 9" id="9"/>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4"/>
              <a:stretch>
                <a:fillRect l="0" t="0" r="0" b="-35745"/>
              </a:stretch>
            </a:blipFill>
          </p:spPr>
        </p:sp>
      </p:grpSp>
      <p:sp>
        <p:nvSpPr>
          <p:cNvPr name="TextBox 10" id="10"/>
          <p:cNvSpPr txBox="true"/>
          <p:nvPr/>
        </p:nvSpPr>
        <p:spPr>
          <a:xfrm rot="0">
            <a:off x="302009" y="10002231"/>
            <a:ext cx="2254501" cy="327536"/>
          </a:xfrm>
          <a:prstGeom prst="rect">
            <a:avLst/>
          </a:prstGeom>
        </p:spPr>
        <p:txBody>
          <a:bodyPr anchor="t" rtlCol="false" tIns="0" lIns="0" bIns="0" rIns="0">
            <a:spAutoFit/>
          </a:bodyPr>
          <a:lstStyle/>
          <a:p>
            <a:pPr algn="l">
              <a:lnSpc>
                <a:spcPts val="1800"/>
              </a:lnSpc>
            </a:pPr>
            <a:r>
              <a:rPr lang="en-US" sz="1500">
                <a:solidFill>
                  <a:srgbClr val="0070C0"/>
                </a:solidFill>
                <a:latin typeface="Calibri (MS)"/>
                <a:ea typeface="Calibri (MS)"/>
                <a:cs typeface="Calibri (MS)"/>
                <a:sym typeface="Calibri (MS)"/>
              </a:rPr>
              <a:t>https://huit.edu.vn</a:t>
            </a:r>
          </a:p>
        </p:txBody>
      </p:sp>
      <p:sp>
        <p:nvSpPr>
          <p:cNvPr name="AutoShape 11" id="11"/>
          <p:cNvSpPr/>
          <p:nvPr/>
        </p:nvSpPr>
        <p:spPr>
          <a:xfrm rot="9658440">
            <a:off x="5604948" y="7005638"/>
            <a:ext cx="3506238" cy="19050"/>
          </a:xfrm>
          <a:prstGeom prst="line">
            <a:avLst/>
          </a:prstGeom>
          <a:ln cap="rnd" w="19050">
            <a:solidFill>
              <a:srgbClr val="2072B7"/>
            </a:solidFill>
            <a:prstDash val="solid"/>
            <a:headEnd type="none" len="sm" w="sm"/>
            <a:tailEnd type="triangle" len="med" w="lg"/>
          </a:ln>
        </p:spPr>
      </p:sp>
      <p:sp>
        <p:nvSpPr>
          <p:cNvPr name="AutoShape 12" id="12"/>
          <p:cNvSpPr/>
          <p:nvPr/>
        </p:nvSpPr>
        <p:spPr>
          <a:xfrm rot="5314080">
            <a:off x="5143319" y="7005638"/>
            <a:ext cx="1143352" cy="19050"/>
          </a:xfrm>
          <a:prstGeom prst="line">
            <a:avLst/>
          </a:prstGeom>
          <a:ln cap="rnd" w="19050">
            <a:solidFill>
              <a:srgbClr val="2072B7"/>
            </a:solidFill>
            <a:prstDash val="solid"/>
            <a:headEnd type="none" len="sm" w="sm"/>
            <a:tailEnd type="triangle" len="med" w="lg"/>
          </a:ln>
        </p:spPr>
      </p:sp>
      <p:sp>
        <p:nvSpPr>
          <p:cNvPr name="AutoShape 13" id="13"/>
          <p:cNvSpPr/>
          <p:nvPr/>
        </p:nvSpPr>
        <p:spPr>
          <a:xfrm rot="1141560">
            <a:off x="2318823" y="7005638"/>
            <a:ext cx="3506238" cy="19050"/>
          </a:xfrm>
          <a:prstGeom prst="line">
            <a:avLst/>
          </a:prstGeom>
          <a:ln cap="rnd" w="19050">
            <a:solidFill>
              <a:srgbClr val="2072B7"/>
            </a:solidFill>
            <a:prstDash val="solid"/>
            <a:headEnd type="none" len="sm" w="sm"/>
            <a:tailEnd type="triangle" len="med" w="lg"/>
          </a:ln>
        </p:spPr>
      </p:sp>
      <p:sp>
        <p:nvSpPr>
          <p:cNvPr name="AutoShape 14" id="14"/>
          <p:cNvSpPr/>
          <p:nvPr/>
        </p:nvSpPr>
        <p:spPr>
          <a:xfrm rot="1074900">
            <a:off x="5616264" y="4698206"/>
            <a:ext cx="3483597" cy="19050"/>
          </a:xfrm>
          <a:prstGeom prst="line">
            <a:avLst/>
          </a:prstGeom>
          <a:ln cap="rnd" w="19050">
            <a:solidFill>
              <a:srgbClr val="2072B7"/>
            </a:solidFill>
            <a:prstDash val="solid"/>
            <a:headEnd type="none" len="sm" w="sm"/>
            <a:tailEnd type="triangle" len="med" w="lg"/>
          </a:ln>
        </p:spPr>
      </p:sp>
      <p:sp>
        <p:nvSpPr>
          <p:cNvPr name="AutoShape 15" id="15"/>
          <p:cNvSpPr/>
          <p:nvPr/>
        </p:nvSpPr>
        <p:spPr>
          <a:xfrm rot="5308320">
            <a:off x="5179028" y="4698206"/>
            <a:ext cx="1071944" cy="19050"/>
          </a:xfrm>
          <a:prstGeom prst="line">
            <a:avLst/>
          </a:prstGeom>
          <a:ln cap="rnd" w="19050">
            <a:solidFill>
              <a:srgbClr val="2072B7"/>
            </a:solidFill>
            <a:prstDash val="solid"/>
            <a:headEnd type="none" len="sm" w="sm"/>
            <a:tailEnd type="triangle" len="med" w="lg"/>
          </a:ln>
        </p:spPr>
      </p:sp>
      <p:sp>
        <p:nvSpPr>
          <p:cNvPr name="AutoShape 16" id="16"/>
          <p:cNvSpPr/>
          <p:nvPr/>
        </p:nvSpPr>
        <p:spPr>
          <a:xfrm rot="9725100">
            <a:off x="2330139" y="4698206"/>
            <a:ext cx="3483597" cy="19050"/>
          </a:xfrm>
          <a:prstGeom prst="line">
            <a:avLst/>
          </a:prstGeom>
          <a:ln cap="rnd" w="19050">
            <a:solidFill>
              <a:srgbClr val="2072B7"/>
            </a:solidFill>
            <a:prstDash val="solid"/>
            <a:headEnd type="none" len="sm" w="sm"/>
            <a:tailEnd type="triangle" len="med" w="lg"/>
          </a:ln>
        </p:spPr>
      </p:sp>
      <p:sp>
        <p:nvSpPr>
          <p:cNvPr name="TextBox 17" id="17"/>
          <p:cNvSpPr txBox="true"/>
          <p:nvPr/>
        </p:nvSpPr>
        <p:spPr>
          <a:xfrm rot="0">
            <a:off x="857250" y="1466850"/>
            <a:ext cx="16573500" cy="819150"/>
          </a:xfrm>
          <a:prstGeom prst="rect">
            <a:avLst/>
          </a:prstGeom>
        </p:spPr>
        <p:txBody>
          <a:bodyPr anchor="t" rtlCol="false" tIns="0" lIns="0" bIns="0" rIns="0">
            <a:spAutoFit/>
          </a:bodyPr>
          <a:lstStyle/>
          <a:p>
            <a:pPr algn="l">
              <a:lnSpc>
                <a:spcPts val="4995"/>
              </a:lnSpc>
            </a:pPr>
            <a:r>
              <a:rPr lang="en-US" sz="4162" b="true">
                <a:solidFill>
                  <a:srgbClr val="2072B7"/>
                </a:solidFill>
                <a:latin typeface="Arial Bold"/>
                <a:ea typeface="Arial Bold"/>
                <a:cs typeface="Arial Bold"/>
                <a:sym typeface="Arial Bold"/>
              </a:rPr>
              <a:t>Random Forest</a:t>
            </a:r>
          </a:p>
        </p:txBody>
      </p:sp>
      <p:sp>
        <p:nvSpPr>
          <p:cNvPr name="TextBox 18" id="18"/>
          <p:cNvSpPr txBox="true"/>
          <p:nvPr/>
        </p:nvSpPr>
        <p:spPr>
          <a:xfrm rot="0">
            <a:off x="857250" y="2352675"/>
            <a:ext cx="16573500" cy="647700"/>
          </a:xfrm>
          <a:prstGeom prst="rect">
            <a:avLst/>
          </a:prstGeom>
        </p:spPr>
        <p:txBody>
          <a:bodyPr anchor="t" rtlCol="false" tIns="0" lIns="0" bIns="0" rIns="0">
            <a:spAutoFit/>
          </a:bodyPr>
          <a:lstStyle/>
          <a:p>
            <a:pPr algn="l">
              <a:lnSpc>
                <a:spcPts val="3240"/>
              </a:lnSpc>
            </a:pPr>
            <a:r>
              <a:rPr lang="en-US" sz="2700" b="true">
                <a:solidFill>
                  <a:srgbClr val="174C7E"/>
                </a:solidFill>
                <a:latin typeface="Arial Bold"/>
                <a:ea typeface="Arial Bold"/>
                <a:cs typeface="Arial Bold"/>
                <a:sym typeface="Arial Bold"/>
              </a:rPr>
              <a:t>Nhiều cây tạo dự đoán, rồi rừng tổng hợp thành nhãn cuối</a:t>
            </a:r>
          </a:p>
        </p:txBody>
      </p:sp>
      <p:sp>
        <p:nvSpPr>
          <p:cNvPr name="TextBox 19" id="19"/>
          <p:cNvSpPr txBox="true"/>
          <p:nvPr/>
        </p:nvSpPr>
        <p:spPr>
          <a:xfrm rot="0">
            <a:off x="11430000" y="3309938"/>
            <a:ext cx="6000750" cy="1376362"/>
          </a:xfrm>
          <a:prstGeom prst="rect">
            <a:avLst/>
          </a:prstGeom>
        </p:spPr>
        <p:txBody>
          <a:bodyPr anchor="t" rtlCol="false" tIns="0" lIns="0" bIns="0" rIns="0">
            <a:spAutoFit/>
          </a:bodyPr>
          <a:lstStyle/>
          <a:p>
            <a:pPr algn="l">
              <a:lnSpc>
                <a:spcPts val="3510"/>
              </a:lnSpc>
            </a:pPr>
            <a:r>
              <a:rPr lang="en-US" sz="2925">
                <a:solidFill>
                  <a:srgbClr val="202D39"/>
                </a:solidFill>
                <a:latin typeface="Arial"/>
                <a:ea typeface="Arial"/>
                <a:cs typeface="Arial"/>
                <a:sym typeface="Arial"/>
              </a:rPr>
              <a:t>Đầu vào: lịch bay, giờ bay, hãng và sân bay.</a:t>
            </a:r>
          </a:p>
          <a:p>
            <a:pPr algn="l">
              <a:lnSpc>
                <a:spcPts val="3510"/>
              </a:lnSpc>
            </a:pPr>
            <a:r>
              <a:rPr lang="en-US" sz="2925">
                <a:solidFill>
                  <a:srgbClr val="202D39"/>
                </a:solidFill>
                <a:latin typeface="Arial"/>
                <a:ea typeface="Arial"/>
                <a:cs typeface="Arial"/>
                <a:sym typeface="Arial"/>
              </a:rPr>
              <a:t>Đầu ra: một trong sáu nhãn.</a:t>
            </a:r>
          </a:p>
        </p:txBody>
      </p:sp>
      <p:sp>
        <p:nvSpPr>
          <p:cNvPr name="TextBox 20" id="20"/>
          <p:cNvSpPr txBox="true"/>
          <p:nvPr/>
        </p:nvSpPr>
        <p:spPr>
          <a:xfrm rot="0">
            <a:off x="11430000" y="4938712"/>
            <a:ext cx="6000750" cy="1376362"/>
          </a:xfrm>
          <a:prstGeom prst="rect">
            <a:avLst/>
          </a:prstGeom>
        </p:spPr>
        <p:txBody>
          <a:bodyPr anchor="t" rtlCol="false" tIns="0" lIns="0" bIns="0" rIns="0">
            <a:spAutoFit/>
          </a:bodyPr>
          <a:lstStyle/>
          <a:p>
            <a:pPr algn="l">
              <a:lnSpc>
                <a:spcPts val="3510"/>
              </a:lnSpc>
            </a:pPr>
            <a:r>
              <a:rPr lang="en-US" sz="2925">
                <a:solidFill>
                  <a:srgbClr val="202D39"/>
                </a:solidFill>
                <a:latin typeface="Arial"/>
                <a:ea typeface="Arial"/>
                <a:cs typeface="Arial"/>
                <a:sym typeface="Arial"/>
              </a:rPr>
              <a:t>Ưu điểm: ổn định hơn một cây nhờ kết hợp nhiều cây.</a:t>
            </a:r>
          </a:p>
        </p:txBody>
      </p:sp>
      <p:sp>
        <p:nvSpPr>
          <p:cNvPr name="TextBox 21" id="21"/>
          <p:cNvSpPr txBox="true"/>
          <p:nvPr/>
        </p:nvSpPr>
        <p:spPr>
          <a:xfrm rot="0">
            <a:off x="11430000" y="6567488"/>
            <a:ext cx="6000750" cy="1376362"/>
          </a:xfrm>
          <a:prstGeom prst="rect">
            <a:avLst/>
          </a:prstGeom>
        </p:spPr>
        <p:txBody>
          <a:bodyPr anchor="t" rtlCol="false" tIns="0" lIns="0" bIns="0" rIns="0">
            <a:spAutoFit/>
          </a:bodyPr>
          <a:lstStyle/>
          <a:p>
            <a:pPr algn="l">
              <a:lnSpc>
                <a:spcPts val="3510"/>
              </a:lnSpc>
            </a:pPr>
            <a:r>
              <a:rPr lang="en-US" sz="2925">
                <a:solidFill>
                  <a:srgbClr val="202D39"/>
                </a:solidFill>
                <a:latin typeface="Arial"/>
                <a:ea typeface="Arial"/>
                <a:cs typeface="Arial"/>
                <a:sym typeface="Arial"/>
              </a:rPr>
              <a:t>Hạn chế: tốn tài nguyên hơn, vẫn có thể nghiêng về OnTime.</a:t>
            </a:r>
          </a:p>
        </p:txBody>
      </p:sp>
      <p:grpSp>
        <p:nvGrpSpPr>
          <p:cNvPr name="Group 22" id="22"/>
          <p:cNvGrpSpPr/>
          <p:nvPr/>
        </p:nvGrpSpPr>
        <p:grpSpPr>
          <a:xfrm rot="0">
            <a:off x="921544" y="3321844"/>
            <a:ext cx="9586912" cy="871538"/>
            <a:chOff x="0" y="0"/>
            <a:chExt cx="12782550" cy="1162050"/>
          </a:xfrm>
        </p:grpSpPr>
        <p:sp>
          <p:nvSpPr>
            <p:cNvPr name="Freeform 23" id="23"/>
            <p:cNvSpPr/>
            <p:nvPr/>
          </p:nvSpPr>
          <p:spPr>
            <a:xfrm flipH="false" flipV="false" rot="0">
              <a:off x="0" y="0"/>
              <a:ext cx="12782550" cy="1162050"/>
            </a:xfrm>
            <a:custGeom>
              <a:avLst/>
              <a:gdLst/>
              <a:ahLst/>
              <a:cxnLst/>
              <a:rect r="r" b="b" t="t" l="l"/>
              <a:pathLst>
                <a:path h="1162050" w="12782550">
                  <a:moveTo>
                    <a:pt x="0" y="0"/>
                  </a:moveTo>
                  <a:lnTo>
                    <a:pt x="12782550" y="0"/>
                  </a:lnTo>
                  <a:lnTo>
                    <a:pt x="12782550" y="1162050"/>
                  </a:lnTo>
                  <a:lnTo>
                    <a:pt x="0" y="1162050"/>
                  </a:lnTo>
                  <a:close/>
                </a:path>
              </a:pathLst>
            </a:custGeom>
            <a:solidFill>
              <a:srgbClr val="2072B7"/>
            </a:solidFill>
            <a:ln w="14288" cap="sq">
              <a:solidFill>
                <a:srgbClr val="2072B7"/>
              </a:solidFill>
              <a:prstDash val="solid"/>
              <a:miter/>
            </a:ln>
          </p:spPr>
        </p:sp>
        <p:sp>
          <p:nvSpPr>
            <p:cNvPr name="TextBox 24" id="24"/>
            <p:cNvSpPr txBox="true"/>
            <p:nvPr/>
          </p:nvSpPr>
          <p:spPr>
            <a:xfrm>
              <a:off x="0" y="-19050"/>
              <a:ext cx="12782550" cy="1181100"/>
            </a:xfrm>
            <a:prstGeom prst="rect">
              <a:avLst/>
            </a:prstGeom>
          </p:spPr>
          <p:txBody>
            <a:bodyPr anchor="ctr" rtlCol="false" tIns="50800" lIns="50800" bIns="50800" rIns="50800"/>
            <a:lstStyle/>
            <a:p>
              <a:pPr algn="ctr">
                <a:lnSpc>
                  <a:spcPts val="3240"/>
                </a:lnSpc>
              </a:pPr>
              <a:r>
                <a:rPr lang="en-US" sz="2700">
                  <a:solidFill>
                    <a:srgbClr val="FFFFFF"/>
                  </a:solidFill>
                  <a:latin typeface="Arial"/>
                  <a:ea typeface="Arial"/>
                  <a:cs typeface="Arial"/>
                  <a:sym typeface="Arial"/>
                </a:rPr>
                <a:t>Cùng một chuyến bay</a:t>
              </a:r>
            </a:p>
          </p:txBody>
        </p:sp>
      </p:grpSp>
      <p:grpSp>
        <p:nvGrpSpPr>
          <p:cNvPr name="Group 25" id="25"/>
          <p:cNvGrpSpPr/>
          <p:nvPr/>
        </p:nvGrpSpPr>
        <p:grpSpPr>
          <a:xfrm rot="0">
            <a:off x="921544" y="5222081"/>
            <a:ext cx="3014662" cy="1243012"/>
            <a:chOff x="0" y="0"/>
            <a:chExt cx="4019550" cy="1657350"/>
          </a:xfrm>
        </p:grpSpPr>
        <p:sp>
          <p:nvSpPr>
            <p:cNvPr name="Freeform 26" id="26"/>
            <p:cNvSpPr/>
            <p:nvPr/>
          </p:nvSpPr>
          <p:spPr>
            <a:xfrm flipH="false" flipV="false" rot="0">
              <a:off x="0" y="0"/>
              <a:ext cx="4019550" cy="1657350"/>
            </a:xfrm>
            <a:custGeom>
              <a:avLst/>
              <a:gdLst/>
              <a:ahLst/>
              <a:cxnLst/>
              <a:rect r="r" b="b" t="t" l="l"/>
              <a:pathLst>
                <a:path h="1657350" w="4019550">
                  <a:moveTo>
                    <a:pt x="0" y="0"/>
                  </a:moveTo>
                  <a:lnTo>
                    <a:pt x="4019550" y="0"/>
                  </a:lnTo>
                  <a:lnTo>
                    <a:pt x="4019550" y="1657350"/>
                  </a:lnTo>
                  <a:lnTo>
                    <a:pt x="0" y="1657350"/>
                  </a:lnTo>
                  <a:close/>
                </a:path>
              </a:pathLst>
            </a:custGeom>
            <a:solidFill>
              <a:srgbClr val="2072B7"/>
            </a:solidFill>
            <a:ln w="14288" cap="sq">
              <a:solidFill>
                <a:srgbClr val="2072B7"/>
              </a:solidFill>
              <a:prstDash val="solid"/>
              <a:miter/>
            </a:ln>
          </p:spPr>
        </p:sp>
        <p:sp>
          <p:nvSpPr>
            <p:cNvPr name="TextBox 27" id="27"/>
            <p:cNvSpPr txBox="true"/>
            <p:nvPr/>
          </p:nvSpPr>
          <p:spPr>
            <a:xfrm>
              <a:off x="0" y="-19050"/>
              <a:ext cx="4019550" cy="1676400"/>
            </a:xfrm>
            <a:prstGeom prst="rect">
              <a:avLst/>
            </a:prstGeom>
          </p:spPr>
          <p:txBody>
            <a:bodyPr anchor="ctr" rtlCol="false" tIns="50800" lIns="50800" bIns="50800" rIns="50800"/>
            <a:lstStyle/>
            <a:p>
              <a:pPr algn="ctr">
                <a:lnSpc>
                  <a:spcPts val="3240"/>
                </a:lnSpc>
              </a:pPr>
              <a:r>
                <a:rPr lang="en-US" sz="2700">
                  <a:solidFill>
                    <a:srgbClr val="FFFFFF"/>
                  </a:solidFill>
                  <a:latin typeface="Arial"/>
                  <a:ea typeface="Arial"/>
                  <a:cs typeface="Arial"/>
                  <a:sym typeface="Arial"/>
                </a:rPr>
                <a:t>Cây 1</a:t>
              </a:r>
            </a:p>
            <a:p>
              <a:pPr algn="ctr">
                <a:lnSpc>
                  <a:spcPts val="3240"/>
                </a:lnSpc>
              </a:pPr>
              <a:r>
                <a:rPr lang="en-US" sz="2700">
                  <a:solidFill>
                    <a:srgbClr val="FFFFFF"/>
                  </a:solidFill>
                  <a:latin typeface="Arial"/>
                  <a:ea typeface="Arial"/>
                  <a:cs typeface="Arial"/>
                  <a:sym typeface="Arial"/>
                </a:rPr>
                <a:t>Carrier</a:t>
              </a:r>
            </a:p>
          </p:txBody>
        </p:sp>
      </p:grpSp>
      <p:grpSp>
        <p:nvGrpSpPr>
          <p:cNvPr name="Group 28" id="28"/>
          <p:cNvGrpSpPr/>
          <p:nvPr/>
        </p:nvGrpSpPr>
        <p:grpSpPr>
          <a:xfrm rot="0">
            <a:off x="4207669" y="5222081"/>
            <a:ext cx="3014662" cy="1243012"/>
            <a:chOff x="0" y="0"/>
            <a:chExt cx="4019550" cy="1657350"/>
          </a:xfrm>
        </p:grpSpPr>
        <p:sp>
          <p:nvSpPr>
            <p:cNvPr name="Freeform 29" id="29"/>
            <p:cNvSpPr/>
            <p:nvPr/>
          </p:nvSpPr>
          <p:spPr>
            <a:xfrm flipH="false" flipV="false" rot="0">
              <a:off x="0" y="0"/>
              <a:ext cx="4019550" cy="1657350"/>
            </a:xfrm>
            <a:custGeom>
              <a:avLst/>
              <a:gdLst/>
              <a:ahLst/>
              <a:cxnLst/>
              <a:rect r="r" b="b" t="t" l="l"/>
              <a:pathLst>
                <a:path h="1657350" w="4019550">
                  <a:moveTo>
                    <a:pt x="0" y="0"/>
                  </a:moveTo>
                  <a:lnTo>
                    <a:pt x="4019550" y="0"/>
                  </a:lnTo>
                  <a:lnTo>
                    <a:pt x="4019550" y="1657350"/>
                  </a:lnTo>
                  <a:lnTo>
                    <a:pt x="0" y="1657350"/>
                  </a:lnTo>
                  <a:close/>
                </a:path>
              </a:pathLst>
            </a:custGeom>
            <a:solidFill>
              <a:srgbClr val="2072B7"/>
            </a:solidFill>
            <a:ln w="14288" cap="sq">
              <a:solidFill>
                <a:srgbClr val="2072B7"/>
              </a:solidFill>
              <a:prstDash val="solid"/>
              <a:miter/>
            </a:ln>
          </p:spPr>
        </p:sp>
        <p:sp>
          <p:nvSpPr>
            <p:cNvPr name="TextBox 30" id="30"/>
            <p:cNvSpPr txBox="true"/>
            <p:nvPr/>
          </p:nvSpPr>
          <p:spPr>
            <a:xfrm>
              <a:off x="0" y="-19050"/>
              <a:ext cx="4019550" cy="1676400"/>
            </a:xfrm>
            <a:prstGeom prst="rect">
              <a:avLst/>
            </a:prstGeom>
          </p:spPr>
          <p:txBody>
            <a:bodyPr anchor="ctr" rtlCol="false" tIns="50800" lIns="50800" bIns="50800" rIns="50800"/>
            <a:lstStyle/>
            <a:p>
              <a:pPr algn="ctr">
                <a:lnSpc>
                  <a:spcPts val="3240"/>
                </a:lnSpc>
              </a:pPr>
              <a:r>
                <a:rPr lang="en-US" sz="2700">
                  <a:solidFill>
                    <a:srgbClr val="FFFFFF"/>
                  </a:solidFill>
                  <a:latin typeface="Arial"/>
                  <a:ea typeface="Arial"/>
                  <a:cs typeface="Arial"/>
                  <a:sym typeface="Arial"/>
                </a:rPr>
                <a:t>Cây 2</a:t>
              </a:r>
            </a:p>
            <a:p>
              <a:pPr algn="ctr">
                <a:lnSpc>
                  <a:spcPts val="3240"/>
                </a:lnSpc>
              </a:pPr>
              <a:r>
                <a:rPr lang="en-US" sz="2700">
                  <a:solidFill>
                    <a:srgbClr val="FFFFFF"/>
                  </a:solidFill>
                  <a:latin typeface="Arial"/>
                  <a:ea typeface="Arial"/>
                  <a:cs typeface="Arial"/>
                  <a:sym typeface="Arial"/>
                </a:rPr>
                <a:t>Carrier</a:t>
              </a:r>
            </a:p>
          </p:txBody>
        </p:sp>
      </p:grpSp>
      <p:grpSp>
        <p:nvGrpSpPr>
          <p:cNvPr name="Group 31" id="31"/>
          <p:cNvGrpSpPr/>
          <p:nvPr/>
        </p:nvGrpSpPr>
        <p:grpSpPr>
          <a:xfrm rot="0">
            <a:off x="7493794" y="5222081"/>
            <a:ext cx="3014662" cy="1243012"/>
            <a:chOff x="0" y="0"/>
            <a:chExt cx="4019550" cy="1657350"/>
          </a:xfrm>
        </p:grpSpPr>
        <p:sp>
          <p:nvSpPr>
            <p:cNvPr name="Freeform 32" id="32"/>
            <p:cNvSpPr/>
            <p:nvPr/>
          </p:nvSpPr>
          <p:spPr>
            <a:xfrm flipH="false" flipV="false" rot="0">
              <a:off x="0" y="0"/>
              <a:ext cx="4019550" cy="1657350"/>
            </a:xfrm>
            <a:custGeom>
              <a:avLst/>
              <a:gdLst/>
              <a:ahLst/>
              <a:cxnLst/>
              <a:rect r="r" b="b" t="t" l="l"/>
              <a:pathLst>
                <a:path h="1657350" w="4019550">
                  <a:moveTo>
                    <a:pt x="0" y="0"/>
                  </a:moveTo>
                  <a:lnTo>
                    <a:pt x="4019550" y="0"/>
                  </a:lnTo>
                  <a:lnTo>
                    <a:pt x="4019550" y="1657350"/>
                  </a:lnTo>
                  <a:lnTo>
                    <a:pt x="0" y="1657350"/>
                  </a:lnTo>
                  <a:close/>
                </a:path>
              </a:pathLst>
            </a:custGeom>
            <a:solidFill>
              <a:srgbClr val="2072B7"/>
            </a:solidFill>
            <a:ln w="14288" cap="sq">
              <a:solidFill>
                <a:srgbClr val="2072B7"/>
              </a:solidFill>
              <a:prstDash val="solid"/>
              <a:miter/>
            </a:ln>
          </p:spPr>
        </p:sp>
        <p:sp>
          <p:nvSpPr>
            <p:cNvPr name="TextBox 33" id="33"/>
            <p:cNvSpPr txBox="true"/>
            <p:nvPr/>
          </p:nvSpPr>
          <p:spPr>
            <a:xfrm>
              <a:off x="0" y="-19050"/>
              <a:ext cx="4019550" cy="1676400"/>
            </a:xfrm>
            <a:prstGeom prst="rect">
              <a:avLst/>
            </a:prstGeom>
          </p:spPr>
          <p:txBody>
            <a:bodyPr anchor="ctr" rtlCol="false" tIns="50800" lIns="50800" bIns="50800" rIns="50800"/>
            <a:lstStyle/>
            <a:p>
              <a:pPr algn="ctr">
                <a:lnSpc>
                  <a:spcPts val="3240"/>
                </a:lnSpc>
              </a:pPr>
              <a:r>
                <a:rPr lang="en-US" sz="2700">
                  <a:solidFill>
                    <a:srgbClr val="FFFFFF"/>
                  </a:solidFill>
                  <a:latin typeface="Arial"/>
                  <a:ea typeface="Arial"/>
                  <a:cs typeface="Arial"/>
                  <a:sym typeface="Arial"/>
                </a:rPr>
                <a:t>Cây 3</a:t>
              </a:r>
            </a:p>
            <a:p>
              <a:pPr algn="ctr">
                <a:lnSpc>
                  <a:spcPts val="3240"/>
                </a:lnSpc>
              </a:pPr>
              <a:r>
                <a:rPr lang="en-US" sz="2700">
                  <a:solidFill>
                    <a:srgbClr val="FFFFFF"/>
                  </a:solidFill>
                  <a:latin typeface="Arial"/>
                  <a:ea typeface="Arial"/>
                  <a:cs typeface="Arial"/>
                  <a:sym typeface="Arial"/>
                </a:rPr>
                <a:t>NAS</a:t>
              </a:r>
            </a:p>
          </p:txBody>
        </p:sp>
      </p:grpSp>
      <p:grpSp>
        <p:nvGrpSpPr>
          <p:cNvPr name="Group 34" id="34"/>
          <p:cNvGrpSpPr/>
          <p:nvPr/>
        </p:nvGrpSpPr>
        <p:grpSpPr>
          <a:xfrm rot="0">
            <a:off x="921544" y="7565231"/>
            <a:ext cx="9586912" cy="942975"/>
            <a:chOff x="0" y="0"/>
            <a:chExt cx="12782550" cy="1257300"/>
          </a:xfrm>
        </p:grpSpPr>
        <p:sp>
          <p:nvSpPr>
            <p:cNvPr name="Freeform 35" id="35"/>
            <p:cNvSpPr/>
            <p:nvPr/>
          </p:nvSpPr>
          <p:spPr>
            <a:xfrm flipH="false" flipV="false" rot="0">
              <a:off x="0" y="0"/>
              <a:ext cx="12782550" cy="1257300"/>
            </a:xfrm>
            <a:custGeom>
              <a:avLst/>
              <a:gdLst/>
              <a:ahLst/>
              <a:cxnLst/>
              <a:rect r="r" b="b" t="t" l="l"/>
              <a:pathLst>
                <a:path h="1257300" w="12782550">
                  <a:moveTo>
                    <a:pt x="0" y="0"/>
                  </a:moveTo>
                  <a:lnTo>
                    <a:pt x="12782550" y="0"/>
                  </a:lnTo>
                  <a:lnTo>
                    <a:pt x="12782550" y="1257300"/>
                  </a:lnTo>
                  <a:lnTo>
                    <a:pt x="0" y="1257300"/>
                  </a:lnTo>
                  <a:close/>
                </a:path>
              </a:pathLst>
            </a:custGeom>
            <a:solidFill>
              <a:srgbClr val="2072B7"/>
            </a:solidFill>
            <a:ln w="14288" cap="sq">
              <a:solidFill>
                <a:srgbClr val="2072B7"/>
              </a:solidFill>
              <a:prstDash val="solid"/>
              <a:miter/>
            </a:ln>
          </p:spPr>
        </p:sp>
        <p:sp>
          <p:nvSpPr>
            <p:cNvPr name="TextBox 36" id="36"/>
            <p:cNvSpPr txBox="true"/>
            <p:nvPr/>
          </p:nvSpPr>
          <p:spPr>
            <a:xfrm>
              <a:off x="0" y="-19050"/>
              <a:ext cx="12782550" cy="1276350"/>
            </a:xfrm>
            <a:prstGeom prst="rect">
              <a:avLst/>
            </a:prstGeom>
          </p:spPr>
          <p:txBody>
            <a:bodyPr anchor="ctr" rtlCol="false" tIns="50800" lIns="50800" bIns="50800" rIns="50800"/>
            <a:lstStyle/>
            <a:p>
              <a:pPr algn="ctr">
                <a:lnSpc>
                  <a:spcPts val="3240"/>
                </a:lnSpc>
              </a:pPr>
              <a:r>
                <a:rPr lang="en-US" sz="2700">
                  <a:solidFill>
                    <a:srgbClr val="FFFFFF"/>
                  </a:solidFill>
                  <a:latin typeface="Arial"/>
                  <a:ea typeface="Arial"/>
                  <a:cs typeface="Arial"/>
                  <a:sym typeface="Arial"/>
                </a:rPr>
                <a:t>Bỏ phiếu minh họa: Carrier có 2/3 phiếu</a:t>
              </a:r>
            </a:p>
          </p:txBody>
        </p:sp>
      </p:grpSp>
      <p:sp>
        <p:nvSpPr>
          <p:cNvPr name="TextBox 37" id="3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668"/>
            <a:ext cx="18288000" cy="1070038"/>
            <a:chOff x="0" y="0"/>
            <a:chExt cx="24384000" cy="1426718"/>
          </a:xfrm>
        </p:grpSpPr>
        <p:sp>
          <p:nvSpPr>
            <p:cNvPr name="Freeform 3" id="3"/>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2072B7"/>
            </a:solidFill>
          </p:spPr>
        </p:sp>
      </p:grpSp>
      <p:grpSp>
        <p:nvGrpSpPr>
          <p:cNvPr name="Group 4" id="4"/>
          <p:cNvGrpSpPr/>
          <p:nvPr/>
        </p:nvGrpSpPr>
        <p:grpSpPr>
          <a:xfrm rot="0">
            <a:off x="477926" y="3334"/>
            <a:ext cx="4935598" cy="1027605"/>
            <a:chOff x="0" y="0"/>
            <a:chExt cx="6580797" cy="1370140"/>
          </a:xfrm>
        </p:grpSpPr>
        <p:sp>
          <p:nvSpPr>
            <p:cNvPr name="Freeform 5" id="5"/>
            <p:cNvSpPr/>
            <p:nvPr/>
          </p:nvSpPr>
          <p:spPr>
            <a:xfrm flipH="false" flipV="false" rot="0">
              <a:off x="0" y="0"/>
              <a:ext cx="6580759" cy="1370203"/>
            </a:xfrm>
            <a:custGeom>
              <a:avLst/>
              <a:gdLst/>
              <a:ahLst/>
              <a:cxnLst/>
              <a:rect r="r" b="b" t="t" l="l"/>
              <a:pathLst>
                <a:path h="1370203" w="6580759">
                  <a:moveTo>
                    <a:pt x="0" y="0"/>
                  </a:moveTo>
                  <a:lnTo>
                    <a:pt x="6580759" y="0"/>
                  </a:lnTo>
                  <a:lnTo>
                    <a:pt x="6580759" y="1370203"/>
                  </a:lnTo>
                  <a:lnTo>
                    <a:pt x="0" y="1370203"/>
                  </a:lnTo>
                  <a:lnTo>
                    <a:pt x="0" y="0"/>
                  </a:lnTo>
                  <a:close/>
                </a:path>
              </a:pathLst>
            </a:custGeom>
            <a:blipFill>
              <a:blip r:embed="rId3"/>
              <a:stretch>
                <a:fillRect l="-191" t="0" r="-192" b="4"/>
              </a:stretch>
            </a:blipFill>
          </p:spPr>
        </p:sp>
      </p:grpSp>
      <p:grpSp>
        <p:nvGrpSpPr>
          <p:cNvPr name="Group 6" id="6"/>
          <p:cNvGrpSpPr/>
          <p:nvPr/>
        </p:nvGrpSpPr>
        <p:grpSpPr>
          <a:xfrm rot="0">
            <a:off x="2663190" y="10082212"/>
            <a:ext cx="15624810" cy="204845"/>
            <a:chOff x="0" y="0"/>
            <a:chExt cx="20833080" cy="273126"/>
          </a:xfrm>
        </p:grpSpPr>
        <p:sp>
          <p:nvSpPr>
            <p:cNvPr name="Freeform 7" id="7"/>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2072B7"/>
            </a:solidFill>
          </p:spPr>
        </p:sp>
      </p:grpSp>
      <p:grpSp>
        <p:nvGrpSpPr>
          <p:cNvPr name="Group 8" id="8"/>
          <p:cNvGrpSpPr/>
          <p:nvPr/>
        </p:nvGrpSpPr>
        <p:grpSpPr>
          <a:xfrm rot="0">
            <a:off x="2743238" y="10108759"/>
            <a:ext cx="15544724" cy="152705"/>
            <a:chOff x="0" y="0"/>
            <a:chExt cx="20726298" cy="203606"/>
          </a:xfrm>
        </p:grpSpPr>
        <p:sp>
          <p:nvSpPr>
            <p:cNvPr name="Freeform 9" id="9"/>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4"/>
              <a:stretch>
                <a:fillRect l="0" t="0" r="0" b="-35745"/>
              </a:stretch>
            </a:blipFill>
          </p:spPr>
        </p:sp>
      </p:grpSp>
      <p:sp>
        <p:nvSpPr>
          <p:cNvPr name="TextBox 10" id="10"/>
          <p:cNvSpPr txBox="true"/>
          <p:nvPr/>
        </p:nvSpPr>
        <p:spPr>
          <a:xfrm rot="0">
            <a:off x="302009" y="10002231"/>
            <a:ext cx="2254501" cy="327536"/>
          </a:xfrm>
          <a:prstGeom prst="rect">
            <a:avLst/>
          </a:prstGeom>
        </p:spPr>
        <p:txBody>
          <a:bodyPr anchor="t" rtlCol="false" tIns="0" lIns="0" bIns="0" rIns="0">
            <a:spAutoFit/>
          </a:bodyPr>
          <a:lstStyle/>
          <a:p>
            <a:pPr algn="l">
              <a:lnSpc>
                <a:spcPts val="1800"/>
              </a:lnSpc>
            </a:pPr>
            <a:r>
              <a:rPr lang="en-US" sz="1500">
                <a:solidFill>
                  <a:srgbClr val="0070C0"/>
                </a:solidFill>
                <a:latin typeface="Calibri (MS)"/>
                <a:ea typeface="Calibri (MS)"/>
                <a:cs typeface="Calibri (MS)"/>
                <a:sym typeface="Calibri (MS)"/>
              </a:rPr>
              <a:t>https://huit.edu.vn</a:t>
            </a:r>
          </a:p>
        </p:txBody>
      </p:sp>
      <p:sp>
        <p:nvSpPr>
          <p:cNvPr name="AutoShape 11" id="11"/>
          <p:cNvSpPr/>
          <p:nvPr/>
        </p:nvSpPr>
        <p:spPr>
          <a:xfrm rot="5178540">
            <a:off x="12315368" y="6984206"/>
            <a:ext cx="443836" cy="19050"/>
          </a:xfrm>
          <a:prstGeom prst="line">
            <a:avLst/>
          </a:prstGeom>
          <a:ln cap="rnd" w="19050">
            <a:solidFill>
              <a:srgbClr val="2072B7"/>
            </a:solidFill>
            <a:prstDash val="solid"/>
            <a:headEnd type="none" len="sm" w="sm"/>
            <a:tailEnd type="triangle" len="med" w="lg"/>
          </a:ln>
        </p:spPr>
      </p:sp>
      <p:sp>
        <p:nvSpPr>
          <p:cNvPr name="AutoShape 12" id="12"/>
          <p:cNvSpPr/>
          <p:nvPr/>
        </p:nvSpPr>
        <p:spPr>
          <a:xfrm rot="5178540">
            <a:off x="12315368" y="5669756"/>
            <a:ext cx="443836" cy="19050"/>
          </a:xfrm>
          <a:prstGeom prst="line">
            <a:avLst/>
          </a:prstGeom>
          <a:ln cap="rnd" w="19050">
            <a:solidFill>
              <a:srgbClr val="2072B7"/>
            </a:solidFill>
            <a:prstDash val="solid"/>
            <a:headEnd type="none" len="sm" w="sm"/>
            <a:tailEnd type="triangle" len="med" w="lg"/>
          </a:ln>
        </p:spPr>
      </p:sp>
      <p:sp>
        <p:nvSpPr>
          <p:cNvPr name="AutoShape 13" id="13"/>
          <p:cNvSpPr/>
          <p:nvPr/>
        </p:nvSpPr>
        <p:spPr>
          <a:xfrm rot="5178540">
            <a:off x="12315368" y="4355306"/>
            <a:ext cx="443836" cy="19050"/>
          </a:xfrm>
          <a:prstGeom prst="line">
            <a:avLst/>
          </a:prstGeom>
          <a:ln cap="rnd" w="19050">
            <a:solidFill>
              <a:srgbClr val="2072B7"/>
            </a:solidFill>
            <a:prstDash val="solid"/>
            <a:headEnd type="none" len="sm" w="sm"/>
            <a:tailEnd type="triangle" len="med" w="lg"/>
          </a:ln>
        </p:spPr>
      </p:sp>
      <p:sp>
        <p:nvSpPr>
          <p:cNvPr name="TextBox 14" id="14"/>
          <p:cNvSpPr txBox="true"/>
          <p:nvPr/>
        </p:nvSpPr>
        <p:spPr>
          <a:xfrm rot="0">
            <a:off x="857250" y="1466850"/>
            <a:ext cx="16573500" cy="819150"/>
          </a:xfrm>
          <a:prstGeom prst="rect">
            <a:avLst/>
          </a:prstGeom>
        </p:spPr>
        <p:txBody>
          <a:bodyPr anchor="t" rtlCol="false" tIns="0" lIns="0" bIns="0" rIns="0">
            <a:spAutoFit/>
          </a:bodyPr>
          <a:lstStyle/>
          <a:p>
            <a:pPr algn="l">
              <a:lnSpc>
                <a:spcPts val="4995"/>
              </a:lnSpc>
            </a:pPr>
            <a:r>
              <a:rPr lang="en-US" sz="4162" b="true">
                <a:solidFill>
                  <a:srgbClr val="2072B7"/>
                </a:solidFill>
                <a:latin typeface="Arial Bold"/>
                <a:ea typeface="Arial Bold"/>
                <a:cs typeface="Arial Bold"/>
                <a:sym typeface="Arial Bold"/>
              </a:rPr>
              <a:t>XGBoost</a:t>
            </a:r>
          </a:p>
        </p:txBody>
      </p:sp>
      <p:sp>
        <p:nvSpPr>
          <p:cNvPr name="TextBox 15" id="15"/>
          <p:cNvSpPr txBox="true"/>
          <p:nvPr/>
        </p:nvSpPr>
        <p:spPr>
          <a:xfrm rot="0">
            <a:off x="857250" y="2352675"/>
            <a:ext cx="16573500" cy="647700"/>
          </a:xfrm>
          <a:prstGeom prst="rect">
            <a:avLst/>
          </a:prstGeom>
        </p:spPr>
        <p:txBody>
          <a:bodyPr anchor="t" rtlCol="false" tIns="0" lIns="0" bIns="0" rIns="0">
            <a:spAutoFit/>
          </a:bodyPr>
          <a:lstStyle/>
          <a:p>
            <a:pPr algn="l">
              <a:lnSpc>
                <a:spcPts val="3240"/>
              </a:lnSpc>
            </a:pPr>
            <a:r>
              <a:rPr lang="en-US" sz="2700" b="true">
                <a:solidFill>
                  <a:srgbClr val="174C7E"/>
                </a:solidFill>
                <a:latin typeface="Arial Bold"/>
                <a:ea typeface="Arial Bold"/>
                <a:cs typeface="Arial Bold"/>
                <a:sym typeface="Arial Bold"/>
              </a:rPr>
              <a:t>Thêm cây nối tiếp để cải thiện mô hình hiện tại</a:t>
            </a:r>
          </a:p>
        </p:txBody>
      </p:sp>
      <p:sp>
        <p:nvSpPr>
          <p:cNvPr name="TextBox 16" id="16"/>
          <p:cNvSpPr txBox="true"/>
          <p:nvPr/>
        </p:nvSpPr>
        <p:spPr>
          <a:xfrm rot="0">
            <a:off x="857250" y="3309938"/>
            <a:ext cx="6072188" cy="1376362"/>
          </a:xfrm>
          <a:prstGeom prst="rect">
            <a:avLst/>
          </a:prstGeom>
        </p:spPr>
        <p:txBody>
          <a:bodyPr anchor="t" rtlCol="false" tIns="0" lIns="0" bIns="0" rIns="0">
            <a:spAutoFit/>
          </a:bodyPr>
          <a:lstStyle/>
          <a:p>
            <a:pPr algn="l">
              <a:lnSpc>
                <a:spcPts val="3510"/>
              </a:lnSpc>
            </a:pPr>
            <a:r>
              <a:rPr lang="en-US" sz="2925">
                <a:solidFill>
                  <a:srgbClr val="202D39"/>
                </a:solidFill>
                <a:latin typeface="Arial"/>
                <a:ea typeface="Arial"/>
                <a:cs typeface="Arial"/>
                <a:sym typeface="Arial"/>
              </a:rPr>
              <a:t>Đầu vào: lịch bay, giờ bay, hãng và sân bay.</a:t>
            </a:r>
          </a:p>
          <a:p>
            <a:pPr algn="l">
              <a:lnSpc>
                <a:spcPts val="3510"/>
              </a:lnSpc>
            </a:pPr>
            <a:r>
              <a:rPr lang="en-US" sz="2925">
                <a:solidFill>
                  <a:srgbClr val="202D39"/>
                </a:solidFill>
                <a:latin typeface="Arial"/>
                <a:ea typeface="Arial"/>
                <a:cs typeface="Arial"/>
                <a:sym typeface="Arial"/>
              </a:rPr>
              <a:t>Đầu ra: một trong sáu nhãn.</a:t>
            </a:r>
          </a:p>
        </p:txBody>
      </p:sp>
      <p:sp>
        <p:nvSpPr>
          <p:cNvPr name="TextBox 17" id="17"/>
          <p:cNvSpPr txBox="true"/>
          <p:nvPr/>
        </p:nvSpPr>
        <p:spPr>
          <a:xfrm rot="0">
            <a:off x="857250" y="4938712"/>
            <a:ext cx="6072188" cy="1376362"/>
          </a:xfrm>
          <a:prstGeom prst="rect">
            <a:avLst/>
          </a:prstGeom>
        </p:spPr>
        <p:txBody>
          <a:bodyPr anchor="t" rtlCol="false" tIns="0" lIns="0" bIns="0" rIns="0">
            <a:spAutoFit/>
          </a:bodyPr>
          <a:lstStyle/>
          <a:p>
            <a:pPr algn="l">
              <a:lnSpc>
                <a:spcPts val="3510"/>
              </a:lnSpc>
            </a:pPr>
            <a:r>
              <a:rPr lang="en-US" sz="2925">
                <a:solidFill>
                  <a:srgbClr val="202D39"/>
                </a:solidFill>
                <a:latin typeface="Arial"/>
                <a:ea typeface="Arial"/>
                <a:cs typeface="Arial"/>
                <a:sym typeface="Arial"/>
              </a:rPr>
              <a:t>Ưu điểm: học được tương tác phi tuyến giữa các đặc trưng.</a:t>
            </a:r>
          </a:p>
        </p:txBody>
      </p:sp>
      <p:sp>
        <p:nvSpPr>
          <p:cNvPr name="TextBox 18" id="18"/>
          <p:cNvSpPr txBox="true"/>
          <p:nvPr/>
        </p:nvSpPr>
        <p:spPr>
          <a:xfrm rot="0">
            <a:off x="857250" y="6567488"/>
            <a:ext cx="6072188" cy="1376362"/>
          </a:xfrm>
          <a:prstGeom prst="rect">
            <a:avLst/>
          </a:prstGeom>
        </p:spPr>
        <p:txBody>
          <a:bodyPr anchor="t" rtlCol="false" tIns="0" lIns="0" bIns="0" rIns="0">
            <a:spAutoFit/>
          </a:bodyPr>
          <a:lstStyle/>
          <a:p>
            <a:pPr algn="l">
              <a:lnSpc>
                <a:spcPts val="3510"/>
              </a:lnSpc>
            </a:pPr>
            <a:r>
              <a:rPr lang="en-US" sz="2925">
                <a:solidFill>
                  <a:srgbClr val="202D39"/>
                </a:solidFill>
                <a:latin typeface="Arial"/>
                <a:ea typeface="Arial"/>
                <a:cs typeface="Arial"/>
                <a:sym typeface="Arial"/>
              </a:rPr>
              <a:t>Hạn chế: cần kiểm soát độ sâu và số vòng để tránh quá khớp.</a:t>
            </a:r>
          </a:p>
        </p:txBody>
      </p:sp>
      <p:grpSp>
        <p:nvGrpSpPr>
          <p:cNvPr name="Group 19" id="19"/>
          <p:cNvGrpSpPr/>
          <p:nvPr/>
        </p:nvGrpSpPr>
        <p:grpSpPr>
          <a:xfrm rot="0">
            <a:off x="7779544" y="3250406"/>
            <a:ext cx="9515475" cy="914400"/>
            <a:chOff x="0" y="0"/>
            <a:chExt cx="12687300" cy="1219200"/>
          </a:xfrm>
        </p:grpSpPr>
        <p:sp>
          <p:nvSpPr>
            <p:cNvPr name="Freeform 20" id="20"/>
            <p:cNvSpPr/>
            <p:nvPr/>
          </p:nvSpPr>
          <p:spPr>
            <a:xfrm flipH="false" flipV="false" rot="0">
              <a:off x="0" y="0"/>
              <a:ext cx="12687300" cy="1219200"/>
            </a:xfrm>
            <a:custGeom>
              <a:avLst/>
              <a:gdLst/>
              <a:ahLst/>
              <a:cxnLst/>
              <a:rect r="r" b="b" t="t" l="l"/>
              <a:pathLst>
                <a:path h="1219200" w="12687300">
                  <a:moveTo>
                    <a:pt x="0" y="0"/>
                  </a:moveTo>
                  <a:lnTo>
                    <a:pt x="12687300" y="0"/>
                  </a:lnTo>
                  <a:lnTo>
                    <a:pt x="12687300" y="1219200"/>
                  </a:lnTo>
                  <a:lnTo>
                    <a:pt x="0" y="1219200"/>
                  </a:lnTo>
                  <a:close/>
                </a:path>
              </a:pathLst>
            </a:custGeom>
            <a:solidFill>
              <a:srgbClr val="2072B7"/>
            </a:solidFill>
            <a:ln w="14288" cap="sq">
              <a:solidFill>
                <a:srgbClr val="2072B7"/>
              </a:solidFill>
              <a:prstDash val="solid"/>
              <a:miter/>
            </a:ln>
          </p:spPr>
        </p:sp>
        <p:sp>
          <p:nvSpPr>
            <p:cNvPr name="TextBox 21" id="21"/>
            <p:cNvSpPr txBox="true"/>
            <p:nvPr/>
          </p:nvSpPr>
          <p:spPr>
            <a:xfrm>
              <a:off x="0" y="-19050"/>
              <a:ext cx="12687300" cy="1238250"/>
            </a:xfrm>
            <a:prstGeom prst="rect">
              <a:avLst/>
            </a:prstGeom>
          </p:spPr>
          <p:txBody>
            <a:bodyPr anchor="ctr" rtlCol="false" tIns="50800" lIns="50800" bIns="50800" rIns="50800"/>
            <a:lstStyle/>
            <a:p>
              <a:pPr algn="ctr">
                <a:lnSpc>
                  <a:spcPts val="3240"/>
                </a:lnSpc>
              </a:pPr>
              <a:r>
                <a:rPr lang="en-US" sz="2700">
                  <a:solidFill>
                    <a:srgbClr val="FFFFFF"/>
                  </a:solidFill>
                  <a:latin typeface="Arial"/>
                  <a:ea typeface="Arial"/>
                  <a:cs typeface="Arial"/>
                  <a:sym typeface="Arial"/>
                </a:rPr>
                <a:t>Mô hình hiện tại dự đoán điểm lớp</a:t>
              </a:r>
            </a:p>
          </p:txBody>
        </p:sp>
      </p:grpSp>
      <p:grpSp>
        <p:nvGrpSpPr>
          <p:cNvPr name="Group 22" id="22"/>
          <p:cNvGrpSpPr/>
          <p:nvPr/>
        </p:nvGrpSpPr>
        <p:grpSpPr>
          <a:xfrm rot="0">
            <a:off x="7779544" y="4564856"/>
            <a:ext cx="9515475" cy="914400"/>
            <a:chOff x="0" y="0"/>
            <a:chExt cx="12687300" cy="1219200"/>
          </a:xfrm>
        </p:grpSpPr>
        <p:sp>
          <p:nvSpPr>
            <p:cNvPr name="Freeform 23" id="23"/>
            <p:cNvSpPr/>
            <p:nvPr/>
          </p:nvSpPr>
          <p:spPr>
            <a:xfrm flipH="false" flipV="false" rot="0">
              <a:off x="0" y="0"/>
              <a:ext cx="12687300" cy="1219200"/>
            </a:xfrm>
            <a:custGeom>
              <a:avLst/>
              <a:gdLst/>
              <a:ahLst/>
              <a:cxnLst/>
              <a:rect r="r" b="b" t="t" l="l"/>
              <a:pathLst>
                <a:path h="1219200" w="12687300">
                  <a:moveTo>
                    <a:pt x="0" y="0"/>
                  </a:moveTo>
                  <a:lnTo>
                    <a:pt x="12687300" y="0"/>
                  </a:lnTo>
                  <a:lnTo>
                    <a:pt x="12687300" y="1219200"/>
                  </a:lnTo>
                  <a:lnTo>
                    <a:pt x="0" y="1219200"/>
                  </a:lnTo>
                  <a:close/>
                </a:path>
              </a:pathLst>
            </a:custGeom>
            <a:solidFill>
              <a:srgbClr val="2072B7"/>
            </a:solidFill>
            <a:ln w="14288" cap="sq">
              <a:solidFill>
                <a:srgbClr val="2072B7"/>
              </a:solidFill>
              <a:prstDash val="solid"/>
              <a:miter/>
            </a:ln>
          </p:spPr>
        </p:sp>
        <p:sp>
          <p:nvSpPr>
            <p:cNvPr name="TextBox 24" id="24"/>
            <p:cNvSpPr txBox="true"/>
            <p:nvPr/>
          </p:nvSpPr>
          <p:spPr>
            <a:xfrm>
              <a:off x="0" y="-19050"/>
              <a:ext cx="12687300" cy="1238250"/>
            </a:xfrm>
            <a:prstGeom prst="rect">
              <a:avLst/>
            </a:prstGeom>
          </p:spPr>
          <p:txBody>
            <a:bodyPr anchor="ctr" rtlCol="false" tIns="50800" lIns="50800" bIns="50800" rIns="50800"/>
            <a:lstStyle/>
            <a:p>
              <a:pPr algn="ctr">
                <a:lnSpc>
                  <a:spcPts val="3240"/>
                </a:lnSpc>
              </a:pPr>
              <a:r>
                <a:rPr lang="en-US" sz="2700">
                  <a:solidFill>
                    <a:srgbClr val="FFFFFF"/>
                  </a:solidFill>
                  <a:latin typeface="Arial"/>
                  <a:ea typeface="Arial"/>
                  <a:cs typeface="Arial"/>
                  <a:sym typeface="Arial"/>
                </a:rPr>
                <a:t>Tính sai số so với nhãn thật</a:t>
              </a:r>
            </a:p>
          </p:txBody>
        </p:sp>
      </p:grpSp>
      <p:grpSp>
        <p:nvGrpSpPr>
          <p:cNvPr name="Group 25" id="25"/>
          <p:cNvGrpSpPr/>
          <p:nvPr/>
        </p:nvGrpSpPr>
        <p:grpSpPr>
          <a:xfrm rot="0">
            <a:off x="7779544" y="5879306"/>
            <a:ext cx="9515475" cy="914400"/>
            <a:chOff x="0" y="0"/>
            <a:chExt cx="12687300" cy="1219200"/>
          </a:xfrm>
        </p:grpSpPr>
        <p:sp>
          <p:nvSpPr>
            <p:cNvPr name="Freeform 26" id="26"/>
            <p:cNvSpPr/>
            <p:nvPr/>
          </p:nvSpPr>
          <p:spPr>
            <a:xfrm flipH="false" flipV="false" rot="0">
              <a:off x="0" y="0"/>
              <a:ext cx="12687300" cy="1219200"/>
            </a:xfrm>
            <a:custGeom>
              <a:avLst/>
              <a:gdLst/>
              <a:ahLst/>
              <a:cxnLst/>
              <a:rect r="r" b="b" t="t" l="l"/>
              <a:pathLst>
                <a:path h="1219200" w="12687300">
                  <a:moveTo>
                    <a:pt x="0" y="0"/>
                  </a:moveTo>
                  <a:lnTo>
                    <a:pt x="12687300" y="0"/>
                  </a:lnTo>
                  <a:lnTo>
                    <a:pt x="12687300" y="1219200"/>
                  </a:lnTo>
                  <a:lnTo>
                    <a:pt x="0" y="1219200"/>
                  </a:lnTo>
                  <a:close/>
                </a:path>
              </a:pathLst>
            </a:custGeom>
            <a:solidFill>
              <a:srgbClr val="2072B7"/>
            </a:solidFill>
            <a:ln w="14288" cap="sq">
              <a:solidFill>
                <a:srgbClr val="2072B7"/>
              </a:solidFill>
              <a:prstDash val="solid"/>
              <a:miter/>
            </a:ln>
          </p:spPr>
        </p:sp>
        <p:sp>
          <p:nvSpPr>
            <p:cNvPr name="TextBox 27" id="27"/>
            <p:cNvSpPr txBox="true"/>
            <p:nvPr/>
          </p:nvSpPr>
          <p:spPr>
            <a:xfrm>
              <a:off x="0" y="-19050"/>
              <a:ext cx="12687300" cy="1238250"/>
            </a:xfrm>
            <a:prstGeom prst="rect">
              <a:avLst/>
            </a:prstGeom>
          </p:spPr>
          <p:txBody>
            <a:bodyPr anchor="ctr" rtlCol="false" tIns="50800" lIns="50800" bIns="50800" rIns="50800"/>
            <a:lstStyle/>
            <a:p>
              <a:pPr algn="ctr">
                <a:lnSpc>
                  <a:spcPts val="3240"/>
                </a:lnSpc>
              </a:pPr>
              <a:r>
                <a:rPr lang="en-US" sz="2700">
                  <a:solidFill>
                    <a:srgbClr val="FFFFFF"/>
                  </a:solidFill>
                  <a:latin typeface="Arial"/>
                  <a:ea typeface="Arial"/>
                  <a:cs typeface="Arial"/>
                  <a:sym typeface="Arial"/>
                </a:rPr>
                <a:t>Cây mới học hướng giảm sai số</a:t>
              </a:r>
            </a:p>
          </p:txBody>
        </p:sp>
      </p:grpSp>
      <p:grpSp>
        <p:nvGrpSpPr>
          <p:cNvPr name="Group 28" id="28"/>
          <p:cNvGrpSpPr/>
          <p:nvPr/>
        </p:nvGrpSpPr>
        <p:grpSpPr>
          <a:xfrm rot="0">
            <a:off x="7779544" y="7193756"/>
            <a:ext cx="9515475" cy="914400"/>
            <a:chOff x="0" y="0"/>
            <a:chExt cx="12687300" cy="1219200"/>
          </a:xfrm>
        </p:grpSpPr>
        <p:sp>
          <p:nvSpPr>
            <p:cNvPr name="Freeform 29" id="29"/>
            <p:cNvSpPr/>
            <p:nvPr/>
          </p:nvSpPr>
          <p:spPr>
            <a:xfrm flipH="false" flipV="false" rot="0">
              <a:off x="0" y="0"/>
              <a:ext cx="12687300" cy="1219200"/>
            </a:xfrm>
            <a:custGeom>
              <a:avLst/>
              <a:gdLst/>
              <a:ahLst/>
              <a:cxnLst/>
              <a:rect r="r" b="b" t="t" l="l"/>
              <a:pathLst>
                <a:path h="1219200" w="12687300">
                  <a:moveTo>
                    <a:pt x="0" y="0"/>
                  </a:moveTo>
                  <a:lnTo>
                    <a:pt x="12687300" y="0"/>
                  </a:lnTo>
                  <a:lnTo>
                    <a:pt x="12687300" y="1219200"/>
                  </a:lnTo>
                  <a:lnTo>
                    <a:pt x="0" y="1219200"/>
                  </a:lnTo>
                  <a:close/>
                </a:path>
              </a:pathLst>
            </a:custGeom>
            <a:solidFill>
              <a:srgbClr val="2072B7"/>
            </a:solidFill>
            <a:ln w="14288" cap="sq">
              <a:solidFill>
                <a:srgbClr val="2072B7"/>
              </a:solidFill>
              <a:prstDash val="solid"/>
              <a:miter/>
            </a:ln>
          </p:spPr>
        </p:sp>
        <p:sp>
          <p:nvSpPr>
            <p:cNvPr name="TextBox 30" id="30"/>
            <p:cNvSpPr txBox="true"/>
            <p:nvPr/>
          </p:nvSpPr>
          <p:spPr>
            <a:xfrm>
              <a:off x="0" y="-19050"/>
              <a:ext cx="12687300" cy="1238250"/>
            </a:xfrm>
            <a:prstGeom prst="rect">
              <a:avLst/>
            </a:prstGeom>
          </p:spPr>
          <p:txBody>
            <a:bodyPr anchor="ctr" rtlCol="false" tIns="50800" lIns="50800" bIns="50800" rIns="50800"/>
            <a:lstStyle/>
            <a:p>
              <a:pPr algn="ctr">
                <a:lnSpc>
                  <a:spcPts val="3240"/>
                </a:lnSpc>
              </a:pPr>
              <a:r>
                <a:rPr lang="en-US" sz="2700">
                  <a:solidFill>
                    <a:srgbClr val="FFFFFF"/>
                  </a:solidFill>
                  <a:latin typeface="Arial"/>
                  <a:ea typeface="Arial"/>
                  <a:cs typeface="Arial"/>
                  <a:sym typeface="Arial"/>
                </a:rPr>
                <a:t>Cộng điểm cây mới và cập nhật mô hình</a:t>
              </a:r>
            </a:p>
          </p:txBody>
        </p:sp>
      </p:grpSp>
      <p:sp>
        <p:nvSpPr>
          <p:cNvPr name="TextBox 31" id="31"/>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668"/>
            <a:ext cx="18288000" cy="1070038"/>
            <a:chOff x="0" y="0"/>
            <a:chExt cx="24384000" cy="1426718"/>
          </a:xfrm>
        </p:grpSpPr>
        <p:sp>
          <p:nvSpPr>
            <p:cNvPr name="Freeform 3" id="3"/>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2072B7"/>
            </a:solidFill>
          </p:spPr>
        </p:sp>
      </p:grpSp>
      <p:grpSp>
        <p:nvGrpSpPr>
          <p:cNvPr name="Group 4" id="4"/>
          <p:cNvGrpSpPr/>
          <p:nvPr/>
        </p:nvGrpSpPr>
        <p:grpSpPr>
          <a:xfrm rot="0">
            <a:off x="477926" y="3334"/>
            <a:ext cx="4935598" cy="1027605"/>
            <a:chOff x="0" y="0"/>
            <a:chExt cx="6580797" cy="1370140"/>
          </a:xfrm>
        </p:grpSpPr>
        <p:sp>
          <p:nvSpPr>
            <p:cNvPr name="Freeform 5" id="5"/>
            <p:cNvSpPr/>
            <p:nvPr/>
          </p:nvSpPr>
          <p:spPr>
            <a:xfrm flipH="false" flipV="false" rot="0">
              <a:off x="0" y="0"/>
              <a:ext cx="6580759" cy="1370203"/>
            </a:xfrm>
            <a:custGeom>
              <a:avLst/>
              <a:gdLst/>
              <a:ahLst/>
              <a:cxnLst/>
              <a:rect r="r" b="b" t="t" l="l"/>
              <a:pathLst>
                <a:path h="1370203" w="6580759">
                  <a:moveTo>
                    <a:pt x="0" y="0"/>
                  </a:moveTo>
                  <a:lnTo>
                    <a:pt x="6580759" y="0"/>
                  </a:lnTo>
                  <a:lnTo>
                    <a:pt x="6580759" y="1370203"/>
                  </a:lnTo>
                  <a:lnTo>
                    <a:pt x="0" y="1370203"/>
                  </a:lnTo>
                  <a:lnTo>
                    <a:pt x="0" y="0"/>
                  </a:lnTo>
                  <a:close/>
                </a:path>
              </a:pathLst>
            </a:custGeom>
            <a:blipFill>
              <a:blip r:embed="rId3"/>
              <a:stretch>
                <a:fillRect l="-191" t="0" r="-192" b="4"/>
              </a:stretch>
            </a:blipFill>
          </p:spPr>
        </p:sp>
      </p:grpSp>
      <p:grpSp>
        <p:nvGrpSpPr>
          <p:cNvPr name="Group 6" id="6"/>
          <p:cNvGrpSpPr/>
          <p:nvPr/>
        </p:nvGrpSpPr>
        <p:grpSpPr>
          <a:xfrm rot="0">
            <a:off x="2663190" y="10082212"/>
            <a:ext cx="15624810" cy="204845"/>
            <a:chOff x="0" y="0"/>
            <a:chExt cx="20833080" cy="273126"/>
          </a:xfrm>
        </p:grpSpPr>
        <p:sp>
          <p:nvSpPr>
            <p:cNvPr name="Freeform 7" id="7"/>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2072B7"/>
            </a:solidFill>
          </p:spPr>
        </p:sp>
      </p:grpSp>
      <p:grpSp>
        <p:nvGrpSpPr>
          <p:cNvPr name="Group 8" id="8"/>
          <p:cNvGrpSpPr/>
          <p:nvPr/>
        </p:nvGrpSpPr>
        <p:grpSpPr>
          <a:xfrm rot="0">
            <a:off x="2743238" y="10108759"/>
            <a:ext cx="15544724" cy="152705"/>
            <a:chOff x="0" y="0"/>
            <a:chExt cx="20726298" cy="203606"/>
          </a:xfrm>
        </p:grpSpPr>
        <p:sp>
          <p:nvSpPr>
            <p:cNvPr name="Freeform 9" id="9"/>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4"/>
              <a:stretch>
                <a:fillRect l="0" t="0" r="0" b="-35745"/>
              </a:stretch>
            </a:blipFill>
          </p:spPr>
        </p:sp>
      </p:grpSp>
      <p:sp>
        <p:nvSpPr>
          <p:cNvPr name="TextBox 10" id="10"/>
          <p:cNvSpPr txBox="true"/>
          <p:nvPr/>
        </p:nvSpPr>
        <p:spPr>
          <a:xfrm rot="0">
            <a:off x="302009" y="10002231"/>
            <a:ext cx="2254501" cy="327536"/>
          </a:xfrm>
          <a:prstGeom prst="rect">
            <a:avLst/>
          </a:prstGeom>
        </p:spPr>
        <p:txBody>
          <a:bodyPr anchor="t" rtlCol="false" tIns="0" lIns="0" bIns="0" rIns="0">
            <a:spAutoFit/>
          </a:bodyPr>
          <a:lstStyle/>
          <a:p>
            <a:pPr algn="l">
              <a:lnSpc>
                <a:spcPts val="1800"/>
              </a:lnSpc>
            </a:pPr>
            <a:r>
              <a:rPr lang="en-US" sz="1500">
                <a:solidFill>
                  <a:srgbClr val="0070C0"/>
                </a:solidFill>
                <a:latin typeface="Calibri (MS)"/>
                <a:ea typeface="Calibri (MS)"/>
                <a:cs typeface="Calibri (MS)"/>
                <a:sym typeface="Calibri (MS)"/>
              </a:rPr>
              <a:t>https://huit.edu.vn</a:t>
            </a:r>
          </a:p>
        </p:txBody>
      </p:sp>
      <p:sp>
        <p:nvSpPr>
          <p:cNvPr name="AutoShape 11" id="11"/>
          <p:cNvSpPr/>
          <p:nvPr/>
        </p:nvSpPr>
        <p:spPr>
          <a:xfrm rot="2406060">
            <a:off x="7537228" y="8205788"/>
            <a:ext cx="177451" cy="19050"/>
          </a:xfrm>
          <a:prstGeom prst="line">
            <a:avLst/>
          </a:prstGeom>
          <a:ln cap="rnd" w="19050">
            <a:solidFill>
              <a:srgbClr val="2072B7"/>
            </a:solidFill>
            <a:prstDash val="solid"/>
            <a:headEnd type="none" len="sm" w="sm"/>
            <a:tailEnd type="triangle" len="med" w="lg"/>
          </a:ln>
        </p:spPr>
      </p:sp>
      <p:sp>
        <p:nvSpPr>
          <p:cNvPr name="AutoShape 12" id="12"/>
          <p:cNvSpPr/>
          <p:nvPr/>
        </p:nvSpPr>
        <p:spPr>
          <a:xfrm rot="853560">
            <a:off x="5525748" y="6891338"/>
            <a:ext cx="2093004" cy="19050"/>
          </a:xfrm>
          <a:prstGeom prst="line">
            <a:avLst/>
          </a:prstGeom>
          <a:ln cap="rnd" w="19050">
            <a:solidFill>
              <a:srgbClr val="2072B7"/>
            </a:solidFill>
            <a:prstDash val="solid"/>
            <a:headEnd type="none" len="sm" w="sm"/>
            <a:tailEnd type="triangle" len="med" w="lg"/>
          </a:ln>
        </p:spPr>
      </p:sp>
      <p:sp>
        <p:nvSpPr>
          <p:cNvPr name="AutoShape 13" id="13"/>
          <p:cNvSpPr/>
          <p:nvPr/>
        </p:nvSpPr>
        <p:spPr>
          <a:xfrm rot="10112280">
            <a:off x="2454478" y="6948488"/>
            <a:ext cx="3163481" cy="19050"/>
          </a:xfrm>
          <a:prstGeom prst="line">
            <a:avLst/>
          </a:prstGeom>
          <a:ln cap="rnd" w="19050">
            <a:solidFill>
              <a:srgbClr val="2072B7"/>
            </a:solidFill>
            <a:prstDash val="solid"/>
            <a:headEnd type="none" len="sm" w="sm"/>
            <a:tailEnd type="triangle" len="med" w="lg"/>
          </a:ln>
        </p:spPr>
      </p:sp>
      <p:sp>
        <p:nvSpPr>
          <p:cNvPr name="TextBox 14" id="14"/>
          <p:cNvSpPr txBox="true"/>
          <p:nvPr/>
        </p:nvSpPr>
        <p:spPr>
          <a:xfrm rot="0">
            <a:off x="857250" y="1466850"/>
            <a:ext cx="16573500" cy="819150"/>
          </a:xfrm>
          <a:prstGeom prst="rect">
            <a:avLst/>
          </a:prstGeom>
        </p:spPr>
        <p:txBody>
          <a:bodyPr anchor="t" rtlCol="false" tIns="0" lIns="0" bIns="0" rIns="0">
            <a:spAutoFit/>
          </a:bodyPr>
          <a:lstStyle/>
          <a:p>
            <a:pPr algn="l">
              <a:lnSpc>
                <a:spcPts val="4995"/>
              </a:lnSpc>
            </a:pPr>
            <a:r>
              <a:rPr lang="en-US" sz="4162" b="true">
                <a:solidFill>
                  <a:srgbClr val="2072B7"/>
                </a:solidFill>
                <a:latin typeface="Arial Bold"/>
                <a:ea typeface="Arial Bold"/>
                <a:cs typeface="Arial Bold"/>
                <a:sym typeface="Arial Bold"/>
              </a:rPr>
              <a:t>LightGBM</a:t>
            </a:r>
          </a:p>
        </p:txBody>
      </p:sp>
      <p:sp>
        <p:nvSpPr>
          <p:cNvPr name="TextBox 15" id="15"/>
          <p:cNvSpPr txBox="true"/>
          <p:nvPr/>
        </p:nvSpPr>
        <p:spPr>
          <a:xfrm rot="0">
            <a:off x="857250" y="2352675"/>
            <a:ext cx="16573500" cy="647700"/>
          </a:xfrm>
          <a:prstGeom prst="rect">
            <a:avLst/>
          </a:prstGeom>
        </p:spPr>
        <p:txBody>
          <a:bodyPr anchor="t" rtlCol="false" tIns="0" lIns="0" bIns="0" rIns="0">
            <a:spAutoFit/>
          </a:bodyPr>
          <a:lstStyle/>
          <a:p>
            <a:pPr algn="l">
              <a:lnSpc>
                <a:spcPts val="3240"/>
              </a:lnSpc>
            </a:pPr>
            <a:r>
              <a:rPr lang="en-US" sz="2700" b="true">
                <a:solidFill>
                  <a:srgbClr val="174C7E"/>
                </a:solidFill>
                <a:latin typeface="Arial Bold"/>
                <a:ea typeface="Arial Bold"/>
                <a:cs typeface="Arial Bold"/>
                <a:sym typeface="Arial Bold"/>
              </a:rPr>
              <a:t>Gom giá trị vào histogram, rồi mở rộng lá giúp giảm sai số nhiều nhất</a:t>
            </a:r>
          </a:p>
        </p:txBody>
      </p:sp>
      <p:sp>
        <p:nvSpPr>
          <p:cNvPr name="TextBox 16" id="16"/>
          <p:cNvSpPr txBox="true"/>
          <p:nvPr/>
        </p:nvSpPr>
        <p:spPr>
          <a:xfrm rot="0">
            <a:off x="11430000" y="3309938"/>
            <a:ext cx="6000750" cy="1376362"/>
          </a:xfrm>
          <a:prstGeom prst="rect">
            <a:avLst/>
          </a:prstGeom>
        </p:spPr>
        <p:txBody>
          <a:bodyPr anchor="t" rtlCol="false" tIns="0" lIns="0" bIns="0" rIns="0">
            <a:spAutoFit/>
          </a:bodyPr>
          <a:lstStyle/>
          <a:p>
            <a:pPr algn="l">
              <a:lnSpc>
                <a:spcPts val="3510"/>
              </a:lnSpc>
            </a:pPr>
            <a:r>
              <a:rPr lang="en-US" sz="2925">
                <a:solidFill>
                  <a:srgbClr val="202D39"/>
                </a:solidFill>
                <a:latin typeface="Arial"/>
                <a:ea typeface="Arial"/>
                <a:cs typeface="Arial"/>
                <a:sym typeface="Arial"/>
              </a:rPr>
              <a:t>Đầu vào: lịch bay, giờ bay, hãng và sân bay.</a:t>
            </a:r>
          </a:p>
          <a:p>
            <a:pPr algn="l">
              <a:lnSpc>
                <a:spcPts val="3510"/>
              </a:lnSpc>
            </a:pPr>
            <a:r>
              <a:rPr lang="en-US" sz="2925">
                <a:solidFill>
                  <a:srgbClr val="202D39"/>
                </a:solidFill>
                <a:latin typeface="Arial"/>
                <a:ea typeface="Arial"/>
                <a:cs typeface="Arial"/>
                <a:sym typeface="Arial"/>
              </a:rPr>
              <a:t>Đầu ra: một trong sáu nhãn.</a:t>
            </a:r>
          </a:p>
        </p:txBody>
      </p:sp>
      <p:sp>
        <p:nvSpPr>
          <p:cNvPr name="TextBox 17" id="17"/>
          <p:cNvSpPr txBox="true"/>
          <p:nvPr/>
        </p:nvSpPr>
        <p:spPr>
          <a:xfrm rot="0">
            <a:off x="11430000" y="4938712"/>
            <a:ext cx="6000750" cy="1376362"/>
          </a:xfrm>
          <a:prstGeom prst="rect">
            <a:avLst/>
          </a:prstGeom>
        </p:spPr>
        <p:txBody>
          <a:bodyPr anchor="t" rtlCol="false" tIns="0" lIns="0" bIns="0" rIns="0">
            <a:spAutoFit/>
          </a:bodyPr>
          <a:lstStyle/>
          <a:p>
            <a:pPr algn="l">
              <a:lnSpc>
                <a:spcPts val="3510"/>
              </a:lnSpc>
            </a:pPr>
            <a:r>
              <a:rPr lang="en-US" sz="2925">
                <a:solidFill>
                  <a:srgbClr val="202D39"/>
                </a:solidFill>
                <a:latin typeface="Arial"/>
                <a:ea typeface="Arial"/>
                <a:cs typeface="Arial"/>
                <a:sym typeface="Arial"/>
              </a:rPr>
              <a:t>Ưu điểm: histogram giúp tìm điểm chia hiệu quả trên dữ liệu lớn.</a:t>
            </a:r>
          </a:p>
        </p:txBody>
      </p:sp>
      <p:sp>
        <p:nvSpPr>
          <p:cNvPr name="TextBox 18" id="18"/>
          <p:cNvSpPr txBox="true"/>
          <p:nvPr/>
        </p:nvSpPr>
        <p:spPr>
          <a:xfrm rot="0">
            <a:off x="11430000" y="6567488"/>
            <a:ext cx="6000750" cy="1376362"/>
          </a:xfrm>
          <a:prstGeom prst="rect">
            <a:avLst/>
          </a:prstGeom>
        </p:spPr>
        <p:txBody>
          <a:bodyPr anchor="t" rtlCol="false" tIns="0" lIns="0" bIns="0" rIns="0">
            <a:spAutoFit/>
          </a:bodyPr>
          <a:lstStyle/>
          <a:p>
            <a:pPr algn="l">
              <a:lnSpc>
                <a:spcPts val="3510"/>
              </a:lnSpc>
            </a:pPr>
            <a:r>
              <a:rPr lang="en-US" sz="2925">
                <a:solidFill>
                  <a:srgbClr val="202D39"/>
                </a:solidFill>
                <a:latin typeface="Arial"/>
                <a:ea typeface="Arial"/>
                <a:cs typeface="Arial"/>
                <a:sym typeface="Arial"/>
              </a:rPr>
              <a:t>Hạn chế: phát triển theo lá dễ tạo nhánh sâu nếu không giới hạn.</a:t>
            </a:r>
          </a:p>
        </p:txBody>
      </p:sp>
      <p:grpSp>
        <p:nvGrpSpPr>
          <p:cNvPr name="Group 19" id="19"/>
          <p:cNvGrpSpPr/>
          <p:nvPr/>
        </p:nvGrpSpPr>
        <p:grpSpPr>
          <a:xfrm rot="0">
            <a:off x="921544" y="3307556"/>
            <a:ext cx="9586912" cy="800100"/>
            <a:chOff x="0" y="0"/>
            <a:chExt cx="12782550" cy="1066800"/>
          </a:xfrm>
        </p:grpSpPr>
        <p:sp>
          <p:nvSpPr>
            <p:cNvPr name="Freeform 20" id="20"/>
            <p:cNvSpPr/>
            <p:nvPr/>
          </p:nvSpPr>
          <p:spPr>
            <a:xfrm flipH="false" flipV="false" rot="0">
              <a:off x="0" y="0"/>
              <a:ext cx="12782550" cy="1066800"/>
            </a:xfrm>
            <a:custGeom>
              <a:avLst/>
              <a:gdLst/>
              <a:ahLst/>
              <a:cxnLst/>
              <a:rect r="r" b="b" t="t" l="l"/>
              <a:pathLst>
                <a:path h="1066800" w="12782550">
                  <a:moveTo>
                    <a:pt x="0" y="0"/>
                  </a:moveTo>
                  <a:lnTo>
                    <a:pt x="12782550" y="0"/>
                  </a:lnTo>
                  <a:lnTo>
                    <a:pt x="12782550" y="1066800"/>
                  </a:lnTo>
                  <a:lnTo>
                    <a:pt x="0" y="1066800"/>
                  </a:lnTo>
                  <a:close/>
                </a:path>
              </a:pathLst>
            </a:custGeom>
            <a:solidFill>
              <a:srgbClr val="2072B7"/>
            </a:solidFill>
            <a:ln w="14288" cap="sq">
              <a:solidFill>
                <a:srgbClr val="2072B7"/>
              </a:solidFill>
              <a:prstDash val="solid"/>
              <a:miter/>
            </a:ln>
          </p:spPr>
        </p:sp>
        <p:sp>
          <p:nvSpPr>
            <p:cNvPr name="TextBox 21" id="21"/>
            <p:cNvSpPr txBox="true"/>
            <p:nvPr/>
          </p:nvSpPr>
          <p:spPr>
            <a:xfrm>
              <a:off x="0" y="-19050"/>
              <a:ext cx="12782550" cy="1085850"/>
            </a:xfrm>
            <a:prstGeom prst="rect">
              <a:avLst/>
            </a:prstGeom>
          </p:spPr>
          <p:txBody>
            <a:bodyPr anchor="ctr" rtlCol="false" tIns="50800" lIns="50800" bIns="50800" rIns="50800"/>
            <a:lstStyle/>
            <a:p>
              <a:pPr algn="ctr">
                <a:lnSpc>
                  <a:spcPts val="3240"/>
                </a:lnSpc>
              </a:pPr>
              <a:r>
                <a:rPr lang="en-US" sz="2700">
                  <a:solidFill>
                    <a:srgbClr val="FFFFFF"/>
                  </a:solidFill>
                  <a:latin typeface="Arial"/>
                  <a:ea typeface="Arial"/>
                  <a:cs typeface="Arial"/>
                  <a:sym typeface="Arial"/>
                </a:rPr>
                <a:t>Đặc trưng số → các nhóm giá trị</a:t>
              </a:r>
            </a:p>
          </p:txBody>
        </p:sp>
      </p:grpSp>
      <p:graphicFrame>
        <p:nvGraphicFramePr>
          <p:cNvPr name="Table 22" id="22"/>
          <p:cNvGraphicFramePr>
            <a:graphicFrameLocks noGrp="true"/>
          </p:cNvGraphicFramePr>
          <p:nvPr/>
        </p:nvGraphicFramePr>
        <p:xfrm>
          <a:off x="928688" y="4314825"/>
          <a:ext cx="9563100" cy="1181100"/>
        </p:xfrm>
        <a:graphic>
          <a:graphicData uri="http://schemas.openxmlformats.org/drawingml/2006/table">
            <a:tbl>
              <a:tblPr/>
              <a:tblGrid>
                <a:gridCol w="3192430"/>
                <a:gridCol w="3178241"/>
                <a:gridCol w="3192430"/>
              </a:tblGrid>
              <a:tr h="597261">
                <a:tc>
                  <a:txBody>
                    <a:bodyPr anchor="t" rtlCol="false"/>
                    <a:lstStyle/>
                    <a:p>
                      <a:pPr algn="l">
                        <a:lnSpc>
                          <a:spcPts val="2970"/>
                        </a:lnSpc>
                        <a:defRPr/>
                      </a:pPr>
                      <a:r>
                        <a:rPr lang="en-US" sz="2475" b="true">
                          <a:solidFill>
                            <a:srgbClr val="FFFFFF"/>
                          </a:solidFill>
                          <a:latin typeface="Arial Bold"/>
                          <a:ea typeface="Arial Bold"/>
                          <a:cs typeface="Arial Bold"/>
                          <a:sym typeface="Arial Bold"/>
                        </a:rPr>
                        <a:t>Nhóm 1</a:t>
                      </a:r>
                      <a:endParaRPr lang="en-US" sz="1100"/>
                    </a:p>
                  </a:txBody>
                  <a:tcPr marL="57150" marR="57150" marT="57150" marB="57150" anchor="t">
                    <a:lnL cmpd="sng" algn="ctr" cap="flat" w="9525">
                      <a:solidFill>
                        <a:srgbClr val="C3D5E4"/>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9525">
                      <a:solidFill>
                        <a:srgbClr val="C3D5E4"/>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2072B7"/>
                    </a:solidFill>
                  </a:tcPr>
                </a:tc>
                <a:tc>
                  <a:txBody>
                    <a:bodyPr anchor="t" rtlCol="false"/>
                    <a:lstStyle/>
                    <a:p>
                      <a:pPr algn="l">
                        <a:lnSpc>
                          <a:spcPts val="2970"/>
                        </a:lnSpc>
                        <a:defRPr/>
                      </a:pPr>
                      <a:r>
                        <a:rPr lang="en-US" sz="2475" b="true">
                          <a:solidFill>
                            <a:srgbClr val="FFFFFF"/>
                          </a:solidFill>
                          <a:latin typeface="Arial Bold"/>
                          <a:ea typeface="Arial Bold"/>
                          <a:cs typeface="Arial Bold"/>
                          <a:sym typeface="Arial Bold"/>
                        </a:rPr>
                        <a:t>Nhóm 2</a:t>
                      </a:r>
                      <a:endParaRPr lang="en-US" sz="1100"/>
                    </a:p>
                  </a:txBody>
                  <a:tcPr marL="57150" marR="57150" marT="57150" marB="57150" anchor="t">
                    <a:lnL cmpd="sng" algn="ctr" cap="flat" w="4762">
                      <a:solidFill>
                        <a:srgbClr val="000000"/>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9525">
                      <a:solidFill>
                        <a:srgbClr val="C3D5E4"/>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2072B7"/>
                    </a:solidFill>
                  </a:tcPr>
                </a:tc>
                <a:tc>
                  <a:txBody>
                    <a:bodyPr anchor="t" rtlCol="false"/>
                    <a:lstStyle/>
                    <a:p>
                      <a:pPr algn="l">
                        <a:lnSpc>
                          <a:spcPts val="2970"/>
                        </a:lnSpc>
                        <a:defRPr/>
                      </a:pPr>
                      <a:r>
                        <a:rPr lang="en-US" sz="2475" b="true">
                          <a:solidFill>
                            <a:srgbClr val="FFFFFF"/>
                          </a:solidFill>
                          <a:latin typeface="Arial Bold"/>
                          <a:ea typeface="Arial Bold"/>
                          <a:cs typeface="Arial Bold"/>
                          <a:sym typeface="Arial Bold"/>
                        </a:rPr>
                        <a:t>Nhóm 3</a:t>
                      </a:r>
                      <a:endParaRPr lang="en-US" sz="1100"/>
                    </a:p>
                  </a:txBody>
                  <a:tcPr marL="57150" marR="57150" marT="57150" marB="57150" anchor="t">
                    <a:lnL cmpd="sng" algn="ctr" cap="flat" w="4762">
                      <a:solidFill>
                        <a:srgbClr val="000000"/>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9525">
                      <a:solidFill>
                        <a:srgbClr val="C3D5E4"/>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2072B7"/>
                    </a:solidFill>
                  </a:tcPr>
                </a:tc>
              </a:tr>
              <a:tr h="583839">
                <a:tc>
                  <a:txBody>
                    <a:bodyPr anchor="t" rtlCol="false"/>
                    <a:lstStyle/>
                    <a:p>
                      <a:pPr algn="l">
                        <a:lnSpc>
                          <a:spcPts val="2970"/>
                        </a:lnSpc>
                        <a:defRPr/>
                      </a:pPr>
                      <a:r>
                        <a:rPr lang="en-US" sz="2475">
                          <a:solidFill>
                            <a:srgbClr val="202D39"/>
                          </a:solidFill>
                          <a:latin typeface="Arial"/>
                          <a:ea typeface="Arial"/>
                          <a:cs typeface="Arial"/>
                          <a:sym typeface="Arial"/>
                        </a:rPr>
                        <a:t>Thống kê</a:t>
                      </a:r>
                      <a:endParaRPr lang="en-US" sz="1100"/>
                    </a:p>
                    <a:p>
                      <a:pPr algn="l">
                        <a:lnSpc>
                          <a:spcPts val="2970"/>
                        </a:lnSpc>
                      </a:pPr>
                      <a:r>
                        <a:rPr lang="en-US" sz="2475">
                          <a:solidFill>
                            <a:srgbClr val="202D39"/>
                          </a:solidFill>
                          <a:latin typeface="Arial"/>
                          <a:ea typeface="Arial"/>
                          <a:cs typeface="Arial"/>
                          <a:sym typeface="Arial"/>
                        </a:rPr>
                        <a:t>gradient</a:t>
                      </a:r>
                    </a:p>
                  </a:txBody>
                  <a:tcPr marL="57150" marR="57150" marT="57150" marB="57150" anchor="t">
                    <a:lnL cmpd="sng" algn="ctr" cap="flat" w="9525">
                      <a:solidFill>
                        <a:srgbClr val="C3D5E4"/>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EDF5FB"/>
                    </a:solidFill>
                  </a:tcPr>
                </a:tc>
                <a:tc>
                  <a:txBody>
                    <a:bodyPr anchor="t" rtlCol="false"/>
                    <a:lstStyle/>
                    <a:p>
                      <a:pPr algn="l">
                        <a:lnSpc>
                          <a:spcPts val="2970"/>
                        </a:lnSpc>
                        <a:defRPr/>
                      </a:pPr>
                      <a:r>
                        <a:rPr lang="en-US" sz="2475">
                          <a:solidFill>
                            <a:srgbClr val="202D39"/>
                          </a:solidFill>
                          <a:latin typeface="Arial"/>
                          <a:ea typeface="Arial"/>
                          <a:cs typeface="Arial"/>
                          <a:sym typeface="Arial"/>
                        </a:rPr>
                        <a:t>Thống kê</a:t>
                      </a:r>
                      <a:endParaRPr lang="en-US" sz="1100"/>
                    </a:p>
                    <a:p>
                      <a:pPr algn="l">
                        <a:lnSpc>
                          <a:spcPts val="2970"/>
                        </a:lnSpc>
                      </a:pPr>
                      <a:r>
                        <a:rPr lang="en-US" sz="2475">
                          <a:solidFill>
                            <a:srgbClr val="202D39"/>
                          </a:solidFill>
                          <a:latin typeface="Arial"/>
                          <a:ea typeface="Arial"/>
                          <a:cs typeface="Arial"/>
                          <a:sym typeface="Arial"/>
                        </a:rPr>
                        <a:t>gradient</a:t>
                      </a:r>
                    </a:p>
                  </a:txBody>
                  <a:tcPr marL="57150" marR="57150" marT="57150" marB="57150" anchor="t">
                    <a:lnL cmpd="sng" algn="ctr" cap="flat" w="4762">
                      <a:solidFill>
                        <a:srgbClr val="000000"/>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EDF5FB"/>
                    </a:solidFill>
                  </a:tcPr>
                </a:tc>
                <a:tc>
                  <a:txBody>
                    <a:bodyPr anchor="t" rtlCol="false"/>
                    <a:lstStyle/>
                    <a:p>
                      <a:pPr algn="l">
                        <a:lnSpc>
                          <a:spcPts val="2970"/>
                        </a:lnSpc>
                        <a:defRPr/>
                      </a:pPr>
                      <a:r>
                        <a:rPr lang="en-US" sz="2475">
                          <a:solidFill>
                            <a:srgbClr val="202D39"/>
                          </a:solidFill>
                          <a:latin typeface="Arial"/>
                          <a:ea typeface="Arial"/>
                          <a:cs typeface="Arial"/>
                          <a:sym typeface="Arial"/>
                        </a:rPr>
                        <a:t>Thống kê</a:t>
                      </a:r>
                      <a:endParaRPr lang="en-US" sz="1100"/>
                    </a:p>
                    <a:p>
                      <a:pPr algn="l">
                        <a:lnSpc>
                          <a:spcPts val="2970"/>
                        </a:lnSpc>
                      </a:pPr>
                      <a:r>
                        <a:rPr lang="en-US" sz="2475">
                          <a:solidFill>
                            <a:srgbClr val="202D39"/>
                          </a:solidFill>
                          <a:latin typeface="Arial"/>
                          <a:ea typeface="Arial"/>
                          <a:cs typeface="Arial"/>
                          <a:sym typeface="Arial"/>
                        </a:rPr>
                        <a:t>gradient</a:t>
                      </a:r>
                    </a:p>
                  </a:txBody>
                  <a:tcPr marL="57150" marR="57150" marT="57150" marB="57150" anchor="t">
                    <a:lnL cmpd="sng" algn="ctr" cap="flat" w="4762">
                      <a:solidFill>
                        <a:srgbClr val="000000"/>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EDF5FB"/>
                    </a:solidFill>
                  </a:tcPr>
                </a:tc>
              </a:tr>
            </a:tbl>
          </a:graphicData>
        </a:graphic>
      </p:graphicFrame>
      <p:grpSp>
        <p:nvGrpSpPr>
          <p:cNvPr name="Group 23" id="23"/>
          <p:cNvGrpSpPr/>
          <p:nvPr/>
        </p:nvGrpSpPr>
        <p:grpSpPr>
          <a:xfrm rot="0">
            <a:off x="3564731" y="5907881"/>
            <a:ext cx="4014788" cy="757238"/>
            <a:chOff x="0" y="0"/>
            <a:chExt cx="5353050" cy="1009650"/>
          </a:xfrm>
        </p:grpSpPr>
        <p:sp>
          <p:nvSpPr>
            <p:cNvPr name="Freeform 24" id="24"/>
            <p:cNvSpPr/>
            <p:nvPr/>
          </p:nvSpPr>
          <p:spPr>
            <a:xfrm flipH="false" flipV="false" rot="0">
              <a:off x="0" y="0"/>
              <a:ext cx="5353050" cy="1009650"/>
            </a:xfrm>
            <a:custGeom>
              <a:avLst/>
              <a:gdLst/>
              <a:ahLst/>
              <a:cxnLst/>
              <a:rect r="r" b="b" t="t" l="l"/>
              <a:pathLst>
                <a:path h="1009650" w="5353050">
                  <a:moveTo>
                    <a:pt x="0" y="0"/>
                  </a:moveTo>
                  <a:lnTo>
                    <a:pt x="5353050" y="0"/>
                  </a:lnTo>
                  <a:lnTo>
                    <a:pt x="5353050" y="1009650"/>
                  </a:lnTo>
                  <a:lnTo>
                    <a:pt x="0" y="1009650"/>
                  </a:lnTo>
                  <a:close/>
                </a:path>
              </a:pathLst>
            </a:custGeom>
            <a:solidFill>
              <a:srgbClr val="2072B7"/>
            </a:solidFill>
            <a:ln w="14288" cap="sq">
              <a:solidFill>
                <a:srgbClr val="2072B7"/>
              </a:solidFill>
              <a:prstDash val="solid"/>
              <a:miter/>
            </a:ln>
          </p:spPr>
        </p:sp>
        <p:sp>
          <p:nvSpPr>
            <p:cNvPr name="TextBox 25" id="25"/>
            <p:cNvSpPr txBox="true"/>
            <p:nvPr/>
          </p:nvSpPr>
          <p:spPr>
            <a:xfrm>
              <a:off x="0" y="-19050"/>
              <a:ext cx="5353050" cy="1028700"/>
            </a:xfrm>
            <a:prstGeom prst="rect">
              <a:avLst/>
            </a:prstGeom>
          </p:spPr>
          <p:txBody>
            <a:bodyPr anchor="ctr" rtlCol="false" tIns="50800" lIns="50800" bIns="50800" rIns="50800"/>
            <a:lstStyle/>
            <a:p>
              <a:pPr algn="ctr">
                <a:lnSpc>
                  <a:spcPts val="3240"/>
                </a:lnSpc>
              </a:pPr>
              <a:r>
                <a:rPr lang="en-US" sz="2700">
                  <a:solidFill>
                    <a:srgbClr val="FFFFFF"/>
                  </a:solidFill>
                  <a:latin typeface="Arial"/>
                  <a:ea typeface="Arial"/>
                  <a:cs typeface="Arial"/>
                  <a:sym typeface="Arial"/>
                </a:rPr>
                <a:t>Chọn điểm chia</a:t>
              </a:r>
            </a:p>
          </p:txBody>
        </p:sp>
      </p:grpSp>
      <p:grpSp>
        <p:nvGrpSpPr>
          <p:cNvPr name="Group 26" id="26"/>
          <p:cNvGrpSpPr/>
          <p:nvPr/>
        </p:nvGrpSpPr>
        <p:grpSpPr>
          <a:xfrm rot="0">
            <a:off x="1278731" y="7250906"/>
            <a:ext cx="2443162" cy="757238"/>
            <a:chOff x="0" y="0"/>
            <a:chExt cx="3257550" cy="1009650"/>
          </a:xfrm>
        </p:grpSpPr>
        <p:sp>
          <p:nvSpPr>
            <p:cNvPr name="Freeform 27" id="27"/>
            <p:cNvSpPr/>
            <p:nvPr/>
          </p:nvSpPr>
          <p:spPr>
            <a:xfrm flipH="false" flipV="false" rot="0">
              <a:off x="0" y="0"/>
              <a:ext cx="3257550" cy="1009650"/>
            </a:xfrm>
            <a:custGeom>
              <a:avLst/>
              <a:gdLst/>
              <a:ahLst/>
              <a:cxnLst/>
              <a:rect r="r" b="b" t="t" l="l"/>
              <a:pathLst>
                <a:path h="1009650" w="3257550">
                  <a:moveTo>
                    <a:pt x="0" y="0"/>
                  </a:moveTo>
                  <a:lnTo>
                    <a:pt x="3257550" y="0"/>
                  </a:lnTo>
                  <a:lnTo>
                    <a:pt x="3257550" y="1009650"/>
                  </a:lnTo>
                  <a:lnTo>
                    <a:pt x="0" y="1009650"/>
                  </a:lnTo>
                  <a:close/>
                </a:path>
              </a:pathLst>
            </a:custGeom>
            <a:solidFill>
              <a:srgbClr val="EDF5FB"/>
            </a:solidFill>
            <a:ln w="14288" cap="sq">
              <a:solidFill>
                <a:srgbClr val="B9D2E7"/>
              </a:solidFill>
              <a:prstDash val="solid"/>
              <a:miter/>
            </a:ln>
          </p:spPr>
        </p:sp>
        <p:sp>
          <p:nvSpPr>
            <p:cNvPr name="TextBox 28" id="28"/>
            <p:cNvSpPr txBox="true"/>
            <p:nvPr/>
          </p:nvSpPr>
          <p:spPr>
            <a:xfrm>
              <a:off x="0" y="-19050"/>
              <a:ext cx="3257550" cy="1028700"/>
            </a:xfrm>
            <a:prstGeom prst="rect">
              <a:avLst/>
            </a:prstGeom>
          </p:spPr>
          <p:txBody>
            <a:bodyPr anchor="ctr" rtlCol="false" tIns="50800" lIns="50800" bIns="50800" rIns="50800"/>
            <a:lstStyle/>
            <a:p>
              <a:pPr algn="ctr">
                <a:lnSpc>
                  <a:spcPts val="3240"/>
                </a:lnSpc>
              </a:pPr>
              <a:r>
                <a:rPr lang="en-US" sz="2700">
                  <a:solidFill>
                    <a:srgbClr val="202D39"/>
                  </a:solidFill>
                  <a:latin typeface="Arial"/>
                  <a:ea typeface="Arial"/>
                  <a:cs typeface="Arial"/>
                  <a:sym typeface="Arial"/>
                </a:rPr>
                <a:t>Lá A</a:t>
              </a:r>
            </a:p>
          </p:txBody>
        </p:sp>
      </p:grpSp>
      <p:grpSp>
        <p:nvGrpSpPr>
          <p:cNvPr name="Group 29" id="29"/>
          <p:cNvGrpSpPr/>
          <p:nvPr/>
        </p:nvGrpSpPr>
        <p:grpSpPr>
          <a:xfrm rot="0">
            <a:off x="5707856" y="7136606"/>
            <a:ext cx="3729038" cy="1042988"/>
            <a:chOff x="0" y="0"/>
            <a:chExt cx="4972050" cy="1390650"/>
          </a:xfrm>
        </p:grpSpPr>
        <p:sp>
          <p:nvSpPr>
            <p:cNvPr name="Freeform 30" id="30"/>
            <p:cNvSpPr/>
            <p:nvPr/>
          </p:nvSpPr>
          <p:spPr>
            <a:xfrm flipH="false" flipV="false" rot="0">
              <a:off x="0" y="0"/>
              <a:ext cx="4972050" cy="1390650"/>
            </a:xfrm>
            <a:custGeom>
              <a:avLst/>
              <a:gdLst/>
              <a:ahLst/>
              <a:cxnLst/>
              <a:rect r="r" b="b" t="t" l="l"/>
              <a:pathLst>
                <a:path h="1390650" w="4972050">
                  <a:moveTo>
                    <a:pt x="0" y="0"/>
                  </a:moveTo>
                  <a:lnTo>
                    <a:pt x="4972050" y="0"/>
                  </a:lnTo>
                  <a:lnTo>
                    <a:pt x="4972050" y="1390650"/>
                  </a:lnTo>
                  <a:lnTo>
                    <a:pt x="0" y="1390650"/>
                  </a:lnTo>
                  <a:close/>
                </a:path>
              </a:pathLst>
            </a:custGeom>
            <a:solidFill>
              <a:srgbClr val="2072B7"/>
            </a:solidFill>
            <a:ln w="14288" cap="sq">
              <a:solidFill>
                <a:srgbClr val="2072B7"/>
              </a:solidFill>
              <a:prstDash val="solid"/>
              <a:miter/>
            </a:ln>
          </p:spPr>
        </p:sp>
        <p:sp>
          <p:nvSpPr>
            <p:cNvPr name="TextBox 31" id="31"/>
            <p:cNvSpPr txBox="true"/>
            <p:nvPr/>
          </p:nvSpPr>
          <p:spPr>
            <a:xfrm>
              <a:off x="0" y="-19050"/>
              <a:ext cx="4972050" cy="1409700"/>
            </a:xfrm>
            <a:prstGeom prst="rect">
              <a:avLst/>
            </a:prstGeom>
          </p:spPr>
          <p:txBody>
            <a:bodyPr anchor="ctr" rtlCol="false" tIns="50800" lIns="50800" bIns="50800" rIns="50800"/>
            <a:lstStyle/>
            <a:p>
              <a:pPr algn="ctr">
                <a:lnSpc>
                  <a:spcPts val="3240"/>
                </a:lnSpc>
              </a:pPr>
              <a:r>
                <a:rPr lang="en-US" sz="2700">
                  <a:solidFill>
                    <a:srgbClr val="FFFFFF"/>
                  </a:solidFill>
                  <a:latin typeface="Arial"/>
                  <a:ea typeface="Arial"/>
                  <a:cs typeface="Arial"/>
                  <a:sym typeface="Arial"/>
                </a:rPr>
                <a:t>Lá B</a:t>
              </a:r>
            </a:p>
            <a:p>
              <a:pPr algn="ctr">
                <a:lnSpc>
                  <a:spcPts val="3240"/>
                </a:lnSpc>
              </a:pPr>
              <a:r>
                <a:rPr lang="en-US" sz="2700">
                  <a:solidFill>
                    <a:srgbClr val="FFFFFF"/>
                  </a:solidFill>
                  <a:latin typeface="Arial"/>
                  <a:ea typeface="Arial"/>
                  <a:cs typeface="Arial"/>
                  <a:sym typeface="Arial"/>
                </a:rPr>
                <a:t>Giảm lỗi lớn hơn</a:t>
              </a:r>
            </a:p>
          </p:txBody>
        </p:sp>
      </p:grpSp>
      <p:grpSp>
        <p:nvGrpSpPr>
          <p:cNvPr name="Group 32" id="32"/>
          <p:cNvGrpSpPr/>
          <p:nvPr/>
        </p:nvGrpSpPr>
        <p:grpSpPr>
          <a:xfrm rot="0">
            <a:off x="5922169" y="8251031"/>
            <a:ext cx="3514725" cy="585788"/>
            <a:chOff x="0" y="0"/>
            <a:chExt cx="4686300" cy="781050"/>
          </a:xfrm>
        </p:grpSpPr>
        <p:sp>
          <p:nvSpPr>
            <p:cNvPr name="Freeform 33" id="33"/>
            <p:cNvSpPr/>
            <p:nvPr/>
          </p:nvSpPr>
          <p:spPr>
            <a:xfrm flipH="false" flipV="false" rot="0">
              <a:off x="0" y="0"/>
              <a:ext cx="4686300" cy="781050"/>
            </a:xfrm>
            <a:custGeom>
              <a:avLst/>
              <a:gdLst/>
              <a:ahLst/>
              <a:cxnLst/>
              <a:rect r="r" b="b" t="t" l="l"/>
              <a:pathLst>
                <a:path h="781050" w="4686300">
                  <a:moveTo>
                    <a:pt x="0" y="0"/>
                  </a:moveTo>
                  <a:lnTo>
                    <a:pt x="4686300" y="0"/>
                  </a:lnTo>
                  <a:lnTo>
                    <a:pt x="4686300" y="781050"/>
                  </a:lnTo>
                  <a:lnTo>
                    <a:pt x="0" y="781050"/>
                  </a:lnTo>
                  <a:close/>
                </a:path>
              </a:pathLst>
            </a:custGeom>
            <a:solidFill>
              <a:srgbClr val="EDF5FB"/>
            </a:solidFill>
            <a:ln w="14288" cap="sq">
              <a:solidFill>
                <a:srgbClr val="B9D2E7"/>
              </a:solidFill>
              <a:prstDash val="solid"/>
              <a:miter/>
            </a:ln>
          </p:spPr>
        </p:sp>
        <p:sp>
          <p:nvSpPr>
            <p:cNvPr name="TextBox 34" id="34"/>
            <p:cNvSpPr txBox="true"/>
            <p:nvPr/>
          </p:nvSpPr>
          <p:spPr>
            <a:xfrm>
              <a:off x="0" y="-9525"/>
              <a:ext cx="4686300" cy="790575"/>
            </a:xfrm>
            <a:prstGeom prst="rect">
              <a:avLst/>
            </a:prstGeom>
          </p:spPr>
          <p:txBody>
            <a:bodyPr anchor="ctr" rtlCol="false" tIns="50800" lIns="50800" bIns="50800" rIns="50800"/>
            <a:lstStyle/>
            <a:p>
              <a:pPr algn="ctr">
                <a:lnSpc>
                  <a:spcPts val="2970"/>
                </a:lnSpc>
              </a:pPr>
              <a:r>
                <a:rPr lang="en-US" sz="2475">
                  <a:solidFill>
                    <a:srgbClr val="202D39"/>
                  </a:solidFill>
                  <a:latin typeface="Arial"/>
                  <a:ea typeface="Arial"/>
                  <a:cs typeface="Arial"/>
                  <a:sym typeface="Arial"/>
                </a:rPr>
                <a:t>Tiếp tục chia lá B</a:t>
              </a:r>
            </a:p>
          </p:txBody>
        </p:sp>
      </p:grpSp>
      <p:sp>
        <p:nvSpPr>
          <p:cNvPr name="TextBox 35" id="3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10</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668"/>
            <a:ext cx="18288000" cy="1070038"/>
            <a:chOff x="0" y="0"/>
            <a:chExt cx="24384000" cy="1426718"/>
          </a:xfrm>
        </p:grpSpPr>
        <p:sp>
          <p:nvSpPr>
            <p:cNvPr name="Freeform 3" id="3"/>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2072B7"/>
            </a:solidFill>
          </p:spPr>
        </p:sp>
      </p:grpSp>
      <p:grpSp>
        <p:nvGrpSpPr>
          <p:cNvPr name="Group 4" id="4"/>
          <p:cNvGrpSpPr/>
          <p:nvPr/>
        </p:nvGrpSpPr>
        <p:grpSpPr>
          <a:xfrm rot="0">
            <a:off x="477926" y="3334"/>
            <a:ext cx="4935598" cy="1027605"/>
            <a:chOff x="0" y="0"/>
            <a:chExt cx="6580797" cy="1370140"/>
          </a:xfrm>
        </p:grpSpPr>
        <p:sp>
          <p:nvSpPr>
            <p:cNvPr name="Freeform 5" id="5"/>
            <p:cNvSpPr/>
            <p:nvPr/>
          </p:nvSpPr>
          <p:spPr>
            <a:xfrm flipH="false" flipV="false" rot="0">
              <a:off x="0" y="0"/>
              <a:ext cx="6580759" cy="1370203"/>
            </a:xfrm>
            <a:custGeom>
              <a:avLst/>
              <a:gdLst/>
              <a:ahLst/>
              <a:cxnLst/>
              <a:rect r="r" b="b" t="t" l="l"/>
              <a:pathLst>
                <a:path h="1370203" w="6580759">
                  <a:moveTo>
                    <a:pt x="0" y="0"/>
                  </a:moveTo>
                  <a:lnTo>
                    <a:pt x="6580759" y="0"/>
                  </a:lnTo>
                  <a:lnTo>
                    <a:pt x="6580759" y="1370203"/>
                  </a:lnTo>
                  <a:lnTo>
                    <a:pt x="0" y="1370203"/>
                  </a:lnTo>
                  <a:lnTo>
                    <a:pt x="0" y="0"/>
                  </a:lnTo>
                  <a:close/>
                </a:path>
              </a:pathLst>
            </a:custGeom>
            <a:blipFill>
              <a:blip r:embed="rId3"/>
              <a:stretch>
                <a:fillRect l="-191" t="0" r="-192" b="4"/>
              </a:stretch>
            </a:blipFill>
          </p:spPr>
        </p:sp>
      </p:grpSp>
      <p:grpSp>
        <p:nvGrpSpPr>
          <p:cNvPr name="Group 6" id="6"/>
          <p:cNvGrpSpPr/>
          <p:nvPr/>
        </p:nvGrpSpPr>
        <p:grpSpPr>
          <a:xfrm rot="0">
            <a:off x="2663190" y="10082212"/>
            <a:ext cx="15624810" cy="204845"/>
            <a:chOff x="0" y="0"/>
            <a:chExt cx="20833080" cy="273126"/>
          </a:xfrm>
        </p:grpSpPr>
        <p:sp>
          <p:nvSpPr>
            <p:cNvPr name="Freeform 7" id="7"/>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2072B7"/>
            </a:solidFill>
          </p:spPr>
        </p:sp>
      </p:grpSp>
      <p:grpSp>
        <p:nvGrpSpPr>
          <p:cNvPr name="Group 8" id="8"/>
          <p:cNvGrpSpPr/>
          <p:nvPr/>
        </p:nvGrpSpPr>
        <p:grpSpPr>
          <a:xfrm rot="0">
            <a:off x="2743238" y="10108759"/>
            <a:ext cx="15544724" cy="152705"/>
            <a:chOff x="0" y="0"/>
            <a:chExt cx="20726298" cy="203606"/>
          </a:xfrm>
        </p:grpSpPr>
        <p:sp>
          <p:nvSpPr>
            <p:cNvPr name="Freeform 9" id="9"/>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4"/>
              <a:stretch>
                <a:fillRect l="0" t="0" r="0" b="-35745"/>
              </a:stretch>
            </a:blipFill>
          </p:spPr>
        </p:sp>
      </p:grpSp>
      <p:sp>
        <p:nvSpPr>
          <p:cNvPr name="TextBox 10" id="10"/>
          <p:cNvSpPr txBox="true"/>
          <p:nvPr/>
        </p:nvSpPr>
        <p:spPr>
          <a:xfrm rot="0">
            <a:off x="302009" y="10002231"/>
            <a:ext cx="2254501" cy="327536"/>
          </a:xfrm>
          <a:prstGeom prst="rect">
            <a:avLst/>
          </a:prstGeom>
        </p:spPr>
        <p:txBody>
          <a:bodyPr anchor="t" rtlCol="false" tIns="0" lIns="0" bIns="0" rIns="0">
            <a:spAutoFit/>
          </a:bodyPr>
          <a:lstStyle/>
          <a:p>
            <a:pPr algn="l">
              <a:lnSpc>
                <a:spcPts val="1800"/>
              </a:lnSpc>
            </a:pPr>
            <a:r>
              <a:rPr lang="en-US" sz="1500">
                <a:solidFill>
                  <a:srgbClr val="0070C0"/>
                </a:solidFill>
                <a:latin typeface="Calibri (MS)"/>
                <a:ea typeface="Calibri (MS)"/>
                <a:cs typeface="Calibri (MS)"/>
                <a:sym typeface="Calibri (MS)"/>
              </a:rPr>
              <a:t>https://huit.edu.vn</a:t>
            </a:r>
          </a:p>
        </p:txBody>
      </p:sp>
      <p:sp>
        <p:nvSpPr>
          <p:cNvPr name="AutoShape 11" id="11"/>
          <p:cNvSpPr/>
          <p:nvPr/>
        </p:nvSpPr>
        <p:spPr>
          <a:xfrm rot="5178540">
            <a:off x="12315368" y="6984206"/>
            <a:ext cx="443836" cy="19050"/>
          </a:xfrm>
          <a:prstGeom prst="line">
            <a:avLst/>
          </a:prstGeom>
          <a:ln cap="rnd" w="19050">
            <a:solidFill>
              <a:srgbClr val="2072B7"/>
            </a:solidFill>
            <a:prstDash val="solid"/>
            <a:headEnd type="none" len="sm" w="sm"/>
            <a:tailEnd type="triangle" len="med" w="lg"/>
          </a:ln>
        </p:spPr>
      </p:sp>
      <p:sp>
        <p:nvSpPr>
          <p:cNvPr name="AutoShape 12" id="12"/>
          <p:cNvSpPr/>
          <p:nvPr/>
        </p:nvSpPr>
        <p:spPr>
          <a:xfrm rot="5178540">
            <a:off x="12315368" y="5669756"/>
            <a:ext cx="443836" cy="19050"/>
          </a:xfrm>
          <a:prstGeom prst="line">
            <a:avLst/>
          </a:prstGeom>
          <a:ln cap="rnd" w="19050">
            <a:solidFill>
              <a:srgbClr val="2072B7"/>
            </a:solidFill>
            <a:prstDash val="solid"/>
            <a:headEnd type="none" len="sm" w="sm"/>
            <a:tailEnd type="triangle" len="med" w="lg"/>
          </a:ln>
        </p:spPr>
      </p:sp>
      <p:sp>
        <p:nvSpPr>
          <p:cNvPr name="AutoShape 13" id="13"/>
          <p:cNvSpPr/>
          <p:nvPr/>
        </p:nvSpPr>
        <p:spPr>
          <a:xfrm rot="5178540">
            <a:off x="12315368" y="4355306"/>
            <a:ext cx="443836" cy="19050"/>
          </a:xfrm>
          <a:prstGeom prst="line">
            <a:avLst/>
          </a:prstGeom>
          <a:ln cap="rnd" w="19050">
            <a:solidFill>
              <a:srgbClr val="2072B7"/>
            </a:solidFill>
            <a:prstDash val="solid"/>
            <a:headEnd type="none" len="sm" w="sm"/>
            <a:tailEnd type="triangle" len="med" w="lg"/>
          </a:ln>
        </p:spPr>
      </p:sp>
      <p:sp>
        <p:nvSpPr>
          <p:cNvPr name="TextBox 14" id="14"/>
          <p:cNvSpPr txBox="true"/>
          <p:nvPr/>
        </p:nvSpPr>
        <p:spPr>
          <a:xfrm rot="0">
            <a:off x="857250" y="1466850"/>
            <a:ext cx="16573500" cy="819150"/>
          </a:xfrm>
          <a:prstGeom prst="rect">
            <a:avLst/>
          </a:prstGeom>
        </p:spPr>
        <p:txBody>
          <a:bodyPr anchor="t" rtlCol="false" tIns="0" lIns="0" bIns="0" rIns="0">
            <a:spAutoFit/>
          </a:bodyPr>
          <a:lstStyle/>
          <a:p>
            <a:pPr algn="l">
              <a:lnSpc>
                <a:spcPts val="4995"/>
              </a:lnSpc>
            </a:pPr>
            <a:r>
              <a:rPr lang="en-US" sz="4162" b="true">
                <a:solidFill>
                  <a:srgbClr val="2072B7"/>
                </a:solidFill>
                <a:latin typeface="Arial Bold"/>
                <a:ea typeface="Arial Bold"/>
                <a:cs typeface="Arial Bold"/>
                <a:sym typeface="Arial Bold"/>
              </a:rPr>
              <a:t>CatBoost</a:t>
            </a:r>
          </a:p>
        </p:txBody>
      </p:sp>
      <p:sp>
        <p:nvSpPr>
          <p:cNvPr name="TextBox 15" id="15"/>
          <p:cNvSpPr txBox="true"/>
          <p:nvPr/>
        </p:nvSpPr>
        <p:spPr>
          <a:xfrm rot="0">
            <a:off x="857250" y="2352675"/>
            <a:ext cx="16573500" cy="647700"/>
          </a:xfrm>
          <a:prstGeom prst="rect">
            <a:avLst/>
          </a:prstGeom>
        </p:spPr>
        <p:txBody>
          <a:bodyPr anchor="t" rtlCol="false" tIns="0" lIns="0" bIns="0" rIns="0">
            <a:spAutoFit/>
          </a:bodyPr>
          <a:lstStyle/>
          <a:p>
            <a:pPr algn="l">
              <a:lnSpc>
                <a:spcPts val="3240"/>
              </a:lnSpc>
            </a:pPr>
            <a:r>
              <a:rPr lang="en-US" sz="2700" b="true">
                <a:solidFill>
                  <a:srgbClr val="174C7E"/>
                </a:solidFill>
                <a:latin typeface="Arial Bold"/>
                <a:ea typeface="Arial Bold"/>
                <a:cs typeface="Arial Bold"/>
                <a:sym typeface="Arial Bold"/>
              </a:rPr>
              <a:t>Gradient boosting có cơ chế hỗ trợ đặc trưng phân loại như hãng và sân bay</a:t>
            </a:r>
          </a:p>
        </p:txBody>
      </p:sp>
      <p:sp>
        <p:nvSpPr>
          <p:cNvPr name="TextBox 16" id="16"/>
          <p:cNvSpPr txBox="true"/>
          <p:nvPr/>
        </p:nvSpPr>
        <p:spPr>
          <a:xfrm rot="0">
            <a:off x="857250" y="3309938"/>
            <a:ext cx="6072188" cy="1376362"/>
          </a:xfrm>
          <a:prstGeom prst="rect">
            <a:avLst/>
          </a:prstGeom>
        </p:spPr>
        <p:txBody>
          <a:bodyPr anchor="t" rtlCol="false" tIns="0" lIns="0" bIns="0" rIns="0">
            <a:spAutoFit/>
          </a:bodyPr>
          <a:lstStyle/>
          <a:p>
            <a:pPr algn="l">
              <a:lnSpc>
                <a:spcPts val="3510"/>
              </a:lnSpc>
            </a:pPr>
            <a:r>
              <a:rPr lang="en-US" sz="2925">
                <a:solidFill>
                  <a:srgbClr val="202D39"/>
                </a:solidFill>
                <a:latin typeface="Arial"/>
                <a:ea typeface="Arial"/>
                <a:cs typeface="Arial"/>
                <a:sym typeface="Arial"/>
              </a:rPr>
              <a:t>Đầu vào: lịch bay, giờ bay, hãng và sân bay.</a:t>
            </a:r>
          </a:p>
          <a:p>
            <a:pPr algn="l">
              <a:lnSpc>
                <a:spcPts val="3510"/>
              </a:lnSpc>
            </a:pPr>
            <a:r>
              <a:rPr lang="en-US" sz="2925">
                <a:solidFill>
                  <a:srgbClr val="202D39"/>
                </a:solidFill>
                <a:latin typeface="Arial"/>
                <a:ea typeface="Arial"/>
                <a:cs typeface="Arial"/>
                <a:sym typeface="Arial"/>
              </a:rPr>
              <a:t>Đầu ra: một trong sáu nhãn.</a:t>
            </a:r>
          </a:p>
        </p:txBody>
      </p:sp>
      <p:sp>
        <p:nvSpPr>
          <p:cNvPr name="TextBox 17" id="17"/>
          <p:cNvSpPr txBox="true"/>
          <p:nvPr/>
        </p:nvSpPr>
        <p:spPr>
          <a:xfrm rot="0">
            <a:off x="857250" y="4938712"/>
            <a:ext cx="6072188" cy="1376362"/>
          </a:xfrm>
          <a:prstGeom prst="rect">
            <a:avLst/>
          </a:prstGeom>
        </p:spPr>
        <p:txBody>
          <a:bodyPr anchor="t" rtlCol="false" tIns="0" lIns="0" bIns="0" rIns="0">
            <a:spAutoFit/>
          </a:bodyPr>
          <a:lstStyle/>
          <a:p>
            <a:pPr algn="l">
              <a:lnSpc>
                <a:spcPts val="3510"/>
              </a:lnSpc>
            </a:pPr>
            <a:r>
              <a:rPr lang="en-US" sz="2925">
                <a:solidFill>
                  <a:srgbClr val="202D39"/>
                </a:solidFill>
                <a:latin typeface="Arial"/>
                <a:ea typeface="Arial"/>
                <a:cs typeface="Arial"/>
                <a:sym typeface="Arial"/>
              </a:rPr>
              <a:t>Ưu điểm: có khả năng xử lý dữ liệu phân loại nhiều giá trị.</a:t>
            </a:r>
          </a:p>
        </p:txBody>
      </p:sp>
      <p:sp>
        <p:nvSpPr>
          <p:cNvPr name="TextBox 18" id="18"/>
          <p:cNvSpPr txBox="true"/>
          <p:nvPr/>
        </p:nvSpPr>
        <p:spPr>
          <a:xfrm rot="0">
            <a:off x="857250" y="6567488"/>
            <a:ext cx="6072188" cy="1376362"/>
          </a:xfrm>
          <a:prstGeom prst="rect">
            <a:avLst/>
          </a:prstGeom>
        </p:spPr>
        <p:txBody>
          <a:bodyPr anchor="t" rtlCol="false" tIns="0" lIns="0" bIns="0" rIns="0">
            <a:spAutoFit/>
          </a:bodyPr>
          <a:lstStyle/>
          <a:p>
            <a:pPr algn="l">
              <a:lnSpc>
                <a:spcPts val="3510"/>
              </a:lnSpc>
            </a:pPr>
            <a:r>
              <a:rPr lang="en-US" sz="2925">
                <a:solidFill>
                  <a:srgbClr val="202D39"/>
                </a:solidFill>
                <a:latin typeface="Arial"/>
                <a:ea typeface="Arial"/>
                <a:cs typeface="Arial"/>
                <a:sym typeface="Arial"/>
              </a:rPr>
              <a:t>Hạn chế: cần thời gian huấn luyện và cấu hình đầu vào phù hợp.</a:t>
            </a:r>
          </a:p>
        </p:txBody>
      </p:sp>
      <p:grpSp>
        <p:nvGrpSpPr>
          <p:cNvPr name="Group 19" id="19"/>
          <p:cNvGrpSpPr/>
          <p:nvPr/>
        </p:nvGrpSpPr>
        <p:grpSpPr>
          <a:xfrm rot="0">
            <a:off x="7779544" y="3250406"/>
            <a:ext cx="9515475" cy="914400"/>
            <a:chOff x="0" y="0"/>
            <a:chExt cx="12687300" cy="1219200"/>
          </a:xfrm>
        </p:grpSpPr>
        <p:sp>
          <p:nvSpPr>
            <p:cNvPr name="Freeform 20" id="20"/>
            <p:cNvSpPr/>
            <p:nvPr/>
          </p:nvSpPr>
          <p:spPr>
            <a:xfrm flipH="false" flipV="false" rot="0">
              <a:off x="0" y="0"/>
              <a:ext cx="12687300" cy="1219200"/>
            </a:xfrm>
            <a:custGeom>
              <a:avLst/>
              <a:gdLst/>
              <a:ahLst/>
              <a:cxnLst/>
              <a:rect r="r" b="b" t="t" l="l"/>
              <a:pathLst>
                <a:path h="1219200" w="12687300">
                  <a:moveTo>
                    <a:pt x="0" y="0"/>
                  </a:moveTo>
                  <a:lnTo>
                    <a:pt x="12687300" y="0"/>
                  </a:lnTo>
                  <a:lnTo>
                    <a:pt x="12687300" y="1219200"/>
                  </a:lnTo>
                  <a:lnTo>
                    <a:pt x="0" y="1219200"/>
                  </a:lnTo>
                  <a:close/>
                </a:path>
              </a:pathLst>
            </a:custGeom>
            <a:solidFill>
              <a:srgbClr val="2072B7"/>
            </a:solidFill>
            <a:ln w="14288" cap="sq">
              <a:solidFill>
                <a:srgbClr val="2072B7"/>
              </a:solidFill>
              <a:prstDash val="solid"/>
              <a:miter/>
            </a:ln>
          </p:spPr>
        </p:sp>
        <p:sp>
          <p:nvSpPr>
            <p:cNvPr name="TextBox 21" id="21"/>
            <p:cNvSpPr txBox="true"/>
            <p:nvPr/>
          </p:nvSpPr>
          <p:spPr>
            <a:xfrm>
              <a:off x="0" y="-19050"/>
              <a:ext cx="12687300" cy="1238250"/>
            </a:xfrm>
            <a:prstGeom prst="rect">
              <a:avLst/>
            </a:prstGeom>
          </p:spPr>
          <p:txBody>
            <a:bodyPr anchor="ctr" rtlCol="false" tIns="50800" lIns="50800" bIns="50800" rIns="50800"/>
            <a:lstStyle/>
            <a:p>
              <a:pPr algn="ctr">
                <a:lnSpc>
                  <a:spcPts val="3240"/>
                </a:lnSpc>
              </a:pPr>
              <a:r>
                <a:rPr lang="en-US" sz="2700">
                  <a:solidFill>
                    <a:srgbClr val="FFFFFF"/>
                  </a:solidFill>
                  <a:latin typeface="Arial"/>
                  <a:ea typeface="Arial"/>
                  <a:cs typeface="Arial"/>
                  <a:sym typeface="Arial"/>
                </a:rPr>
                <a:t>Hãng bay, sân bay dạng phân loại</a:t>
              </a:r>
            </a:p>
          </p:txBody>
        </p:sp>
      </p:grpSp>
      <p:grpSp>
        <p:nvGrpSpPr>
          <p:cNvPr name="Group 22" id="22"/>
          <p:cNvGrpSpPr/>
          <p:nvPr/>
        </p:nvGrpSpPr>
        <p:grpSpPr>
          <a:xfrm rot="0">
            <a:off x="7779544" y="4564856"/>
            <a:ext cx="9515475" cy="914400"/>
            <a:chOff x="0" y="0"/>
            <a:chExt cx="12687300" cy="1219200"/>
          </a:xfrm>
        </p:grpSpPr>
        <p:sp>
          <p:nvSpPr>
            <p:cNvPr name="Freeform 23" id="23"/>
            <p:cNvSpPr/>
            <p:nvPr/>
          </p:nvSpPr>
          <p:spPr>
            <a:xfrm flipH="false" flipV="false" rot="0">
              <a:off x="0" y="0"/>
              <a:ext cx="12687300" cy="1219200"/>
            </a:xfrm>
            <a:custGeom>
              <a:avLst/>
              <a:gdLst/>
              <a:ahLst/>
              <a:cxnLst/>
              <a:rect r="r" b="b" t="t" l="l"/>
              <a:pathLst>
                <a:path h="1219200" w="12687300">
                  <a:moveTo>
                    <a:pt x="0" y="0"/>
                  </a:moveTo>
                  <a:lnTo>
                    <a:pt x="12687300" y="0"/>
                  </a:lnTo>
                  <a:lnTo>
                    <a:pt x="12687300" y="1219200"/>
                  </a:lnTo>
                  <a:lnTo>
                    <a:pt x="0" y="1219200"/>
                  </a:lnTo>
                  <a:close/>
                </a:path>
              </a:pathLst>
            </a:custGeom>
            <a:solidFill>
              <a:srgbClr val="2072B7"/>
            </a:solidFill>
            <a:ln w="14288" cap="sq">
              <a:solidFill>
                <a:srgbClr val="2072B7"/>
              </a:solidFill>
              <a:prstDash val="solid"/>
              <a:miter/>
            </a:ln>
          </p:spPr>
        </p:sp>
        <p:sp>
          <p:nvSpPr>
            <p:cNvPr name="TextBox 24" id="24"/>
            <p:cNvSpPr txBox="true"/>
            <p:nvPr/>
          </p:nvSpPr>
          <p:spPr>
            <a:xfrm>
              <a:off x="0" y="-19050"/>
              <a:ext cx="12687300" cy="1238250"/>
            </a:xfrm>
            <a:prstGeom prst="rect">
              <a:avLst/>
            </a:prstGeom>
          </p:spPr>
          <p:txBody>
            <a:bodyPr anchor="ctr" rtlCol="false" tIns="50800" lIns="50800" bIns="50800" rIns="50800"/>
            <a:lstStyle/>
            <a:p>
              <a:pPr algn="ctr">
                <a:lnSpc>
                  <a:spcPts val="3240"/>
                </a:lnSpc>
              </a:pPr>
              <a:r>
                <a:rPr lang="en-US" sz="2700">
                  <a:solidFill>
                    <a:srgbClr val="FFFFFF"/>
                  </a:solidFill>
                  <a:latin typeface="Arial"/>
                  <a:ea typeface="Arial"/>
                  <a:cs typeface="Arial"/>
                  <a:sym typeface="Arial"/>
                </a:rPr>
                <a:t>Mã hóa/thống kê phân loại theo cơ chế CatBoost</a:t>
              </a:r>
            </a:p>
          </p:txBody>
        </p:sp>
      </p:grpSp>
      <p:grpSp>
        <p:nvGrpSpPr>
          <p:cNvPr name="Group 25" id="25"/>
          <p:cNvGrpSpPr/>
          <p:nvPr/>
        </p:nvGrpSpPr>
        <p:grpSpPr>
          <a:xfrm rot="0">
            <a:off x="7779544" y="5879306"/>
            <a:ext cx="9515475" cy="914400"/>
            <a:chOff x="0" y="0"/>
            <a:chExt cx="12687300" cy="1219200"/>
          </a:xfrm>
        </p:grpSpPr>
        <p:sp>
          <p:nvSpPr>
            <p:cNvPr name="Freeform 26" id="26"/>
            <p:cNvSpPr/>
            <p:nvPr/>
          </p:nvSpPr>
          <p:spPr>
            <a:xfrm flipH="false" flipV="false" rot="0">
              <a:off x="0" y="0"/>
              <a:ext cx="12687300" cy="1219200"/>
            </a:xfrm>
            <a:custGeom>
              <a:avLst/>
              <a:gdLst/>
              <a:ahLst/>
              <a:cxnLst/>
              <a:rect r="r" b="b" t="t" l="l"/>
              <a:pathLst>
                <a:path h="1219200" w="12687300">
                  <a:moveTo>
                    <a:pt x="0" y="0"/>
                  </a:moveTo>
                  <a:lnTo>
                    <a:pt x="12687300" y="0"/>
                  </a:lnTo>
                  <a:lnTo>
                    <a:pt x="12687300" y="1219200"/>
                  </a:lnTo>
                  <a:lnTo>
                    <a:pt x="0" y="1219200"/>
                  </a:lnTo>
                  <a:close/>
                </a:path>
              </a:pathLst>
            </a:custGeom>
            <a:solidFill>
              <a:srgbClr val="2072B7"/>
            </a:solidFill>
            <a:ln w="14288" cap="sq">
              <a:solidFill>
                <a:srgbClr val="2072B7"/>
              </a:solidFill>
              <a:prstDash val="solid"/>
              <a:miter/>
            </a:ln>
          </p:spPr>
        </p:sp>
        <p:sp>
          <p:nvSpPr>
            <p:cNvPr name="TextBox 27" id="27"/>
            <p:cNvSpPr txBox="true"/>
            <p:nvPr/>
          </p:nvSpPr>
          <p:spPr>
            <a:xfrm>
              <a:off x="0" y="-19050"/>
              <a:ext cx="12687300" cy="1238250"/>
            </a:xfrm>
            <a:prstGeom prst="rect">
              <a:avLst/>
            </a:prstGeom>
          </p:spPr>
          <p:txBody>
            <a:bodyPr anchor="ctr" rtlCol="false" tIns="50800" lIns="50800" bIns="50800" rIns="50800"/>
            <a:lstStyle/>
            <a:p>
              <a:pPr algn="ctr">
                <a:lnSpc>
                  <a:spcPts val="3240"/>
                </a:lnSpc>
              </a:pPr>
              <a:r>
                <a:rPr lang="en-US" sz="2700">
                  <a:solidFill>
                    <a:srgbClr val="FFFFFF"/>
                  </a:solidFill>
                  <a:latin typeface="Arial"/>
                  <a:ea typeface="Arial"/>
                  <a:cs typeface="Arial"/>
                  <a:sym typeface="Arial"/>
                </a:rPr>
                <a:t>Cây nối tiếp học giảm sai số</a:t>
              </a:r>
            </a:p>
          </p:txBody>
        </p:sp>
      </p:grpSp>
      <p:grpSp>
        <p:nvGrpSpPr>
          <p:cNvPr name="Group 28" id="28"/>
          <p:cNvGrpSpPr/>
          <p:nvPr/>
        </p:nvGrpSpPr>
        <p:grpSpPr>
          <a:xfrm rot="0">
            <a:off x="7779544" y="7193756"/>
            <a:ext cx="9515475" cy="914400"/>
            <a:chOff x="0" y="0"/>
            <a:chExt cx="12687300" cy="1219200"/>
          </a:xfrm>
        </p:grpSpPr>
        <p:sp>
          <p:nvSpPr>
            <p:cNvPr name="Freeform 29" id="29"/>
            <p:cNvSpPr/>
            <p:nvPr/>
          </p:nvSpPr>
          <p:spPr>
            <a:xfrm flipH="false" flipV="false" rot="0">
              <a:off x="0" y="0"/>
              <a:ext cx="12687300" cy="1219200"/>
            </a:xfrm>
            <a:custGeom>
              <a:avLst/>
              <a:gdLst/>
              <a:ahLst/>
              <a:cxnLst/>
              <a:rect r="r" b="b" t="t" l="l"/>
              <a:pathLst>
                <a:path h="1219200" w="12687300">
                  <a:moveTo>
                    <a:pt x="0" y="0"/>
                  </a:moveTo>
                  <a:lnTo>
                    <a:pt x="12687300" y="0"/>
                  </a:lnTo>
                  <a:lnTo>
                    <a:pt x="12687300" y="1219200"/>
                  </a:lnTo>
                  <a:lnTo>
                    <a:pt x="0" y="1219200"/>
                  </a:lnTo>
                  <a:close/>
                </a:path>
              </a:pathLst>
            </a:custGeom>
            <a:solidFill>
              <a:srgbClr val="2072B7"/>
            </a:solidFill>
            <a:ln w="14288" cap="sq">
              <a:solidFill>
                <a:srgbClr val="2072B7"/>
              </a:solidFill>
              <a:prstDash val="solid"/>
              <a:miter/>
            </a:ln>
          </p:spPr>
        </p:sp>
        <p:sp>
          <p:nvSpPr>
            <p:cNvPr name="TextBox 30" id="30"/>
            <p:cNvSpPr txBox="true"/>
            <p:nvPr/>
          </p:nvSpPr>
          <p:spPr>
            <a:xfrm>
              <a:off x="0" y="-19050"/>
              <a:ext cx="12687300" cy="1238250"/>
            </a:xfrm>
            <a:prstGeom prst="rect">
              <a:avLst/>
            </a:prstGeom>
          </p:spPr>
          <p:txBody>
            <a:bodyPr anchor="ctr" rtlCol="false" tIns="50800" lIns="50800" bIns="50800" rIns="50800"/>
            <a:lstStyle/>
            <a:p>
              <a:pPr algn="ctr">
                <a:lnSpc>
                  <a:spcPts val="3240"/>
                </a:lnSpc>
              </a:pPr>
              <a:r>
                <a:rPr lang="en-US" sz="2700">
                  <a:solidFill>
                    <a:srgbClr val="FFFFFF"/>
                  </a:solidFill>
                  <a:latin typeface="Arial"/>
                  <a:ea typeface="Arial"/>
                  <a:cs typeface="Arial"/>
                  <a:sym typeface="Arial"/>
                </a:rPr>
                <a:t>Cộng điểm các cây → nhãn cuối</a:t>
              </a:r>
            </a:p>
          </p:txBody>
        </p:sp>
      </p:grpSp>
      <p:sp>
        <p:nvSpPr>
          <p:cNvPr name="TextBox 31" id="31"/>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11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F72B6"/>
        </a:solidFill>
      </p:bgPr>
    </p:bg>
    <p:spTree>
      <p:nvGrpSpPr>
        <p:cNvPr id="1" name=""/>
        <p:cNvGrpSpPr/>
        <p:nvPr/>
      </p:nvGrpSpPr>
      <p:grpSpPr>
        <a:xfrm>
          <a:off x="0" y="0"/>
          <a:ext cx="0" cy="0"/>
          <a:chOff x="0" y="0"/>
          <a:chExt cx="0" cy="0"/>
        </a:xfrm>
      </p:grpSpPr>
      <p:grpSp>
        <p:nvGrpSpPr>
          <p:cNvPr name="Group 2" id="2"/>
          <p:cNvGrpSpPr/>
          <p:nvPr/>
        </p:nvGrpSpPr>
        <p:grpSpPr>
          <a:xfrm rot="0">
            <a:off x="0" y="-12668"/>
            <a:ext cx="18288000" cy="1070038"/>
            <a:chOff x="0" y="0"/>
            <a:chExt cx="24384000" cy="1426718"/>
          </a:xfrm>
        </p:grpSpPr>
        <p:sp>
          <p:nvSpPr>
            <p:cNvPr name="Freeform 3" id="3"/>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FFFFFF"/>
            </a:solidFill>
          </p:spPr>
        </p:sp>
      </p:grpSp>
      <p:grpSp>
        <p:nvGrpSpPr>
          <p:cNvPr name="Group 4" id="4"/>
          <p:cNvGrpSpPr/>
          <p:nvPr/>
        </p:nvGrpSpPr>
        <p:grpSpPr>
          <a:xfrm rot="0">
            <a:off x="477926" y="3334"/>
            <a:ext cx="4935598" cy="1027605"/>
            <a:chOff x="0" y="0"/>
            <a:chExt cx="6580797" cy="1370140"/>
          </a:xfrm>
        </p:grpSpPr>
        <p:sp>
          <p:nvSpPr>
            <p:cNvPr name="Freeform 5" id="5"/>
            <p:cNvSpPr/>
            <p:nvPr/>
          </p:nvSpPr>
          <p:spPr>
            <a:xfrm flipH="false" flipV="false" rot="0">
              <a:off x="0" y="0"/>
              <a:ext cx="6580759" cy="1370203"/>
            </a:xfrm>
            <a:custGeom>
              <a:avLst/>
              <a:gdLst/>
              <a:ahLst/>
              <a:cxnLst/>
              <a:rect r="r" b="b" t="t" l="l"/>
              <a:pathLst>
                <a:path h="1370203" w="6580759">
                  <a:moveTo>
                    <a:pt x="0" y="0"/>
                  </a:moveTo>
                  <a:lnTo>
                    <a:pt x="6580759" y="0"/>
                  </a:lnTo>
                  <a:lnTo>
                    <a:pt x="6580759" y="1370203"/>
                  </a:lnTo>
                  <a:lnTo>
                    <a:pt x="0" y="1370203"/>
                  </a:lnTo>
                  <a:lnTo>
                    <a:pt x="0" y="0"/>
                  </a:lnTo>
                  <a:close/>
                </a:path>
              </a:pathLst>
            </a:custGeom>
            <a:blipFill>
              <a:blip r:embed="rId2"/>
              <a:stretch>
                <a:fillRect l="0" t="0" r="-384" b="4"/>
              </a:stretch>
            </a:blipFill>
          </p:spPr>
        </p:sp>
      </p:grpSp>
      <p:grpSp>
        <p:nvGrpSpPr>
          <p:cNvPr name="Group 6" id="6"/>
          <p:cNvGrpSpPr/>
          <p:nvPr/>
        </p:nvGrpSpPr>
        <p:grpSpPr>
          <a:xfrm rot="0">
            <a:off x="2663190" y="10082212"/>
            <a:ext cx="15624810" cy="204845"/>
            <a:chOff x="0" y="0"/>
            <a:chExt cx="20833080" cy="273126"/>
          </a:xfrm>
        </p:grpSpPr>
        <p:sp>
          <p:nvSpPr>
            <p:cNvPr name="Freeform 7" id="7"/>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FFFFFF"/>
            </a:solidFill>
          </p:spPr>
        </p:sp>
      </p:grpSp>
      <p:grpSp>
        <p:nvGrpSpPr>
          <p:cNvPr name="Group 8" id="8"/>
          <p:cNvGrpSpPr/>
          <p:nvPr/>
        </p:nvGrpSpPr>
        <p:grpSpPr>
          <a:xfrm rot="0">
            <a:off x="2743238" y="10108759"/>
            <a:ext cx="15544724" cy="152705"/>
            <a:chOff x="0" y="0"/>
            <a:chExt cx="20726298" cy="203606"/>
          </a:xfrm>
        </p:grpSpPr>
        <p:sp>
          <p:nvSpPr>
            <p:cNvPr name="Freeform 9" id="9"/>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3"/>
              <a:stretch>
                <a:fillRect l="0" t="0" r="0" b="-35745"/>
              </a:stretch>
            </a:blipFill>
          </p:spPr>
        </p:sp>
      </p:grpSp>
      <p:sp>
        <p:nvSpPr>
          <p:cNvPr name="TextBox 10" id="10"/>
          <p:cNvSpPr txBox="true"/>
          <p:nvPr/>
        </p:nvSpPr>
        <p:spPr>
          <a:xfrm rot="0">
            <a:off x="302009" y="10040331"/>
            <a:ext cx="2254501" cy="228600"/>
          </a:xfrm>
          <a:prstGeom prst="rect">
            <a:avLst/>
          </a:prstGeom>
        </p:spPr>
        <p:txBody>
          <a:bodyPr anchor="t" rtlCol="false" tIns="0" lIns="0" bIns="0" rIns="0">
            <a:spAutoFit/>
          </a:bodyPr>
          <a:lstStyle/>
          <a:p>
            <a:pPr algn="l">
              <a:lnSpc>
                <a:spcPts val="1800"/>
              </a:lnSpc>
            </a:pPr>
            <a:r>
              <a:rPr lang="en-US" sz="1500">
                <a:solidFill>
                  <a:srgbClr val="FFFFFF"/>
                </a:solidFill>
                <a:latin typeface="Quicksand"/>
                <a:ea typeface="Quicksand"/>
                <a:cs typeface="Quicksand"/>
                <a:sym typeface="Quicksand"/>
              </a:rPr>
              <a:t>https://huit.edu.vn</a:t>
            </a:r>
          </a:p>
        </p:txBody>
      </p:sp>
      <p:sp>
        <p:nvSpPr>
          <p:cNvPr name="TextBox 11" id="11"/>
          <p:cNvSpPr txBox="true"/>
          <p:nvPr/>
        </p:nvSpPr>
        <p:spPr>
          <a:xfrm rot="0">
            <a:off x="3201001" y="4713732"/>
            <a:ext cx="11885999" cy="916686"/>
          </a:xfrm>
          <a:prstGeom prst="rect">
            <a:avLst/>
          </a:prstGeom>
        </p:spPr>
        <p:txBody>
          <a:bodyPr anchor="t" rtlCol="false" tIns="0" lIns="0" bIns="0" rIns="0">
            <a:spAutoFit/>
          </a:bodyPr>
          <a:lstStyle/>
          <a:p>
            <a:pPr algn="ctr">
              <a:lnSpc>
                <a:spcPts val="6911"/>
              </a:lnSpc>
            </a:pPr>
            <a:r>
              <a:rPr lang="en-US" b="true" sz="6399">
                <a:solidFill>
                  <a:srgbClr val="FFFFFF"/>
                </a:solidFill>
                <a:latin typeface="Quicksand Bold"/>
                <a:ea typeface="Quicksand Bold"/>
                <a:cs typeface="Quicksand Bold"/>
                <a:sym typeface="Quicksand Bold"/>
              </a:rPr>
              <a:t>DỮ LIỆU VÀ TIỀN XỬ LÝ</a:t>
            </a:r>
          </a:p>
        </p:txBody>
      </p:sp>
      <p:sp>
        <p:nvSpPr>
          <p:cNvPr name="TextBox 12" id="1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Noto Sans"/>
                <a:ea typeface="Noto Sans"/>
                <a:cs typeface="Noto Sans"/>
                <a:sym typeface="Noto Sans"/>
              </a:rPr>
              <a:t>12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668"/>
            <a:ext cx="18288000" cy="1070038"/>
            <a:chOff x="0" y="0"/>
            <a:chExt cx="24384000" cy="1426718"/>
          </a:xfrm>
        </p:grpSpPr>
        <p:sp>
          <p:nvSpPr>
            <p:cNvPr name="Freeform 3" id="3"/>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2072B7"/>
            </a:solidFill>
          </p:spPr>
        </p:sp>
      </p:grpSp>
      <p:grpSp>
        <p:nvGrpSpPr>
          <p:cNvPr name="Group 4" id="4"/>
          <p:cNvGrpSpPr/>
          <p:nvPr/>
        </p:nvGrpSpPr>
        <p:grpSpPr>
          <a:xfrm rot="0">
            <a:off x="477926" y="3334"/>
            <a:ext cx="4935598" cy="1027605"/>
            <a:chOff x="0" y="0"/>
            <a:chExt cx="6580797" cy="1370140"/>
          </a:xfrm>
        </p:grpSpPr>
        <p:sp>
          <p:nvSpPr>
            <p:cNvPr name="Freeform 5" id="5"/>
            <p:cNvSpPr/>
            <p:nvPr/>
          </p:nvSpPr>
          <p:spPr>
            <a:xfrm flipH="false" flipV="false" rot="0">
              <a:off x="0" y="0"/>
              <a:ext cx="6580759" cy="1370203"/>
            </a:xfrm>
            <a:custGeom>
              <a:avLst/>
              <a:gdLst/>
              <a:ahLst/>
              <a:cxnLst/>
              <a:rect r="r" b="b" t="t" l="l"/>
              <a:pathLst>
                <a:path h="1370203" w="6580759">
                  <a:moveTo>
                    <a:pt x="0" y="0"/>
                  </a:moveTo>
                  <a:lnTo>
                    <a:pt x="6580759" y="0"/>
                  </a:lnTo>
                  <a:lnTo>
                    <a:pt x="6580759" y="1370203"/>
                  </a:lnTo>
                  <a:lnTo>
                    <a:pt x="0" y="1370203"/>
                  </a:lnTo>
                  <a:lnTo>
                    <a:pt x="0" y="0"/>
                  </a:lnTo>
                  <a:close/>
                </a:path>
              </a:pathLst>
            </a:custGeom>
            <a:blipFill>
              <a:blip r:embed="rId3"/>
              <a:stretch>
                <a:fillRect l="-191" t="0" r="-192" b="4"/>
              </a:stretch>
            </a:blipFill>
          </p:spPr>
        </p:sp>
      </p:grpSp>
      <p:grpSp>
        <p:nvGrpSpPr>
          <p:cNvPr name="Group 6" id="6"/>
          <p:cNvGrpSpPr/>
          <p:nvPr/>
        </p:nvGrpSpPr>
        <p:grpSpPr>
          <a:xfrm rot="0">
            <a:off x="2663190" y="10082212"/>
            <a:ext cx="15624810" cy="204845"/>
            <a:chOff x="0" y="0"/>
            <a:chExt cx="20833080" cy="273126"/>
          </a:xfrm>
        </p:grpSpPr>
        <p:sp>
          <p:nvSpPr>
            <p:cNvPr name="Freeform 7" id="7"/>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2072B7"/>
            </a:solidFill>
          </p:spPr>
        </p:sp>
      </p:grpSp>
      <p:grpSp>
        <p:nvGrpSpPr>
          <p:cNvPr name="Group 8" id="8"/>
          <p:cNvGrpSpPr/>
          <p:nvPr/>
        </p:nvGrpSpPr>
        <p:grpSpPr>
          <a:xfrm rot="0">
            <a:off x="2743238" y="10108759"/>
            <a:ext cx="15544724" cy="152705"/>
            <a:chOff x="0" y="0"/>
            <a:chExt cx="20726298" cy="203606"/>
          </a:xfrm>
        </p:grpSpPr>
        <p:sp>
          <p:nvSpPr>
            <p:cNvPr name="Freeform 9" id="9"/>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4"/>
              <a:stretch>
                <a:fillRect l="0" t="0" r="0" b="-35745"/>
              </a:stretch>
            </a:blipFill>
          </p:spPr>
        </p:sp>
      </p:grpSp>
      <p:sp>
        <p:nvSpPr>
          <p:cNvPr name="TextBox 10" id="10"/>
          <p:cNvSpPr txBox="true"/>
          <p:nvPr/>
        </p:nvSpPr>
        <p:spPr>
          <a:xfrm rot="0">
            <a:off x="302009" y="10002231"/>
            <a:ext cx="2254501" cy="327536"/>
          </a:xfrm>
          <a:prstGeom prst="rect">
            <a:avLst/>
          </a:prstGeom>
        </p:spPr>
        <p:txBody>
          <a:bodyPr anchor="t" rtlCol="false" tIns="0" lIns="0" bIns="0" rIns="0">
            <a:spAutoFit/>
          </a:bodyPr>
          <a:lstStyle/>
          <a:p>
            <a:pPr algn="l">
              <a:lnSpc>
                <a:spcPts val="1800"/>
              </a:lnSpc>
            </a:pPr>
            <a:r>
              <a:rPr lang="en-US" sz="1500">
                <a:solidFill>
                  <a:srgbClr val="0070C0"/>
                </a:solidFill>
                <a:latin typeface="Calibri (MS)"/>
                <a:ea typeface="Calibri (MS)"/>
                <a:cs typeface="Calibri (MS)"/>
                <a:sym typeface="Calibri (MS)"/>
              </a:rPr>
              <a:t>https://huit.edu.vn</a:t>
            </a:r>
          </a:p>
        </p:txBody>
      </p:sp>
      <p:sp>
        <p:nvSpPr>
          <p:cNvPr name="TextBox 11" id="11"/>
          <p:cNvSpPr txBox="true"/>
          <p:nvPr/>
        </p:nvSpPr>
        <p:spPr>
          <a:xfrm rot="0">
            <a:off x="857250" y="1457325"/>
            <a:ext cx="16573500" cy="809625"/>
          </a:xfrm>
          <a:prstGeom prst="rect">
            <a:avLst/>
          </a:prstGeom>
        </p:spPr>
        <p:txBody>
          <a:bodyPr anchor="t" rtlCol="false" tIns="0" lIns="0" bIns="0" rIns="0">
            <a:spAutoFit/>
          </a:bodyPr>
          <a:lstStyle/>
          <a:p>
            <a:pPr algn="l">
              <a:lnSpc>
                <a:spcPts val="6194"/>
              </a:lnSpc>
            </a:pPr>
            <a:r>
              <a:rPr lang="en-US" sz="5162" b="true">
                <a:solidFill>
                  <a:srgbClr val="2072B7"/>
                </a:solidFill>
                <a:latin typeface="Arial Bold"/>
                <a:ea typeface="Arial Bold"/>
                <a:cs typeface="Arial Bold"/>
                <a:sym typeface="Arial Bold"/>
              </a:rPr>
              <a:t>Dữ liệu đầu vào và trường sử dụng</a:t>
            </a:r>
          </a:p>
        </p:txBody>
      </p:sp>
      <p:sp>
        <p:nvSpPr>
          <p:cNvPr name="TextBox 12" id="12"/>
          <p:cNvSpPr txBox="true"/>
          <p:nvPr/>
        </p:nvSpPr>
        <p:spPr>
          <a:xfrm rot="0">
            <a:off x="857250" y="2343150"/>
            <a:ext cx="16573500" cy="590550"/>
          </a:xfrm>
          <a:prstGeom prst="rect">
            <a:avLst/>
          </a:prstGeom>
        </p:spPr>
        <p:txBody>
          <a:bodyPr anchor="t" rtlCol="false" tIns="0" lIns="0" bIns="0" rIns="0">
            <a:spAutoFit/>
          </a:bodyPr>
          <a:lstStyle/>
          <a:p>
            <a:pPr algn="l">
              <a:lnSpc>
                <a:spcPts val="4439"/>
              </a:lnSpc>
            </a:pPr>
            <a:r>
              <a:rPr lang="en-US" sz="3699" b="true">
                <a:solidFill>
                  <a:srgbClr val="174C7E"/>
                </a:solidFill>
                <a:latin typeface="Arial Bold"/>
                <a:ea typeface="Arial Bold"/>
                <a:cs typeface="Arial Bold"/>
                <a:sym typeface="Arial Bold"/>
              </a:rPr>
              <a:t>Tách trường để tạo nhãn khỏi trường đưa vào mô hình dự đoán</a:t>
            </a:r>
          </a:p>
        </p:txBody>
      </p:sp>
      <p:sp>
        <p:nvSpPr>
          <p:cNvPr name="TextBox 13" id="13"/>
          <p:cNvSpPr txBox="true"/>
          <p:nvPr/>
        </p:nvSpPr>
        <p:spPr>
          <a:xfrm rot="0">
            <a:off x="11430000" y="3371850"/>
            <a:ext cx="6000750" cy="1209675"/>
          </a:xfrm>
          <a:prstGeom prst="rect">
            <a:avLst/>
          </a:prstGeom>
        </p:spPr>
        <p:txBody>
          <a:bodyPr anchor="t" rtlCol="false" tIns="0" lIns="0" bIns="0" rIns="0">
            <a:spAutoFit/>
          </a:bodyPr>
          <a:lstStyle/>
          <a:p>
            <a:pPr algn="l">
              <a:lnSpc>
                <a:spcPts val="4709"/>
              </a:lnSpc>
            </a:pPr>
            <a:r>
              <a:rPr lang="en-US" sz="3924">
                <a:solidFill>
                  <a:srgbClr val="202D39"/>
                </a:solidFill>
                <a:latin typeface="Arial"/>
                <a:ea typeface="Arial"/>
                <a:cs typeface="Arial"/>
                <a:sym typeface="Arial"/>
              </a:rPr>
              <a:t>Dữ liệu gốc: chuyến bay Hoa Kỳ năm 2024.</a:t>
            </a:r>
          </a:p>
        </p:txBody>
      </p:sp>
      <p:sp>
        <p:nvSpPr>
          <p:cNvPr name="TextBox 14" id="14"/>
          <p:cNvSpPr txBox="true"/>
          <p:nvPr/>
        </p:nvSpPr>
        <p:spPr>
          <a:xfrm rot="0">
            <a:off x="11430000" y="4975225"/>
            <a:ext cx="6000750" cy="1800225"/>
          </a:xfrm>
          <a:prstGeom prst="rect">
            <a:avLst/>
          </a:prstGeom>
        </p:spPr>
        <p:txBody>
          <a:bodyPr anchor="t" rtlCol="false" tIns="0" lIns="0" bIns="0" rIns="0">
            <a:spAutoFit/>
          </a:bodyPr>
          <a:lstStyle/>
          <a:p>
            <a:pPr algn="l">
              <a:lnSpc>
                <a:spcPts val="4709"/>
              </a:lnSpc>
            </a:pPr>
            <a:r>
              <a:rPr lang="en-US" sz="3924">
                <a:solidFill>
                  <a:srgbClr val="202D39"/>
                </a:solidFill>
                <a:latin typeface="Arial"/>
                <a:ea typeface="Arial"/>
                <a:cs typeface="Arial"/>
                <a:sym typeface="Arial"/>
              </a:rPr>
              <a:t>arr_delay và năm cột nguyên nhân dùng tạo nhãn.</a:t>
            </a:r>
          </a:p>
        </p:txBody>
      </p:sp>
      <p:sp>
        <p:nvSpPr>
          <p:cNvPr name="TextBox 15" id="15"/>
          <p:cNvSpPr txBox="true"/>
          <p:nvPr/>
        </p:nvSpPr>
        <p:spPr>
          <a:xfrm rot="0">
            <a:off x="11403806" y="7169150"/>
            <a:ext cx="6000750" cy="2390775"/>
          </a:xfrm>
          <a:prstGeom prst="rect">
            <a:avLst/>
          </a:prstGeom>
        </p:spPr>
        <p:txBody>
          <a:bodyPr anchor="t" rtlCol="false" tIns="0" lIns="0" bIns="0" rIns="0">
            <a:spAutoFit/>
          </a:bodyPr>
          <a:lstStyle/>
          <a:p>
            <a:pPr algn="l">
              <a:lnSpc>
                <a:spcPts val="4709"/>
              </a:lnSpc>
            </a:pPr>
            <a:r>
              <a:rPr lang="en-US" sz="3924">
                <a:solidFill>
                  <a:srgbClr val="202D39"/>
                </a:solidFill>
                <a:latin typeface="Arial"/>
                <a:ea typeface="Arial"/>
                <a:cs typeface="Arial"/>
                <a:sym typeface="Arial"/>
              </a:rPr>
              <a:t>Mô hình dùng lịch, giờ kế hoạch, hãng, sân bay, khoảng cách và thời lượng.</a:t>
            </a:r>
          </a:p>
        </p:txBody>
      </p:sp>
      <p:graphicFrame>
        <p:nvGraphicFramePr>
          <p:cNvPr name="Table 16" id="16"/>
          <p:cNvGraphicFramePr>
            <a:graphicFrameLocks noGrp="true"/>
          </p:cNvGraphicFramePr>
          <p:nvPr/>
        </p:nvGraphicFramePr>
        <p:xfrm>
          <a:off x="661271" y="3225448"/>
          <a:ext cx="10347016" cy="5856384"/>
        </p:xfrm>
        <a:graphic>
          <a:graphicData uri="http://schemas.openxmlformats.org/drawingml/2006/table">
            <a:tbl>
              <a:tblPr/>
              <a:tblGrid>
                <a:gridCol w="3012783"/>
                <a:gridCol w="7334233"/>
              </a:tblGrid>
              <a:tr h="1210152">
                <a:tc>
                  <a:txBody>
                    <a:bodyPr anchor="t" rtlCol="false"/>
                    <a:lstStyle/>
                    <a:p>
                      <a:pPr algn="l">
                        <a:lnSpc>
                          <a:spcPts val="4169"/>
                        </a:lnSpc>
                        <a:defRPr/>
                      </a:pPr>
                      <a:r>
                        <a:rPr lang="en-US" sz="3474" b="true">
                          <a:solidFill>
                            <a:srgbClr val="FFFFFF"/>
                          </a:solidFill>
                          <a:latin typeface="Arial Bold"/>
                          <a:ea typeface="Arial Bold"/>
                          <a:cs typeface="Arial Bold"/>
                          <a:sym typeface="Arial Bold"/>
                        </a:rPr>
                        <a:t>Vai trò</a:t>
                      </a:r>
                      <a:endParaRPr lang="en-US" sz="1100"/>
                    </a:p>
                  </a:txBody>
                  <a:tcPr marL="57150" marR="57150" marT="57150" marB="57150" anchor="t">
                    <a:lnL cmpd="sng" algn="ctr" cap="flat" w="9525">
                      <a:solidFill>
                        <a:srgbClr val="C3D5E4"/>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9525">
                      <a:solidFill>
                        <a:srgbClr val="C3D5E4"/>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2072B7"/>
                    </a:solidFill>
                  </a:tcPr>
                </a:tc>
                <a:tc>
                  <a:txBody>
                    <a:bodyPr anchor="t" rtlCol="false"/>
                    <a:lstStyle/>
                    <a:p>
                      <a:pPr algn="l">
                        <a:lnSpc>
                          <a:spcPts val="4169"/>
                        </a:lnSpc>
                        <a:defRPr/>
                      </a:pPr>
                      <a:r>
                        <a:rPr lang="en-US" sz="3474" b="true">
                          <a:solidFill>
                            <a:srgbClr val="FFFFFF"/>
                          </a:solidFill>
                          <a:latin typeface="Arial Bold"/>
                          <a:ea typeface="Arial Bold"/>
                          <a:cs typeface="Arial Bold"/>
                          <a:sym typeface="Arial Bold"/>
                        </a:rPr>
                        <a:t>Các trường chính</a:t>
                      </a:r>
                      <a:endParaRPr lang="en-US" sz="1100"/>
                    </a:p>
                  </a:txBody>
                  <a:tcPr marL="57150" marR="57150" marT="57150" marB="57150" anchor="t">
                    <a:lnL cmpd="sng" algn="ctr" cap="flat" w="4762">
                      <a:solidFill>
                        <a:srgbClr val="000000"/>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9525">
                      <a:solidFill>
                        <a:srgbClr val="C3D5E4"/>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2072B7"/>
                    </a:solidFill>
                  </a:tcPr>
                </a:tc>
              </a:tr>
              <a:tr h="1898563">
                <a:tc>
                  <a:txBody>
                    <a:bodyPr anchor="t" rtlCol="false"/>
                    <a:lstStyle/>
                    <a:p>
                      <a:pPr algn="l">
                        <a:lnSpc>
                          <a:spcPts val="4169"/>
                        </a:lnSpc>
                        <a:defRPr/>
                      </a:pPr>
                      <a:r>
                        <a:rPr lang="en-US" sz="3474">
                          <a:solidFill>
                            <a:srgbClr val="202D39"/>
                          </a:solidFill>
                          <a:latin typeface="Arial"/>
                          <a:ea typeface="Arial"/>
                          <a:cs typeface="Arial"/>
                          <a:sym typeface="Arial"/>
                        </a:rPr>
                        <a:t>Lọc và gán nhãn</a:t>
                      </a:r>
                      <a:endParaRPr lang="en-US" sz="1100"/>
                    </a:p>
                  </a:txBody>
                  <a:tcPr marL="57150" marR="57150" marT="57150" marB="57150" anchor="t">
                    <a:lnL cmpd="sng" algn="ctr" cap="flat" w="9525">
                      <a:solidFill>
                        <a:srgbClr val="C3D5E4"/>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EDF5FB"/>
                    </a:solidFill>
                  </a:tcPr>
                </a:tc>
                <a:tc>
                  <a:txBody>
                    <a:bodyPr anchor="t" rtlCol="false"/>
                    <a:lstStyle/>
                    <a:p>
                      <a:pPr algn="l">
                        <a:lnSpc>
                          <a:spcPts val="4169"/>
                        </a:lnSpc>
                        <a:defRPr/>
                      </a:pPr>
                      <a:r>
                        <a:rPr lang="en-US" sz="3474">
                          <a:solidFill>
                            <a:srgbClr val="202D39"/>
                          </a:solidFill>
                          <a:latin typeface="Arial"/>
                          <a:ea typeface="Arial"/>
                          <a:cs typeface="Arial"/>
                          <a:sym typeface="Arial"/>
                        </a:rPr>
                        <a:t>cancelled, diverted, arr_delay</a:t>
                      </a:r>
                      <a:endParaRPr lang="en-US" sz="1100"/>
                    </a:p>
                    <a:p>
                      <a:pPr algn="l">
                        <a:lnSpc>
                          <a:spcPts val="4169"/>
                        </a:lnSpc>
                      </a:pPr>
                      <a:r>
                        <a:rPr lang="en-US" sz="3474">
                          <a:solidFill>
                            <a:srgbClr val="202D39"/>
                          </a:solidFill>
                          <a:latin typeface="Arial"/>
                          <a:ea typeface="Arial"/>
                          <a:cs typeface="Arial"/>
                          <a:sym typeface="Arial"/>
                        </a:rPr>
                        <a:t>carrier/weather/nas/security/</a:t>
                      </a:r>
                    </a:p>
                    <a:p>
                      <a:pPr algn="l">
                        <a:lnSpc>
                          <a:spcPts val="4169"/>
                        </a:lnSpc>
                      </a:pPr>
                      <a:r>
                        <a:rPr lang="en-US" sz="3474">
                          <a:solidFill>
                            <a:srgbClr val="202D39"/>
                          </a:solidFill>
                          <a:latin typeface="Arial"/>
                          <a:ea typeface="Arial"/>
                          <a:cs typeface="Arial"/>
                          <a:sym typeface="Arial"/>
                        </a:rPr>
                        <a:t>late_aircraft_delay</a:t>
                      </a:r>
                    </a:p>
                  </a:txBody>
                  <a:tcPr marL="57150" marR="57150" marT="57150" marB="57150" anchor="t">
                    <a:lnL cmpd="sng" algn="ctr" cap="flat" w="4762">
                      <a:solidFill>
                        <a:srgbClr val="000000"/>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EDF5FB"/>
                    </a:solidFill>
                  </a:tcPr>
                </a:tc>
              </a:tr>
              <a:tr h="1373834">
                <a:tc>
                  <a:txBody>
                    <a:bodyPr anchor="t" rtlCol="false"/>
                    <a:lstStyle/>
                    <a:p>
                      <a:pPr algn="l">
                        <a:lnSpc>
                          <a:spcPts val="4169"/>
                        </a:lnSpc>
                        <a:defRPr/>
                      </a:pPr>
                      <a:r>
                        <a:rPr lang="en-US" sz="3474">
                          <a:solidFill>
                            <a:srgbClr val="202D39"/>
                          </a:solidFill>
                          <a:latin typeface="Arial"/>
                          <a:ea typeface="Arial"/>
                          <a:cs typeface="Arial"/>
                          <a:sym typeface="Arial"/>
                        </a:rPr>
                        <a:t>Lịch và giờ kế hoạch</a:t>
                      </a:r>
                      <a:endParaRPr lang="en-US" sz="1100"/>
                    </a:p>
                  </a:txBody>
                  <a:tcPr marL="57150" marR="57150" marT="57150" marB="57150" anchor="t">
                    <a:lnL cmpd="sng" algn="ctr" cap="flat" w="9525">
                      <a:solidFill>
                        <a:srgbClr val="C3D5E4"/>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FFFFFF"/>
                    </a:solidFill>
                  </a:tcPr>
                </a:tc>
                <a:tc>
                  <a:txBody>
                    <a:bodyPr anchor="t" rtlCol="false"/>
                    <a:lstStyle/>
                    <a:p>
                      <a:pPr algn="l">
                        <a:lnSpc>
                          <a:spcPts val="4169"/>
                        </a:lnSpc>
                        <a:defRPr/>
                      </a:pPr>
                      <a:r>
                        <a:rPr lang="en-US" sz="3474">
                          <a:solidFill>
                            <a:srgbClr val="202D39"/>
                          </a:solidFill>
                          <a:latin typeface="Arial"/>
                          <a:ea typeface="Arial"/>
                          <a:cs typeface="Arial"/>
                          <a:sym typeface="Arial"/>
                        </a:rPr>
                        <a:t>month, day_of_month, day_of_week</a:t>
                      </a:r>
                      <a:endParaRPr lang="en-US" sz="1100"/>
                    </a:p>
                    <a:p>
                      <a:pPr algn="l">
                        <a:lnSpc>
                          <a:spcPts val="4169"/>
                        </a:lnSpc>
                      </a:pPr>
                      <a:r>
                        <a:rPr lang="en-US" sz="3474">
                          <a:solidFill>
                            <a:srgbClr val="202D39"/>
                          </a:solidFill>
                          <a:latin typeface="Arial"/>
                          <a:ea typeface="Arial"/>
                          <a:cs typeface="Arial"/>
                          <a:sym typeface="Arial"/>
                        </a:rPr>
                        <a:t>crs_dep_time, crs_arr_time</a:t>
                      </a:r>
                    </a:p>
                  </a:txBody>
                  <a:tcPr marL="57150" marR="57150" marT="57150" marB="57150" anchor="t">
                    <a:lnL cmpd="sng" algn="ctr" cap="flat" w="4762">
                      <a:solidFill>
                        <a:srgbClr val="000000"/>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FFFFFF"/>
                    </a:solidFill>
                  </a:tcPr>
                </a:tc>
              </a:tr>
              <a:tr h="1373834">
                <a:tc>
                  <a:txBody>
                    <a:bodyPr anchor="t" rtlCol="false"/>
                    <a:lstStyle/>
                    <a:p>
                      <a:pPr algn="l">
                        <a:lnSpc>
                          <a:spcPts val="4169"/>
                        </a:lnSpc>
                        <a:defRPr/>
                      </a:pPr>
                      <a:r>
                        <a:rPr lang="en-US" sz="3474">
                          <a:solidFill>
                            <a:srgbClr val="202D39"/>
                          </a:solidFill>
                          <a:latin typeface="Arial"/>
                          <a:ea typeface="Arial"/>
                          <a:cs typeface="Arial"/>
                          <a:sym typeface="Arial"/>
                        </a:rPr>
                        <a:t>Đặc trưng còn lại</a:t>
                      </a:r>
                      <a:endParaRPr lang="en-US" sz="1100"/>
                    </a:p>
                  </a:txBody>
                  <a:tcPr marL="57150" marR="57150" marT="57150" marB="57150" anchor="t">
                    <a:lnL cmpd="sng" algn="ctr" cap="flat" w="9525">
                      <a:solidFill>
                        <a:srgbClr val="C3D5E4"/>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EDF5FB"/>
                    </a:solidFill>
                  </a:tcPr>
                </a:tc>
                <a:tc>
                  <a:txBody>
                    <a:bodyPr anchor="t" rtlCol="false"/>
                    <a:lstStyle/>
                    <a:p>
                      <a:pPr algn="l">
                        <a:lnSpc>
                          <a:spcPts val="4169"/>
                        </a:lnSpc>
                        <a:defRPr/>
                      </a:pPr>
                      <a:r>
                        <a:rPr lang="en-US" sz="3474">
                          <a:solidFill>
                            <a:srgbClr val="202D39"/>
                          </a:solidFill>
                          <a:latin typeface="Arial"/>
                          <a:ea typeface="Arial"/>
                          <a:cs typeface="Arial"/>
                          <a:sym typeface="Arial"/>
                        </a:rPr>
                        <a:t>op_unique_carrier, origin, dest</a:t>
                      </a:r>
                      <a:endParaRPr lang="en-US" sz="1100"/>
                    </a:p>
                    <a:p>
                      <a:pPr algn="l">
                        <a:lnSpc>
                          <a:spcPts val="4169"/>
                        </a:lnSpc>
                      </a:pPr>
                      <a:r>
                        <a:rPr lang="en-US" sz="3474">
                          <a:solidFill>
                            <a:srgbClr val="202D39"/>
                          </a:solidFill>
                          <a:latin typeface="Arial"/>
                          <a:ea typeface="Arial"/>
                          <a:cs typeface="Arial"/>
                          <a:sym typeface="Arial"/>
                        </a:rPr>
                        <a:t>crs_elapsed_time, distance</a:t>
                      </a:r>
                    </a:p>
                  </a:txBody>
                  <a:tcPr marL="57150" marR="57150" marT="57150" marB="57150" anchor="t">
                    <a:lnL cmpd="sng" algn="ctr" cap="flat" w="4762">
                      <a:solidFill>
                        <a:srgbClr val="000000"/>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EDF5FB"/>
                    </a:solidFill>
                  </a:tcPr>
                </a:tc>
              </a:tr>
            </a:tbl>
          </a:graphicData>
        </a:graphic>
      </p:graphicFrame>
      <p:sp>
        <p:nvSpPr>
          <p:cNvPr name="TextBox 17" id="1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13</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668"/>
            <a:ext cx="18288000" cy="1070038"/>
            <a:chOff x="0" y="0"/>
            <a:chExt cx="24384000" cy="1426718"/>
          </a:xfrm>
        </p:grpSpPr>
        <p:sp>
          <p:nvSpPr>
            <p:cNvPr name="Freeform 3" id="3"/>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2072B7"/>
            </a:solidFill>
          </p:spPr>
        </p:sp>
      </p:grpSp>
      <p:grpSp>
        <p:nvGrpSpPr>
          <p:cNvPr name="Group 4" id="4"/>
          <p:cNvGrpSpPr/>
          <p:nvPr/>
        </p:nvGrpSpPr>
        <p:grpSpPr>
          <a:xfrm rot="0">
            <a:off x="477926" y="3334"/>
            <a:ext cx="4935598" cy="1027605"/>
            <a:chOff x="0" y="0"/>
            <a:chExt cx="6580797" cy="1370140"/>
          </a:xfrm>
        </p:grpSpPr>
        <p:sp>
          <p:nvSpPr>
            <p:cNvPr name="Freeform 5" id="5"/>
            <p:cNvSpPr/>
            <p:nvPr/>
          </p:nvSpPr>
          <p:spPr>
            <a:xfrm flipH="false" flipV="false" rot="0">
              <a:off x="0" y="0"/>
              <a:ext cx="6580759" cy="1370203"/>
            </a:xfrm>
            <a:custGeom>
              <a:avLst/>
              <a:gdLst/>
              <a:ahLst/>
              <a:cxnLst/>
              <a:rect r="r" b="b" t="t" l="l"/>
              <a:pathLst>
                <a:path h="1370203" w="6580759">
                  <a:moveTo>
                    <a:pt x="0" y="0"/>
                  </a:moveTo>
                  <a:lnTo>
                    <a:pt x="6580759" y="0"/>
                  </a:lnTo>
                  <a:lnTo>
                    <a:pt x="6580759" y="1370203"/>
                  </a:lnTo>
                  <a:lnTo>
                    <a:pt x="0" y="1370203"/>
                  </a:lnTo>
                  <a:lnTo>
                    <a:pt x="0" y="0"/>
                  </a:lnTo>
                  <a:close/>
                </a:path>
              </a:pathLst>
            </a:custGeom>
            <a:blipFill>
              <a:blip r:embed="rId3"/>
              <a:stretch>
                <a:fillRect l="-191" t="0" r="-192" b="4"/>
              </a:stretch>
            </a:blipFill>
          </p:spPr>
        </p:sp>
      </p:grpSp>
      <p:grpSp>
        <p:nvGrpSpPr>
          <p:cNvPr name="Group 6" id="6"/>
          <p:cNvGrpSpPr/>
          <p:nvPr/>
        </p:nvGrpSpPr>
        <p:grpSpPr>
          <a:xfrm rot="0">
            <a:off x="2663190" y="10082212"/>
            <a:ext cx="15624810" cy="204845"/>
            <a:chOff x="0" y="0"/>
            <a:chExt cx="20833080" cy="273126"/>
          </a:xfrm>
        </p:grpSpPr>
        <p:sp>
          <p:nvSpPr>
            <p:cNvPr name="Freeform 7" id="7"/>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2072B7"/>
            </a:solidFill>
          </p:spPr>
        </p:sp>
      </p:grpSp>
      <p:grpSp>
        <p:nvGrpSpPr>
          <p:cNvPr name="Group 8" id="8"/>
          <p:cNvGrpSpPr/>
          <p:nvPr/>
        </p:nvGrpSpPr>
        <p:grpSpPr>
          <a:xfrm rot="0">
            <a:off x="2743238" y="10108759"/>
            <a:ext cx="15544724" cy="152705"/>
            <a:chOff x="0" y="0"/>
            <a:chExt cx="20726298" cy="203606"/>
          </a:xfrm>
        </p:grpSpPr>
        <p:sp>
          <p:nvSpPr>
            <p:cNvPr name="Freeform 9" id="9"/>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4"/>
              <a:stretch>
                <a:fillRect l="0" t="0" r="0" b="-35745"/>
              </a:stretch>
            </a:blipFill>
          </p:spPr>
        </p:sp>
      </p:grpSp>
      <p:sp>
        <p:nvSpPr>
          <p:cNvPr name="TextBox 10" id="10"/>
          <p:cNvSpPr txBox="true"/>
          <p:nvPr/>
        </p:nvSpPr>
        <p:spPr>
          <a:xfrm rot="0">
            <a:off x="302009" y="10002231"/>
            <a:ext cx="2254501" cy="327536"/>
          </a:xfrm>
          <a:prstGeom prst="rect">
            <a:avLst/>
          </a:prstGeom>
        </p:spPr>
        <p:txBody>
          <a:bodyPr anchor="t" rtlCol="false" tIns="0" lIns="0" bIns="0" rIns="0">
            <a:spAutoFit/>
          </a:bodyPr>
          <a:lstStyle/>
          <a:p>
            <a:pPr algn="l">
              <a:lnSpc>
                <a:spcPts val="1800"/>
              </a:lnSpc>
            </a:pPr>
            <a:r>
              <a:rPr lang="en-US" sz="1500">
                <a:solidFill>
                  <a:srgbClr val="0070C0"/>
                </a:solidFill>
                <a:latin typeface="Calibri (MS)"/>
                <a:ea typeface="Calibri (MS)"/>
                <a:cs typeface="Calibri (MS)"/>
                <a:sym typeface="Calibri (MS)"/>
              </a:rPr>
              <a:t>https://huit.edu.vn</a:t>
            </a:r>
          </a:p>
        </p:txBody>
      </p:sp>
      <p:sp>
        <p:nvSpPr>
          <p:cNvPr name="TextBox 11" id="11"/>
          <p:cNvSpPr txBox="true"/>
          <p:nvPr/>
        </p:nvSpPr>
        <p:spPr>
          <a:xfrm rot="0">
            <a:off x="857250" y="1457325"/>
            <a:ext cx="16573500" cy="790575"/>
          </a:xfrm>
          <a:prstGeom prst="rect">
            <a:avLst/>
          </a:prstGeom>
        </p:spPr>
        <p:txBody>
          <a:bodyPr anchor="t" rtlCol="false" tIns="0" lIns="0" bIns="0" rIns="0">
            <a:spAutoFit/>
          </a:bodyPr>
          <a:lstStyle/>
          <a:p>
            <a:pPr algn="l">
              <a:lnSpc>
                <a:spcPts val="6074"/>
              </a:lnSpc>
            </a:pPr>
            <a:r>
              <a:rPr lang="en-US" sz="5062" b="true">
                <a:solidFill>
                  <a:srgbClr val="2072B7"/>
                </a:solidFill>
                <a:latin typeface="Arial Bold"/>
                <a:ea typeface="Arial Bold"/>
                <a:cs typeface="Arial Bold"/>
                <a:sym typeface="Arial Bold"/>
              </a:rPr>
              <a:t>Quy tắc làm sạch thực sự trong code</a:t>
            </a:r>
          </a:p>
        </p:txBody>
      </p:sp>
      <p:sp>
        <p:nvSpPr>
          <p:cNvPr name="TextBox 12" id="12"/>
          <p:cNvSpPr txBox="true"/>
          <p:nvPr/>
        </p:nvSpPr>
        <p:spPr>
          <a:xfrm rot="0">
            <a:off x="857250" y="2343150"/>
            <a:ext cx="16573500" cy="571500"/>
          </a:xfrm>
          <a:prstGeom prst="rect">
            <a:avLst/>
          </a:prstGeom>
        </p:spPr>
        <p:txBody>
          <a:bodyPr anchor="t" rtlCol="false" tIns="0" lIns="0" bIns="0" rIns="0">
            <a:spAutoFit/>
          </a:bodyPr>
          <a:lstStyle/>
          <a:p>
            <a:pPr algn="l">
              <a:lnSpc>
                <a:spcPts val="4319"/>
              </a:lnSpc>
            </a:pPr>
            <a:r>
              <a:rPr lang="en-US" sz="3599" b="true">
                <a:solidFill>
                  <a:srgbClr val="174C7E"/>
                </a:solidFill>
                <a:latin typeface="Arial Bold"/>
                <a:ea typeface="Arial Bold"/>
                <a:cs typeface="Arial Bold"/>
                <a:sym typeface="Arial Bold"/>
              </a:rPr>
              <a:t>Loại chuyến hủy, chuyển hướng hoặc không có arr_delay để gán nhãn</a:t>
            </a:r>
          </a:p>
        </p:txBody>
      </p:sp>
      <p:sp>
        <p:nvSpPr>
          <p:cNvPr name="TextBox 13" id="13"/>
          <p:cNvSpPr txBox="true"/>
          <p:nvPr/>
        </p:nvSpPr>
        <p:spPr>
          <a:xfrm rot="0">
            <a:off x="857250" y="3324225"/>
            <a:ext cx="6072188" cy="1181100"/>
          </a:xfrm>
          <a:prstGeom prst="rect">
            <a:avLst/>
          </a:prstGeom>
        </p:spPr>
        <p:txBody>
          <a:bodyPr anchor="t" rtlCol="false" tIns="0" lIns="0" bIns="0" rIns="0">
            <a:spAutoFit/>
          </a:bodyPr>
          <a:lstStyle/>
          <a:p>
            <a:pPr algn="l">
              <a:lnSpc>
                <a:spcPts val="4589"/>
              </a:lnSpc>
            </a:pPr>
            <a:r>
              <a:rPr lang="en-US" sz="3824">
                <a:solidFill>
                  <a:srgbClr val="202D39"/>
                </a:solidFill>
                <a:latin typeface="Arial"/>
                <a:ea typeface="Arial"/>
                <a:cs typeface="Arial"/>
                <a:sym typeface="Arial"/>
              </a:rPr>
              <a:t>Giữ cancelled = 0, diverted = 0 và arr_delay có giá trị.</a:t>
            </a:r>
          </a:p>
        </p:txBody>
      </p:sp>
      <p:sp>
        <p:nvSpPr>
          <p:cNvPr name="TextBox 14" id="14"/>
          <p:cNvSpPr txBox="true"/>
          <p:nvPr/>
        </p:nvSpPr>
        <p:spPr>
          <a:xfrm rot="0">
            <a:off x="857250" y="5195094"/>
            <a:ext cx="6072188" cy="1762125"/>
          </a:xfrm>
          <a:prstGeom prst="rect">
            <a:avLst/>
          </a:prstGeom>
        </p:spPr>
        <p:txBody>
          <a:bodyPr anchor="t" rtlCol="false" tIns="0" lIns="0" bIns="0" rIns="0">
            <a:spAutoFit/>
          </a:bodyPr>
          <a:lstStyle/>
          <a:p>
            <a:pPr algn="l">
              <a:lnSpc>
                <a:spcPts val="4589"/>
              </a:lnSpc>
            </a:pPr>
            <a:r>
              <a:rPr lang="en-US" sz="3824">
                <a:solidFill>
                  <a:srgbClr val="202D39"/>
                </a:solidFill>
                <a:latin typeface="Arial"/>
                <a:ea typeface="Arial"/>
                <a:cs typeface="Arial"/>
                <a:sym typeface="Arial"/>
              </a:rPr>
              <a:t>Năm cột nguyên nhân và dep_delay thiếu được điền 0.</a:t>
            </a:r>
          </a:p>
        </p:txBody>
      </p:sp>
      <p:sp>
        <p:nvSpPr>
          <p:cNvPr name="TextBox 15" id="15"/>
          <p:cNvSpPr txBox="true"/>
          <p:nvPr/>
        </p:nvSpPr>
        <p:spPr>
          <a:xfrm rot="0">
            <a:off x="857250" y="7646987"/>
            <a:ext cx="6072188" cy="1762125"/>
          </a:xfrm>
          <a:prstGeom prst="rect">
            <a:avLst/>
          </a:prstGeom>
        </p:spPr>
        <p:txBody>
          <a:bodyPr anchor="t" rtlCol="false" tIns="0" lIns="0" bIns="0" rIns="0">
            <a:spAutoFit/>
          </a:bodyPr>
          <a:lstStyle/>
          <a:p>
            <a:pPr algn="l">
              <a:lnSpc>
                <a:spcPts val="4589"/>
              </a:lnSpc>
            </a:pPr>
            <a:r>
              <a:rPr lang="en-US" sz="3824">
                <a:solidFill>
                  <a:srgbClr val="202D39"/>
                </a:solidFill>
                <a:latin typeface="Arial"/>
                <a:ea typeface="Arial"/>
                <a:cs typeface="Arial"/>
                <a:sym typeface="Arial"/>
              </a:rPr>
              <a:t>Spark ép kiểu trước lọc. CPU còn xử lý số lỗi khi chuẩn bị X.</a:t>
            </a:r>
          </a:p>
        </p:txBody>
      </p:sp>
      <p:graphicFrame>
        <p:nvGraphicFramePr>
          <p:cNvPr name="Table 16" id="16"/>
          <p:cNvGraphicFramePr>
            <a:graphicFrameLocks noGrp="true"/>
          </p:cNvGraphicFramePr>
          <p:nvPr/>
        </p:nvGraphicFramePr>
        <p:xfrm>
          <a:off x="7643812" y="3343275"/>
          <a:ext cx="9772650" cy="4343400"/>
        </p:xfrm>
        <a:graphic>
          <a:graphicData uri="http://schemas.openxmlformats.org/drawingml/2006/table">
            <a:tbl>
              <a:tblPr/>
              <a:tblGrid>
                <a:gridCol w="5639160"/>
                <a:gridCol w="4133490"/>
              </a:tblGrid>
              <a:tr h="868680">
                <a:tc>
                  <a:txBody>
                    <a:bodyPr anchor="t" rtlCol="false"/>
                    <a:lstStyle/>
                    <a:p>
                      <a:pPr algn="l">
                        <a:lnSpc>
                          <a:spcPts val="4319"/>
                        </a:lnSpc>
                        <a:defRPr/>
                      </a:pPr>
                      <a:r>
                        <a:rPr lang="en-US" sz="3599" b="true">
                          <a:solidFill>
                            <a:srgbClr val="FFFFFF"/>
                          </a:solidFill>
                          <a:latin typeface="Arial Bold"/>
                          <a:ea typeface="Arial Bold"/>
                          <a:cs typeface="Arial Bold"/>
                          <a:sym typeface="Arial Bold"/>
                        </a:rPr>
                        <a:t>Dữ liệu minh họa</a:t>
                      </a:r>
                      <a:endParaRPr lang="en-US" sz="1100"/>
                    </a:p>
                  </a:txBody>
                  <a:tcPr marL="57150" marR="57150" marT="57150" marB="57150" anchor="t">
                    <a:lnL cmpd="sng" algn="ctr" cap="flat" w="9525">
                      <a:solidFill>
                        <a:srgbClr val="C3D5E4"/>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9525">
                      <a:solidFill>
                        <a:srgbClr val="C3D5E4"/>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2072B7"/>
                    </a:solidFill>
                  </a:tcPr>
                </a:tc>
                <a:tc>
                  <a:txBody>
                    <a:bodyPr anchor="t" rtlCol="false"/>
                    <a:lstStyle/>
                    <a:p>
                      <a:pPr algn="l">
                        <a:lnSpc>
                          <a:spcPts val="4319"/>
                        </a:lnSpc>
                        <a:defRPr/>
                      </a:pPr>
                      <a:r>
                        <a:rPr lang="en-US" sz="3599" b="true">
                          <a:solidFill>
                            <a:srgbClr val="FFFFFF"/>
                          </a:solidFill>
                          <a:latin typeface="Arial Bold"/>
                          <a:ea typeface="Arial Bold"/>
                          <a:cs typeface="Arial Bold"/>
                          <a:sym typeface="Arial Bold"/>
                        </a:rPr>
                        <a:t>Sau xử lý</a:t>
                      </a:r>
                      <a:endParaRPr lang="en-US" sz="1100"/>
                    </a:p>
                  </a:txBody>
                  <a:tcPr marL="57150" marR="57150" marT="57150" marB="57150" anchor="t">
                    <a:lnL cmpd="sng" algn="ctr" cap="flat" w="4762">
                      <a:solidFill>
                        <a:srgbClr val="000000"/>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9525">
                      <a:solidFill>
                        <a:srgbClr val="C3D5E4"/>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2072B7"/>
                    </a:solidFill>
                  </a:tcPr>
                </a:tc>
              </a:tr>
              <a:tr h="868680">
                <a:tc>
                  <a:txBody>
                    <a:bodyPr anchor="t" rtlCol="false"/>
                    <a:lstStyle/>
                    <a:p>
                      <a:pPr algn="l">
                        <a:lnSpc>
                          <a:spcPts val="4319"/>
                        </a:lnSpc>
                        <a:defRPr/>
                      </a:pPr>
                      <a:r>
                        <a:rPr lang="en-US" sz="3599">
                          <a:solidFill>
                            <a:srgbClr val="202D39"/>
                          </a:solidFill>
                          <a:latin typeface="Arial"/>
                          <a:ea typeface="Arial"/>
                          <a:cs typeface="Arial"/>
                          <a:sym typeface="Arial"/>
                        </a:rPr>
                        <a:t>cancelled = 1</a:t>
                      </a:r>
                      <a:endParaRPr lang="en-US" sz="1100"/>
                    </a:p>
                  </a:txBody>
                  <a:tcPr marL="57150" marR="57150" marT="57150" marB="57150" anchor="t">
                    <a:lnL cmpd="sng" algn="ctr" cap="flat" w="9525">
                      <a:solidFill>
                        <a:srgbClr val="C3D5E4"/>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EDF5FB"/>
                    </a:solidFill>
                  </a:tcPr>
                </a:tc>
                <a:tc>
                  <a:txBody>
                    <a:bodyPr anchor="t" rtlCol="false"/>
                    <a:lstStyle/>
                    <a:p>
                      <a:pPr algn="l">
                        <a:lnSpc>
                          <a:spcPts val="4319"/>
                        </a:lnSpc>
                        <a:defRPr/>
                      </a:pPr>
                      <a:r>
                        <a:rPr lang="en-US" sz="3599">
                          <a:solidFill>
                            <a:srgbClr val="202D39"/>
                          </a:solidFill>
                          <a:latin typeface="Arial"/>
                          <a:ea typeface="Arial"/>
                          <a:cs typeface="Arial"/>
                          <a:sym typeface="Arial"/>
                        </a:rPr>
                        <a:t>Loại bản ghi</a:t>
                      </a:r>
                      <a:endParaRPr lang="en-US" sz="1100"/>
                    </a:p>
                  </a:txBody>
                  <a:tcPr marL="57150" marR="57150" marT="57150" marB="57150" anchor="t">
                    <a:lnL cmpd="sng" algn="ctr" cap="flat" w="4762">
                      <a:solidFill>
                        <a:srgbClr val="000000"/>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EDF5FB"/>
                    </a:solidFill>
                  </a:tcPr>
                </a:tc>
              </a:tr>
              <a:tr h="868680">
                <a:tc>
                  <a:txBody>
                    <a:bodyPr anchor="t" rtlCol="false"/>
                    <a:lstStyle/>
                    <a:p>
                      <a:pPr algn="l">
                        <a:lnSpc>
                          <a:spcPts val="4319"/>
                        </a:lnSpc>
                        <a:defRPr/>
                      </a:pPr>
                      <a:r>
                        <a:rPr lang="en-US" sz="3599">
                          <a:solidFill>
                            <a:srgbClr val="202D39"/>
                          </a:solidFill>
                          <a:latin typeface="Arial"/>
                          <a:ea typeface="Arial"/>
                          <a:cs typeface="Arial"/>
                          <a:sym typeface="Arial"/>
                        </a:rPr>
                        <a:t>arr_delay = thiếu</a:t>
                      </a:r>
                      <a:endParaRPr lang="en-US" sz="1100"/>
                    </a:p>
                  </a:txBody>
                  <a:tcPr marL="57150" marR="57150" marT="57150" marB="57150" anchor="t">
                    <a:lnL cmpd="sng" algn="ctr" cap="flat" w="9525">
                      <a:solidFill>
                        <a:srgbClr val="C3D5E4"/>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FFFFFF"/>
                    </a:solidFill>
                  </a:tcPr>
                </a:tc>
                <a:tc>
                  <a:txBody>
                    <a:bodyPr anchor="t" rtlCol="false"/>
                    <a:lstStyle/>
                    <a:p>
                      <a:pPr algn="l">
                        <a:lnSpc>
                          <a:spcPts val="4319"/>
                        </a:lnSpc>
                        <a:defRPr/>
                      </a:pPr>
                      <a:r>
                        <a:rPr lang="en-US" sz="3599">
                          <a:solidFill>
                            <a:srgbClr val="202D39"/>
                          </a:solidFill>
                          <a:latin typeface="Arial"/>
                          <a:ea typeface="Arial"/>
                          <a:cs typeface="Arial"/>
                          <a:sym typeface="Arial"/>
                        </a:rPr>
                        <a:t>Loại bản ghi</a:t>
                      </a:r>
                      <a:endParaRPr lang="en-US" sz="1100"/>
                    </a:p>
                  </a:txBody>
                  <a:tcPr marL="57150" marR="57150" marT="57150" marB="57150" anchor="t">
                    <a:lnL cmpd="sng" algn="ctr" cap="flat" w="4762">
                      <a:solidFill>
                        <a:srgbClr val="000000"/>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FFFFFF"/>
                    </a:solidFill>
                  </a:tcPr>
                </a:tc>
              </a:tr>
              <a:tr h="868680">
                <a:tc>
                  <a:txBody>
                    <a:bodyPr anchor="t" rtlCol="false"/>
                    <a:lstStyle/>
                    <a:p>
                      <a:pPr algn="l">
                        <a:lnSpc>
                          <a:spcPts val="4319"/>
                        </a:lnSpc>
                        <a:defRPr/>
                      </a:pPr>
                      <a:r>
                        <a:rPr lang="en-US" sz="3599">
                          <a:solidFill>
                            <a:srgbClr val="202D39"/>
                          </a:solidFill>
                          <a:latin typeface="Arial"/>
                          <a:ea typeface="Arial"/>
                          <a:cs typeface="Arial"/>
                          <a:sym typeface="Arial"/>
                        </a:rPr>
                        <a:t>weather_delay = thiếu</a:t>
                      </a:r>
                      <a:endParaRPr lang="en-US" sz="1100"/>
                    </a:p>
                  </a:txBody>
                  <a:tcPr marL="57150" marR="57150" marT="57150" marB="57150" anchor="t">
                    <a:lnL cmpd="sng" algn="ctr" cap="flat" w="9525">
                      <a:solidFill>
                        <a:srgbClr val="C3D5E4"/>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EDF5FB"/>
                    </a:solidFill>
                  </a:tcPr>
                </a:tc>
                <a:tc>
                  <a:txBody>
                    <a:bodyPr anchor="t" rtlCol="false"/>
                    <a:lstStyle/>
                    <a:p>
                      <a:pPr algn="l">
                        <a:lnSpc>
                          <a:spcPts val="4319"/>
                        </a:lnSpc>
                        <a:defRPr/>
                      </a:pPr>
                      <a:r>
                        <a:rPr lang="en-US" sz="3599">
                          <a:solidFill>
                            <a:srgbClr val="202D39"/>
                          </a:solidFill>
                          <a:latin typeface="Arial"/>
                          <a:ea typeface="Arial"/>
                          <a:cs typeface="Arial"/>
                          <a:sym typeface="Arial"/>
                        </a:rPr>
                        <a:t>Điền 0</a:t>
                      </a:r>
                      <a:endParaRPr lang="en-US" sz="1100"/>
                    </a:p>
                  </a:txBody>
                  <a:tcPr marL="57150" marR="57150" marT="57150" marB="57150" anchor="t">
                    <a:lnL cmpd="sng" algn="ctr" cap="flat" w="4762">
                      <a:solidFill>
                        <a:srgbClr val="000000"/>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EDF5FB"/>
                    </a:solidFill>
                  </a:tcPr>
                </a:tc>
              </a:tr>
              <a:tr h="868680">
                <a:tc>
                  <a:txBody>
                    <a:bodyPr anchor="t" rtlCol="false"/>
                    <a:lstStyle/>
                    <a:p>
                      <a:pPr algn="l">
                        <a:lnSpc>
                          <a:spcPts val="4319"/>
                        </a:lnSpc>
                        <a:defRPr/>
                      </a:pPr>
                      <a:r>
                        <a:rPr lang="en-US" sz="3599">
                          <a:solidFill>
                            <a:srgbClr val="202D39"/>
                          </a:solidFill>
                          <a:latin typeface="Arial"/>
                          <a:ea typeface="Arial"/>
                          <a:cs typeface="Arial"/>
                          <a:sym typeface="Arial"/>
                        </a:rPr>
                        <a:t>dep_delay = thiếu</a:t>
                      </a:r>
                      <a:endParaRPr lang="en-US" sz="1100"/>
                    </a:p>
                  </a:txBody>
                  <a:tcPr marL="57150" marR="57150" marT="57150" marB="57150" anchor="t">
                    <a:lnL cmpd="sng" algn="ctr" cap="flat" w="9525">
                      <a:solidFill>
                        <a:srgbClr val="C3D5E4"/>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FFFFFF"/>
                    </a:solidFill>
                  </a:tcPr>
                </a:tc>
                <a:tc>
                  <a:txBody>
                    <a:bodyPr anchor="t" rtlCol="false"/>
                    <a:lstStyle/>
                    <a:p>
                      <a:pPr algn="l">
                        <a:lnSpc>
                          <a:spcPts val="4319"/>
                        </a:lnSpc>
                        <a:defRPr/>
                      </a:pPr>
                      <a:r>
                        <a:rPr lang="en-US" sz="3599">
                          <a:solidFill>
                            <a:srgbClr val="202D39"/>
                          </a:solidFill>
                          <a:latin typeface="Arial"/>
                          <a:ea typeface="Arial"/>
                          <a:cs typeface="Arial"/>
                          <a:sym typeface="Arial"/>
                        </a:rPr>
                        <a:t>Điền 0</a:t>
                      </a:r>
                      <a:endParaRPr lang="en-US" sz="1100"/>
                    </a:p>
                  </a:txBody>
                  <a:tcPr marL="57150" marR="57150" marT="57150" marB="57150" anchor="t">
                    <a:lnL cmpd="sng" algn="ctr" cap="flat" w="4762">
                      <a:solidFill>
                        <a:srgbClr val="000000"/>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FFFFFF"/>
                    </a:solidFill>
                  </a:tcPr>
                </a:tc>
              </a:tr>
            </a:tbl>
          </a:graphicData>
        </a:graphic>
      </p:graphicFrame>
      <p:sp>
        <p:nvSpPr>
          <p:cNvPr name="TextBox 17" id="1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14</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668"/>
            <a:ext cx="18288000" cy="1070038"/>
            <a:chOff x="0" y="0"/>
            <a:chExt cx="24384000" cy="1426718"/>
          </a:xfrm>
        </p:grpSpPr>
        <p:sp>
          <p:nvSpPr>
            <p:cNvPr name="Freeform 3" id="3"/>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2072B7"/>
            </a:solidFill>
          </p:spPr>
        </p:sp>
      </p:grpSp>
      <p:grpSp>
        <p:nvGrpSpPr>
          <p:cNvPr name="Group 4" id="4"/>
          <p:cNvGrpSpPr/>
          <p:nvPr/>
        </p:nvGrpSpPr>
        <p:grpSpPr>
          <a:xfrm rot="0">
            <a:off x="477926" y="3334"/>
            <a:ext cx="4935598" cy="1027605"/>
            <a:chOff x="0" y="0"/>
            <a:chExt cx="6580797" cy="1370140"/>
          </a:xfrm>
        </p:grpSpPr>
        <p:sp>
          <p:nvSpPr>
            <p:cNvPr name="Freeform 5" id="5"/>
            <p:cNvSpPr/>
            <p:nvPr/>
          </p:nvSpPr>
          <p:spPr>
            <a:xfrm flipH="false" flipV="false" rot="0">
              <a:off x="0" y="0"/>
              <a:ext cx="6580759" cy="1370203"/>
            </a:xfrm>
            <a:custGeom>
              <a:avLst/>
              <a:gdLst/>
              <a:ahLst/>
              <a:cxnLst/>
              <a:rect r="r" b="b" t="t" l="l"/>
              <a:pathLst>
                <a:path h="1370203" w="6580759">
                  <a:moveTo>
                    <a:pt x="0" y="0"/>
                  </a:moveTo>
                  <a:lnTo>
                    <a:pt x="6580759" y="0"/>
                  </a:lnTo>
                  <a:lnTo>
                    <a:pt x="6580759" y="1370203"/>
                  </a:lnTo>
                  <a:lnTo>
                    <a:pt x="0" y="1370203"/>
                  </a:lnTo>
                  <a:lnTo>
                    <a:pt x="0" y="0"/>
                  </a:lnTo>
                  <a:close/>
                </a:path>
              </a:pathLst>
            </a:custGeom>
            <a:blipFill>
              <a:blip r:embed="rId3"/>
              <a:stretch>
                <a:fillRect l="-191" t="0" r="-192" b="4"/>
              </a:stretch>
            </a:blipFill>
          </p:spPr>
        </p:sp>
      </p:grpSp>
      <p:grpSp>
        <p:nvGrpSpPr>
          <p:cNvPr name="Group 6" id="6"/>
          <p:cNvGrpSpPr/>
          <p:nvPr/>
        </p:nvGrpSpPr>
        <p:grpSpPr>
          <a:xfrm rot="0">
            <a:off x="2663190" y="10082212"/>
            <a:ext cx="15624810" cy="204845"/>
            <a:chOff x="0" y="0"/>
            <a:chExt cx="20833080" cy="273126"/>
          </a:xfrm>
        </p:grpSpPr>
        <p:sp>
          <p:nvSpPr>
            <p:cNvPr name="Freeform 7" id="7"/>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2072B7"/>
            </a:solidFill>
          </p:spPr>
        </p:sp>
      </p:grpSp>
      <p:grpSp>
        <p:nvGrpSpPr>
          <p:cNvPr name="Group 8" id="8"/>
          <p:cNvGrpSpPr/>
          <p:nvPr/>
        </p:nvGrpSpPr>
        <p:grpSpPr>
          <a:xfrm rot="0">
            <a:off x="2743238" y="10108759"/>
            <a:ext cx="15544724" cy="152705"/>
            <a:chOff x="0" y="0"/>
            <a:chExt cx="20726298" cy="203606"/>
          </a:xfrm>
        </p:grpSpPr>
        <p:sp>
          <p:nvSpPr>
            <p:cNvPr name="Freeform 9" id="9"/>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4"/>
              <a:stretch>
                <a:fillRect l="0" t="0" r="0" b="-35745"/>
              </a:stretch>
            </a:blipFill>
          </p:spPr>
        </p:sp>
      </p:grpSp>
      <p:sp>
        <p:nvSpPr>
          <p:cNvPr name="TextBox 10" id="10"/>
          <p:cNvSpPr txBox="true"/>
          <p:nvPr/>
        </p:nvSpPr>
        <p:spPr>
          <a:xfrm rot="0">
            <a:off x="302009" y="10002231"/>
            <a:ext cx="2254501" cy="327536"/>
          </a:xfrm>
          <a:prstGeom prst="rect">
            <a:avLst/>
          </a:prstGeom>
        </p:spPr>
        <p:txBody>
          <a:bodyPr anchor="t" rtlCol="false" tIns="0" lIns="0" bIns="0" rIns="0">
            <a:spAutoFit/>
          </a:bodyPr>
          <a:lstStyle/>
          <a:p>
            <a:pPr algn="l">
              <a:lnSpc>
                <a:spcPts val="1800"/>
              </a:lnSpc>
            </a:pPr>
            <a:r>
              <a:rPr lang="en-US" sz="1500">
                <a:solidFill>
                  <a:srgbClr val="0070C0"/>
                </a:solidFill>
                <a:latin typeface="Calibri (MS)"/>
                <a:ea typeface="Calibri (MS)"/>
                <a:cs typeface="Calibri (MS)"/>
                <a:sym typeface="Calibri (MS)"/>
              </a:rPr>
              <a:t>https://huit.edu.vn</a:t>
            </a:r>
          </a:p>
        </p:txBody>
      </p:sp>
      <p:sp>
        <p:nvSpPr>
          <p:cNvPr name="AutoShape 11" id="11"/>
          <p:cNvSpPr/>
          <p:nvPr/>
        </p:nvSpPr>
        <p:spPr>
          <a:xfrm flipH="true">
            <a:off x="6908006" y="6338086"/>
            <a:ext cx="628650" cy="827095"/>
          </a:xfrm>
          <a:prstGeom prst="line">
            <a:avLst/>
          </a:prstGeom>
          <a:ln cap="rnd" w="19050">
            <a:solidFill>
              <a:srgbClr val="2072B7"/>
            </a:solidFill>
            <a:prstDash val="solid"/>
            <a:headEnd type="none" len="sm" w="sm"/>
            <a:tailEnd type="triangle" len="med" w="lg"/>
          </a:ln>
        </p:spPr>
      </p:sp>
      <p:sp>
        <p:nvSpPr>
          <p:cNvPr name="AutoShape 12" id="12"/>
          <p:cNvSpPr/>
          <p:nvPr/>
        </p:nvSpPr>
        <p:spPr>
          <a:xfrm>
            <a:off x="5643562" y="4093369"/>
            <a:ext cx="1893094" cy="900112"/>
          </a:xfrm>
          <a:prstGeom prst="line">
            <a:avLst/>
          </a:prstGeom>
          <a:ln cap="rnd" w="19050">
            <a:solidFill>
              <a:srgbClr val="2072B7"/>
            </a:solidFill>
            <a:prstDash val="solid"/>
            <a:headEnd type="none" len="sm" w="sm"/>
            <a:tailEnd type="triangle" len="med" w="lg"/>
          </a:ln>
        </p:spPr>
      </p:sp>
      <p:sp>
        <p:nvSpPr>
          <p:cNvPr name="AutoShape 13" id="13"/>
          <p:cNvSpPr/>
          <p:nvPr/>
        </p:nvSpPr>
        <p:spPr>
          <a:xfrm flipH="true">
            <a:off x="2393156" y="4093369"/>
            <a:ext cx="3250406" cy="957262"/>
          </a:xfrm>
          <a:prstGeom prst="line">
            <a:avLst/>
          </a:prstGeom>
          <a:ln cap="rnd" w="19050">
            <a:solidFill>
              <a:srgbClr val="2072B7"/>
            </a:solidFill>
            <a:prstDash val="solid"/>
            <a:headEnd type="none" len="sm" w="sm"/>
            <a:tailEnd type="triangle" len="med" w="lg"/>
          </a:ln>
        </p:spPr>
      </p:sp>
      <p:sp>
        <p:nvSpPr>
          <p:cNvPr name="TextBox 14" id="14"/>
          <p:cNvSpPr txBox="true"/>
          <p:nvPr/>
        </p:nvSpPr>
        <p:spPr>
          <a:xfrm rot="0">
            <a:off x="857250" y="1457325"/>
            <a:ext cx="16573500" cy="781050"/>
          </a:xfrm>
          <a:prstGeom prst="rect">
            <a:avLst/>
          </a:prstGeom>
        </p:spPr>
        <p:txBody>
          <a:bodyPr anchor="t" rtlCol="false" tIns="0" lIns="0" bIns="0" rIns="0">
            <a:spAutoFit/>
          </a:bodyPr>
          <a:lstStyle/>
          <a:p>
            <a:pPr algn="l">
              <a:lnSpc>
                <a:spcPts val="5954"/>
              </a:lnSpc>
            </a:pPr>
            <a:r>
              <a:rPr lang="en-US" sz="4962" b="true">
                <a:solidFill>
                  <a:srgbClr val="2072B7"/>
                </a:solidFill>
                <a:latin typeface="Arial Bold"/>
                <a:ea typeface="Arial Bold"/>
                <a:cs typeface="Arial Bold"/>
                <a:sym typeface="Arial Bold"/>
              </a:rPr>
              <a:t>Tạo nhãn nguyên nhân trễ chi phối</a:t>
            </a:r>
          </a:p>
        </p:txBody>
      </p:sp>
      <p:sp>
        <p:nvSpPr>
          <p:cNvPr name="TextBox 15" id="15"/>
          <p:cNvSpPr txBox="true"/>
          <p:nvPr/>
        </p:nvSpPr>
        <p:spPr>
          <a:xfrm rot="0">
            <a:off x="857250" y="2352675"/>
            <a:ext cx="16573500" cy="542925"/>
          </a:xfrm>
          <a:prstGeom prst="rect">
            <a:avLst/>
          </a:prstGeom>
        </p:spPr>
        <p:txBody>
          <a:bodyPr anchor="t" rtlCol="false" tIns="0" lIns="0" bIns="0" rIns="0">
            <a:spAutoFit/>
          </a:bodyPr>
          <a:lstStyle/>
          <a:p>
            <a:pPr algn="l">
              <a:lnSpc>
                <a:spcPts val="4199"/>
              </a:lnSpc>
            </a:pPr>
            <a:r>
              <a:rPr lang="en-US" sz="3499" b="true">
                <a:solidFill>
                  <a:srgbClr val="174C7E"/>
                </a:solidFill>
                <a:latin typeface="Arial Bold"/>
                <a:ea typeface="Arial Bold"/>
                <a:cs typeface="Arial Bold"/>
                <a:sym typeface="Arial Bold"/>
              </a:rPr>
              <a:t>OnTime khi arr_delay &lt; 15; chuyến trễ lấy nguyên nhân có số phút lớn nhất</a:t>
            </a:r>
          </a:p>
        </p:txBody>
      </p:sp>
      <p:grpSp>
        <p:nvGrpSpPr>
          <p:cNvPr name="Group 16" id="16"/>
          <p:cNvGrpSpPr/>
          <p:nvPr/>
        </p:nvGrpSpPr>
        <p:grpSpPr>
          <a:xfrm rot="0">
            <a:off x="2636044" y="3264694"/>
            <a:ext cx="6015038" cy="828675"/>
            <a:chOff x="0" y="0"/>
            <a:chExt cx="8020050" cy="1104900"/>
          </a:xfrm>
        </p:grpSpPr>
        <p:sp>
          <p:nvSpPr>
            <p:cNvPr name="Freeform 17" id="17"/>
            <p:cNvSpPr/>
            <p:nvPr/>
          </p:nvSpPr>
          <p:spPr>
            <a:xfrm flipH="false" flipV="false" rot="0">
              <a:off x="0" y="0"/>
              <a:ext cx="8020050" cy="1104900"/>
            </a:xfrm>
            <a:custGeom>
              <a:avLst/>
              <a:gdLst/>
              <a:ahLst/>
              <a:cxnLst/>
              <a:rect r="r" b="b" t="t" l="l"/>
              <a:pathLst>
                <a:path h="1104900" w="8020050">
                  <a:moveTo>
                    <a:pt x="0" y="0"/>
                  </a:moveTo>
                  <a:lnTo>
                    <a:pt x="8020050" y="0"/>
                  </a:lnTo>
                  <a:lnTo>
                    <a:pt x="8020050" y="1104900"/>
                  </a:lnTo>
                  <a:lnTo>
                    <a:pt x="0" y="1104900"/>
                  </a:lnTo>
                  <a:close/>
                </a:path>
              </a:pathLst>
            </a:custGeom>
            <a:solidFill>
              <a:srgbClr val="2072B7"/>
            </a:solidFill>
            <a:ln w="14288" cap="sq">
              <a:solidFill>
                <a:srgbClr val="2072B7"/>
              </a:solidFill>
              <a:prstDash val="solid"/>
              <a:miter/>
            </a:ln>
          </p:spPr>
        </p:sp>
        <p:sp>
          <p:nvSpPr>
            <p:cNvPr name="TextBox 18" id="18"/>
            <p:cNvSpPr txBox="true"/>
            <p:nvPr/>
          </p:nvSpPr>
          <p:spPr>
            <a:xfrm>
              <a:off x="0" y="-19050"/>
              <a:ext cx="8020050" cy="1123950"/>
            </a:xfrm>
            <a:prstGeom prst="rect">
              <a:avLst/>
            </a:prstGeom>
          </p:spPr>
          <p:txBody>
            <a:bodyPr anchor="ctr" rtlCol="false" tIns="50800" lIns="50800" bIns="50800" rIns="50800"/>
            <a:lstStyle/>
            <a:p>
              <a:pPr algn="ctr">
                <a:lnSpc>
                  <a:spcPts val="4199"/>
                </a:lnSpc>
              </a:pPr>
              <a:r>
                <a:rPr lang="en-US" sz="3499">
                  <a:solidFill>
                    <a:srgbClr val="FFFFFF"/>
                  </a:solidFill>
                  <a:latin typeface="Arial"/>
                  <a:ea typeface="Arial"/>
                  <a:cs typeface="Arial"/>
                  <a:sym typeface="Arial"/>
                </a:rPr>
                <a:t>arr_delay &lt; 15?</a:t>
              </a:r>
            </a:p>
          </p:txBody>
        </p:sp>
      </p:grpSp>
      <p:grpSp>
        <p:nvGrpSpPr>
          <p:cNvPr name="Group 19" id="19"/>
          <p:cNvGrpSpPr/>
          <p:nvPr/>
        </p:nvGrpSpPr>
        <p:grpSpPr>
          <a:xfrm rot="0">
            <a:off x="921544" y="5050631"/>
            <a:ext cx="2943225" cy="1344605"/>
            <a:chOff x="0" y="0"/>
            <a:chExt cx="3924300" cy="1792807"/>
          </a:xfrm>
        </p:grpSpPr>
        <p:sp>
          <p:nvSpPr>
            <p:cNvPr name="Freeform 20" id="20"/>
            <p:cNvSpPr/>
            <p:nvPr/>
          </p:nvSpPr>
          <p:spPr>
            <a:xfrm flipH="false" flipV="false" rot="0">
              <a:off x="0" y="0"/>
              <a:ext cx="3924300" cy="1792807"/>
            </a:xfrm>
            <a:custGeom>
              <a:avLst/>
              <a:gdLst/>
              <a:ahLst/>
              <a:cxnLst/>
              <a:rect r="r" b="b" t="t" l="l"/>
              <a:pathLst>
                <a:path h="1792807" w="3924300">
                  <a:moveTo>
                    <a:pt x="0" y="0"/>
                  </a:moveTo>
                  <a:lnTo>
                    <a:pt x="3924300" y="0"/>
                  </a:lnTo>
                  <a:lnTo>
                    <a:pt x="3924300" y="1792807"/>
                  </a:lnTo>
                  <a:lnTo>
                    <a:pt x="0" y="1792807"/>
                  </a:lnTo>
                  <a:close/>
                </a:path>
              </a:pathLst>
            </a:custGeom>
            <a:solidFill>
              <a:srgbClr val="2072B7"/>
            </a:solidFill>
            <a:ln w="14288" cap="sq">
              <a:solidFill>
                <a:srgbClr val="2072B7"/>
              </a:solidFill>
              <a:prstDash val="solid"/>
              <a:miter/>
            </a:ln>
          </p:spPr>
        </p:sp>
        <p:sp>
          <p:nvSpPr>
            <p:cNvPr name="TextBox 21" id="21"/>
            <p:cNvSpPr txBox="true"/>
            <p:nvPr/>
          </p:nvSpPr>
          <p:spPr>
            <a:xfrm>
              <a:off x="0" y="-19050"/>
              <a:ext cx="3924300" cy="1811857"/>
            </a:xfrm>
            <a:prstGeom prst="rect">
              <a:avLst/>
            </a:prstGeom>
          </p:spPr>
          <p:txBody>
            <a:bodyPr anchor="ctr" rtlCol="false" tIns="50800" lIns="50800" bIns="50800" rIns="50800"/>
            <a:lstStyle/>
            <a:p>
              <a:pPr algn="ctr">
                <a:lnSpc>
                  <a:spcPts val="4199"/>
                </a:lnSpc>
              </a:pPr>
              <a:r>
                <a:rPr lang="en-US" sz="3499">
                  <a:solidFill>
                    <a:srgbClr val="FFFFFF"/>
                  </a:solidFill>
                  <a:latin typeface="Arial"/>
                  <a:ea typeface="Arial"/>
                  <a:cs typeface="Arial"/>
                  <a:sym typeface="Arial"/>
                </a:rPr>
                <a:t>Có: OnTime</a:t>
              </a:r>
            </a:p>
            <a:p>
              <a:pPr algn="ctr">
                <a:lnSpc>
                  <a:spcPts val="4199"/>
                </a:lnSpc>
              </a:pPr>
              <a:r>
                <a:rPr lang="en-US" sz="3499">
                  <a:solidFill>
                    <a:srgbClr val="FFFFFF"/>
                  </a:solidFill>
                  <a:latin typeface="Arial"/>
                  <a:ea typeface="Arial"/>
                  <a:cs typeface="Arial"/>
                  <a:sym typeface="Arial"/>
                </a:rPr>
                <a:t>Mã 0</a:t>
              </a:r>
            </a:p>
          </p:txBody>
        </p:sp>
      </p:grpSp>
      <p:grpSp>
        <p:nvGrpSpPr>
          <p:cNvPr name="Group 22" id="22"/>
          <p:cNvGrpSpPr/>
          <p:nvPr/>
        </p:nvGrpSpPr>
        <p:grpSpPr>
          <a:xfrm rot="0">
            <a:off x="4636294" y="4993481"/>
            <a:ext cx="5800725" cy="1344605"/>
            <a:chOff x="0" y="0"/>
            <a:chExt cx="7734300" cy="1792807"/>
          </a:xfrm>
        </p:grpSpPr>
        <p:sp>
          <p:nvSpPr>
            <p:cNvPr name="Freeform 23" id="23"/>
            <p:cNvSpPr/>
            <p:nvPr/>
          </p:nvSpPr>
          <p:spPr>
            <a:xfrm flipH="false" flipV="false" rot="0">
              <a:off x="0" y="0"/>
              <a:ext cx="7734300" cy="1792807"/>
            </a:xfrm>
            <a:custGeom>
              <a:avLst/>
              <a:gdLst/>
              <a:ahLst/>
              <a:cxnLst/>
              <a:rect r="r" b="b" t="t" l="l"/>
              <a:pathLst>
                <a:path h="1792807" w="7734300">
                  <a:moveTo>
                    <a:pt x="0" y="0"/>
                  </a:moveTo>
                  <a:lnTo>
                    <a:pt x="7734300" y="0"/>
                  </a:lnTo>
                  <a:lnTo>
                    <a:pt x="7734300" y="1792807"/>
                  </a:lnTo>
                  <a:lnTo>
                    <a:pt x="0" y="1792807"/>
                  </a:lnTo>
                  <a:close/>
                </a:path>
              </a:pathLst>
            </a:custGeom>
            <a:solidFill>
              <a:srgbClr val="2072B7"/>
            </a:solidFill>
            <a:ln w="14288" cap="sq">
              <a:solidFill>
                <a:srgbClr val="2072B7"/>
              </a:solidFill>
              <a:prstDash val="solid"/>
              <a:miter/>
            </a:ln>
          </p:spPr>
        </p:sp>
        <p:sp>
          <p:nvSpPr>
            <p:cNvPr name="TextBox 24" id="24"/>
            <p:cNvSpPr txBox="true"/>
            <p:nvPr/>
          </p:nvSpPr>
          <p:spPr>
            <a:xfrm>
              <a:off x="0" y="-19050"/>
              <a:ext cx="7734300" cy="1811857"/>
            </a:xfrm>
            <a:prstGeom prst="rect">
              <a:avLst/>
            </a:prstGeom>
          </p:spPr>
          <p:txBody>
            <a:bodyPr anchor="ctr" rtlCol="false" tIns="50800" lIns="50800" bIns="50800" rIns="50800"/>
            <a:lstStyle/>
            <a:p>
              <a:pPr algn="ctr">
                <a:lnSpc>
                  <a:spcPts val="4199"/>
                </a:lnSpc>
              </a:pPr>
              <a:r>
                <a:rPr lang="en-US" sz="3499">
                  <a:solidFill>
                    <a:srgbClr val="FFFFFF"/>
                  </a:solidFill>
                  <a:latin typeface="Arial"/>
                  <a:ea typeface="Arial"/>
                  <a:cs typeface="Arial"/>
                  <a:sym typeface="Arial"/>
                </a:rPr>
                <a:t>Không: lấy max</a:t>
              </a:r>
            </a:p>
            <a:p>
              <a:pPr algn="ctr">
                <a:lnSpc>
                  <a:spcPts val="4199"/>
                </a:lnSpc>
              </a:pPr>
              <a:r>
                <a:rPr lang="en-US" sz="3499">
                  <a:solidFill>
                    <a:srgbClr val="FFFFFF"/>
                  </a:solidFill>
                  <a:latin typeface="Arial"/>
                  <a:ea typeface="Arial"/>
                  <a:cs typeface="Arial"/>
                  <a:sym typeface="Arial"/>
                </a:rPr>
                <a:t>5 cột nguyên nhân</a:t>
              </a:r>
            </a:p>
          </p:txBody>
        </p:sp>
      </p:grpSp>
      <p:grpSp>
        <p:nvGrpSpPr>
          <p:cNvPr name="Group 25" id="25"/>
          <p:cNvGrpSpPr/>
          <p:nvPr/>
        </p:nvGrpSpPr>
        <p:grpSpPr>
          <a:xfrm rot="0">
            <a:off x="3864769" y="7165181"/>
            <a:ext cx="6086475" cy="1833731"/>
            <a:chOff x="0" y="0"/>
            <a:chExt cx="8115300" cy="2444975"/>
          </a:xfrm>
        </p:grpSpPr>
        <p:sp>
          <p:nvSpPr>
            <p:cNvPr name="Freeform 26" id="26"/>
            <p:cNvSpPr/>
            <p:nvPr/>
          </p:nvSpPr>
          <p:spPr>
            <a:xfrm flipH="false" flipV="false" rot="0">
              <a:off x="0" y="0"/>
              <a:ext cx="8115300" cy="2444975"/>
            </a:xfrm>
            <a:custGeom>
              <a:avLst/>
              <a:gdLst/>
              <a:ahLst/>
              <a:cxnLst/>
              <a:rect r="r" b="b" t="t" l="l"/>
              <a:pathLst>
                <a:path h="2444975" w="8115300">
                  <a:moveTo>
                    <a:pt x="0" y="0"/>
                  </a:moveTo>
                  <a:lnTo>
                    <a:pt x="8115300" y="0"/>
                  </a:lnTo>
                  <a:lnTo>
                    <a:pt x="8115300" y="2444975"/>
                  </a:lnTo>
                  <a:lnTo>
                    <a:pt x="0" y="2444975"/>
                  </a:lnTo>
                  <a:close/>
                </a:path>
              </a:pathLst>
            </a:custGeom>
            <a:solidFill>
              <a:srgbClr val="EDF5FB"/>
            </a:solidFill>
            <a:ln w="14288" cap="sq">
              <a:solidFill>
                <a:srgbClr val="B9D2E7"/>
              </a:solidFill>
              <a:prstDash val="solid"/>
              <a:miter/>
            </a:ln>
          </p:spPr>
        </p:sp>
        <p:sp>
          <p:nvSpPr>
            <p:cNvPr name="TextBox 27" id="27"/>
            <p:cNvSpPr txBox="true"/>
            <p:nvPr/>
          </p:nvSpPr>
          <p:spPr>
            <a:xfrm>
              <a:off x="0" y="-19050"/>
              <a:ext cx="8115300" cy="2464025"/>
            </a:xfrm>
            <a:prstGeom prst="rect">
              <a:avLst/>
            </a:prstGeom>
          </p:spPr>
          <p:txBody>
            <a:bodyPr anchor="ctr" rtlCol="false" tIns="50800" lIns="50800" bIns="50800" rIns="50800"/>
            <a:lstStyle/>
            <a:p>
              <a:pPr algn="ctr">
                <a:lnSpc>
                  <a:spcPts val="4064"/>
                </a:lnSpc>
              </a:pPr>
              <a:r>
                <a:rPr lang="en-US" sz="3387">
                  <a:solidFill>
                    <a:srgbClr val="202D39"/>
                  </a:solidFill>
                  <a:latin typeface="Arial"/>
                  <a:ea typeface="Arial"/>
                  <a:cs typeface="Arial"/>
                  <a:sym typeface="Arial"/>
                </a:rPr>
                <a:t>max &gt; 0: chọn nguyên nhân đầu tiên đạt max</a:t>
              </a:r>
            </a:p>
            <a:p>
              <a:pPr algn="ctr">
                <a:lnSpc>
                  <a:spcPts val="4064"/>
                </a:lnSpc>
              </a:pPr>
              <a:r>
                <a:rPr lang="en-US" sz="3387">
                  <a:solidFill>
                    <a:srgbClr val="202D39"/>
                  </a:solidFill>
                  <a:latin typeface="Arial"/>
                  <a:ea typeface="Arial"/>
                  <a:cs typeface="Arial"/>
                  <a:sym typeface="Arial"/>
                </a:rPr>
                <a:t>max ≤ 0: Carrier</a:t>
              </a:r>
            </a:p>
          </p:txBody>
        </p:sp>
      </p:grpSp>
      <p:sp>
        <p:nvSpPr>
          <p:cNvPr name="TextBox 28" id="28"/>
          <p:cNvSpPr txBox="true"/>
          <p:nvPr/>
        </p:nvSpPr>
        <p:spPr>
          <a:xfrm rot="0">
            <a:off x="11403806" y="3371850"/>
            <a:ext cx="6000750" cy="1714500"/>
          </a:xfrm>
          <a:prstGeom prst="rect">
            <a:avLst/>
          </a:prstGeom>
        </p:spPr>
        <p:txBody>
          <a:bodyPr anchor="t" rtlCol="false" tIns="0" lIns="0" bIns="0" rIns="0">
            <a:spAutoFit/>
          </a:bodyPr>
          <a:lstStyle/>
          <a:p>
            <a:pPr algn="l">
              <a:lnSpc>
                <a:spcPts val="4469"/>
              </a:lnSpc>
            </a:pPr>
            <a:r>
              <a:rPr lang="en-US" sz="3724">
                <a:solidFill>
                  <a:srgbClr val="202D39"/>
                </a:solidFill>
                <a:latin typeface="Arial"/>
                <a:ea typeface="Arial"/>
                <a:cs typeface="Arial"/>
                <a:sym typeface="Arial"/>
              </a:rPr>
              <a:t>Nếu bằng nhau, ưu tiên theo thứ tự cố định của code.</a:t>
            </a:r>
          </a:p>
        </p:txBody>
      </p:sp>
      <p:sp>
        <p:nvSpPr>
          <p:cNvPr name="TextBox 29" id="29"/>
          <p:cNvSpPr txBox="true"/>
          <p:nvPr/>
        </p:nvSpPr>
        <p:spPr>
          <a:xfrm rot="0">
            <a:off x="11403806" y="5700713"/>
            <a:ext cx="6000750" cy="1152525"/>
          </a:xfrm>
          <a:prstGeom prst="rect">
            <a:avLst/>
          </a:prstGeom>
        </p:spPr>
        <p:txBody>
          <a:bodyPr anchor="t" rtlCol="false" tIns="0" lIns="0" bIns="0" rIns="0">
            <a:spAutoFit/>
          </a:bodyPr>
          <a:lstStyle/>
          <a:p>
            <a:pPr algn="l">
              <a:lnSpc>
                <a:spcPts val="4469"/>
              </a:lnSpc>
            </a:pPr>
            <a:r>
              <a:rPr lang="en-US" sz="3724">
                <a:solidFill>
                  <a:srgbClr val="202D39"/>
                </a:solidFill>
                <a:latin typeface="Arial"/>
                <a:ea typeface="Arial"/>
                <a:cs typeface="Arial"/>
                <a:sym typeface="Arial"/>
              </a:rPr>
              <a:t>Carrier → Weather → NAS → Security → LateAircraft.</a:t>
            </a:r>
          </a:p>
        </p:txBody>
      </p:sp>
      <p:sp>
        <p:nvSpPr>
          <p:cNvPr name="TextBox 30" id="30"/>
          <p:cNvSpPr txBox="true"/>
          <p:nvPr/>
        </p:nvSpPr>
        <p:spPr>
          <a:xfrm rot="0">
            <a:off x="11403806" y="7467600"/>
            <a:ext cx="6000750" cy="1714500"/>
          </a:xfrm>
          <a:prstGeom prst="rect">
            <a:avLst/>
          </a:prstGeom>
        </p:spPr>
        <p:txBody>
          <a:bodyPr anchor="t" rtlCol="false" tIns="0" lIns="0" bIns="0" rIns="0">
            <a:spAutoFit/>
          </a:bodyPr>
          <a:lstStyle/>
          <a:p>
            <a:pPr algn="l">
              <a:lnSpc>
                <a:spcPts val="4469"/>
              </a:lnSpc>
            </a:pPr>
            <a:r>
              <a:rPr lang="en-US" sz="3724">
                <a:solidFill>
                  <a:srgbClr val="202D39"/>
                </a:solidFill>
                <a:latin typeface="Arial"/>
                <a:ea typeface="Arial"/>
                <a:cs typeface="Arial"/>
                <a:sym typeface="Arial"/>
              </a:rPr>
              <a:t>Ví dụ: Carrier = Weather = 20 phút, arr_delay = 40 → Carrier.</a:t>
            </a:r>
          </a:p>
        </p:txBody>
      </p:sp>
      <p:sp>
        <p:nvSpPr>
          <p:cNvPr name="TextBox 31" id="31"/>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15</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668"/>
            <a:ext cx="18288000" cy="1070038"/>
            <a:chOff x="0" y="0"/>
            <a:chExt cx="24384000" cy="1426718"/>
          </a:xfrm>
        </p:grpSpPr>
        <p:sp>
          <p:nvSpPr>
            <p:cNvPr name="Freeform 3" id="3"/>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2072B7"/>
            </a:solidFill>
          </p:spPr>
        </p:sp>
      </p:grpSp>
      <p:grpSp>
        <p:nvGrpSpPr>
          <p:cNvPr name="Group 4" id="4"/>
          <p:cNvGrpSpPr/>
          <p:nvPr/>
        </p:nvGrpSpPr>
        <p:grpSpPr>
          <a:xfrm rot="0">
            <a:off x="477926" y="3334"/>
            <a:ext cx="4935598" cy="1027605"/>
            <a:chOff x="0" y="0"/>
            <a:chExt cx="6580797" cy="1370140"/>
          </a:xfrm>
        </p:grpSpPr>
        <p:sp>
          <p:nvSpPr>
            <p:cNvPr name="Freeform 5" id="5"/>
            <p:cNvSpPr/>
            <p:nvPr/>
          </p:nvSpPr>
          <p:spPr>
            <a:xfrm flipH="false" flipV="false" rot="0">
              <a:off x="0" y="0"/>
              <a:ext cx="6580759" cy="1370203"/>
            </a:xfrm>
            <a:custGeom>
              <a:avLst/>
              <a:gdLst/>
              <a:ahLst/>
              <a:cxnLst/>
              <a:rect r="r" b="b" t="t" l="l"/>
              <a:pathLst>
                <a:path h="1370203" w="6580759">
                  <a:moveTo>
                    <a:pt x="0" y="0"/>
                  </a:moveTo>
                  <a:lnTo>
                    <a:pt x="6580759" y="0"/>
                  </a:lnTo>
                  <a:lnTo>
                    <a:pt x="6580759" y="1370203"/>
                  </a:lnTo>
                  <a:lnTo>
                    <a:pt x="0" y="1370203"/>
                  </a:lnTo>
                  <a:lnTo>
                    <a:pt x="0" y="0"/>
                  </a:lnTo>
                  <a:close/>
                </a:path>
              </a:pathLst>
            </a:custGeom>
            <a:blipFill>
              <a:blip r:embed="rId3"/>
              <a:stretch>
                <a:fillRect l="-191" t="0" r="-192" b="4"/>
              </a:stretch>
            </a:blipFill>
          </p:spPr>
        </p:sp>
      </p:grpSp>
      <p:grpSp>
        <p:nvGrpSpPr>
          <p:cNvPr name="Group 6" id="6"/>
          <p:cNvGrpSpPr/>
          <p:nvPr/>
        </p:nvGrpSpPr>
        <p:grpSpPr>
          <a:xfrm rot="0">
            <a:off x="2663190" y="10082212"/>
            <a:ext cx="15624810" cy="204845"/>
            <a:chOff x="0" y="0"/>
            <a:chExt cx="20833080" cy="273126"/>
          </a:xfrm>
        </p:grpSpPr>
        <p:sp>
          <p:nvSpPr>
            <p:cNvPr name="Freeform 7" id="7"/>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2072B7"/>
            </a:solidFill>
          </p:spPr>
        </p:sp>
      </p:grpSp>
      <p:grpSp>
        <p:nvGrpSpPr>
          <p:cNvPr name="Group 8" id="8"/>
          <p:cNvGrpSpPr/>
          <p:nvPr/>
        </p:nvGrpSpPr>
        <p:grpSpPr>
          <a:xfrm rot="0">
            <a:off x="2743238" y="10108759"/>
            <a:ext cx="15544724" cy="152705"/>
            <a:chOff x="0" y="0"/>
            <a:chExt cx="20726298" cy="203606"/>
          </a:xfrm>
        </p:grpSpPr>
        <p:sp>
          <p:nvSpPr>
            <p:cNvPr name="Freeform 9" id="9"/>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4"/>
              <a:stretch>
                <a:fillRect l="0" t="0" r="0" b="-35745"/>
              </a:stretch>
            </a:blipFill>
          </p:spPr>
        </p:sp>
      </p:grpSp>
      <p:sp>
        <p:nvSpPr>
          <p:cNvPr name="TextBox 10" id="10"/>
          <p:cNvSpPr txBox="true"/>
          <p:nvPr/>
        </p:nvSpPr>
        <p:spPr>
          <a:xfrm rot="0">
            <a:off x="302009" y="10002231"/>
            <a:ext cx="2254501" cy="327536"/>
          </a:xfrm>
          <a:prstGeom prst="rect">
            <a:avLst/>
          </a:prstGeom>
        </p:spPr>
        <p:txBody>
          <a:bodyPr anchor="t" rtlCol="false" tIns="0" lIns="0" bIns="0" rIns="0">
            <a:spAutoFit/>
          </a:bodyPr>
          <a:lstStyle/>
          <a:p>
            <a:pPr algn="l">
              <a:lnSpc>
                <a:spcPts val="1800"/>
              </a:lnSpc>
            </a:pPr>
            <a:r>
              <a:rPr lang="en-US" sz="1500">
                <a:solidFill>
                  <a:srgbClr val="0070C0"/>
                </a:solidFill>
                <a:latin typeface="Calibri (MS)"/>
                <a:ea typeface="Calibri (MS)"/>
                <a:cs typeface="Calibri (MS)"/>
                <a:sym typeface="Calibri (MS)"/>
              </a:rPr>
              <a:t>https://huit.edu.vn</a:t>
            </a:r>
          </a:p>
        </p:txBody>
      </p:sp>
      <p:sp>
        <p:nvSpPr>
          <p:cNvPr name="AutoShape 11" id="11"/>
          <p:cNvSpPr/>
          <p:nvPr/>
        </p:nvSpPr>
        <p:spPr>
          <a:xfrm>
            <a:off x="12537281" y="5693569"/>
            <a:ext cx="0" cy="428625"/>
          </a:xfrm>
          <a:prstGeom prst="line">
            <a:avLst/>
          </a:prstGeom>
          <a:ln cap="rnd" w="19050">
            <a:solidFill>
              <a:srgbClr val="2072B7"/>
            </a:solidFill>
            <a:prstDash val="solid"/>
            <a:headEnd type="none" len="sm" w="sm"/>
            <a:tailEnd type="triangle" len="med" w="lg"/>
          </a:ln>
        </p:spPr>
      </p:sp>
      <p:sp>
        <p:nvSpPr>
          <p:cNvPr name="AutoShape 12" id="12"/>
          <p:cNvSpPr/>
          <p:nvPr/>
        </p:nvSpPr>
        <p:spPr>
          <a:xfrm>
            <a:off x="12537281" y="4321969"/>
            <a:ext cx="0" cy="428625"/>
          </a:xfrm>
          <a:prstGeom prst="line">
            <a:avLst/>
          </a:prstGeom>
          <a:ln cap="rnd" w="19050">
            <a:solidFill>
              <a:srgbClr val="2072B7"/>
            </a:solidFill>
            <a:prstDash val="solid"/>
            <a:headEnd type="none" len="sm" w="sm"/>
            <a:tailEnd type="triangle" len="med" w="lg"/>
          </a:ln>
        </p:spPr>
      </p:sp>
      <p:sp>
        <p:nvSpPr>
          <p:cNvPr name="TextBox 13" id="13"/>
          <p:cNvSpPr txBox="true"/>
          <p:nvPr/>
        </p:nvSpPr>
        <p:spPr>
          <a:xfrm rot="0">
            <a:off x="857250" y="1457325"/>
            <a:ext cx="16573500" cy="781050"/>
          </a:xfrm>
          <a:prstGeom prst="rect">
            <a:avLst/>
          </a:prstGeom>
        </p:spPr>
        <p:txBody>
          <a:bodyPr anchor="t" rtlCol="false" tIns="0" lIns="0" bIns="0" rIns="0">
            <a:spAutoFit/>
          </a:bodyPr>
          <a:lstStyle/>
          <a:p>
            <a:pPr algn="l">
              <a:lnSpc>
                <a:spcPts val="5954"/>
              </a:lnSpc>
            </a:pPr>
            <a:r>
              <a:rPr lang="en-US" sz="4962" b="true">
                <a:solidFill>
                  <a:srgbClr val="2072B7"/>
                </a:solidFill>
                <a:latin typeface="Arial Bold"/>
                <a:ea typeface="Arial Bold"/>
                <a:cs typeface="Arial Bold"/>
                <a:sym typeface="Arial Bold"/>
              </a:rPr>
              <a:t>Tạo đặc trưng thời gian</a:t>
            </a:r>
          </a:p>
        </p:txBody>
      </p:sp>
      <p:sp>
        <p:nvSpPr>
          <p:cNvPr name="TextBox 14" id="14"/>
          <p:cNvSpPr txBox="true"/>
          <p:nvPr/>
        </p:nvSpPr>
        <p:spPr>
          <a:xfrm rot="0">
            <a:off x="857250" y="2352675"/>
            <a:ext cx="16573500" cy="542925"/>
          </a:xfrm>
          <a:prstGeom prst="rect">
            <a:avLst/>
          </a:prstGeom>
        </p:spPr>
        <p:txBody>
          <a:bodyPr anchor="t" rtlCol="false" tIns="0" lIns="0" bIns="0" rIns="0">
            <a:spAutoFit/>
          </a:bodyPr>
          <a:lstStyle/>
          <a:p>
            <a:pPr algn="l">
              <a:lnSpc>
                <a:spcPts val="4199"/>
              </a:lnSpc>
            </a:pPr>
            <a:r>
              <a:rPr lang="en-US" sz="3499" b="true">
                <a:solidFill>
                  <a:srgbClr val="174C7E"/>
                </a:solidFill>
                <a:latin typeface="Arial Bold"/>
                <a:ea typeface="Arial Bold"/>
                <a:cs typeface="Arial Bold"/>
                <a:sym typeface="Arial Bold"/>
              </a:rPr>
              <a:t>Giờ kế hoạch được chuyển thành giờ, phút trong ngày và nhóm thời điểm</a:t>
            </a:r>
          </a:p>
        </p:txBody>
      </p:sp>
      <p:sp>
        <p:nvSpPr>
          <p:cNvPr name="TextBox 15" id="15"/>
          <p:cNvSpPr txBox="true"/>
          <p:nvPr/>
        </p:nvSpPr>
        <p:spPr>
          <a:xfrm rot="0">
            <a:off x="857250" y="3371850"/>
            <a:ext cx="6072188" cy="1152525"/>
          </a:xfrm>
          <a:prstGeom prst="rect">
            <a:avLst/>
          </a:prstGeom>
        </p:spPr>
        <p:txBody>
          <a:bodyPr anchor="t" rtlCol="false" tIns="0" lIns="0" bIns="0" rIns="0">
            <a:spAutoFit/>
          </a:bodyPr>
          <a:lstStyle/>
          <a:p>
            <a:pPr algn="l">
              <a:lnSpc>
                <a:spcPts val="4469"/>
              </a:lnSpc>
            </a:pPr>
            <a:r>
              <a:rPr lang="en-US" sz="3724">
                <a:solidFill>
                  <a:srgbClr val="202D39"/>
                </a:solidFill>
                <a:latin typeface="Arial"/>
                <a:ea typeface="Arial"/>
                <a:cs typeface="Arial"/>
                <a:sym typeface="Arial"/>
              </a:rPr>
              <a:t>HHMM được tách bằng chia 100 và phần dư.</a:t>
            </a:r>
          </a:p>
        </p:txBody>
      </p:sp>
      <p:sp>
        <p:nvSpPr>
          <p:cNvPr name="TextBox 16" id="16"/>
          <p:cNvSpPr txBox="true"/>
          <p:nvPr/>
        </p:nvSpPr>
        <p:spPr>
          <a:xfrm rot="0">
            <a:off x="857250" y="4972050"/>
            <a:ext cx="6072188" cy="1152525"/>
          </a:xfrm>
          <a:prstGeom prst="rect">
            <a:avLst/>
          </a:prstGeom>
        </p:spPr>
        <p:txBody>
          <a:bodyPr anchor="t" rtlCol="false" tIns="0" lIns="0" bIns="0" rIns="0">
            <a:spAutoFit/>
          </a:bodyPr>
          <a:lstStyle/>
          <a:p>
            <a:pPr algn="l">
              <a:lnSpc>
                <a:spcPts val="4469"/>
              </a:lnSpc>
            </a:pPr>
            <a:r>
              <a:rPr lang="en-US" sz="3724">
                <a:solidFill>
                  <a:srgbClr val="202D39"/>
                </a:solidFill>
                <a:latin typeface="Arial"/>
                <a:ea typeface="Arial"/>
                <a:cs typeface="Arial"/>
                <a:sym typeface="Arial"/>
              </a:rPr>
              <a:t>Giờ đi/đến giới hạn trong 0–23.</a:t>
            </a:r>
          </a:p>
        </p:txBody>
      </p:sp>
      <p:sp>
        <p:nvSpPr>
          <p:cNvPr name="TextBox 17" id="17"/>
          <p:cNvSpPr txBox="true"/>
          <p:nvPr/>
        </p:nvSpPr>
        <p:spPr>
          <a:xfrm rot="0">
            <a:off x="857250" y="6572250"/>
            <a:ext cx="6072188" cy="1714500"/>
          </a:xfrm>
          <a:prstGeom prst="rect">
            <a:avLst/>
          </a:prstGeom>
        </p:spPr>
        <p:txBody>
          <a:bodyPr anchor="t" rtlCol="false" tIns="0" lIns="0" bIns="0" rIns="0">
            <a:spAutoFit/>
          </a:bodyPr>
          <a:lstStyle/>
          <a:p>
            <a:pPr algn="l">
              <a:lnSpc>
                <a:spcPts val="4469"/>
              </a:lnSpc>
            </a:pPr>
            <a:r>
              <a:rPr lang="en-US" sz="3724">
                <a:solidFill>
                  <a:srgbClr val="202D39"/>
                </a:solidFill>
                <a:latin typeface="Arial"/>
                <a:ea typeface="Arial"/>
                <a:cs typeface="Arial"/>
                <a:sym typeface="Arial"/>
              </a:rPr>
              <a:t>CPU giới hạn phút trong ngày 0–1.439; Spark không có bước clip tương ứng.</a:t>
            </a:r>
          </a:p>
        </p:txBody>
      </p:sp>
      <p:grpSp>
        <p:nvGrpSpPr>
          <p:cNvPr name="Group 18" id="18"/>
          <p:cNvGrpSpPr/>
          <p:nvPr/>
        </p:nvGrpSpPr>
        <p:grpSpPr>
          <a:xfrm rot="0">
            <a:off x="7779544" y="3378994"/>
            <a:ext cx="9515475" cy="942975"/>
            <a:chOff x="0" y="0"/>
            <a:chExt cx="12687300" cy="1257300"/>
          </a:xfrm>
        </p:grpSpPr>
        <p:sp>
          <p:nvSpPr>
            <p:cNvPr name="Freeform 19" id="19"/>
            <p:cNvSpPr/>
            <p:nvPr/>
          </p:nvSpPr>
          <p:spPr>
            <a:xfrm flipH="false" flipV="false" rot="0">
              <a:off x="0" y="0"/>
              <a:ext cx="12687300" cy="1257300"/>
            </a:xfrm>
            <a:custGeom>
              <a:avLst/>
              <a:gdLst/>
              <a:ahLst/>
              <a:cxnLst/>
              <a:rect r="r" b="b" t="t" l="l"/>
              <a:pathLst>
                <a:path h="1257300" w="12687300">
                  <a:moveTo>
                    <a:pt x="0" y="0"/>
                  </a:moveTo>
                  <a:lnTo>
                    <a:pt x="12687300" y="0"/>
                  </a:lnTo>
                  <a:lnTo>
                    <a:pt x="12687300" y="1257300"/>
                  </a:lnTo>
                  <a:lnTo>
                    <a:pt x="0" y="1257300"/>
                  </a:lnTo>
                  <a:close/>
                </a:path>
              </a:pathLst>
            </a:custGeom>
            <a:solidFill>
              <a:srgbClr val="2072B7"/>
            </a:solidFill>
            <a:ln w="14288" cap="sq">
              <a:solidFill>
                <a:srgbClr val="2072B7"/>
              </a:solidFill>
              <a:prstDash val="solid"/>
              <a:miter/>
            </a:ln>
          </p:spPr>
        </p:sp>
        <p:sp>
          <p:nvSpPr>
            <p:cNvPr name="TextBox 20" id="20"/>
            <p:cNvSpPr txBox="true"/>
            <p:nvPr/>
          </p:nvSpPr>
          <p:spPr>
            <a:xfrm>
              <a:off x="0" y="-19050"/>
              <a:ext cx="12687300" cy="1276350"/>
            </a:xfrm>
            <a:prstGeom prst="rect">
              <a:avLst/>
            </a:prstGeom>
          </p:spPr>
          <p:txBody>
            <a:bodyPr anchor="ctr" rtlCol="false" tIns="50800" lIns="50800" bIns="50800" rIns="50800"/>
            <a:lstStyle/>
            <a:p>
              <a:pPr algn="ctr">
                <a:lnSpc>
                  <a:spcPts val="4199"/>
                </a:lnSpc>
              </a:pPr>
              <a:r>
                <a:rPr lang="en-US" sz="3499">
                  <a:solidFill>
                    <a:srgbClr val="FFFFFF"/>
                  </a:solidFill>
                  <a:latin typeface="Arial"/>
                  <a:ea typeface="Arial"/>
                  <a:cs typeface="Arial"/>
                  <a:sym typeface="Arial"/>
                </a:rPr>
                <a:t>Ví dụ crs_dep_time = 1730</a:t>
              </a:r>
            </a:p>
          </p:txBody>
        </p:sp>
      </p:grpSp>
      <p:grpSp>
        <p:nvGrpSpPr>
          <p:cNvPr name="Group 21" id="21"/>
          <p:cNvGrpSpPr/>
          <p:nvPr/>
        </p:nvGrpSpPr>
        <p:grpSpPr>
          <a:xfrm rot="0">
            <a:off x="7779544" y="4750594"/>
            <a:ext cx="9515475" cy="942975"/>
            <a:chOff x="0" y="0"/>
            <a:chExt cx="12687300" cy="1257300"/>
          </a:xfrm>
        </p:grpSpPr>
        <p:sp>
          <p:nvSpPr>
            <p:cNvPr name="Freeform 22" id="22"/>
            <p:cNvSpPr/>
            <p:nvPr/>
          </p:nvSpPr>
          <p:spPr>
            <a:xfrm flipH="false" flipV="false" rot="0">
              <a:off x="0" y="0"/>
              <a:ext cx="12687300" cy="1257300"/>
            </a:xfrm>
            <a:custGeom>
              <a:avLst/>
              <a:gdLst/>
              <a:ahLst/>
              <a:cxnLst/>
              <a:rect r="r" b="b" t="t" l="l"/>
              <a:pathLst>
                <a:path h="1257300" w="12687300">
                  <a:moveTo>
                    <a:pt x="0" y="0"/>
                  </a:moveTo>
                  <a:lnTo>
                    <a:pt x="12687300" y="0"/>
                  </a:lnTo>
                  <a:lnTo>
                    <a:pt x="12687300" y="1257300"/>
                  </a:lnTo>
                  <a:lnTo>
                    <a:pt x="0" y="1257300"/>
                  </a:lnTo>
                  <a:close/>
                </a:path>
              </a:pathLst>
            </a:custGeom>
            <a:solidFill>
              <a:srgbClr val="2072B7"/>
            </a:solidFill>
            <a:ln w="14288" cap="sq">
              <a:solidFill>
                <a:srgbClr val="2072B7"/>
              </a:solidFill>
              <a:prstDash val="solid"/>
              <a:miter/>
            </a:ln>
          </p:spPr>
        </p:sp>
        <p:sp>
          <p:nvSpPr>
            <p:cNvPr name="TextBox 23" id="23"/>
            <p:cNvSpPr txBox="true"/>
            <p:nvPr/>
          </p:nvSpPr>
          <p:spPr>
            <a:xfrm>
              <a:off x="0" y="-19050"/>
              <a:ext cx="12687300" cy="1276350"/>
            </a:xfrm>
            <a:prstGeom prst="rect">
              <a:avLst/>
            </a:prstGeom>
          </p:spPr>
          <p:txBody>
            <a:bodyPr anchor="ctr" rtlCol="false" tIns="50800" lIns="50800" bIns="50800" rIns="50800"/>
            <a:lstStyle/>
            <a:p>
              <a:pPr algn="ctr">
                <a:lnSpc>
                  <a:spcPts val="4199"/>
                </a:lnSpc>
              </a:pPr>
              <a:r>
                <a:rPr lang="en-US" sz="3499">
                  <a:solidFill>
                    <a:srgbClr val="FFFFFF"/>
                  </a:solidFill>
                  <a:latin typeface="Arial"/>
                  <a:ea typeface="Arial"/>
                  <a:cs typeface="Arial"/>
                  <a:sym typeface="Arial"/>
                </a:rPr>
                <a:t>dep_hour = 17, dep_min_of_day = 1.050</a:t>
              </a:r>
            </a:p>
          </p:txBody>
        </p:sp>
      </p:grpSp>
      <p:grpSp>
        <p:nvGrpSpPr>
          <p:cNvPr name="Group 24" id="24"/>
          <p:cNvGrpSpPr/>
          <p:nvPr/>
        </p:nvGrpSpPr>
        <p:grpSpPr>
          <a:xfrm rot="0">
            <a:off x="7779544" y="6122194"/>
            <a:ext cx="9515475" cy="942975"/>
            <a:chOff x="0" y="0"/>
            <a:chExt cx="12687300" cy="1257300"/>
          </a:xfrm>
        </p:grpSpPr>
        <p:sp>
          <p:nvSpPr>
            <p:cNvPr name="Freeform 25" id="25"/>
            <p:cNvSpPr/>
            <p:nvPr/>
          </p:nvSpPr>
          <p:spPr>
            <a:xfrm flipH="false" flipV="false" rot="0">
              <a:off x="0" y="0"/>
              <a:ext cx="12687300" cy="1257300"/>
            </a:xfrm>
            <a:custGeom>
              <a:avLst/>
              <a:gdLst/>
              <a:ahLst/>
              <a:cxnLst/>
              <a:rect r="r" b="b" t="t" l="l"/>
              <a:pathLst>
                <a:path h="1257300" w="12687300">
                  <a:moveTo>
                    <a:pt x="0" y="0"/>
                  </a:moveTo>
                  <a:lnTo>
                    <a:pt x="12687300" y="0"/>
                  </a:lnTo>
                  <a:lnTo>
                    <a:pt x="12687300" y="1257300"/>
                  </a:lnTo>
                  <a:lnTo>
                    <a:pt x="0" y="1257300"/>
                  </a:lnTo>
                  <a:close/>
                </a:path>
              </a:pathLst>
            </a:custGeom>
            <a:solidFill>
              <a:srgbClr val="2072B7"/>
            </a:solidFill>
            <a:ln w="14288" cap="sq">
              <a:solidFill>
                <a:srgbClr val="2072B7"/>
              </a:solidFill>
              <a:prstDash val="solid"/>
              <a:miter/>
            </a:ln>
          </p:spPr>
        </p:sp>
        <p:sp>
          <p:nvSpPr>
            <p:cNvPr name="TextBox 26" id="26"/>
            <p:cNvSpPr txBox="true"/>
            <p:nvPr/>
          </p:nvSpPr>
          <p:spPr>
            <a:xfrm>
              <a:off x="0" y="-19050"/>
              <a:ext cx="12687300" cy="1276350"/>
            </a:xfrm>
            <a:prstGeom prst="rect">
              <a:avLst/>
            </a:prstGeom>
          </p:spPr>
          <p:txBody>
            <a:bodyPr anchor="ctr" rtlCol="false" tIns="50800" lIns="50800" bIns="50800" rIns="50800"/>
            <a:lstStyle/>
            <a:p>
              <a:pPr algn="ctr">
                <a:lnSpc>
                  <a:spcPts val="4199"/>
                </a:lnSpc>
              </a:pPr>
              <a:r>
                <a:rPr lang="en-US" sz="3499">
                  <a:solidFill>
                    <a:srgbClr val="FFFFFF"/>
                  </a:solidFill>
                  <a:latin typeface="Arial"/>
                  <a:ea typeface="Arial"/>
                  <a:cs typeface="Arial"/>
                  <a:sym typeface="Arial"/>
                </a:rPr>
                <a:t>dep_time_of_day = Evening</a:t>
              </a:r>
            </a:p>
          </p:txBody>
        </p:sp>
      </p:grpSp>
      <p:sp>
        <p:nvSpPr>
          <p:cNvPr name="TextBox 27" id="27"/>
          <p:cNvSpPr txBox="true"/>
          <p:nvPr/>
        </p:nvSpPr>
        <p:spPr>
          <a:xfrm rot="0">
            <a:off x="7786688" y="7843837"/>
            <a:ext cx="9429750" cy="1114425"/>
          </a:xfrm>
          <a:prstGeom prst="rect">
            <a:avLst/>
          </a:prstGeom>
        </p:spPr>
        <p:txBody>
          <a:bodyPr anchor="t" rtlCol="false" tIns="0" lIns="0" bIns="0" rIns="0">
            <a:spAutoFit/>
          </a:bodyPr>
          <a:lstStyle/>
          <a:p>
            <a:pPr algn="l">
              <a:lnSpc>
                <a:spcPts val="4334"/>
              </a:lnSpc>
            </a:pPr>
            <a:r>
              <a:rPr lang="en-US" sz="3612" b="true">
                <a:solidFill>
                  <a:srgbClr val="2072B7"/>
                </a:solidFill>
                <a:latin typeface="Arial Bold"/>
                <a:ea typeface="Arial Bold"/>
                <a:cs typeface="Arial Bold"/>
                <a:sym typeface="Arial Bold"/>
              </a:rPr>
              <a:t>Morning 05–11h   Afternoon 12–16h</a:t>
            </a:r>
          </a:p>
          <a:p>
            <a:pPr algn="l">
              <a:lnSpc>
                <a:spcPts val="4334"/>
              </a:lnSpc>
            </a:pPr>
            <a:r>
              <a:rPr lang="en-US" sz="3612" b="true">
                <a:solidFill>
                  <a:srgbClr val="2072B7"/>
                </a:solidFill>
                <a:latin typeface="Arial Bold"/>
                <a:ea typeface="Arial Bold"/>
                <a:cs typeface="Arial Bold"/>
                <a:sym typeface="Arial Bold"/>
              </a:rPr>
              <a:t>Evening 17–21h   Night: còn lại</a:t>
            </a:r>
          </a:p>
        </p:txBody>
      </p:sp>
      <p:sp>
        <p:nvSpPr>
          <p:cNvPr name="TextBox 28" id="2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16</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668"/>
            <a:ext cx="18288000" cy="1070038"/>
            <a:chOff x="0" y="0"/>
            <a:chExt cx="24384000" cy="1426718"/>
          </a:xfrm>
        </p:grpSpPr>
        <p:sp>
          <p:nvSpPr>
            <p:cNvPr name="Freeform 3" id="3"/>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2072B7"/>
            </a:solidFill>
          </p:spPr>
        </p:sp>
      </p:grpSp>
      <p:grpSp>
        <p:nvGrpSpPr>
          <p:cNvPr name="Group 4" id="4"/>
          <p:cNvGrpSpPr/>
          <p:nvPr/>
        </p:nvGrpSpPr>
        <p:grpSpPr>
          <a:xfrm rot="0">
            <a:off x="477926" y="3334"/>
            <a:ext cx="4935598" cy="1027605"/>
            <a:chOff x="0" y="0"/>
            <a:chExt cx="6580797" cy="1370140"/>
          </a:xfrm>
        </p:grpSpPr>
        <p:sp>
          <p:nvSpPr>
            <p:cNvPr name="Freeform 5" id="5"/>
            <p:cNvSpPr/>
            <p:nvPr/>
          </p:nvSpPr>
          <p:spPr>
            <a:xfrm flipH="false" flipV="false" rot="0">
              <a:off x="0" y="0"/>
              <a:ext cx="6580759" cy="1370203"/>
            </a:xfrm>
            <a:custGeom>
              <a:avLst/>
              <a:gdLst/>
              <a:ahLst/>
              <a:cxnLst/>
              <a:rect r="r" b="b" t="t" l="l"/>
              <a:pathLst>
                <a:path h="1370203" w="6580759">
                  <a:moveTo>
                    <a:pt x="0" y="0"/>
                  </a:moveTo>
                  <a:lnTo>
                    <a:pt x="6580759" y="0"/>
                  </a:lnTo>
                  <a:lnTo>
                    <a:pt x="6580759" y="1370203"/>
                  </a:lnTo>
                  <a:lnTo>
                    <a:pt x="0" y="1370203"/>
                  </a:lnTo>
                  <a:lnTo>
                    <a:pt x="0" y="0"/>
                  </a:lnTo>
                  <a:close/>
                </a:path>
              </a:pathLst>
            </a:custGeom>
            <a:blipFill>
              <a:blip r:embed="rId3"/>
              <a:stretch>
                <a:fillRect l="-191" t="0" r="-192" b="4"/>
              </a:stretch>
            </a:blipFill>
          </p:spPr>
        </p:sp>
      </p:grpSp>
      <p:grpSp>
        <p:nvGrpSpPr>
          <p:cNvPr name="Group 6" id="6"/>
          <p:cNvGrpSpPr/>
          <p:nvPr/>
        </p:nvGrpSpPr>
        <p:grpSpPr>
          <a:xfrm rot="0">
            <a:off x="2663190" y="10082212"/>
            <a:ext cx="15624810" cy="204845"/>
            <a:chOff x="0" y="0"/>
            <a:chExt cx="20833080" cy="273126"/>
          </a:xfrm>
        </p:grpSpPr>
        <p:sp>
          <p:nvSpPr>
            <p:cNvPr name="Freeform 7" id="7"/>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2072B7"/>
            </a:solidFill>
          </p:spPr>
        </p:sp>
      </p:grpSp>
      <p:grpSp>
        <p:nvGrpSpPr>
          <p:cNvPr name="Group 8" id="8"/>
          <p:cNvGrpSpPr/>
          <p:nvPr/>
        </p:nvGrpSpPr>
        <p:grpSpPr>
          <a:xfrm rot="0">
            <a:off x="2743238" y="10108759"/>
            <a:ext cx="15544724" cy="152705"/>
            <a:chOff x="0" y="0"/>
            <a:chExt cx="20726298" cy="203606"/>
          </a:xfrm>
        </p:grpSpPr>
        <p:sp>
          <p:nvSpPr>
            <p:cNvPr name="Freeform 9" id="9"/>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4"/>
              <a:stretch>
                <a:fillRect l="0" t="0" r="0" b="-35745"/>
              </a:stretch>
            </a:blipFill>
          </p:spPr>
        </p:sp>
      </p:grpSp>
      <p:sp>
        <p:nvSpPr>
          <p:cNvPr name="TextBox 10" id="10"/>
          <p:cNvSpPr txBox="true"/>
          <p:nvPr/>
        </p:nvSpPr>
        <p:spPr>
          <a:xfrm rot="0">
            <a:off x="302009" y="10002231"/>
            <a:ext cx="2254501" cy="327536"/>
          </a:xfrm>
          <a:prstGeom prst="rect">
            <a:avLst/>
          </a:prstGeom>
        </p:spPr>
        <p:txBody>
          <a:bodyPr anchor="t" rtlCol="false" tIns="0" lIns="0" bIns="0" rIns="0">
            <a:spAutoFit/>
          </a:bodyPr>
          <a:lstStyle/>
          <a:p>
            <a:pPr algn="l">
              <a:lnSpc>
                <a:spcPts val="1800"/>
              </a:lnSpc>
            </a:pPr>
            <a:r>
              <a:rPr lang="en-US" sz="1500">
                <a:solidFill>
                  <a:srgbClr val="0070C0"/>
                </a:solidFill>
                <a:latin typeface="Calibri (MS)"/>
                <a:ea typeface="Calibri (MS)"/>
                <a:cs typeface="Calibri (MS)"/>
                <a:sym typeface="Calibri (MS)"/>
              </a:rPr>
              <a:t>https://huit.edu.vn</a:t>
            </a:r>
          </a:p>
        </p:txBody>
      </p:sp>
      <p:sp>
        <p:nvSpPr>
          <p:cNvPr name="TextBox 11" id="11"/>
          <p:cNvSpPr txBox="true"/>
          <p:nvPr/>
        </p:nvSpPr>
        <p:spPr>
          <a:xfrm rot="0">
            <a:off x="857250" y="1457325"/>
            <a:ext cx="16573500" cy="809625"/>
          </a:xfrm>
          <a:prstGeom prst="rect">
            <a:avLst/>
          </a:prstGeom>
        </p:spPr>
        <p:txBody>
          <a:bodyPr anchor="t" rtlCol="false" tIns="0" lIns="0" bIns="0" rIns="0">
            <a:spAutoFit/>
          </a:bodyPr>
          <a:lstStyle/>
          <a:p>
            <a:pPr algn="l">
              <a:lnSpc>
                <a:spcPts val="6194"/>
              </a:lnSpc>
            </a:pPr>
            <a:r>
              <a:rPr lang="en-US" sz="5162" b="true">
                <a:solidFill>
                  <a:srgbClr val="2072B7"/>
                </a:solidFill>
                <a:latin typeface="Arial Bold"/>
                <a:ea typeface="Arial Bold"/>
                <a:cs typeface="Arial Bold"/>
                <a:sym typeface="Arial Bold"/>
              </a:rPr>
              <a:t>Chuẩn bị đặc trưng khi huấn luyện</a:t>
            </a:r>
          </a:p>
        </p:txBody>
      </p:sp>
      <p:sp>
        <p:nvSpPr>
          <p:cNvPr name="TextBox 12" id="12"/>
          <p:cNvSpPr txBox="true"/>
          <p:nvPr/>
        </p:nvSpPr>
        <p:spPr>
          <a:xfrm rot="0">
            <a:off x="857250" y="2343150"/>
            <a:ext cx="16573500" cy="590550"/>
          </a:xfrm>
          <a:prstGeom prst="rect">
            <a:avLst/>
          </a:prstGeom>
        </p:spPr>
        <p:txBody>
          <a:bodyPr anchor="t" rtlCol="false" tIns="0" lIns="0" bIns="0" rIns="0">
            <a:spAutoFit/>
          </a:bodyPr>
          <a:lstStyle/>
          <a:p>
            <a:pPr algn="l">
              <a:lnSpc>
                <a:spcPts val="4439"/>
              </a:lnSpc>
            </a:pPr>
            <a:r>
              <a:rPr lang="en-US" sz="3699" b="true">
                <a:solidFill>
                  <a:srgbClr val="174C7E"/>
                </a:solidFill>
                <a:latin typeface="Arial Bold"/>
                <a:ea typeface="Arial Bold"/>
                <a:cs typeface="Arial Bold"/>
                <a:sym typeface="Arial Bold"/>
              </a:rPr>
              <a:t>Làm sạch tạo dữ liệu và nhãn; chuẩn bị đặc trưng tạo đầu vào X/features</a:t>
            </a:r>
          </a:p>
        </p:txBody>
      </p:sp>
      <p:sp>
        <p:nvSpPr>
          <p:cNvPr name="TextBox 13" id="13"/>
          <p:cNvSpPr txBox="true"/>
          <p:nvPr/>
        </p:nvSpPr>
        <p:spPr>
          <a:xfrm rot="0">
            <a:off x="11430000" y="3371850"/>
            <a:ext cx="6000750" cy="1800225"/>
          </a:xfrm>
          <a:prstGeom prst="rect">
            <a:avLst/>
          </a:prstGeom>
        </p:spPr>
        <p:txBody>
          <a:bodyPr anchor="t" rtlCol="false" tIns="0" lIns="0" bIns="0" rIns="0">
            <a:spAutoFit/>
          </a:bodyPr>
          <a:lstStyle/>
          <a:p>
            <a:pPr algn="l">
              <a:lnSpc>
                <a:spcPts val="4709"/>
              </a:lnSpc>
            </a:pPr>
            <a:r>
              <a:rPr lang="en-US" sz="3924">
                <a:solidFill>
                  <a:srgbClr val="202D39"/>
                </a:solidFill>
                <a:latin typeface="Arial"/>
                <a:ea typeface="Arial"/>
                <a:cs typeface="Arial"/>
                <a:sym typeface="Arial"/>
              </a:rPr>
              <a:t>CPU: 9 trường số và 4 trường phân loại tạo ma trận X.</a:t>
            </a:r>
          </a:p>
        </p:txBody>
      </p:sp>
      <p:sp>
        <p:nvSpPr>
          <p:cNvPr name="TextBox 14" id="14"/>
          <p:cNvSpPr txBox="true"/>
          <p:nvPr/>
        </p:nvSpPr>
        <p:spPr>
          <a:xfrm rot="0">
            <a:off x="11430000" y="5399158"/>
            <a:ext cx="6000750" cy="1800225"/>
          </a:xfrm>
          <a:prstGeom prst="rect">
            <a:avLst/>
          </a:prstGeom>
        </p:spPr>
        <p:txBody>
          <a:bodyPr anchor="t" rtlCol="false" tIns="0" lIns="0" bIns="0" rIns="0">
            <a:spAutoFit/>
          </a:bodyPr>
          <a:lstStyle/>
          <a:p>
            <a:pPr algn="l">
              <a:lnSpc>
                <a:spcPts val="4709"/>
              </a:lnSpc>
            </a:pPr>
            <a:r>
              <a:rPr lang="en-US" sz="3924">
                <a:solidFill>
                  <a:srgbClr val="202D39"/>
                </a:solidFill>
                <a:latin typeface="Arial"/>
                <a:ea typeface="Arial"/>
                <a:cs typeface="Arial"/>
                <a:sym typeface="Arial"/>
              </a:rPr>
              <a:t>Spark: StringIndexer rồi VectorAssembler tạo vector features.</a:t>
            </a:r>
          </a:p>
        </p:txBody>
      </p:sp>
      <p:sp>
        <p:nvSpPr>
          <p:cNvPr name="TextBox 15" id="15"/>
          <p:cNvSpPr txBox="true"/>
          <p:nvPr/>
        </p:nvSpPr>
        <p:spPr>
          <a:xfrm rot="0">
            <a:off x="11380183" y="7426466"/>
            <a:ext cx="6000750" cy="1800225"/>
          </a:xfrm>
          <a:prstGeom prst="rect">
            <a:avLst/>
          </a:prstGeom>
        </p:spPr>
        <p:txBody>
          <a:bodyPr anchor="t" rtlCol="false" tIns="0" lIns="0" bIns="0" rIns="0">
            <a:spAutoFit/>
          </a:bodyPr>
          <a:lstStyle/>
          <a:p>
            <a:pPr algn="l">
              <a:lnSpc>
                <a:spcPts val="4709"/>
              </a:lnSpc>
            </a:pPr>
            <a:r>
              <a:rPr lang="en-US" sz="3924">
                <a:solidFill>
                  <a:srgbClr val="202D39"/>
                </a:solidFill>
                <a:latin typeface="Arial"/>
                <a:ea typeface="Arial"/>
                <a:cs typeface="Arial"/>
                <a:sym typeface="Arial"/>
              </a:rPr>
              <a:t>Chỉ CPU Logistic Regression dùng StandardScaler.</a:t>
            </a:r>
          </a:p>
        </p:txBody>
      </p:sp>
      <p:graphicFrame>
        <p:nvGraphicFramePr>
          <p:cNvPr name="Table 16" id="16"/>
          <p:cNvGraphicFramePr>
            <a:graphicFrameLocks noGrp="true"/>
          </p:cNvGraphicFramePr>
          <p:nvPr/>
        </p:nvGraphicFramePr>
        <p:xfrm>
          <a:off x="785812" y="3357562"/>
          <a:ext cx="9829800" cy="5932633"/>
        </p:xfrm>
        <a:graphic>
          <a:graphicData uri="http://schemas.openxmlformats.org/drawingml/2006/table">
            <a:tbl>
              <a:tblPr/>
              <a:tblGrid>
                <a:gridCol w="4921992"/>
                <a:gridCol w="4907808"/>
              </a:tblGrid>
              <a:tr h="1152934">
                <a:tc>
                  <a:txBody>
                    <a:bodyPr anchor="t" rtlCol="false"/>
                    <a:lstStyle/>
                    <a:p>
                      <a:pPr algn="l">
                        <a:lnSpc>
                          <a:spcPts val="4304"/>
                        </a:lnSpc>
                        <a:defRPr/>
                      </a:pPr>
                      <a:r>
                        <a:rPr lang="en-US" sz="3587" b="true">
                          <a:solidFill>
                            <a:srgbClr val="FFFFFF"/>
                          </a:solidFill>
                          <a:latin typeface="Arial Bold"/>
                          <a:ea typeface="Arial Bold"/>
                          <a:cs typeface="Arial Bold"/>
                          <a:sym typeface="Arial Bold"/>
                        </a:rPr>
                        <a:t>CPU</a:t>
                      </a:r>
                      <a:endParaRPr lang="en-US" sz="1100"/>
                    </a:p>
                  </a:txBody>
                  <a:tcPr marL="57150" marR="57150" marT="57150" marB="57150" anchor="t">
                    <a:lnL cmpd="sng" algn="ctr" cap="flat" w="9525">
                      <a:solidFill>
                        <a:srgbClr val="C3D5E4"/>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9525">
                      <a:solidFill>
                        <a:srgbClr val="C3D5E4"/>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2072B7"/>
                    </a:solidFill>
                  </a:tcPr>
                </a:tc>
                <a:tc>
                  <a:txBody>
                    <a:bodyPr anchor="t" rtlCol="false"/>
                    <a:lstStyle/>
                    <a:p>
                      <a:pPr algn="l">
                        <a:lnSpc>
                          <a:spcPts val="4304"/>
                        </a:lnSpc>
                        <a:defRPr/>
                      </a:pPr>
                      <a:r>
                        <a:rPr lang="en-US" sz="3587" b="true">
                          <a:solidFill>
                            <a:srgbClr val="FFFFFF"/>
                          </a:solidFill>
                          <a:latin typeface="Arial Bold"/>
                          <a:ea typeface="Arial Bold"/>
                          <a:cs typeface="Arial Bold"/>
                          <a:sym typeface="Arial Bold"/>
                        </a:rPr>
                        <a:t>Spark end-to-end</a:t>
                      </a:r>
                      <a:endParaRPr lang="en-US" sz="1100"/>
                    </a:p>
                  </a:txBody>
                  <a:tcPr marL="57150" marR="57150" marT="57150" marB="57150" anchor="t">
                    <a:lnL cmpd="sng" algn="ctr" cap="flat" w="4762">
                      <a:solidFill>
                        <a:srgbClr val="000000"/>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9525">
                      <a:solidFill>
                        <a:srgbClr val="C3D5E4"/>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2072B7"/>
                    </a:solidFill>
                  </a:tcPr>
                </a:tc>
              </a:tr>
              <a:tr h="1955765">
                <a:tc>
                  <a:txBody>
                    <a:bodyPr anchor="t" rtlCol="false"/>
                    <a:lstStyle/>
                    <a:p>
                      <a:pPr algn="l">
                        <a:lnSpc>
                          <a:spcPts val="4304"/>
                        </a:lnSpc>
                        <a:defRPr/>
                      </a:pPr>
                      <a:r>
                        <a:rPr lang="en-US" sz="3587">
                          <a:solidFill>
                            <a:srgbClr val="202D39"/>
                          </a:solidFill>
                          <a:latin typeface="Arial"/>
                          <a:ea typeface="Arial"/>
                          <a:cs typeface="Arial"/>
                          <a:sym typeface="Arial"/>
                        </a:rPr>
                        <a:t>Số lỗi/thiếu → 0</a:t>
                      </a:r>
                      <a:endParaRPr lang="en-US" sz="1100"/>
                    </a:p>
                    <a:p>
                      <a:pPr algn="l">
                        <a:lnSpc>
                          <a:spcPts val="4304"/>
                        </a:lnSpc>
                      </a:pPr>
                      <a:r>
                        <a:rPr lang="en-US" sz="3587">
                          <a:solidFill>
                            <a:srgbClr val="202D39"/>
                          </a:solidFill>
                          <a:latin typeface="Arial"/>
                          <a:ea typeface="Arial"/>
                          <a:cs typeface="Arial"/>
                          <a:sym typeface="Arial"/>
                        </a:rPr>
                        <a:t>float32</a:t>
                      </a:r>
                    </a:p>
                  </a:txBody>
                  <a:tcPr marL="57150" marR="57150" marT="57150" marB="57150" anchor="t">
                    <a:lnL cmpd="sng" algn="ctr" cap="flat" w="9525">
                      <a:solidFill>
                        <a:srgbClr val="C3D5E4"/>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EDF5FB"/>
                    </a:solidFill>
                  </a:tcPr>
                </a:tc>
                <a:tc>
                  <a:txBody>
                    <a:bodyPr anchor="t" rtlCol="false"/>
                    <a:lstStyle/>
                    <a:p>
                      <a:pPr algn="l">
                        <a:lnSpc>
                          <a:spcPts val="4304"/>
                        </a:lnSpc>
                        <a:defRPr/>
                      </a:pPr>
                      <a:r>
                        <a:rPr lang="en-US" sz="3587">
                          <a:solidFill>
                            <a:srgbClr val="202D39"/>
                          </a:solidFill>
                          <a:latin typeface="Arial"/>
                          <a:ea typeface="Arial"/>
                          <a:cs typeface="Arial"/>
                          <a:sym typeface="Arial"/>
                        </a:rPr>
                        <a:t>Cast từ ETL; không fill0</a:t>
                      </a:r>
                      <a:endParaRPr lang="en-US" sz="1100"/>
                    </a:p>
                    <a:p>
                      <a:pPr algn="l">
                        <a:lnSpc>
                          <a:spcPts val="4304"/>
                        </a:lnSpc>
                      </a:pPr>
                      <a:r>
                        <a:rPr lang="en-US" sz="3587">
                          <a:solidFill>
                            <a:srgbClr val="202D39"/>
                          </a:solidFill>
                          <a:latin typeface="Arial"/>
                          <a:ea typeface="Arial"/>
                          <a:cs typeface="Arial"/>
                          <a:sym typeface="Arial"/>
                        </a:rPr>
                        <a:t>toàn bộ numeric ở bước train</a:t>
                      </a:r>
                    </a:p>
                  </a:txBody>
                  <a:tcPr marL="57150" marR="57150" marT="57150" marB="57150" anchor="t">
                    <a:lnL cmpd="sng" algn="ctr" cap="flat" w="4762">
                      <a:solidFill>
                        <a:srgbClr val="000000"/>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EDF5FB"/>
                    </a:solidFill>
                  </a:tcPr>
                </a:tc>
              </a:tr>
              <a:tr h="1411967">
                <a:tc>
                  <a:txBody>
                    <a:bodyPr anchor="t" rtlCol="false"/>
                    <a:lstStyle/>
                    <a:p>
                      <a:pPr algn="l">
                        <a:lnSpc>
                          <a:spcPts val="4304"/>
                        </a:lnSpc>
                        <a:defRPr/>
                      </a:pPr>
                      <a:r>
                        <a:rPr lang="en-US" sz="3587">
                          <a:solidFill>
                            <a:srgbClr val="202D39"/>
                          </a:solidFill>
                          <a:latin typeface="Arial"/>
                          <a:ea typeface="Arial"/>
                          <a:cs typeface="Arial"/>
                          <a:sym typeface="Arial"/>
                        </a:rPr>
                        <a:t>LabelEncoder</a:t>
                      </a:r>
                      <a:endParaRPr lang="en-US" sz="1100"/>
                    </a:p>
                    <a:p>
                      <a:pPr algn="l">
                        <a:lnSpc>
                          <a:spcPts val="4304"/>
                        </a:lnSpc>
                      </a:pPr>
                      <a:r>
                        <a:rPr lang="en-US" sz="3587">
                          <a:solidFill>
                            <a:srgbClr val="202D39"/>
                          </a:solidFill>
                          <a:latin typeface="Arial"/>
                          <a:ea typeface="Arial"/>
                          <a:cs typeface="Arial"/>
                          <a:sym typeface="Arial"/>
                        </a:rPr>
                        <a:t>4 trường phân loại</a:t>
                      </a:r>
                    </a:p>
                  </a:txBody>
                  <a:tcPr marL="57150" marR="57150" marT="57150" marB="57150" anchor="t">
                    <a:lnL cmpd="sng" algn="ctr" cap="flat" w="9525">
                      <a:solidFill>
                        <a:srgbClr val="C3D5E4"/>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FFFFFF"/>
                    </a:solidFill>
                  </a:tcPr>
                </a:tc>
                <a:tc>
                  <a:txBody>
                    <a:bodyPr anchor="t" rtlCol="false"/>
                    <a:lstStyle/>
                    <a:p>
                      <a:pPr algn="l">
                        <a:lnSpc>
                          <a:spcPts val="4304"/>
                        </a:lnSpc>
                        <a:defRPr/>
                      </a:pPr>
                      <a:r>
                        <a:rPr lang="en-US" sz="3587">
                          <a:solidFill>
                            <a:srgbClr val="202D39"/>
                          </a:solidFill>
                          <a:latin typeface="Arial"/>
                          <a:ea typeface="Arial"/>
                          <a:cs typeface="Arial"/>
                          <a:sym typeface="Arial"/>
                        </a:rPr>
                        <a:t>StringIndexer, keep</a:t>
                      </a:r>
                      <a:endParaRPr lang="en-US" sz="1100"/>
                    </a:p>
                    <a:p>
                      <a:pPr algn="l">
                        <a:lnSpc>
                          <a:spcPts val="4304"/>
                        </a:lnSpc>
                      </a:pPr>
                      <a:r>
                        <a:rPr lang="en-US" sz="3587">
                          <a:solidFill>
                            <a:srgbClr val="202D39"/>
                          </a:solidFill>
                          <a:latin typeface="Arial"/>
                          <a:ea typeface="Arial"/>
                          <a:cs typeface="Arial"/>
                          <a:sym typeface="Arial"/>
                        </a:rPr>
                        <a:t>origin/dest cast Double</a:t>
                      </a:r>
                    </a:p>
                  </a:txBody>
                  <a:tcPr marL="57150" marR="57150" marT="57150" marB="57150" anchor="t">
                    <a:lnL cmpd="sng" algn="ctr" cap="flat" w="4762">
                      <a:solidFill>
                        <a:srgbClr val="000000"/>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FFFFFF"/>
                    </a:solidFill>
                  </a:tcPr>
                </a:tc>
              </a:tr>
              <a:tr h="1411967">
                <a:tc>
                  <a:txBody>
                    <a:bodyPr anchor="t" rtlCol="false"/>
                    <a:lstStyle/>
                    <a:p>
                      <a:pPr algn="l">
                        <a:lnSpc>
                          <a:spcPts val="4304"/>
                        </a:lnSpc>
                        <a:defRPr/>
                      </a:pPr>
                      <a:r>
                        <a:rPr lang="en-US" sz="3587">
                          <a:solidFill>
                            <a:srgbClr val="202D39"/>
                          </a:solidFill>
                          <a:latin typeface="Arial"/>
                          <a:ea typeface="Arial"/>
                          <a:cs typeface="Arial"/>
                          <a:sym typeface="Arial"/>
                        </a:rPr>
                        <a:t>Ma trận 13 cột</a:t>
                      </a:r>
                      <a:endParaRPr lang="en-US" sz="1100"/>
                    </a:p>
                    <a:p>
                      <a:pPr algn="l">
                        <a:lnSpc>
                          <a:spcPts val="4304"/>
                        </a:lnSpc>
                      </a:pPr>
                      <a:r>
                        <a:rPr lang="en-US" sz="3587">
                          <a:solidFill>
                            <a:srgbClr val="202D39"/>
                          </a:solidFill>
                          <a:latin typeface="Arial"/>
                          <a:ea typeface="Arial"/>
                          <a:cs typeface="Arial"/>
                          <a:sym typeface="Arial"/>
                        </a:rPr>
                        <a:t>X float32</a:t>
                      </a:r>
                    </a:p>
                  </a:txBody>
                  <a:tcPr marL="57150" marR="57150" marT="57150" marB="57150" anchor="t">
                    <a:lnL cmpd="sng" algn="ctr" cap="flat" w="9525">
                      <a:solidFill>
                        <a:srgbClr val="C3D5E4"/>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EDF5FB"/>
                    </a:solidFill>
                  </a:tcPr>
                </a:tc>
                <a:tc>
                  <a:txBody>
                    <a:bodyPr anchor="t" rtlCol="false"/>
                    <a:lstStyle/>
                    <a:p>
                      <a:pPr algn="l">
                        <a:lnSpc>
                          <a:spcPts val="4304"/>
                        </a:lnSpc>
                        <a:defRPr/>
                      </a:pPr>
                      <a:r>
                        <a:rPr lang="en-US" sz="3587">
                          <a:solidFill>
                            <a:srgbClr val="202D39"/>
                          </a:solidFill>
                          <a:latin typeface="Arial"/>
                          <a:ea typeface="Arial"/>
                          <a:cs typeface="Arial"/>
                          <a:sym typeface="Arial"/>
                        </a:rPr>
                        <a:t>VectorAssembler</a:t>
                      </a:r>
                      <a:endParaRPr lang="en-US" sz="1100"/>
                    </a:p>
                    <a:p>
                      <a:pPr algn="l">
                        <a:lnSpc>
                          <a:spcPts val="4304"/>
                        </a:lnSpc>
                      </a:pPr>
                      <a:r>
                        <a:rPr lang="en-US" sz="3587">
                          <a:solidFill>
                            <a:srgbClr val="202D39"/>
                          </a:solidFill>
                          <a:latin typeface="Arial"/>
                          <a:ea typeface="Arial"/>
                          <a:cs typeface="Arial"/>
                          <a:sym typeface="Arial"/>
                        </a:rPr>
                        <a:t>13 đặc trưng</a:t>
                      </a:r>
                    </a:p>
                  </a:txBody>
                  <a:tcPr marL="57150" marR="57150" marT="57150" marB="57150" anchor="t">
                    <a:lnL cmpd="sng" algn="ctr" cap="flat" w="4762">
                      <a:solidFill>
                        <a:srgbClr val="000000"/>
                      </a:solidFill>
                      <a:prstDash val="solid"/>
                      <a:round/>
                      <a:headEnd type="none" w="med" len="med"/>
                      <a:tailEnd type="none" w="med" len="med"/>
                    </a:lnL>
                    <a:lnR cmpd="sng" algn="ctr" cap="flat" w="9525">
                      <a:solidFill>
                        <a:srgbClr val="C3D5E4"/>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C3D5E4"/>
                      </a:solidFill>
                      <a:prstDash val="solid"/>
                      <a:round/>
                      <a:headEnd type="none" w="med" len="med"/>
                      <a:tailEnd type="none" w="med" len="med"/>
                    </a:lnB>
                    <a:solidFill>
                      <a:srgbClr val="EDF5FB"/>
                    </a:solidFill>
                  </a:tcPr>
                </a:tc>
              </a:tr>
            </a:tbl>
          </a:graphicData>
        </a:graphic>
      </p:graphicFrame>
      <p:sp>
        <p:nvSpPr>
          <p:cNvPr name="TextBox 17" id="1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17</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668"/>
            <a:ext cx="18288000" cy="1070038"/>
            <a:chOff x="0" y="0"/>
            <a:chExt cx="24384000" cy="1426718"/>
          </a:xfrm>
        </p:grpSpPr>
        <p:sp>
          <p:nvSpPr>
            <p:cNvPr name="Freeform 3" id="3"/>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2072B7"/>
            </a:solidFill>
          </p:spPr>
        </p:sp>
      </p:grpSp>
      <p:grpSp>
        <p:nvGrpSpPr>
          <p:cNvPr name="Group 4" id="4"/>
          <p:cNvGrpSpPr/>
          <p:nvPr/>
        </p:nvGrpSpPr>
        <p:grpSpPr>
          <a:xfrm rot="0">
            <a:off x="477926" y="3334"/>
            <a:ext cx="4935598" cy="1027605"/>
            <a:chOff x="0" y="0"/>
            <a:chExt cx="6580797" cy="1370140"/>
          </a:xfrm>
        </p:grpSpPr>
        <p:sp>
          <p:nvSpPr>
            <p:cNvPr name="Freeform 5" id="5"/>
            <p:cNvSpPr/>
            <p:nvPr/>
          </p:nvSpPr>
          <p:spPr>
            <a:xfrm flipH="false" flipV="false" rot="0">
              <a:off x="0" y="0"/>
              <a:ext cx="6580759" cy="1370203"/>
            </a:xfrm>
            <a:custGeom>
              <a:avLst/>
              <a:gdLst/>
              <a:ahLst/>
              <a:cxnLst/>
              <a:rect r="r" b="b" t="t" l="l"/>
              <a:pathLst>
                <a:path h="1370203" w="6580759">
                  <a:moveTo>
                    <a:pt x="0" y="0"/>
                  </a:moveTo>
                  <a:lnTo>
                    <a:pt x="6580759" y="0"/>
                  </a:lnTo>
                  <a:lnTo>
                    <a:pt x="6580759" y="1370203"/>
                  </a:lnTo>
                  <a:lnTo>
                    <a:pt x="0" y="1370203"/>
                  </a:lnTo>
                  <a:lnTo>
                    <a:pt x="0" y="0"/>
                  </a:lnTo>
                  <a:close/>
                </a:path>
              </a:pathLst>
            </a:custGeom>
            <a:blipFill>
              <a:blip r:embed="rId3"/>
              <a:stretch>
                <a:fillRect l="-191" t="0" r="-192" b="4"/>
              </a:stretch>
            </a:blipFill>
          </p:spPr>
        </p:sp>
      </p:grpSp>
      <p:grpSp>
        <p:nvGrpSpPr>
          <p:cNvPr name="Group 6" id="6"/>
          <p:cNvGrpSpPr/>
          <p:nvPr/>
        </p:nvGrpSpPr>
        <p:grpSpPr>
          <a:xfrm rot="0">
            <a:off x="2663190" y="10082212"/>
            <a:ext cx="15624810" cy="204845"/>
            <a:chOff x="0" y="0"/>
            <a:chExt cx="20833080" cy="273126"/>
          </a:xfrm>
        </p:grpSpPr>
        <p:sp>
          <p:nvSpPr>
            <p:cNvPr name="Freeform 7" id="7"/>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2072B7"/>
            </a:solidFill>
          </p:spPr>
        </p:sp>
      </p:grpSp>
      <p:grpSp>
        <p:nvGrpSpPr>
          <p:cNvPr name="Group 8" id="8"/>
          <p:cNvGrpSpPr/>
          <p:nvPr/>
        </p:nvGrpSpPr>
        <p:grpSpPr>
          <a:xfrm rot="0">
            <a:off x="2743238" y="10108759"/>
            <a:ext cx="15544724" cy="152705"/>
            <a:chOff x="0" y="0"/>
            <a:chExt cx="20726298" cy="203606"/>
          </a:xfrm>
        </p:grpSpPr>
        <p:sp>
          <p:nvSpPr>
            <p:cNvPr name="Freeform 9" id="9"/>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4"/>
              <a:stretch>
                <a:fillRect l="0" t="0" r="0" b="-35745"/>
              </a:stretch>
            </a:blipFill>
          </p:spPr>
        </p:sp>
      </p:grpSp>
      <p:sp>
        <p:nvSpPr>
          <p:cNvPr name="TextBox 10" id="10"/>
          <p:cNvSpPr txBox="true"/>
          <p:nvPr/>
        </p:nvSpPr>
        <p:spPr>
          <a:xfrm rot="0">
            <a:off x="302009" y="10002231"/>
            <a:ext cx="2254501" cy="327536"/>
          </a:xfrm>
          <a:prstGeom prst="rect">
            <a:avLst/>
          </a:prstGeom>
        </p:spPr>
        <p:txBody>
          <a:bodyPr anchor="t" rtlCol="false" tIns="0" lIns="0" bIns="0" rIns="0">
            <a:spAutoFit/>
          </a:bodyPr>
          <a:lstStyle/>
          <a:p>
            <a:pPr algn="l">
              <a:lnSpc>
                <a:spcPts val="1800"/>
              </a:lnSpc>
            </a:pPr>
            <a:r>
              <a:rPr lang="en-US" sz="1500">
                <a:solidFill>
                  <a:srgbClr val="0070C0"/>
                </a:solidFill>
                <a:latin typeface="Calibri (MS)"/>
                <a:ea typeface="Calibri (MS)"/>
                <a:cs typeface="Calibri (MS)"/>
                <a:sym typeface="Calibri (MS)"/>
              </a:rPr>
              <a:t>https://huit.edu.vn</a:t>
            </a:r>
          </a:p>
        </p:txBody>
      </p:sp>
      <p:sp>
        <p:nvSpPr>
          <p:cNvPr name="AutoShape 11" id="11"/>
          <p:cNvSpPr/>
          <p:nvPr/>
        </p:nvSpPr>
        <p:spPr>
          <a:xfrm>
            <a:off x="12537281" y="6212681"/>
            <a:ext cx="0" cy="947738"/>
          </a:xfrm>
          <a:prstGeom prst="line">
            <a:avLst/>
          </a:prstGeom>
          <a:ln cap="rnd" w="19050">
            <a:solidFill>
              <a:srgbClr val="2072B7"/>
            </a:solidFill>
            <a:prstDash val="solid"/>
            <a:headEnd type="none" len="sm" w="sm"/>
            <a:tailEnd type="triangle" len="med" w="lg"/>
          </a:ln>
        </p:spPr>
      </p:sp>
      <p:sp>
        <p:nvSpPr>
          <p:cNvPr name="AutoShape 12" id="12"/>
          <p:cNvSpPr/>
          <p:nvPr/>
        </p:nvSpPr>
        <p:spPr>
          <a:xfrm>
            <a:off x="12537281" y="4321969"/>
            <a:ext cx="0" cy="947738"/>
          </a:xfrm>
          <a:prstGeom prst="line">
            <a:avLst/>
          </a:prstGeom>
          <a:ln cap="rnd" w="19050">
            <a:solidFill>
              <a:srgbClr val="2072B7"/>
            </a:solidFill>
            <a:prstDash val="solid"/>
            <a:headEnd type="none" len="sm" w="sm"/>
            <a:tailEnd type="triangle" len="med" w="lg"/>
          </a:ln>
        </p:spPr>
      </p:sp>
      <p:sp>
        <p:nvSpPr>
          <p:cNvPr name="TextBox 13" id="13"/>
          <p:cNvSpPr txBox="true"/>
          <p:nvPr/>
        </p:nvSpPr>
        <p:spPr>
          <a:xfrm rot="0">
            <a:off x="857250" y="1466850"/>
            <a:ext cx="16573500" cy="723900"/>
          </a:xfrm>
          <a:prstGeom prst="rect">
            <a:avLst/>
          </a:prstGeom>
        </p:spPr>
        <p:txBody>
          <a:bodyPr anchor="t" rtlCol="false" tIns="0" lIns="0" bIns="0" rIns="0">
            <a:spAutoFit/>
          </a:bodyPr>
          <a:lstStyle/>
          <a:p>
            <a:pPr algn="l">
              <a:lnSpc>
                <a:spcPts val="5594"/>
              </a:lnSpc>
            </a:pPr>
            <a:r>
              <a:rPr lang="en-US" sz="4662" b="true">
                <a:solidFill>
                  <a:srgbClr val="2072B7"/>
                </a:solidFill>
                <a:latin typeface="Arial Bold"/>
                <a:ea typeface="Arial Bold"/>
                <a:cs typeface="Arial Bold"/>
                <a:sym typeface="Arial Bold"/>
              </a:rPr>
              <a:t>Đầu ra Parquet và chia dữ liệu</a:t>
            </a:r>
          </a:p>
        </p:txBody>
      </p:sp>
      <p:sp>
        <p:nvSpPr>
          <p:cNvPr name="TextBox 14" id="14"/>
          <p:cNvSpPr txBox="true"/>
          <p:nvPr/>
        </p:nvSpPr>
        <p:spPr>
          <a:xfrm rot="0">
            <a:off x="857250" y="2343150"/>
            <a:ext cx="16573500" cy="514350"/>
          </a:xfrm>
          <a:prstGeom prst="rect">
            <a:avLst/>
          </a:prstGeom>
        </p:spPr>
        <p:txBody>
          <a:bodyPr anchor="t" rtlCol="false" tIns="0" lIns="0" bIns="0" rIns="0">
            <a:spAutoFit/>
          </a:bodyPr>
          <a:lstStyle/>
          <a:p>
            <a:pPr algn="l">
              <a:lnSpc>
                <a:spcPts val="3839"/>
              </a:lnSpc>
            </a:pPr>
            <a:r>
              <a:rPr lang="en-US" sz="3199" b="true">
                <a:solidFill>
                  <a:srgbClr val="174C7E"/>
                </a:solidFill>
                <a:latin typeface="Arial Bold"/>
                <a:ea typeface="Arial Bold"/>
                <a:cs typeface="Arial Bold"/>
                <a:sym typeface="Arial Bold"/>
              </a:rPr>
              <a:t>Cùng tỷ lệ 70/15/15, nhưng CPU và Spark không dùng cùng cách chia</a:t>
            </a:r>
          </a:p>
        </p:txBody>
      </p:sp>
      <p:sp>
        <p:nvSpPr>
          <p:cNvPr name="TextBox 15" id="15"/>
          <p:cNvSpPr txBox="true"/>
          <p:nvPr/>
        </p:nvSpPr>
        <p:spPr>
          <a:xfrm rot="0">
            <a:off x="857250" y="3371850"/>
            <a:ext cx="6072188" cy="1057275"/>
          </a:xfrm>
          <a:prstGeom prst="rect">
            <a:avLst/>
          </a:prstGeom>
        </p:spPr>
        <p:txBody>
          <a:bodyPr anchor="t" rtlCol="false" tIns="0" lIns="0" bIns="0" rIns="0">
            <a:spAutoFit/>
          </a:bodyPr>
          <a:lstStyle/>
          <a:p>
            <a:pPr algn="l">
              <a:lnSpc>
                <a:spcPts val="4109"/>
              </a:lnSpc>
            </a:pPr>
            <a:r>
              <a:rPr lang="en-US" sz="3000">
                <a:solidFill>
                  <a:srgbClr val="202D39"/>
                </a:solidFill>
                <a:latin typeface="Arial"/>
                <a:ea typeface="Arial"/>
                <a:cs typeface="Arial"/>
                <a:sym typeface="Arial"/>
              </a:rPr>
              <a:t>Parquet sạch phân vùng theo tháng, dùng chung hai nhánh.</a:t>
            </a:r>
          </a:p>
        </p:txBody>
      </p:sp>
      <p:sp>
        <p:nvSpPr>
          <p:cNvPr name="TextBox 16" id="16"/>
          <p:cNvSpPr txBox="true"/>
          <p:nvPr/>
        </p:nvSpPr>
        <p:spPr>
          <a:xfrm rot="0">
            <a:off x="857250" y="4972050"/>
            <a:ext cx="6072188" cy="1057275"/>
          </a:xfrm>
          <a:prstGeom prst="rect">
            <a:avLst/>
          </a:prstGeom>
        </p:spPr>
        <p:txBody>
          <a:bodyPr anchor="t" rtlCol="false" tIns="0" lIns="0" bIns="0" rIns="0">
            <a:spAutoFit/>
          </a:bodyPr>
          <a:lstStyle/>
          <a:p>
            <a:pPr algn="l">
              <a:lnSpc>
                <a:spcPts val="4109"/>
              </a:lnSpc>
            </a:pPr>
            <a:r>
              <a:rPr lang="en-US" sz="3000">
                <a:solidFill>
                  <a:srgbClr val="202D39"/>
                </a:solidFill>
                <a:latin typeface="Arial"/>
                <a:ea typeface="Arial"/>
                <a:cs typeface="Arial"/>
                <a:sym typeface="Arial"/>
              </a:rPr>
              <a:t>CPU: mã hóa, chia phân tầng 70/15/15, seed = 42.</a:t>
            </a:r>
          </a:p>
        </p:txBody>
      </p:sp>
      <p:sp>
        <p:nvSpPr>
          <p:cNvPr name="TextBox 17" id="17"/>
          <p:cNvSpPr txBox="true"/>
          <p:nvPr/>
        </p:nvSpPr>
        <p:spPr>
          <a:xfrm rot="0">
            <a:off x="857250" y="6572250"/>
            <a:ext cx="6072188" cy="1571625"/>
          </a:xfrm>
          <a:prstGeom prst="rect">
            <a:avLst/>
          </a:prstGeom>
        </p:spPr>
        <p:txBody>
          <a:bodyPr anchor="t" rtlCol="false" tIns="0" lIns="0" bIns="0" rIns="0">
            <a:spAutoFit/>
          </a:bodyPr>
          <a:lstStyle/>
          <a:p>
            <a:pPr algn="l">
              <a:lnSpc>
                <a:spcPts val="4109"/>
              </a:lnSpc>
            </a:pPr>
            <a:r>
              <a:rPr lang="en-US" sz="3000">
                <a:solidFill>
                  <a:srgbClr val="202D39"/>
                </a:solidFill>
                <a:latin typeface="Arial"/>
                <a:ea typeface="Arial"/>
                <a:cs typeface="Arial"/>
                <a:sym typeface="Arial"/>
              </a:rPr>
              <a:t>Spark: nạp Parquet trên Driver bằng PyArrow/Pandas, tạo DataFrame rồi chia randomSplit, seed = 42.</a:t>
            </a:r>
          </a:p>
        </p:txBody>
      </p:sp>
      <p:grpSp>
        <p:nvGrpSpPr>
          <p:cNvPr name="Group 18" id="18"/>
          <p:cNvGrpSpPr/>
          <p:nvPr/>
        </p:nvGrpSpPr>
        <p:grpSpPr>
          <a:xfrm rot="0">
            <a:off x="7779544" y="3378994"/>
            <a:ext cx="9515475" cy="942975"/>
            <a:chOff x="0" y="0"/>
            <a:chExt cx="12687300" cy="1257300"/>
          </a:xfrm>
        </p:grpSpPr>
        <p:sp>
          <p:nvSpPr>
            <p:cNvPr name="Freeform 19" id="19"/>
            <p:cNvSpPr/>
            <p:nvPr/>
          </p:nvSpPr>
          <p:spPr>
            <a:xfrm flipH="false" flipV="false" rot="0">
              <a:off x="0" y="0"/>
              <a:ext cx="12687300" cy="1257300"/>
            </a:xfrm>
            <a:custGeom>
              <a:avLst/>
              <a:gdLst/>
              <a:ahLst/>
              <a:cxnLst/>
              <a:rect r="r" b="b" t="t" l="l"/>
              <a:pathLst>
                <a:path h="1257300" w="12687300">
                  <a:moveTo>
                    <a:pt x="0" y="0"/>
                  </a:moveTo>
                  <a:lnTo>
                    <a:pt x="12687300" y="0"/>
                  </a:lnTo>
                  <a:lnTo>
                    <a:pt x="12687300" y="1257300"/>
                  </a:lnTo>
                  <a:lnTo>
                    <a:pt x="0" y="1257300"/>
                  </a:lnTo>
                  <a:close/>
                </a:path>
              </a:pathLst>
            </a:custGeom>
            <a:solidFill>
              <a:srgbClr val="2072B7"/>
            </a:solidFill>
            <a:ln w="14288" cap="sq">
              <a:solidFill>
                <a:srgbClr val="2072B7"/>
              </a:solidFill>
              <a:prstDash val="solid"/>
              <a:miter/>
            </a:ln>
          </p:spPr>
        </p:sp>
        <p:sp>
          <p:nvSpPr>
            <p:cNvPr name="TextBox 20" id="20"/>
            <p:cNvSpPr txBox="true"/>
            <p:nvPr/>
          </p:nvSpPr>
          <p:spPr>
            <a:xfrm>
              <a:off x="0" y="-28575"/>
              <a:ext cx="12687300" cy="1285875"/>
            </a:xfrm>
            <a:prstGeom prst="rect">
              <a:avLst/>
            </a:prstGeom>
          </p:spPr>
          <p:txBody>
            <a:bodyPr anchor="ctr" rtlCol="false" tIns="50800" lIns="50800" bIns="50800" rIns="50800"/>
            <a:lstStyle/>
            <a:p>
              <a:pPr algn="ctr">
                <a:lnSpc>
                  <a:spcPts val="3839"/>
                </a:lnSpc>
              </a:pPr>
              <a:r>
                <a:rPr lang="en-US" sz="3199">
                  <a:solidFill>
                    <a:srgbClr val="FFFFFF"/>
                  </a:solidFill>
                  <a:latin typeface="Arial"/>
                  <a:ea typeface="Arial"/>
                  <a:cs typeface="Arial"/>
                  <a:sym typeface="Arial"/>
                </a:rPr>
                <a:t>CSV → làm sạch và ghi Parquet theo tháng</a:t>
              </a:r>
            </a:p>
          </p:txBody>
        </p:sp>
      </p:grpSp>
      <p:grpSp>
        <p:nvGrpSpPr>
          <p:cNvPr name="Group 21" id="21"/>
          <p:cNvGrpSpPr/>
          <p:nvPr/>
        </p:nvGrpSpPr>
        <p:grpSpPr>
          <a:xfrm rot="0">
            <a:off x="7779544" y="5269706"/>
            <a:ext cx="9515475" cy="942975"/>
            <a:chOff x="0" y="0"/>
            <a:chExt cx="12687300" cy="1257300"/>
          </a:xfrm>
        </p:grpSpPr>
        <p:sp>
          <p:nvSpPr>
            <p:cNvPr name="Freeform 22" id="22"/>
            <p:cNvSpPr/>
            <p:nvPr/>
          </p:nvSpPr>
          <p:spPr>
            <a:xfrm flipH="false" flipV="false" rot="0">
              <a:off x="0" y="0"/>
              <a:ext cx="12687300" cy="1257300"/>
            </a:xfrm>
            <a:custGeom>
              <a:avLst/>
              <a:gdLst/>
              <a:ahLst/>
              <a:cxnLst/>
              <a:rect r="r" b="b" t="t" l="l"/>
              <a:pathLst>
                <a:path h="1257300" w="12687300">
                  <a:moveTo>
                    <a:pt x="0" y="0"/>
                  </a:moveTo>
                  <a:lnTo>
                    <a:pt x="12687300" y="0"/>
                  </a:lnTo>
                  <a:lnTo>
                    <a:pt x="12687300" y="1257300"/>
                  </a:lnTo>
                  <a:lnTo>
                    <a:pt x="0" y="1257300"/>
                  </a:lnTo>
                  <a:close/>
                </a:path>
              </a:pathLst>
            </a:custGeom>
            <a:solidFill>
              <a:srgbClr val="2072B7"/>
            </a:solidFill>
            <a:ln w="14288" cap="sq">
              <a:solidFill>
                <a:srgbClr val="2072B7"/>
              </a:solidFill>
              <a:prstDash val="solid"/>
              <a:miter/>
            </a:ln>
          </p:spPr>
        </p:sp>
        <p:sp>
          <p:nvSpPr>
            <p:cNvPr name="TextBox 23" id="23"/>
            <p:cNvSpPr txBox="true"/>
            <p:nvPr/>
          </p:nvSpPr>
          <p:spPr>
            <a:xfrm>
              <a:off x="0" y="-28575"/>
              <a:ext cx="12687300" cy="1285875"/>
            </a:xfrm>
            <a:prstGeom prst="rect">
              <a:avLst/>
            </a:prstGeom>
          </p:spPr>
          <p:txBody>
            <a:bodyPr anchor="ctr" rtlCol="false" tIns="50800" lIns="50800" bIns="50800" rIns="50800"/>
            <a:lstStyle/>
            <a:p>
              <a:pPr algn="ctr">
                <a:lnSpc>
                  <a:spcPts val="3839"/>
                </a:lnSpc>
              </a:pPr>
              <a:r>
                <a:rPr lang="en-US" sz="3199">
                  <a:solidFill>
                    <a:srgbClr val="FFFFFF"/>
                  </a:solidFill>
                  <a:latin typeface="Arial"/>
                  <a:ea typeface="Arial"/>
                  <a:cs typeface="Arial"/>
                  <a:sym typeface="Arial"/>
                </a:rPr>
                <a:t>Đọc Parquet → mã hóa và đóng gói đặc trưng</a:t>
              </a:r>
            </a:p>
          </p:txBody>
        </p:sp>
      </p:grpSp>
      <p:grpSp>
        <p:nvGrpSpPr>
          <p:cNvPr name="Group 24" id="24"/>
          <p:cNvGrpSpPr/>
          <p:nvPr/>
        </p:nvGrpSpPr>
        <p:grpSpPr>
          <a:xfrm rot="0">
            <a:off x="7779544" y="7160419"/>
            <a:ext cx="9515475" cy="942975"/>
            <a:chOff x="0" y="0"/>
            <a:chExt cx="12687300" cy="1257300"/>
          </a:xfrm>
        </p:grpSpPr>
        <p:sp>
          <p:nvSpPr>
            <p:cNvPr name="Freeform 25" id="25"/>
            <p:cNvSpPr/>
            <p:nvPr/>
          </p:nvSpPr>
          <p:spPr>
            <a:xfrm flipH="false" flipV="false" rot="0">
              <a:off x="0" y="0"/>
              <a:ext cx="12687300" cy="1257300"/>
            </a:xfrm>
            <a:custGeom>
              <a:avLst/>
              <a:gdLst/>
              <a:ahLst/>
              <a:cxnLst/>
              <a:rect r="r" b="b" t="t" l="l"/>
              <a:pathLst>
                <a:path h="1257300" w="12687300">
                  <a:moveTo>
                    <a:pt x="0" y="0"/>
                  </a:moveTo>
                  <a:lnTo>
                    <a:pt x="12687300" y="0"/>
                  </a:lnTo>
                  <a:lnTo>
                    <a:pt x="12687300" y="1257300"/>
                  </a:lnTo>
                  <a:lnTo>
                    <a:pt x="0" y="1257300"/>
                  </a:lnTo>
                  <a:close/>
                </a:path>
              </a:pathLst>
            </a:custGeom>
            <a:solidFill>
              <a:srgbClr val="2072B7"/>
            </a:solidFill>
            <a:ln w="14288" cap="sq">
              <a:solidFill>
                <a:srgbClr val="2072B7"/>
              </a:solidFill>
              <a:prstDash val="solid"/>
              <a:miter/>
            </a:ln>
          </p:spPr>
        </p:sp>
        <p:sp>
          <p:nvSpPr>
            <p:cNvPr name="TextBox 26" id="26"/>
            <p:cNvSpPr txBox="true"/>
            <p:nvPr/>
          </p:nvSpPr>
          <p:spPr>
            <a:xfrm>
              <a:off x="0" y="-28575"/>
              <a:ext cx="12687300" cy="1285875"/>
            </a:xfrm>
            <a:prstGeom prst="rect">
              <a:avLst/>
            </a:prstGeom>
          </p:spPr>
          <p:txBody>
            <a:bodyPr anchor="ctr" rtlCol="false" tIns="50800" lIns="50800" bIns="50800" rIns="50800"/>
            <a:lstStyle/>
            <a:p>
              <a:pPr algn="ctr">
                <a:lnSpc>
                  <a:spcPts val="3839"/>
                </a:lnSpc>
              </a:pPr>
              <a:r>
                <a:rPr lang="en-US" sz="2700">
                  <a:solidFill>
                    <a:srgbClr val="FFFFFF"/>
                  </a:solidFill>
                  <a:latin typeface="Arial"/>
                  <a:ea typeface="Arial"/>
                  <a:cs typeface="Arial"/>
                  <a:sym typeface="Arial"/>
                </a:rPr>
                <a:t>Chia tập → huấn luyện → đánh giá và lưu kết quả</a:t>
              </a:r>
            </a:p>
          </p:txBody>
        </p:sp>
      </p:grpSp>
      <p:sp>
        <p:nvSpPr>
          <p:cNvPr name="TextBox 27" id="2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18</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668"/>
            <a:ext cx="18288000" cy="1070038"/>
            <a:chOff x="0" y="0"/>
            <a:chExt cx="24384000" cy="1426718"/>
          </a:xfrm>
        </p:grpSpPr>
        <p:sp>
          <p:nvSpPr>
            <p:cNvPr name="Freeform 3" id="3"/>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2072B7"/>
            </a:solidFill>
          </p:spPr>
        </p:sp>
      </p:grpSp>
      <p:grpSp>
        <p:nvGrpSpPr>
          <p:cNvPr name="Group 4" id="4"/>
          <p:cNvGrpSpPr/>
          <p:nvPr/>
        </p:nvGrpSpPr>
        <p:grpSpPr>
          <a:xfrm rot="0">
            <a:off x="477926" y="3334"/>
            <a:ext cx="4935598" cy="1027605"/>
            <a:chOff x="0" y="0"/>
            <a:chExt cx="6580797" cy="1370140"/>
          </a:xfrm>
        </p:grpSpPr>
        <p:sp>
          <p:nvSpPr>
            <p:cNvPr name="Freeform 5" id="5"/>
            <p:cNvSpPr/>
            <p:nvPr/>
          </p:nvSpPr>
          <p:spPr>
            <a:xfrm flipH="false" flipV="false" rot="0">
              <a:off x="0" y="0"/>
              <a:ext cx="6580759" cy="1370203"/>
            </a:xfrm>
            <a:custGeom>
              <a:avLst/>
              <a:gdLst/>
              <a:ahLst/>
              <a:cxnLst/>
              <a:rect r="r" b="b" t="t" l="l"/>
              <a:pathLst>
                <a:path h="1370203" w="6580759">
                  <a:moveTo>
                    <a:pt x="0" y="0"/>
                  </a:moveTo>
                  <a:lnTo>
                    <a:pt x="6580759" y="0"/>
                  </a:lnTo>
                  <a:lnTo>
                    <a:pt x="6580759" y="1370203"/>
                  </a:lnTo>
                  <a:lnTo>
                    <a:pt x="0" y="1370203"/>
                  </a:lnTo>
                  <a:lnTo>
                    <a:pt x="0" y="0"/>
                  </a:lnTo>
                  <a:close/>
                </a:path>
              </a:pathLst>
            </a:custGeom>
            <a:blipFill>
              <a:blip r:embed="rId3"/>
              <a:stretch>
                <a:fillRect l="-191" t="0" r="-192" b="4"/>
              </a:stretch>
            </a:blipFill>
          </p:spPr>
        </p:sp>
      </p:grpSp>
      <p:grpSp>
        <p:nvGrpSpPr>
          <p:cNvPr name="Group 6" id="6"/>
          <p:cNvGrpSpPr/>
          <p:nvPr/>
        </p:nvGrpSpPr>
        <p:grpSpPr>
          <a:xfrm rot="0">
            <a:off x="2663190" y="10082212"/>
            <a:ext cx="15624810" cy="204845"/>
            <a:chOff x="0" y="0"/>
            <a:chExt cx="20833080" cy="273126"/>
          </a:xfrm>
        </p:grpSpPr>
        <p:sp>
          <p:nvSpPr>
            <p:cNvPr name="Freeform 7" id="7"/>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2072B7"/>
            </a:solidFill>
          </p:spPr>
        </p:sp>
      </p:grpSp>
      <p:grpSp>
        <p:nvGrpSpPr>
          <p:cNvPr name="Group 8" id="8"/>
          <p:cNvGrpSpPr/>
          <p:nvPr/>
        </p:nvGrpSpPr>
        <p:grpSpPr>
          <a:xfrm rot="0">
            <a:off x="2743238" y="10108759"/>
            <a:ext cx="15544724" cy="152705"/>
            <a:chOff x="0" y="0"/>
            <a:chExt cx="20726298" cy="203606"/>
          </a:xfrm>
        </p:grpSpPr>
        <p:sp>
          <p:nvSpPr>
            <p:cNvPr name="Freeform 9" id="9"/>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4"/>
              <a:stretch>
                <a:fillRect l="0" t="0" r="0" b="-35745"/>
              </a:stretch>
            </a:blipFill>
          </p:spPr>
        </p:sp>
      </p:grpSp>
      <p:sp>
        <p:nvSpPr>
          <p:cNvPr name="TextBox 10" id="10"/>
          <p:cNvSpPr txBox="true"/>
          <p:nvPr/>
        </p:nvSpPr>
        <p:spPr>
          <a:xfrm rot="0">
            <a:off x="302009" y="10002231"/>
            <a:ext cx="2254501" cy="327536"/>
          </a:xfrm>
          <a:prstGeom prst="rect">
            <a:avLst/>
          </a:prstGeom>
        </p:spPr>
        <p:txBody>
          <a:bodyPr anchor="t" rtlCol="false" tIns="0" lIns="0" bIns="0" rIns="0">
            <a:spAutoFit/>
          </a:bodyPr>
          <a:lstStyle/>
          <a:p>
            <a:pPr algn="l">
              <a:lnSpc>
                <a:spcPts val="1800"/>
              </a:lnSpc>
            </a:pPr>
            <a:r>
              <a:rPr lang="en-US" sz="1500">
                <a:solidFill>
                  <a:srgbClr val="0070C0"/>
                </a:solidFill>
                <a:latin typeface="Calibri (MS)"/>
                <a:ea typeface="Calibri (MS)"/>
                <a:cs typeface="Calibri (MS)"/>
                <a:sym typeface="Calibri (MS)"/>
              </a:rPr>
              <a:t>https://huit.edu.vn</a:t>
            </a:r>
          </a:p>
        </p:txBody>
      </p:sp>
      <p:sp>
        <p:nvSpPr>
          <p:cNvPr name="AutoShape 11" id="11"/>
          <p:cNvSpPr/>
          <p:nvPr/>
        </p:nvSpPr>
        <p:spPr>
          <a:xfrm>
            <a:off x="4722019" y="5464969"/>
            <a:ext cx="1271588" cy="2028058"/>
          </a:xfrm>
          <a:prstGeom prst="line">
            <a:avLst/>
          </a:prstGeom>
          <a:ln cap="rnd" w="19050">
            <a:solidFill>
              <a:srgbClr val="2072B7"/>
            </a:solidFill>
            <a:prstDash val="solid"/>
            <a:headEnd type="none" len="sm" w="sm"/>
            <a:tailEnd type="none" len="sm" w="sm"/>
          </a:ln>
        </p:spPr>
      </p:sp>
      <p:sp>
        <p:nvSpPr>
          <p:cNvPr name="AutoShape 12" id="12"/>
          <p:cNvSpPr/>
          <p:nvPr/>
        </p:nvSpPr>
        <p:spPr>
          <a:xfrm flipV="true">
            <a:off x="4722019" y="4532709"/>
            <a:ext cx="1271588" cy="932259"/>
          </a:xfrm>
          <a:prstGeom prst="line">
            <a:avLst/>
          </a:prstGeom>
          <a:ln cap="rnd" w="19050">
            <a:solidFill>
              <a:srgbClr val="2072B7"/>
            </a:solidFill>
            <a:prstDash val="solid"/>
            <a:headEnd type="none" len="sm" w="sm"/>
            <a:tailEnd type="none" len="sm" w="sm"/>
          </a:ln>
        </p:spPr>
      </p:sp>
      <p:sp>
        <p:nvSpPr>
          <p:cNvPr name="TextBox 13" id="13"/>
          <p:cNvSpPr txBox="true"/>
          <p:nvPr/>
        </p:nvSpPr>
        <p:spPr>
          <a:xfrm rot="0">
            <a:off x="857250" y="1457325"/>
            <a:ext cx="16430625" cy="838200"/>
          </a:xfrm>
          <a:prstGeom prst="rect">
            <a:avLst/>
          </a:prstGeom>
        </p:spPr>
        <p:txBody>
          <a:bodyPr anchor="t" rtlCol="false" tIns="0" lIns="0" bIns="0" rIns="0">
            <a:spAutoFit/>
          </a:bodyPr>
          <a:lstStyle/>
          <a:p>
            <a:pPr algn="l">
              <a:lnSpc>
                <a:spcPts val="6434"/>
              </a:lnSpc>
            </a:pPr>
            <a:r>
              <a:rPr lang="en-US" sz="5362" b="true">
                <a:solidFill>
                  <a:srgbClr val="2072B7"/>
                </a:solidFill>
                <a:latin typeface="Arial Bold"/>
                <a:ea typeface="Arial Bold"/>
                <a:cs typeface="Arial Bold"/>
                <a:sym typeface="Arial Bold"/>
              </a:rPr>
              <a:t>Cụm ba máy qua Tailscale</a:t>
            </a:r>
          </a:p>
        </p:txBody>
      </p:sp>
      <p:sp>
        <p:nvSpPr>
          <p:cNvPr name="TextBox 14" id="14"/>
          <p:cNvSpPr txBox="true"/>
          <p:nvPr/>
        </p:nvSpPr>
        <p:spPr>
          <a:xfrm rot="0">
            <a:off x="857250" y="2324100"/>
            <a:ext cx="16573500" cy="609600"/>
          </a:xfrm>
          <a:prstGeom prst="rect">
            <a:avLst/>
          </a:prstGeom>
        </p:spPr>
        <p:txBody>
          <a:bodyPr anchor="t" rtlCol="false" tIns="0" lIns="0" bIns="0" rIns="0">
            <a:spAutoFit/>
          </a:bodyPr>
          <a:lstStyle/>
          <a:p>
            <a:pPr algn="l">
              <a:lnSpc>
                <a:spcPts val="4679"/>
              </a:lnSpc>
            </a:pPr>
            <a:r>
              <a:rPr lang="en-US" sz="3899" b="true">
                <a:solidFill>
                  <a:srgbClr val="174C7E"/>
                </a:solidFill>
                <a:latin typeface="Arial Bold"/>
                <a:ea typeface="Arial Bold"/>
                <a:cs typeface="Arial Bold"/>
                <a:sym typeface="Arial Bold"/>
              </a:rPr>
              <a:t>Master quản lý tài nguyên, Driver điều phối tác vụ của ứng dụng</a:t>
            </a:r>
          </a:p>
        </p:txBody>
      </p:sp>
      <p:sp>
        <p:nvSpPr>
          <p:cNvPr name="TextBox 15" id="15"/>
          <p:cNvSpPr txBox="true"/>
          <p:nvPr/>
        </p:nvSpPr>
        <p:spPr>
          <a:xfrm rot="0">
            <a:off x="11430000" y="3338512"/>
            <a:ext cx="6072188" cy="1295400"/>
          </a:xfrm>
          <a:prstGeom prst="rect">
            <a:avLst/>
          </a:prstGeom>
        </p:spPr>
        <p:txBody>
          <a:bodyPr anchor="t" rtlCol="false" tIns="0" lIns="0" bIns="0" rIns="0">
            <a:spAutoFit/>
          </a:bodyPr>
          <a:lstStyle/>
          <a:p>
            <a:pPr algn="l">
              <a:lnSpc>
                <a:spcPts val="5084"/>
              </a:lnSpc>
            </a:pPr>
            <a:r>
              <a:rPr lang="en-US" sz="4237">
                <a:solidFill>
                  <a:srgbClr val="202D39"/>
                </a:solidFill>
                <a:latin typeface="Arial"/>
                <a:ea typeface="Arial"/>
                <a:cs typeface="Arial"/>
                <a:sym typeface="Arial"/>
              </a:rPr>
              <a:t>Master cấp và quản lý tài nguyên trong cụm.</a:t>
            </a:r>
          </a:p>
        </p:txBody>
      </p:sp>
      <p:sp>
        <p:nvSpPr>
          <p:cNvPr name="TextBox 16" id="16"/>
          <p:cNvSpPr txBox="true"/>
          <p:nvPr/>
        </p:nvSpPr>
        <p:spPr>
          <a:xfrm rot="0">
            <a:off x="11430000" y="4981575"/>
            <a:ext cx="6072188" cy="1295400"/>
          </a:xfrm>
          <a:prstGeom prst="rect">
            <a:avLst/>
          </a:prstGeom>
        </p:spPr>
        <p:txBody>
          <a:bodyPr anchor="t" rtlCol="false" tIns="0" lIns="0" bIns="0" rIns="0">
            <a:spAutoFit/>
          </a:bodyPr>
          <a:lstStyle/>
          <a:p>
            <a:pPr algn="l">
              <a:lnSpc>
                <a:spcPts val="5084"/>
              </a:lnSpc>
            </a:pPr>
            <a:r>
              <a:rPr lang="en-US" sz="4237">
                <a:solidFill>
                  <a:srgbClr val="202D39"/>
                </a:solidFill>
                <a:latin typeface="Arial"/>
                <a:ea typeface="Arial"/>
                <a:cs typeface="Arial"/>
                <a:sym typeface="Arial"/>
              </a:rPr>
              <a:t>Driver lập kế hoạch, gửi tác vụ và nhận kết quả.</a:t>
            </a:r>
          </a:p>
        </p:txBody>
      </p:sp>
      <p:sp>
        <p:nvSpPr>
          <p:cNvPr name="TextBox 17" id="17"/>
          <p:cNvSpPr txBox="true"/>
          <p:nvPr/>
        </p:nvSpPr>
        <p:spPr>
          <a:xfrm rot="0">
            <a:off x="11430000" y="6624638"/>
            <a:ext cx="6072188" cy="1933575"/>
          </a:xfrm>
          <a:prstGeom prst="rect">
            <a:avLst/>
          </a:prstGeom>
        </p:spPr>
        <p:txBody>
          <a:bodyPr anchor="t" rtlCol="false" tIns="0" lIns="0" bIns="0" rIns="0">
            <a:spAutoFit/>
          </a:bodyPr>
          <a:lstStyle/>
          <a:p>
            <a:pPr algn="l">
              <a:lnSpc>
                <a:spcPts val="5084"/>
              </a:lnSpc>
            </a:pPr>
            <a:r>
              <a:rPr lang="en-US" sz="3000">
                <a:solidFill>
                  <a:srgbClr val="202D39"/>
                </a:solidFill>
                <a:latin typeface="Arial"/>
                <a:ea typeface="Arial"/>
                <a:cs typeface="Arial"/>
                <a:sym typeface="Arial"/>
              </a:rPr>
              <a:t>Executor huấn luyện và dự đoán trên các phân vùng dữ liệu.</a:t>
            </a:r>
          </a:p>
        </p:txBody>
      </p:sp>
      <p:grpSp>
        <p:nvGrpSpPr>
          <p:cNvPr name="Group 18" id="18"/>
          <p:cNvGrpSpPr/>
          <p:nvPr/>
        </p:nvGrpSpPr>
        <p:grpSpPr>
          <a:xfrm rot="0">
            <a:off x="778669" y="3350419"/>
            <a:ext cx="3943350" cy="4229100"/>
            <a:chOff x="0" y="0"/>
            <a:chExt cx="5257800" cy="5638800"/>
          </a:xfrm>
        </p:grpSpPr>
        <p:sp>
          <p:nvSpPr>
            <p:cNvPr name="Freeform 19" id="19"/>
            <p:cNvSpPr/>
            <p:nvPr/>
          </p:nvSpPr>
          <p:spPr>
            <a:xfrm flipH="false" flipV="false" rot="0">
              <a:off x="0" y="0"/>
              <a:ext cx="5257800" cy="5638800"/>
            </a:xfrm>
            <a:custGeom>
              <a:avLst/>
              <a:gdLst/>
              <a:ahLst/>
              <a:cxnLst/>
              <a:rect r="r" b="b" t="t" l="l"/>
              <a:pathLst>
                <a:path h="5638800" w="5257800">
                  <a:moveTo>
                    <a:pt x="0" y="0"/>
                  </a:moveTo>
                  <a:lnTo>
                    <a:pt x="5257800" y="0"/>
                  </a:lnTo>
                  <a:lnTo>
                    <a:pt x="5257800" y="5638800"/>
                  </a:lnTo>
                  <a:lnTo>
                    <a:pt x="0" y="5638800"/>
                  </a:lnTo>
                  <a:close/>
                </a:path>
              </a:pathLst>
            </a:custGeom>
            <a:solidFill>
              <a:srgbClr val="EDF5FB"/>
            </a:solidFill>
            <a:ln w="14288" cap="sq">
              <a:solidFill>
                <a:srgbClr val="B9D2E7"/>
              </a:solidFill>
              <a:prstDash val="solid"/>
              <a:miter/>
            </a:ln>
          </p:spPr>
        </p:sp>
      </p:grpSp>
      <p:grpSp>
        <p:nvGrpSpPr>
          <p:cNvPr name="Group 20" id="20"/>
          <p:cNvGrpSpPr/>
          <p:nvPr/>
        </p:nvGrpSpPr>
        <p:grpSpPr>
          <a:xfrm rot="0">
            <a:off x="5993606" y="3350419"/>
            <a:ext cx="4425780" cy="2364581"/>
            <a:chOff x="0" y="0"/>
            <a:chExt cx="5924550" cy="3165336"/>
          </a:xfrm>
        </p:grpSpPr>
        <p:sp>
          <p:nvSpPr>
            <p:cNvPr name="Freeform 21" id="21"/>
            <p:cNvSpPr/>
            <p:nvPr/>
          </p:nvSpPr>
          <p:spPr>
            <a:xfrm flipH="false" flipV="false" rot="0">
              <a:off x="0" y="0"/>
              <a:ext cx="5924550" cy="3165336"/>
            </a:xfrm>
            <a:custGeom>
              <a:avLst/>
              <a:gdLst/>
              <a:ahLst/>
              <a:cxnLst/>
              <a:rect r="r" b="b" t="t" l="l"/>
              <a:pathLst>
                <a:path h="3165336" w="5924550">
                  <a:moveTo>
                    <a:pt x="0" y="0"/>
                  </a:moveTo>
                  <a:lnTo>
                    <a:pt x="5924550" y="0"/>
                  </a:lnTo>
                  <a:lnTo>
                    <a:pt x="5924550" y="3165336"/>
                  </a:lnTo>
                  <a:lnTo>
                    <a:pt x="0" y="3165336"/>
                  </a:lnTo>
                  <a:close/>
                </a:path>
              </a:pathLst>
            </a:custGeom>
            <a:solidFill>
              <a:srgbClr val="EDF5FB"/>
            </a:solidFill>
            <a:ln w="14288" cap="sq">
              <a:solidFill>
                <a:srgbClr val="B9D2E7"/>
              </a:solidFill>
              <a:prstDash val="solid"/>
              <a:miter/>
            </a:ln>
          </p:spPr>
        </p:sp>
      </p:grpSp>
      <p:grpSp>
        <p:nvGrpSpPr>
          <p:cNvPr name="Group 22" id="22"/>
          <p:cNvGrpSpPr/>
          <p:nvPr/>
        </p:nvGrpSpPr>
        <p:grpSpPr>
          <a:xfrm rot="0">
            <a:off x="5993606" y="6271135"/>
            <a:ext cx="4521994" cy="2443785"/>
            <a:chOff x="0" y="0"/>
            <a:chExt cx="5188329" cy="2803887"/>
          </a:xfrm>
        </p:grpSpPr>
        <p:sp>
          <p:nvSpPr>
            <p:cNvPr name="Freeform 23" id="23"/>
            <p:cNvSpPr/>
            <p:nvPr/>
          </p:nvSpPr>
          <p:spPr>
            <a:xfrm flipH="false" flipV="false" rot="0">
              <a:off x="0" y="0"/>
              <a:ext cx="5188329" cy="2803887"/>
            </a:xfrm>
            <a:custGeom>
              <a:avLst/>
              <a:gdLst/>
              <a:ahLst/>
              <a:cxnLst/>
              <a:rect r="r" b="b" t="t" l="l"/>
              <a:pathLst>
                <a:path h="2803887" w="5188329">
                  <a:moveTo>
                    <a:pt x="0" y="0"/>
                  </a:moveTo>
                  <a:lnTo>
                    <a:pt x="5188329" y="0"/>
                  </a:lnTo>
                  <a:lnTo>
                    <a:pt x="5188329" y="2803887"/>
                  </a:lnTo>
                  <a:lnTo>
                    <a:pt x="0" y="2803887"/>
                  </a:lnTo>
                  <a:close/>
                </a:path>
              </a:pathLst>
            </a:custGeom>
            <a:solidFill>
              <a:srgbClr val="EDF5FB"/>
            </a:solidFill>
            <a:ln w="14288" cap="sq">
              <a:solidFill>
                <a:srgbClr val="B9D2E7"/>
              </a:solidFill>
              <a:prstDash val="solid"/>
              <a:miter/>
            </a:ln>
          </p:spPr>
        </p:sp>
      </p:grpSp>
      <p:sp>
        <p:nvSpPr>
          <p:cNvPr name="TextBox 24" id="24"/>
          <p:cNvSpPr txBox="true"/>
          <p:nvPr/>
        </p:nvSpPr>
        <p:spPr>
          <a:xfrm rot="0">
            <a:off x="1042988" y="3538538"/>
            <a:ext cx="1513523" cy="609600"/>
          </a:xfrm>
          <a:prstGeom prst="rect">
            <a:avLst/>
          </a:prstGeom>
        </p:spPr>
        <p:txBody>
          <a:bodyPr anchor="t" rtlCol="false" tIns="0" lIns="0" bIns="0" rIns="0">
            <a:spAutoFit/>
          </a:bodyPr>
          <a:lstStyle/>
          <a:p>
            <a:pPr algn="l">
              <a:lnSpc>
                <a:spcPts val="4679"/>
              </a:lnSpc>
            </a:pPr>
            <a:r>
              <a:rPr lang="en-US" sz="3899" b="true">
                <a:solidFill>
                  <a:srgbClr val="2072B7"/>
                </a:solidFill>
                <a:latin typeface="Arial Bold"/>
                <a:ea typeface="Arial Bold"/>
                <a:cs typeface="Arial Bold"/>
                <a:sym typeface="Arial Bold"/>
              </a:rPr>
              <a:t>MÁY 1</a:t>
            </a:r>
          </a:p>
        </p:txBody>
      </p:sp>
      <p:grpSp>
        <p:nvGrpSpPr>
          <p:cNvPr name="Group 25" id="25"/>
          <p:cNvGrpSpPr/>
          <p:nvPr/>
        </p:nvGrpSpPr>
        <p:grpSpPr>
          <a:xfrm rot="0">
            <a:off x="1021556" y="4179094"/>
            <a:ext cx="3443288" cy="858909"/>
            <a:chOff x="0" y="0"/>
            <a:chExt cx="4591050" cy="1145212"/>
          </a:xfrm>
        </p:grpSpPr>
        <p:sp>
          <p:nvSpPr>
            <p:cNvPr name="Freeform 26" id="26"/>
            <p:cNvSpPr/>
            <p:nvPr/>
          </p:nvSpPr>
          <p:spPr>
            <a:xfrm flipH="false" flipV="false" rot="0">
              <a:off x="0" y="0"/>
              <a:ext cx="4591050" cy="1145212"/>
            </a:xfrm>
            <a:custGeom>
              <a:avLst/>
              <a:gdLst/>
              <a:ahLst/>
              <a:cxnLst/>
              <a:rect r="r" b="b" t="t" l="l"/>
              <a:pathLst>
                <a:path h="1145212" w="4591050">
                  <a:moveTo>
                    <a:pt x="0" y="0"/>
                  </a:moveTo>
                  <a:lnTo>
                    <a:pt x="4591050" y="0"/>
                  </a:lnTo>
                  <a:lnTo>
                    <a:pt x="4591050" y="1145212"/>
                  </a:lnTo>
                  <a:lnTo>
                    <a:pt x="0" y="1145212"/>
                  </a:lnTo>
                  <a:close/>
                </a:path>
              </a:pathLst>
            </a:custGeom>
            <a:solidFill>
              <a:srgbClr val="2072B7"/>
            </a:solidFill>
            <a:ln w="14288" cap="sq">
              <a:solidFill>
                <a:srgbClr val="2072B7"/>
              </a:solidFill>
              <a:prstDash val="solid"/>
              <a:miter/>
            </a:ln>
          </p:spPr>
        </p:sp>
        <p:sp>
          <p:nvSpPr>
            <p:cNvPr name="TextBox 27" id="27"/>
            <p:cNvSpPr txBox="true"/>
            <p:nvPr/>
          </p:nvSpPr>
          <p:spPr>
            <a:xfrm>
              <a:off x="0" y="-28575"/>
              <a:ext cx="4591050" cy="1173787"/>
            </a:xfrm>
            <a:prstGeom prst="rect">
              <a:avLst/>
            </a:prstGeom>
          </p:spPr>
          <p:txBody>
            <a:bodyPr anchor="ctr" rtlCol="false" tIns="50800" lIns="50800" bIns="50800" rIns="50800"/>
            <a:lstStyle/>
            <a:p>
              <a:pPr algn="ctr">
                <a:lnSpc>
                  <a:spcPts val="4409"/>
                </a:lnSpc>
              </a:pPr>
              <a:r>
                <a:rPr lang="en-US" sz="3674">
                  <a:solidFill>
                    <a:srgbClr val="FFFFFF"/>
                  </a:solidFill>
                  <a:latin typeface="Arial"/>
                  <a:ea typeface="Arial"/>
                  <a:cs typeface="Arial"/>
                  <a:sym typeface="Arial"/>
                </a:rPr>
                <a:t>Spark Master</a:t>
              </a:r>
            </a:p>
          </p:txBody>
        </p:sp>
      </p:grpSp>
      <p:grpSp>
        <p:nvGrpSpPr>
          <p:cNvPr name="Group 28" id="28"/>
          <p:cNvGrpSpPr/>
          <p:nvPr/>
        </p:nvGrpSpPr>
        <p:grpSpPr>
          <a:xfrm rot="0">
            <a:off x="1021556" y="5050631"/>
            <a:ext cx="3443288" cy="858909"/>
            <a:chOff x="0" y="0"/>
            <a:chExt cx="4591050" cy="1145212"/>
          </a:xfrm>
        </p:grpSpPr>
        <p:sp>
          <p:nvSpPr>
            <p:cNvPr name="Freeform 29" id="29"/>
            <p:cNvSpPr/>
            <p:nvPr/>
          </p:nvSpPr>
          <p:spPr>
            <a:xfrm flipH="false" flipV="false" rot="0">
              <a:off x="0" y="0"/>
              <a:ext cx="4591050" cy="1145212"/>
            </a:xfrm>
            <a:custGeom>
              <a:avLst/>
              <a:gdLst/>
              <a:ahLst/>
              <a:cxnLst/>
              <a:rect r="r" b="b" t="t" l="l"/>
              <a:pathLst>
                <a:path h="1145212" w="4591050">
                  <a:moveTo>
                    <a:pt x="0" y="0"/>
                  </a:moveTo>
                  <a:lnTo>
                    <a:pt x="4591050" y="0"/>
                  </a:lnTo>
                  <a:lnTo>
                    <a:pt x="4591050" y="1145212"/>
                  </a:lnTo>
                  <a:lnTo>
                    <a:pt x="0" y="1145212"/>
                  </a:lnTo>
                  <a:close/>
                </a:path>
              </a:pathLst>
            </a:custGeom>
            <a:solidFill>
              <a:srgbClr val="174C7E"/>
            </a:solidFill>
            <a:ln w="14288" cap="sq">
              <a:solidFill>
                <a:srgbClr val="174C7E"/>
              </a:solidFill>
              <a:prstDash val="solid"/>
              <a:miter/>
            </a:ln>
          </p:spPr>
        </p:sp>
        <p:sp>
          <p:nvSpPr>
            <p:cNvPr name="TextBox 30" id="30"/>
            <p:cNvSpPr txBox="true"/>
            <p:nvPr/>
          </p:nvSpPr>
          <p:spPr>
            <a:xfrm>
              <a:off x="0" y="-28575"/>
              <a:ext cx="4591050" cy="1173787"/>
            </a:xfrm>
            <a:prstGeom prst="rect">
              <a:avLst/>
            </a:prstGeom>
          </p:spPr>
          <p:txBody>
            <a:bodyPr anchor="ctr" rtlCol="false" tIns="50800" lIns="50800" bIns="50800" rIns="50800"/>
            <a:lstStyle/>
            <a:p>
              <a:pPr algn="ctr">
                <a:lnSpc>
                  <a:spcPts val="4409"/>
                </a:lnSpc>
              </a:pPr>
              <a:r>
                <a:rPr lang="en-US" sz="3674">
                  <a:solidFill>
                    <a:srgbClr val="FFFFFF"/>
                  </a:solidFill>
                  <a:latin typeface="Arial"/>
                  <a:ea typeface="Arial"/>
                  <a:cs typeface="Arial"/>
                  <a:sym typeface="Arial"/>
                </a:rPr>
                <a:t>Driver</a:t>
              </a:r>
            </a:p>
          </p:txBody>
        </p:sp>
      </p:grpSp>
      <p:grpSp>
        <p:nvGrpSpPr>
          <p:cNvPr name="Group 31" id="31"/>
          <p:cNvGrpSpPr/>
          <p:nvPr/>
        </p:nvGrpSpPr>
        <p:grpSpPr>
          <a:xfrm rot="0">
            <a:off x="1021556" y="5922169"/>
            <a:ext cx="3443288" cy="1448047"/>
            <a:chOff x="0" y="0"/>
            <a:chExt cx="4591050" cy="1930730"/>
          </a:xfrm>
        </p:grpSpPr>
        <p:sp>
          <p:nvSpPr>
            <p:cNvPr name="Freeform 32" id="32"/>
            <p:cNvSpPr/>
            <p:nvPr/>
          </p:nvSpPr>
          <p:spPr>
            <a:xfrm flipH="false" flipV="false" rot="0">
              <a:off x="0" y="0"/>
              <a:ext cx="4591050" cy="1930730"/>
            </a:xfrm>
            <a:custGeom>
              <a:avLst/>
              <a:gdLst/>
              <a:ahLst/>
              <a:cxnLst/>
              <a:rect r="r" b="b" t="t" l="l"/>
              <a:pathLst>
                <a:path h="1930730" w="4591050">
                  <a:moveTo>
                    <a:pt x="0" y="0"/>
                  </a:moveTo>
                  <a:lnTo>
                    <a:pt x="4591050" y="0"/>
                  </a:lnTo>
                  <a:lnTo>
                    <a:pt x="4591050" y="1930730"/>
                  </a:lnTo>
                  <a:lnTo>
                    <a:pt x="0" y="1930730"/>
                  </a:lnTo>
                  <a:close/>
                </a:path>
              </a:pathLst>
            </a:custGeom>
            <a:solidFill>
              <a:srgbClr val="EDF5FB"/>
            </a:solidFill>
            <a:ln w="14288" cap="sq">
              <a:solidFill>
                <a:srgbClr val="B9D2E7"/>
              </a:solidFill>
              <a:prstDash val="solid"/>
              <a:miter/>
            </a:ln>
          </p:spPr>
        </p:sp>
      </p:grpSp>
      <p:sp>
        <p:nvSpPr>
          <p:cNvPr name="TextBox 33" id="33"/>
          <p:cNvSpPr txBox="true"/>
          <p:nvPr/>
        </p:nvSpPr>
        <p:spPr>
          <a:xfrm rot="0">
            <a:off x="1243012" y="6015037"/>
            <a:ext cx="3000375" cy="581025"/>
          </a:xfrm>
          <a:prstGeom prst="rect">
            <a:avLst/>
          </a:prstGeom>
        </p:spPr>
        <p:txBody>
          <a:bodyPr anchor="t" rtlCol="false" tIns="0" lIns="0" bIns="0" rIns="0">
            <a:spAutoFit/>
          </a:bodyPr>
          <a:lstStyle/>
          <a:p>
            <a:pPr algn="l">
              <a:lnSpc>
                <a:spcPts val="4409"/>
              </a:lnSpc>
            </a:pPr>
            <a:r>
              <a:rPr lang="en-US" sz="3674" b="true">
                <a:solidFill>
                  <a:srgbClr val="2072B7"/>
                </a:solidFill>
                <a:latin typeface="Arial Bold"/>
                <a:ea typeface="Arial Bold"/>
                <a:cs typeface="Arial Bold"/>
                <a:sym typeface="Arial Bold"/>
              </a:rPr>
              <a:t>Worker 1</a:t>
            </a:r>
          </a:p>
        </p:txBody>
      </p:sp>
      <p:grpSp>
        <p:nvGrpSpPr>
          <p:cNvPr name="Group 34" id="34"/>
          <p:cNvGrpSpPr/>
          <p:nvPr/>
        </p:nvGrpSpPr>
        <p:grpSpPr>
          <a:xfrm rot="0">
            <a:off x="1235869" y="6536531"/>
            <a:ext cx="3014662" cy="833685"/>
            <a:chOff x="0" y="0"/>
            <a:chExt cx="4019550" cy="1111580"/>
          </a:xfrm>
        </p:grpSpPr>
        <p:sp>
          <p:nvSpPr>
            <p:cNvPr name="Freeform 35" id="35"/>
            <p:cNvSpPr/>
            <p:nvPr/>
          </p:nvSpPr>
          <p:spPr>
            <a:xfrm flipH="false" flipV="false" rot="0">
              <a:off x="0" y="0"/>
              <a:ext cx="4019550" cy="1111580"/>
            </a:xfrm>
            <a:custGeom>
              <a:avLst/>
              <a:gdLst/>
              <a:ahLst/>
              <a:cxnLst/>
              <a:rect r="r" b="b" t="t" l="l"/>
              <a:pathLst>
                <a:path h="1111580" w="4019550">
                  <a:moveTo>
                    <a:pt x="0" y="0"/>
                  </a:moveTo>
                  <a:lnTo>
                    <a:pt x="4019550" y="0"/>
                  </a:lnTo>
                  <a:lnTo>
                    <a:pt x="4019550" y="1111580"/>
                  </a:lnTo>
                  <a:lnTo>
                    <a:pt x="0" y="1111580"/>
                  </a:lnTo>
                  <a:close/>
                </a:path>
              </a:pathLst>
            </a:custGeom>
            <a:solidFill>
              <a:srgbClr val="2072B7"/>
            </a:solidFill>
            <a:ln w="14288" cap="sq">
              <a:solidFill>
                <a:srgbClr val="2072B7"/>
              </a:solidFill>
              <a:prstDash val="solid"/>
              <a:miter/>
            </a:ln>
          </p:spPr>
        </p:sp>
        <p:sp>
          <p:nvSpPr>
            <p:cNvPr name="TextBox 36" id="36"/>
            <p:cNvSpPr txBox="true"/>
            <p:nvPr/>
          </p:nvSpPr>
          <p:spPr>
            <a:xfrm>
              <a:off x="0" y="-19050"/>
              <a:ext cx="4019550" cy="1130630"/>
            </a:xfrm>
            <a:prstGeom prst="rect">
              <a:avLst/>
            </a:prstGeom>
          </p:spPr>
          <p:txBody>
            <a:bodyPr anchor="ctr" rtlCol="false" tIns="50800" lIns="50800" bIns="50800" rIns="50800"/>
            <a:lstStyle/>
            <a:p>
              <a:pPr algn="ctr">
                <a:lnSpc>
                  <a:spcPts val="4274"/>
                </a:lnSpc>
              </a:pPr>
              <a:r>
                <a:rPr lang="en-US" sz="3562">
                  <a:solidFill>
                    <a:srgbClr val="FFFFFF"/>
                  </a:solidFill>
                  <a:latin typeface="Arial"/>
                  <a:ea typeface="Arial"/>
                  <a:cs typeface="Arial"/>
                  <a:sym typeface="Arial"/>
                </a:rPr>
                <a:t>Executor</a:t>
              </a:r>
            </a:p>
          </p:txBody>
        </p:sp>
      </p:grpSp>
      <p:sp>
        <p:nvSpPr>
          <p:cNvPr name="TextBox 37" id="37"/>
          <p:cNvSpPr txBox="true"/>
          <p:nvPr/>
        </p:nvSpPr>
        <p:spPr>
          <a:xfrm rot="0">
            <a:off x="6243638" y="3481388"/>
            <a:ext cx="3571875" cy="590550"/>
          </a:xfrm>
          <a:prstGeom prst="rect">
            <a:avLst/>
          </a:prstGeom>
        </p:spPr>
        <p:txBody>
          <a:bodyPr anchor="t" rtlCol="false" tIns="0" lIns="0" bIns="0" rIns="0">
            <a:spAutoFit/>
          </a:bodyPr>
          <a:lstStyle/>
          <a:p>
            <a:pPr algn="l">
              <a:lnSpc>
                <a:spcPts val="4544"/>
              </a:lnSpc>
            </a:pPr>
            <a:r>
              <a:rPr lang="en-US" sz="3787" b="true">
                <a:solidFill>
                  <a:srgbClr val="2072B7"/>
                </a:solidFill>
                <a:latin typeface="Arial Bold"/>
                <a:ea typeface="Arial Bold"/>
                <a:cs typeface="Arial Bold"/>
                <a:sym typeface="Arial Bold"/>
              </a:rPr>
              <a:t>MÁY 2</a:t>
            </a:r>
          </a:p>
        </p:txBody>
      </p:sp>
      <p:grpSp>
        <p:nvGrpSpPr>
          <p:cNvPr name="Group 38" id="38"/>
          <p:cNvGrpSpPr/>
          <p:nvPr/>
        </p:nvGrpSpPr>
        <p:grpSpPr>
          <a:xfrm rot="0">
            <a:off x="6236494" y="3964781"/>
            <a:ext cx="3957638" cy="1559719"/>
            <a:chOff x="0" y="0"/>
            <a:chExt cx="5276850" cy="2079625"/>
          </a:xfrm>
        </p:grpSpPr>
        <p:sp>
          <p:nvSpPr>
            <p:cNvPr name="Freeform 39" id="39"/>
            <p:cNvSpPr/>
            <p:nvPr/>
          </p:nvSpPr>
          <p:spPr>
            <a:xfrm flipH="false" flipV="false" rot="0">
              <a:off x="0" y="0"/>
              <a:ext cx="5276850" cy="2079625"/>
            </a:xfrm>
            <a:custGeom>
              <a:avLst/>
              <a:gdLst/>
              <a:ahLst/>
              <a:cxnLst/>
              <a:rect r="r" b="b" t="t" l="l"/>
              <a:pathLst>
                <a:path h="2079625" w="5276850">
                  <a:moveTo>
                    <a:pt x="0" y="0"/>
                  </a:moveTo>
                  <a:lnTo>
                    <a:pt x="5276850" y="0"/>
                  </a:lnTo>
                  <a:lnTo>
                    <a:pt x="5276850" y="2079625"/>
                  </a:lnTo>
                  <a:lnTo>
                    <a:pt x="0" y="2079625"/>
                  </a:lnTo>
                  <a:close/>
                </a:path>
              </a:pathLst>
            </a:custGeom>
            <a:solidFill>
              <a:srgbClr val="EDF5FB"/>
            </a:solidFill>
            <a:ln w="14288" cap="sq">
              <a:solidFill>
                <a:srgbClr val="B9D2E7"/>
              </a:solidFill>
              <a:prstDash val="solid"/>
              <a:miter/>
            </a:ln>
          </p:spPr>
        </p:sp>
      </p:grpSp>
      <p:sp>
        <p:nvSpPr>
          <p:cNvPr name="TextBox 40" id="40"/>
          <p:cNvSpPr txBox="true"/>
          <p:nvPr/>
        </p:nvSpPr>
        <p:spPr>
          <a:xfrm rot="0">
            <a:off x="6561534" y="3945731"/>
            <a:ext cx="1935956" cy="552450"/>
          </a:xfrm>
          <a:prstGeom prst="rect">
            <a:avLst/>
          </a:prstGeom>
        </p:spPr>
        <p:txBody>
          <a:bodyPr anchor="t" rtlCol="false" tIns="0" lIns="0" bIns="0" rIns="0">
            <a:spAutoFit/>
          </a:bodyPr>
          <a:lstStyle/>
          <a:p>
            <a:pPr algn="l">
              <a:lnSpc>
                <a:spcPts val="4274"/>
              </a:lnSpc>
            </a:pPr>
            <a:r>
              <a:rPr lang="en-US" sz="3562" b="true">
                <a:solidFill>
                  <a:srgbClr val="2072B7"/>
                </a:solidFill>
                <a:latin typeface="Arial Bold"/>
                <a:ea typeface="Arial Bold"/>
                <a:cs typeface="Arial Bold"/>
                <a:sym typeface="Arial Bold"/>
              </a:rPr>
              <a:t>Worker 2</a:t>
            </a:r>
          </a:p>
        </p:txBody>
      </p:sp>
      <p:grpSp>
        <p:nvGrpSpPr>
          <p:cNvPr name="Group 41" id="41"/>
          <p:cNvGrpSpPr/>
          <p:nvPr/>
        </p:nvGrpSpPr>
        <p:grpSpPr>
          <a:xfrm rot="0">
            <a:off x="6522244" y="4436269"/>
            <a:ext cx="3386138" cy="817986"/>
            <a:chOff x="0" y="0"/>
            <a:chExt cx="4514850" cy="1090648"/>
          </a:xfrm>
        </p:grpSpPr>
        <p:sp>
          <p:nvSpPr>
            <p:cNvPr name="Freeform 42" id="42"/>
            <p:cNvSpPr/>
            <p:nvPr/>
          </p:nvSpPr>
          <p:spPr>
            <a:xfrm flipH="false" flipV="false" rot="0">
              <a:off x="0" y="0"/>
              <a:ext cx="4514850" cy="1090647"/>
            </a:xfrm>
            <a:custGeom>
              <a:avLst/>
              <a:gdLst/>
              <a:ahLst/>
              <a:cxnLst/>
              <a:rect r="r" b="b" t="t" l="l"/>
              <a:pathLst>
                <a:path h="1090647" w="4514850">
                  <a:moveTo>
                    <a:pt x="0" y="0"/>
                  </a:moveTo>
                  <a:lnTo>
                    <a:pt x="4514850" y="0"/>
                  </a:lnTo>
                  <a:lnTo>
                    <a:pt x="4514850" y="1090647"/>
                  </a:lnTo>
                  <a:lnTo>
                    <a:pt x="0" y="1090647"/>
                  </a:lnTo>
                  <a:close/>
                </a:path>
              </a:pathLst>
            </a:custGeom>
            <a:solidFill>
              <a:srgbClr val="2072B7"/>
            </a:solidFill>
            <a:ln w="14288" cap="sq">
              <a:solidFill>
                <a:srgbClr val="2072B7"/>
              </a:solidFill>
              <a:prstDash val="solid"/>
              <a:miter/>
            </a:ln>
          </p:spPr>
        </p:sp>
        <p:sp>
          <p:nvSpPr>
            <p:cNvPr name="TextBox 43" id="43"/>
            <p:cNvSpPr txBox="true"/>
            <p:nvPr/>
          </p:nvSpPr>
          <p:spPr>
            <a:xfrm>
              <a:off x="0" y="-19050"/>
              <a:ext cx="4514850" cy="1109698"/>
            </a:xfrm>
            <a:prstGeom prst="rect">
              <a:avLst/>
            </a:prstGeom>
          </p:spPr>
          <p:txBody>
            <a:bodyPr anchor="ctr" rtlCol="false" tIns="50800" lIns="50800" bIns="50800" rIns="50800"/>
            <a:lstStyle/>
            <a:p>
              <a:pPr algn="ctr">
                <a:lnSpc>
                  <a:spcPts val="4139"/>
                </a:lnSpc>
              </a:pPr>
              <a:r>
                <a:rPr lang="en-US" sz="3449">
                  <a:solidFill>
                    <a:srgbClr val="FFFFFF"/>
                  </a:solidFill>
                  <a:latin typeface="Arial"/>
                  <a:ea typeface="Arial"/>
                  <a:cs typeface="Arial"/>
                  <a:sym typeface="Arial"/>
                </a:rPr>
                <a:t>Executor</a:t>
              </a:r>
            </a:p>
          </p:txBody>
        </p:sp>
      </p:grpSp>
      <p:sp>
        <p:nvSpPr>
          <p:cNvPr name="TextBox 44" id="44"/>
          <p:cNvSpPr txBox="true"/>
          <p:nvPr/>
        </p:nvSpPr>
        <p:spPr>
          <a:xfrm rot="0">
            <a:off x="6243638" y="5981700"/>
            <a:ext cx="3571875" cy="590550"/>
          </a:xfrm>
          <a:prstGeom prst="rect">
            <a:avLst/>
          </a:prstGeom>
        </p:spPr>
        <p:txBody>
          <a:bodyPr anchor="t" rtlCol="false" tIns="0" lIns="0" bIns="0" rIns="0">
            <a:spAutoFit/>
          </a:bodyPr>
          <a:lstStyle/>
          <a:p>
            <a:pPr algn="l">
              <a:lnSpc>
                <a:spcPts val="4544"/>
              </a:lnSpc>
            </a:pPr>
            <a:r>
              <a:rPr lang="en-US" sz="3787" b="true">
                <a:solidFill>
                  <a:srgbClr val="2072B7"/>
                </a:solidFill>
                <a:latin typeface="Arial Bold"/>
                <a:ea typeface="Arial Bold"/>
                <a:cs typeface="Arial Bold"/>
                <a:sym typeface="Arial Bold"/>
              </a:rPr>
              <a:t>MÁY 3</a:t>
            </a:r>
          </a:p>
        </p:txBody>
      </p:sp>
      <p:grpSp>
        <p:nvGrpSpPr>
          <p:cNvPr name="Group 45" id="45"/>
          <p:cNvGrpSpPr/>
          <p:nvPr/>
        </p:nvGrpSpPr>
        <p:grpSpPr>
          <a:xfrm rot="0">
            <a:off x="6236494" y="7488449"/>
            <a:ext cx="3957638" cy="1000125"/>
            <a:chOff x="0" y="0"/>
            <a:chExt cx="5276850" cy="1333500"/>
          </a:xfrm>
        </p:grpSpPr>
        <p:sp>
          <p:nvSpPr>
            <p:cNvPr name="Freeform 46" id="46"/>
            <p:cNvSpPr/>
            <p:nvPr/>
          </p:nvSpPr>
          <p:spPr>
            <a:xfrm flipH="false" flipV="false" rot="0">
              <a:off x="0" y="0"/>
              <a:ext cx="5276850" cy="1333500"/>
            </a:xfrm>
            <a:custGeom>
              <a:avLst/>
              <a:gdLst/>
              <a:ahLst/>
              <a:cxnLst/>
              <a:rect r="r" b="b" t="t" l="l"/>
              <a:pathLst>
                <a:path h="1333500" w="5276850">
                  <a:moveTo>
                    <a:pt x="0" y="0"/>
                  </a:moveTo>
                  <a:lnTo>
                    <a:pt x="5276850" y="0"/>
                  </a:lnTo>
                  <a:lnTo>
                    <a:pt x="5276850" y="1333500"/>
                  </a:lnTo>
                  <a:lnTo>
                    <a:pt x="0" y="1333500"/>
                  </a:lnTo>
                  <a:close/>
                </a:path>
              </a:pathLst>
            </a:custGeom>
            <a:solidFill>
              <a:srgbClr val="EDF5FB"/>
            </a:solidFill>
            <a:ln w="14288" cap="sq">
              <a:solidFill>
                <a:srgbClr val="B9D2E7"/>
              </a:solidFill>
              <a:prstDash val="solid"/>
              <a:miter/>
            </a:ln>
          </p:spPr>
        </p:sp>
      </p:grpSp>
      <p:sp>
        <p:nvSpPr>
          <p:cNvPr name="TextBox 47" id="47"/>
          <p:cNvSpPr txBox="true"/>
          <p:nvPr/>
        </p:nvSpPr>
        <p:spPr>
          <a:xfrm rot="0">
            <a:off x="7208044" y="6838950"/>
            <a:ext cx="1935956" cy="552450"/>
          </a:xfrm>
          <a:prstGeom prst="rect">
            <a:avLst/>
          </a:prstGeom>
        </p:spPr>
        <p:txBody>
          <a:bodyPr anchor="t" rtlCol="false" tIns="0" lIns="0" bIns="0" rIns="0">
            <a:spAutoFit/>
          </a:bodyPr>
          <a:lstStyle/>
          <a:p>
            <a:pPr algn="l">
              <a:lnSpc>
                <a:spcPts val="4274"/>
              </a:lnSpc>
            </a:pPr>
            <a:r>
              <a:rPr lang="en-US" sz="3562" b="true">
                <a:solidFill>
                  <a:srgbClr val="2072B7"/>
                </a:solidFill>
                <a:latin typeface="Arial Bold"/>
                <a:ea typeface="Arial Bold"/>
                <a:cs typeface="Arial Bold"/>
                <a:sym typeface="Arial Bold"/>
              </a:rPr>
              <a:t>Worker 3</a:t>
            </a:r>
          </a:p>
        </p:txBody>
      </p:sp>
      <p:grpSp>
        <p:nvGrpSpPr>
          <p:cNvPr name="Group 48" id="48"/>
          <p:cNvGrpSpPr/>
          <p:nvPr/>
        </p:nvGrpSpPr>
        <p:grpSpPr>
          <a:xfrm rot="0">
            <a:off x="6561534" y="7579519"/>
            <a:ext cx="3386138" cy="817986"/>
            <a:chOff x="0" y="0"/>
            <a:chExt cx="4514850" cy="1090648"/>
          </a:xfrm>
        </p:grpSpPr>
        <p:sp>
          <p:nvSpPr>
            <p:cNvPr name="Freeform 49" id="49"/>
            <p:cNvSpPr/>
            <p:nvPr/>
          </p:nvSpPr>
          <p:spPr>
            <a:xfrm flipH="false" flipV="false" rot="0">
              <a:off x="0" y="0"/>
              <a:ext cx="4514850" cy="1090647"/>
            </a:xfrm>
            <a:custGeom>
              <a:avLst/>
              <a:gdLst/>
              <a:ahLst/>
              <a:cxnLst/>
              <a:rect r="r" b="b" t="t" l="l"/>
              <a:pathLst>
                <a:path h="1090647" w="4514850">
                  <a:moveTo>
                    <a:pt x="0" y="0"/>
                  </a:moveTo>
                  <a:lnTo>
                    <a:pt x="4514850" y="0"/>
                  </a:lnTo>
                  <a:lnTo>
                    <a:pt x="4514850" y="1090647"/>
                  </a:lnTo>
                  <a:lnTo>
                    <a:pt x="0" y="1090647"/>
                  </a:lnTo>
                  <a:close/>
                </a:path>
              </a:pathLst>
            </a:custGeom>
            <a:solidFill>
              <a:srgbClr val="2072B7"/>
            </a:solidFill>
            <a:ln w="14288" cap="sq">
              <a:solidFill>
                <a:srgbClr val="2072B7"/>
              </a:solidFill>
              <a:prstDash val="solid"/>
              <a:miter/>
            </a:ln>
          </p:spPr>
        </p:sp>
        <p:sp>
          <p:nvSpPr>
            <p:cNvPr name="TextBox 50" id="50"/>
            <p:cNvSpPr txBox="true"/>
            <p:nvPr/>
          </p:nvSpPr>
          <p:spPr>
            <a:xfrm>
              <a:off x="0" y="-19050"/>
              <a:ext cx="4514850" cy="1109698"/>
            </a:xfrm>
            <a:prstGeom prst="rect">
              <a:avLst/>
            </a:prstGeom>
          </p:spPr>
          <p:txBody>
            <a:bodyPr anchor="ctr" rtlCol="false" tIns="50800" lIns="50800" bIns="50800" rIns="50800"/>
            <a:lstStyle/>
            <a:p>
              <a:pPr algn="ctr">
                <a:lnSpc>
                  <a:spcPts val="4139"/>
                </a:lnSpc>
              </a:pPr>
              <a:r>
                <a:rPr lang="en-US" sz="3449">
                  <a:solidFill>
                    <a:srgbClr val="FFFFFF"/>
                  </a:solidFill>
                  <a:latin typeface="Arial"/>
                  <a:ea typeface="Arial"/>
                  <a:cs typeface="Arial"/>
                  <a:sym typeface="Arial"/>
                </a:rPr>
                <a:t>Executor</a:t>
              </a:r>
            </a:p>
          </p:txBody>
        </p:sp>
      </p:grpSp>
      <p:sp>
        <p:nvSpPr>
          <p:cNvPr name="TextBox 51" id="51"/>
          <p:cNvSpPr txBox="true"/>
          <p:nvPr/>
        </p:nvSpPr>
        <p:spPr>
          <a:xfrm rot="0">
            <a:off x="3667778" y="8848467"/>
            <a:ext cx="5143500" cy="581025"/>
          </a:xfrm>
          <a:prstGeom prst="rect">
            <a:avLst/>
          </a:prstGeom>
        </p:spPr>
        <p:txBody>
          <a:bodyPr anchor="t" rtlCol="false" tIns="0" lIns="0" bIns="0" rIns="0">
            <a:spAutoFit/>
          </a:bodyPr>
          <a:lstStyle/>
          <a:p>
            <a:pPr algn="l">
              <a:lnSpc>
                <a:spcPts val="4409"/>
              </a:lnSpc>
            </a:pPr>
            <a:r>
              <a:rPr lang="en-US" sz="3674" b="true">
                <a:solidFill>
                  <a:srgbClr val="2072B7"/>
                </a:solidFill>
                <a:latin typeface="Arial Bold"/>
                <a:ea typeface="Arial Bold"/>
                <a:cs typeface="Arial Bold"/>
                <a:sym typeface="Arial Bold"/>
              </a:rPr>
              <a:t>Mạng Tailscale</a:t>
            </a:r>
          </a:p>
        </p:txBody>
      </p:sp>
      <p:sp>
        <p:nvSpPr>
          <p:cNvPr name="TextBox 52" id="5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19</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668"/>
            <a:ext cx="18288000" cy="1070038"/>
            <a:chOff x="0" y="0"/>
            <a:chExt cx="24384000" cy="1426718"/>
          </a:xfrm>
        </p:grpSpPr>
        <p:sp>
          <p:nvSpPr>
            <p:cNvPr name="Freeform 3" id="3"/>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2072B7"/>
            </a:solidFill>
          </p:spPr>
        </p:sp>
      </p:grpSp>
      <p:grpSp>
        <p:nvGrpSpPr>
          <p:cNvPr name="Group 4" id="4"/>
          <p:cNvGrpSpPr/>
          <p:nvPr/>
        </p:nvGrpSpPr>
        <p:grpSpPr>
          <a:xfrm rot="0">
            <a:off x="477926" y="3334"/>
            <a:ext cx="4935598" cy="1027605"/>
            <a:chOff x="0" y="0"/>
            <a:chExt cx="6580797" cy="1370140"/>
          </a:xfrm>
        </p:grpSpPr>
        <p:sp>
          <p:nvSpPr>
            <p:cNvPr name="Freeform 5" id="5"/>
            <p:cNvSpPr/>
            <p:nvPr/>
          </p:nvSpPr>
          <p:spPr>
            <a:xfrm flipH="false" flipV="false" rot="0">
              <a:off x="0" y="0"/>
              <a:ext cx="6580759" cy="1370203"/>
            </a:xfrm>
            <a:custGeom>
              <a:avLst/>
              <a:gdLst/>
              <a:ahLst/>
              <a:cxnLst/>
              <a:rect r="r" b="b" t="t" l="l"/>
              <a:pathLst>
                <a:path h="1370203" w="6580759">
                  <a:moveTo>
                    <a:pt x="0" y="0"/>
                  </a:moveTo>
                  <a:lnTo>
                    <a:pt x="6580759" y="0"/>
                  </a:lnTo>
                  <a:lnTo>
                    <a:pt x="6580759" y="1370203"/>
                  </a:lnTo>
                  <a:lnTo>
                    <a:pt x="0" y="1370203"/>
                  </a:lnTo>
                  <a:lnTo>
                    <a:pt x="0" y="0"/>
                  </a:lnTo>
                  <a:close/>
                </a:path>
              </a:pathLst>
            </a:custGeom>
            <a:blipFill>
              <a:blip r:embed="rId3"/>
              <a:stretch>
                <a:fillRect l="-191" t="0" r="-192" b="4"/>
              </a:stretch>
            </a:blipFill>
          </p:spPr>
        </p:sp>
      </p:grpSp>
      <p:grpSp>
        <p:nvGrpSpPr>
          <p:cNvPr name="Group 6" id="6"/>
          <p:cNvGrpSpPr/>
          <p:nvPr/>
        </p:nvGrpSpPr>
        <p:grpSpPr>
          <a:xfrm rot="0">
            <a:off x="2663190" y="10082212"/>
            <a:ext cx="15624810" cy="204845"/>
            <a:chOff x="0" y="0"/>
            <a:chExt cx="20833080" cy="273126"/>
          </a:xfrm>
        </p:grpSpPr>
        <p:sp>
          <p:nvSpPr>
            <p:cNvPr name="Freeform 7" id="7"/>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2072B7"/>
            </a:solidFill>
          </p:spPr>
        </p:sp>
      </p:grpSp>
      <p:grpSp>
        <p:nvGrpSpPr>
          <p:cNvPr name="Group 8" id="8"/>
          <p:cNvGrpSpPr/>
          <p:nvPr/>
        </p:nvGrpSpPr>
        <p:grpSpPr>
          <a:xfrm rot="0">
            <a:off x="2743238" y="10108759"/>
            <a:ext cx="15544724" cy="152705"/>
            <a:chOff x="0" y="0"/>
            <a:chExt cx="20726298" cy="203606"/>
          </a:xfrm>
        </p:grpSpPr>
        <p:sp>
          <p:nvSpPr>
            <p:cNvPr name="Freeform 9" id="9"/>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4"/>
              <a:stretch>
                <a:fillRect l="0" t="0" r="0" b="-35745"/>
              </a:stretch>
            </a:blipFill>
          </p:spPr>
        </p:sp>
      </p:grpSp>
      <p:sp>
        <p:nvSpPr>
          <p:cNvPr name="TextBox 10" id="10"/>
          <p:cNvSpPr txBox="true"/>
          <p:nvPr/>
        </p:nvSpPr>
        <p:spPr>
          <a:xfrm rot="0">
            <a:off x="302009" y="10002231"/>
            <a:ext cx="2254501" cy="327536"/>
          </a:xfrm>
          <a:prstGeom prst="rect">
            <a:avLst/>
          </a:prstGeom>
        </p:spPr>
        <p:txBody>
          <a:bodyPr anchor="t" rtlCol="false" tIns="0" lIns="0" bIns="0" rIns="0">
            <a:spAutoFit/>
          </a:bodyPr>
          <a:lstStyle/>
          <a:p>
            <a:pPr algn="l">
              <a:lnSpc>
                <a:spcPts val="1800"/>
              </a:lnSpc>
            </a:pPr>
            <a:r>
              <a:rPr lang="en-US" sz="1500">
                <a:solidFill>
                  <a:srgbClr val="0070C0"/>
                </a:solidFill>
                <a:latin typeface="Calibri (MS)"/>
                <a:ea typeface="Calibri (MS)"/>
                <a:cs typeface="Calibri (MS)"/>
                <a:sym typeface="Calibri (MS)"/>
              </a:rPr>
              <a:t>https://huit.edu.vn</a:t>
            </a:r>
          </a:p>
        </p:txBody>
      </p:sp>
      <p:sp>
        <p:nvSpPr>
          <p:cNvPr name="AutoShape 11" id="11"/>
          <p:cNvSpPr/>
          <p:nvPr/>
        </p:nvSpPr>
        <p:spPr>
          <a:xfrm>
            <a:off x="12430125" y="7036594"/>
            <a:ext cx="0" cy="1386681"/>
          </a:xfrm>
          <a:prstGeom prst="line">
            <a:avLst/>
          </a:prstGeom>
          <a:ln cap="rnd" w="19050">
            <a:solidFill>
              <a:srgbClr val="2072B7"/>
            </a:solidFill>
            <a:prstDash val="solid"/>
            <a:headEnd type="none" len="sm" w="sm"/>
            <a:tailEnd type="triangle" len="med" w="lg"/>
          </a:ln>
        </p:spPr>
      </p:sp>
      <p:sp>
        <p:nvSpPr>
          <p:cNvPr name="AutoShape 12" id="12"/>
          <p:cNvSpPr/>
          <p:nvPr/>
        </p:nvSpPr>
        <p:spPr>
          <a:xfrm flipH="true">
            <a:off x="12430125" y="5696363"/>
            <a:ext cx="3286125" cy="354393"/>
          </a:xfrm>
          <a:prstGeom prst="line">
            <a:avLst/>
          </a:prstGeom>
          <a:ln cap="rnd" w="19050">
            <a:solidFill>
              <a:srgbClr val="2072B7"/>
            </a:solidFill>
            <a:prstDash val="solid"/>
            <a:headEnd type="none" len="sm" w="sm"/>
            <a:tailEnd type="triangle" len="med" w="lg"/>
          </a:ln>
        </p:spPr>
      </p:sp>
      <p:sp>
        <p:nvSpPr>
          <p:cNvPr name="AutoShape 13" id="13"/>
          <p:cNvSpPr/>
          <p:nvPr/>
        </p:nvSpPr>
        <p:spPr>
          <a:xfrm>
            <a:off x="12430125" y="5696363"/>
            <a:ext cx="0" cy="354393"/>
          </a:xfrm>
          <a:prstGeom prst="line">
            <a:avLst/>
          </a:prstGeom>
          <a:ln cap="rnd" w="19050">
            <a:solidFill>
              <a:srgbClr val="2072B7"/>
            </a:solidFill>
            <a:prstDash val="solid"/>
            <a:headEnd type="none" len="sm" w="sm"/>
            <a:tailEnd type="triangle" len="med" w="lg"/>
          </a:ln>
        </p:spPr>
      </p:sp>
      <p:sp>
        <p:nvSpPr>
          <p:cNvPr name="AutoShape 14" id="14"/>
          <p:cNvSpPr/>
          <p:nvPr/>
        </p:nvSpPr>
        <p:spPr>
          <a:xfrm>
            <a:off x="9144000" y="5696363"/>
            <a:ext cx="3286125" cy="354393"/>
          </a:xfrm>
          <a:prstGeom prst="line">
            <a:avLst/>
          </a:prstGeom>
          <a:ln cap="rnd" w="19050">
            <a:solidFill>
              <a:srgbClr val="2072B7"/>
            </a:solidFill>
            <a:prstDash val="solid"/>
            <a:headEnd type="none" len="sm" w="sm"/>
            <a:tailEnd type="triangle" len="med" w="lg"/>
          </a:ln>
        </p:spPr>
      </p:sp>
      <p:sp>
        <p:nvSpPr>
          <p:cNvPr name="AutoShape 15" id="15"/>
          <p:cNvSpPr/>
          <p:nvPr/>
        </p:nvSpPr>
        <p:spPr>
          <a:xfrm>
            <a:off x="15716250" y="4056124"/>
            <a:ext cx="0" cy="408720"/>
          </a:xfrm>
          <a:prstGeom prst="line">
            <a:avLst/>
          </a:prstGeom>
          <a:ln cap="rnd" w="19050">
            <a:solidFill>
              <a:srgbClr val="2072B7"/>
            </a:solidFill>
            <a:prstDash val="solid"/>
            <a:headEnd type="none" len="sm" w="sm"/>
            <a:tailEnd type="triangle" len="med" w="lg"/>
          </a:ln>
        </p:spPr>
      </p:sp>
      <p:sp>
        <p:nvSpPr>
          <p:cNvPr name="AutoShape 16" id="16"/>
          <p:cNvSpPr/>
          <p:nvPr/>
        </p:nvSpPr>
        <p:spPr>
          <a:xfrm>
            <a:off x="12430125" y="4056124"/>
            <a:ext cx="0" cy="408720"/>
          </a:xfrm>
          <a:prstGeom prst="line">
            <a:avLst/>
          </a:prstGeom>
          <a:ln cap="rnd" w="19050">
            <a:solidFill>
              <a:srgbClr val="2072B7"/>
            </a:solidFill>
            <a:prstDash val="solid"/>
            <a:headEnd type="none" len="sm" w="sm"/>
            <a:tailEnd type="triangle" len="med" w="lg"/>
          </a:ln>
        </p:spPr>
      </p:sp>
      <p:sp>
        <p:nvSpPr>
          <p:cNvPr name="AutoShape 17" id="17"/>
          <p:cNvSpPr/>
          <p:nvPr/>
        </p:nvSpPr>
        <p:spPr>
          <a:xfrm>
            <a:off x="9144000" y="4056124"/>
            <a:ext cx="0" cy="408720"/>
          </a:xfrm>
          <a:prstGeom prst="line">
            <a:avLst/>
          </a:prstGeom>
          <a:ln cap="rnd" w="19050">
            <a:solidFill>
              <a:srgbClr val="2072B7"/>
            </a:solidFill>
            <a:prstDash val="solid"/>
            <a:headEnd type="none" len="sm" w="sm"/>
            <a:tailEnd type="triangle" len="med" w="lg"/>
          </a:ln>
        </p:spPr>
      </p:sp>
      <p:sp>
        <p:nvSpPr>
          <p:cNvPr name="TextBox 18" id="18"/>
          <p:cNvSpPr txBox="true"/>
          <p:nvPr/>
        </p:nvSpPr>
        <p:spPr>
          <a:xfrm rot="0">
            <a:off x="857250" y="1466850"/>
            <a:ext cx="16430625" cy="752475"/>
          </a:xfrm>
          <a:prstGeom prst="rect">
            <a:avLst/>
          </a:prstGeom>
        </p:spPr>
        <p:txBody>
          <a:bodyPr anchor="t" rtlCol="false" tIns="0" lIns="0" bIns="0" rIns="0">
            <a:spAutoFit/>
          </a:bodyPr>
          <a:lstStyle/>
          <a:p>
            <a:pPr algn="l">
              <a:lnSpc>
                <a:spcPts val="5834"/>
              </a:lnSpc>
            </a:pPr>
            <a:r>
              <a:rPr lang="en-US" sz="4862" b="true">
                <a:solidFill>
                  <a:srgbClr val="2072B7"/>
                </a:solidFill>
                <a:latin typeface="Arial Bold"/>
                <a:ea typeface="Arial Bold"/>
                <a:cs typeface="Arial Bold"/>
                <a:sym typeface="Arial Bold"/>
              </a:rPr>
              <a:t>Random Forest phân tán</a:t>
            </a:r>
          </a:p>
        </p:txBody>
      </p:sp>
      <p:sp>
        <p:nvSpPr>
          <p:cNvPr name="TextBox 19" id="19"/>
          <p:cNvSpPr txBox="true"/>
          <p:nvPr/>
        </p:nvSpPr>
        <p:spPr>
          <a:xfrm rot="0">
            <a:off x="857250" y="2314575"/>
            <a:ext cx="16573500" cy="523875"/>
          </a:xfrm>
          <a:prstGeom prst="rect">
            <a:avLst/>
          </a:prstGeom>
        </p:spPr>
        <p:txBody>
          <a:bodyPr anchor="t" rtlCol="false" tIns="0" lIns="0" bIns="0" rIns="0">
            <a:spAutoFit/>
          </a:bodyPr>
          <a:lstStyle/>
          <a:p>
            <a:pPr algn="l">
              <a:lnSpc>
                <a:spcPts val="3959"/>
              </a:lnSpc>
            </a:pPr>
            <a:r>
              <a:rPr lang="en-US" sz="3299" b="true">
                <a:solidFill>
                  <a:srgbClr val="174C7E"/>
                </a:solidFill>
                <a:latin typeface="Arial Bold"/>
                <a:ea typeface="Arial Bold"/>
                <a:cs typeface="Arial Bold"/>
                <a:sym typeface="Arial Bold"/>
              </a:rPr>
              <a:t>Nhiều Executor cùng tính thống kê để xây rừng, không chia một cây cho mỗi máy</a:t>
            </a:r>
          </a:p>
        </p:txBody>
      </p:sp>
      <p:grpSp>
        <p:nvGrpSpPr>
          <p:cNvPr name="Group 20" id="20"/>
          <p:cNvGrpSpPr/>
          <p:nvPr/>
        </p:nvGrpSpPr>
        <p:grpSpPr>
          <a:xfrm rot="0">
            <a:off x="7636669" y="3250406"/>
            <a:ext cx="3014662" cy="805717"/>
            <a:chOff x="0" y="0"/>
            <a:chExt cx="4019550" cy="1074290"/>
          </a:xfrm>
        </p:grpSpPr>
        <p:sp>
          <p:nvSpPr>
            <p:cNvPr name="Freeform 21" id="21"/>
            <p:cNvSpPr/>
            <p:nvPr/>
          </p:nvSpPr>
          <p:spPr>
            <a:xfrm flipH="false" flipV="false" rot="0">
              <a:off x="0" y="0"/>
              <a:ext cx="4019550" cy="1074290"/>
            </a:xfrm>
            <a:custGeom>
              <a:avLst/>
              <a:gdLst/>
              <a:ahLst/>
              <a:cxnLst/>
              <a:rect r="r" b="b" t="t" l="l"/>
              <a:pathLst>
                <a:path h="1074290" w="4019550">
                  <a:moveTo>
                    <a:pt x="0" y="0"/>
                  </a:moveTo>
                  <a:lnTo>
                    <a:pt x="4019550" y="0"/>
                  </a:lnTo>
                  <a:lnTo>
                    <a:pt x="4019550" y="1074290"/>
                  </a:lnTo>
                  <a:lnTo>
                    <a:pt x="0" y="1074290"/>
                  </a:lnTo>
                  <a:close/>
                </a:path>
              </a:pathLst>
            </a:custGeom>
            <a:solidFill>
              <a:srgbClr val="2072B7"/>
            </a:solidFill>
            <a:ln w="14288" cap="sq">
              <a:solidFill>
                <a:srgbClr val="2072B7"/>
              </a:solidFill>
              <a:prstDash val="solid"/>
              <a:miter/>
            </a:ln>
          </p:spPr>
        </p:sp>
        <p:sp>
          <p:nvSpPr>
            <p:cNvPr name="TextBox 22" id="22"/>
            <p:cNvSpPr txBox="true"/>
            <p:nvPr/>
          </p:nvSpPr>
          <p:spPr>
            <a:xfrm>
              <a:off x="0" y="-19050"/>
              <a:ext cx="4019550" cy="1093340"/>
            </a:xfrm>
            <a:prstGeom prst="rect">
              <a:avLst/>
            </a:prstGeom>
          </p:spPr>
          <p:txBody>
            <a:bodyPr anchor="ctr" rtlCol="false" tIns="50800" lIns="50800" bIns="50800" rIns="50800"/>
            <a:lstStyle/>
            <a:p>
              <a:pPr algn="ctr">
                <a:lnSpc>
                  <a:spcPts val="4079"/>
                </a:lnSpc>
              </a:pPr>
              <a:r>
                <a:rPr lang="en-US" sz="3399">
                  <a:solidFill>
                    <a:srgbClr val="FFFFFF"/>
                  </a:solidFill>
                  <a:latin typeface="Arial"/>
                  <a:ea typeface="Arial"/>
                  <a:cs typeface="Arial"/>
                  <a:sym typeface="Arial"/>
                </a:rPr>
                <a:t>Phân vùng 1</a:t>
              </a:r>
            </a:p>
          </p:txBody>
        </p:sp>
      </p:grpSp>
      <p:grpSp>
        <p:nvGrpSpPr>
          <p:cNvPr name="Group 23" id="23"/>
          <p:cNvGrpSpPr/>
          <p:nvPr/>
        </p:nvGrpSpPr>
        <p:grpSpPr>
          <a:xfrm rot="0">
            <a:off x="10922794" y="3250406"/>
            <a:ext cx="3014662" cy="805717"/>
            <a:chOff x="0" y="0"/>
            <a:chExt cx="4019550" cy="1074290"/>
          </a:xfrm>
        </p:grpSpPr>
        <p:sp>
          <p:nvSpPr>
            <p:cNvPr name="Freeform 24" id="24"/>
            <p:cNvSpPr/>
            <p:nvPr/>
          </p:nvSpPr>
          <p:spPr>
            <a:xfrm flipH="false" flipV="false" rot="0">
              <a:off x="0" y="0"/>
              <a:ext cx="4019550" cy="1074290"/>
            </a:xfrm>
            <a:custGeom>
              <a:avLst/>
              <a:gdLst/>
              <a:ahLst/>
              <a:cxnLst/>
              <a:rect r="r" b="b" t="t" l="l"/>
              <a:pathLst>
                <a:path h="1074290" w="4019550">
                  <a:moveTo>
                    <a:pt x="0" y="0"/>
                  </a:moveTo>
                  <a:lnTo>
                    <a:pt x="4019550" y="0"/>
                  </a:lnTo>
                  <a:lnTo>
                    <a:pt x="4019550" y="1074290"/>
                  </a:lnTo>
                  <a:lnTo>
                    <a:pt x="0" y="1074290"/>
                  </a:lnTo>
                  <a:close/>
                </a:path>
              </a:pathLst>
            </a:custGeom>
            <a:solidFill>
              <a:srgbClr val="2072B7"/>
            </a:solidFill>
            <a:ln w="14288" cap="sq">
              <a:solidFill>
                <a:srgbClr val="2072B7"/>
              </a:solidFill>
              <a:prstDash val="solid"/>
              <a:miter/>
            </a:ln>
          </p:spPr>
        </p:sp>
        <p:sp>
          <p:nvSpPr>
            <p:cNvPr name="TextBox 25" id="25"/>
            <p:cNvSpPr txBox="true"/>
            <p:nvPr/>
          </p:nvSpPr>
          <p:spPr>
            <a:xfrm>
              <a:off x="0" y="-19050"/>
              <a:ext cx="4019550" cy="1093340"/>
            </a:xfrm>
            <a:prstGeom prst="rect">
              <a:avLst/>
            </a:prstGeom>
          </p:spPr>
          <p:txBody>
            <a:bodyPr anchor="ctr" rtlCol="false" tIns="50800" lIns="50800" bIns="50800" rIns="50800"/>
            <a:lstStyle/>
            <a:p>
              <a:pPr algn="ctr">
                <a:lnSpc>
                  <a:spcPts val="4079"/>
                </a:lnSpc>
              </a:pPr>
              <a:r>
                <a:rPr lang="en-US" sz="3399">
                  <a:solidFill>
                    <a:srgbClr val="FFFFFF"/>
                  </a:solidFill>
                  <a:latin typeface="Arial"/>
                  <a:ea typeface="Arial"/>
                  <a:cs typeface="Arial"/>
                  <a:sym typeface="Arial"/>
                </a:rPr>
                <a:t>Phân vùng 2</a:t>
              </a:r>
            </a:p>
          </p:txBody>
        </p:sp>
      </p:grpSp>
      <p:grpSp>
        <p:nvGrpSpPr>
          <p:cNvPr name="Group 26" id="26"/>
          <p:cNvGrpSpPr/>
          <p:nvPr/>
        </p:nvGrpSpPr>
        <p:grpSpPr>
          <a:xfrm rot="0">
            <a:off x="14208919" y="3250406"/>
            <a:ext cx="3014662" cy="805717"/>
            <a:chOff x="0" y="0"/>
            <a:chExt cx="4019550" cy="1074290"/>
          </a:xfrm>
        </p:grpSpPr>
        <p:sp>
          <p:nvSpPr>
            <p:cNvPr name="Freeform 27" id="27"/>
            <p:cNvSpPr/>
            <p:nvPr/>
          </p:nvSpPr>
          <p:spPr>
            <a:xfrm flipH="false" flipV="false" rot="0">
              <a:off x="0" y="0"/>
              <a:ext cx="4019550" cy="1074290"/>
            </a:xfrm>
            <a:custGeom>
              <a:avLst/>
              <a:gdLst/>
              <a:ahLst/>
              <a:cxnLst/>
              <a:rect r="r" b="b" t="t" l="l"/>
              <a:pathLst>
                <a:path h="1074290" w="4019550">
                  <a:moveTo>
                    <a:pt x="0" y="0"/>
                  </a:moveTo>
                  <a:lnTo>
                    <a:pt x="4019550" y="0"/>
                  </a:lnTo>
                  <a:lnTo>
                    <a:pt x="4019550" y="1074290"/>
                  </a:lnTo>
                  <a:lnTo>
                    <a:pt x="0" y="1074290"/>
                  </a:lnTo>
                  <a:close/>
                </a:path>
              </a:pathLst>
            </a:custGeom>
            <a:solidFill>
              <a:srgbClr val="2072B7"/>
            </a:solidFill>
            <a:ln w="14288" cap="sq">
              <a:solidFill>
                <a:srgbClr val="2072B7"/>
              </a:solidFill>
              <a:prstDash val="solid"/>
              <a:miter/>
            </a:ln>
          </p:spPr>
        </p:sp>
        <p:sp>
          <p:nvSpPr>
            <p:cNvPr name="TextBox 28" id="28"/>
            <p:cNvSpPr txBox="true"/>
            <p:nvPr/>
          </p:nvSpPr>
          <p:spPr>
            <a:xfrm>
              <a:off x="0" y="-19050"/>
              <a:ext cx="4019550" cy="1093340"/>
            </a:xfrm>
            <a:prstGeom prst="rect">
              <a:avLst/>
            </a:prstGeom>
          </p:spPr>
          <p:txBody>
            <a:bodyPr anchor="ctr" rtlCol="false" tIns="50800" lIns="50800" bIns="50800" rIns="50800"/>
            <a:lstStyle/>
            <a:p>
              <a:pPr algn="ctr">
                <a:lnSpc>
                  <a:spcPts val="4079"/>
                </a:lnSpc>
              </a:pPr>
              <a:r>
                <a:rPr lang="en-US" sz="3399">
                  <a:solidFill>
                    <a:srgbClr val="FFFFFF"/>
                  </a:solidFill>
                  <a:latin typeface="Arial"/>
                  <a:ea typeface="Arial"/>
                  <a:cs typeface="Arial"/>
                  <a:sym typeface="Arial"/>
                </a:rPr>
                <a:t>Phân vùng 3</a:t>
              </a:r>
            </a:p>
          </p:txBody>
        </p:sp>
      </p:grpSp>
      <p:grpSp>
        <p:nvGrpSpPr>
          <p:cNvPr name="Group 29" id="29"/>
          <p:cNvGrpSpPr/>
          <p:nvPr/>
        </p:nvGrpSpPr>
        <p:grpSpPr>
          <a:xfrm rot="0">
            <a:off x="7636669" y="4464844"/>
            <a:ext cx="3014662" cy="1231519"/>
            <a:chOff x="0" y="0"/>
            <a:chExt cx="4019550" cy="1642026"/>
          </a:xfrm>
        </p:grpSpPr>
        <p:sp>
          <p:nvSpPr>
            <p:cNvPr name="Freeform 30" id="30"/>
            <p:cNvSpPr/>
            <p:nvPr/>
          </p:nvSpPr>
          <p:spPr>
            <a:xfrm flipH="false" flipV="false" rot="0">
              <a:off x="0" y="0"/>
              <a:ext cx="4019550" cy="1642026"/>
            </a:xfrm>
            <a:custGeom>
              <a:avLst/>
              <a:gdLst/>
              <a:ahLst/>
              <a:cxnLst/>
              <a:rect r="r" b="b" t="t" l="l"/>
              <a:pathLst>
                <a:path h="1642026" w="4019550">
                  <a:moveTo>
                    <a:pt x="0" y="0"/>
                  </a:moveTo>
                  <a:lnTo>
                    <a:pt x="4019550" y="0"/>
                  </a:lnTo>
                  <a:lnTo>
                    <a:pt x="4019550" y="1642026"/>
                  </a:lnTo>
                  <a:lnTo>
                    <a:pt x="0" y="1642026"/>
                  </a:lnTo>
                  <a:close/>
                </a:path>
              </a:pathLst>
            </a:custGeom>
            <a:solidFill>
              <a:srgbClr val="EDF5FB"/>
            </a:solidFill>
            <a:ln w="14288" cap="sq">
              <a:solidFill>
                <a:srgbClr val="B9D2E7"/>
              </a:solidFill>
              <a:prstDash val="solid"/>
              <a:miter/>
            </a:ln>
          </p:spPr>
        </p:sp>
        <p:sp>
          <p:nvSpPr>
            <p:cNvPr name="TextBox 31" id="31"/>
            <p:cNvSpPr txBox="true"/>
            <p:nvPr/>
          </p:nvSpPr>
          <p:spPr>
            <a:xfrm>
              <a:off x="0" y="-28575"/>
              <a:ext cx="4019550" cy="1670601"/>
            </a:xfrm>
            <a:prstGeom prst="rect">
              <a:avLst/>
            </a:prstGeom>
          </p:spPr>
          <p:txBody>
            <a:bodyPr anchor="ctr" rtlCol="false" tIns="50800" lIns="50800" bIns="50800" rIns="50800"/>
            <a:lstStyle/>
            <a:p>
              <a:pPr algn="ctr">
                <a:lnSpc>
                  <a:spcPts val="3809"/>
                </a:lnSpc>
              </a:pPr>
              <a:r>
                <a:rPr lang="en-US" sz="3174">
                  <a:solidFill>
                    <a:srgbClr val="202D39"/>
                  </a:solidFill>
                  <a:latin typeface="Arial"/>
                  <a:ea typeface="Arial"/>
                  <a:cs typeface="Arial"/>
                  <a:sym typeface="Arial"/>
                </a:rPr>
                <a:t>Executor</a:t>
              </a:r>
            </a:p>
            <a:p>
              <a:pPr algn="ctr">
                <a:lnSpc>
                  <a:spcPts val="3809"/>
                </a:lnSpc>
              </a:pPr>
              <a:r>
                <a:rPr lang="en-US" sz="3174">
                  <a:solidFill>
                    <a:srgbClr val="202D39"/>
                  </a:solidFill>
                  <a:latin typeface="Arial"/>
                  <a:ea typeface="Arial"/>
                  <a:cs typeface="Arial"/>
                  <a:sym typeface="Arial"/>
                </a:rPr>
                <a:t>Thống kê nhãn</a:t>
              </a:r>
            </a:p>
          </p:txBody>
        </p:sp>
      </p:grpSp>
      <p:grpSp>
        <p:nvGrpSpPr>
          <p:cNvPr name="Group 32" id="32"/>
          <p:cNvGrpSpPr/>
          <p:nvPr/>
        </p:nvGrpSpPr>
        <p:grpSpPr>
          <a:xfrm rot="0">
            <a:off x="10922794" y="4464844"/>
            <a:ext cx="3014662" cy="1231519"/>
            <a:chOff x="0" y="0"/>
            <a:chExt cx="4019550" cy="1642026"/>
          </a:xfrm>
        </p:grpSpPr>
        <p:sp>
          <p:nvSpPr>
            <p:cNvPr name="Freeform 33" id="33"/>
            <p:cNvSpPr/>
            <p:nvPr/>
          </p:nvSpPr>
          <p:spPr>
            <a:xfrm flipH="false" flipV="false" rot="0">
              <a:off x="0" y="0"/>
              <a:ext cx="4019550" cy="1642026"/>
            </a:xfrm>
            <a:custGeom>
              <a:avLst/>
              <a:gdLst/>
              <a:ahLst/>
              <a:cxnLst/>
              <a:rect r="r" b="b" t="t" l="l"/>
              <a:pathLst>
                <a:path h="1642026" w="4019550">
                  <a:moveTo>
                    <a:pt x="0" y="0"/>
                  </a:moveTo>
                  <a:lnTo>
                    <a:pt x="4019550" y="0"/>
                  </a:lnTo>
                  <a:lnTo>
                    <a:pt x="4019550" y="1642026"/>
                  </a:lnTo>
                  <a:lnTo>
                    <a:pt x="0" y="1642026"/>
                  </a:lnTo>
                  <a:close/>
                </a:path>
              </a:pathLst>
            </a:custGeom>
            <a:solidFill>
              <a:srgbClr val="EDF5FB"/>
            </a:solidFill>
            <a:ln w="14288" cap="sq">
              <a:solidFill>
                <a:srgbClr val="B9D2E7"/>
              </a:solidFill>
              <a:prstDash val="solid"/>
              <a:miter/>
            </a:ln>
          </p:spPr>
        </p:sp>
        <p:sp>
          <p:nvSpPr>
            <p:cNvPr name="TextBox 34" id="34"/>
            <p:cNvSpPr txBox="true"/>
            <p:nvPr/>
          </p:nvSpPr>
          <p:spPr>
            <a:xfrm>
              <a:off x="0" y="-28575"/>
              <a:ext cx="4019550" cy="1670601"/>
            </a:xfrm>
            <a:prstGeom prst="rect">
              <a:avLst/>
            </a:prstGeom>
          </p:spPr>
          <p:txBody>
            <a:bodyPr anchor="ctr" rtlCol="false" tIns="50800" lIns="50800" bIns="50800" rIns="50800"/>
            <a:lstStyle/>
            <a:p>
              <a:pPr algn="ctr">
                <a:lnSpc>
                  <a:spcPts val="3809"/>
                </a:lnSpc>
              </a:pPr>
              <a:r>
                <a:rPr lang="en-US" sz="3174">
                  <a:solidFill>
                    <a:srgbClr val="202D39"/>
                  </a:solidFill>
                  <a:latin typeface="Arial"/>
                  <a:ea typeface="Arial"/>
                  <a:cs typeface="Arial"/>
                  <a:sym typeface="Arial"/>
                </a:rPr>
                <a:t>Executor</a:t>
              </a:r>
            </a:p>
            <a:p>
              <a:pPr algn="ctr">
                <a:lnSpc>
                  <a:spcPts val="3809"/>
                </a:lnSpc>
              </a:pPr>
              <a:r>
                <a:rPr lang="en-US" sz="3174">
                  <a:solidFill>
                    <a:srgbClr val="202D39"/>
                  </a:solidFill>
                  <a:latin typeface="Arial"/>
                  <a:ea typeface="Arial"/>
                  <a:cs typeface="Arial"/>
                  <a:sym typeface="Arial"/>
                </a:rPr>
                <a:t>Thống kê nhãn</a:t>
              </a:r>
            </a:p>
          </p:txBody>
        </p:sp>
      </p:grpSp>
      <p:grpSp>
        <p:nvGrpSpPr>
          <p:cNvPr name="Group 35" id="35"/>
          <p:cNvGrpSpPr/>
          <p:nvPr/>
        </p:nvGrpSpPr>
        <p:grpSpPr>
          <a:xfrm rot="0">
            <a:off x="14208919" y="4464844"/>
            <a:ext cx="3014662" cy="1231519"/>
            <a:chOff x="0" y="0"/>
            <a:chExt cx="4019550" cy="1642026"/>
          </a:xfrm>
        </p:grpSpPr>
        <p:sp>
          <p:nvSpPr>
            <p:cNvPr name="Freeform 36" id="36"/>
            <p:cNvSpPr/>
            <p:nvPr/>
          </p:nvSpPr>
          <p:spPr>
            <a:xfrm flipH="false" flipV="false" rot="0">
              <a:off x="0" y="0"/>
              <a:ext cx="4019550" cy="1642026"/>
            </a:xfrm>
            <a:custGeom>
              <a:avLst/>
              <a:gdLst/>
              <a:ahLst/>
              <a:cxnLst/>
              <a:rect r="r" b="b" t="t" l="l"/>
              <a:pathLst>
                <a:path h="1642026" w="4019550">
                  <a:moveTo>
                    <a:pt x="0" y="0"/>
                  </a:moveTo>
                  <a:lnTo>
                    <a:pt x="4019550" y="0"/>
                  </a:lnTo>
                  <a:lnTo>
                    <a:pt x="4019550" y="1642026"/>
                  </a:lnTo>
                  <a:lnTo>
                    <a:pt x="0" y="1642026"/>
                  </a:lnTo>
                  <a:close/>
                </a:path>
              </a:pathLst>
            </a:custGeom>
            <a:solidFill>
              <a:srgbClr val="EDF5FB"/>
            </a:solidFill>
            <a:ln w="14288" cap="sq">
              <a:solidFill>
                <a:srgbClr val="B9D2E7"/>
              </a:solidFill>
              <a:prstDash val="solid"/>
              <a:miter/>
            </a:ln>
          </p:spPr>
        </p:sp>
        <p:sp>
          <p:nvSpPr>
            <p:cNvPr name="TextBox 37" id="37"/>
            <p:cNvSpPr txBox="true"/>
            <p:nvPr/>
          </p:nvSpPr>
          <p:spPr>
            <a:xfrm>
              <a:off x="0" y="-28575"/>
              <a:ext cx="4019550" cy="1670601"/>
            </a:xfrm>
            <a:prstGeom prst="rect">
              <a:avLst/>
            </a:prstGeom>
          </p:spPr>
          <p:txBody>
            <a:bodyPr anchor="ctr" rtlCol="false" tIns="50800" lIns="50800" bIns="50800" rIns="50800"/>
            <a:lstStyle/>
            <a:p>
              <a:pPr algn="ctr">
                <a:lnSpc>
                  <a:spcPts val="3809"/>
                </a:lnSpc>
              </a:pPr>
              <a:r>
                <a:rPr lang="en-US" sz="3174">
                  <a:solidFill>
                    <a:srgbClr val="202D39"/>
                  </a:solidFill>
                  <a:latin typeface="Arial"/>
                  <a:ea typeface="Arial"/>
                  <a:cs typeface="Arial"/>
                  <a:sym typeface="Arial"/>
                </a:rPr>
                <a:t>Executor</a:t>
              </a:r>
            </a:p>
            <a:p>
              <a:pPr algn="ctr">
                <a:lnSpc>
                  <a:spcPts val="3809"/>
                </a:lnSpc>
              </a:pPr>
              <a:r>
                <a:rPr lang="en-US" sz="3174">
                  <a:solidFill>
                    <a:srgbClr val="202D39"/>
                  </a:solidFill>
                  <a:latin typeface="Arial"/>
                  <a:ea typeface="Arial"/>
                  <a:cs typeface="Arial"/>
                  <a:sym typeface="Arial"/>
                </a:rPr>
                <a:t>Thống kê nhãn</a:t>
              </a:r>
            </a:p>
          </p:txBody>
        </p:sp>
      </p:grpSp>
      <p:grpSp>
        <p:nvGrpSpPr>
          <p:cNvPr name="Group 38" id="38"/>
          <p:cNvGrpSpPr/>
          <p:nvPr/>
        </p:nvGrpSpPr>
        <p:grpSpPr>
          <a:xfrm rot="0">
            <a:off x="7636669" y="6050756"/>
            <a:ext cx="9586912" cy="985838"/>
            <a:chOff x="0" y="0"/>
            <a:chExt cx="12782550" cy="1314450"/>
          </a:xfrm>
        </p:grpSpPr>
        <p:sp>
          <p:nvSpPr>
            <p:cNvPr name="Freeform 39" id="39"/>
            <p:cNvSpPr/>
            <p:nvPr/>
          </p:nvSpPr>
          <p:spPr>
            <a:xfrm flipH="false" flipV="false" rot="0">
              <a:off x="0" y="0"/>
              <a:ext cx="12782550" cy="1314450"/>
            </a:xfrm>
            <a:custGeom>
              <a:avLst/>
              <a:gdLst/>
              <a:ahLst/>
              <a:cxnLst/>
              <a:rect r="r" b="b" t="t" l="l"/>
              <a:pathLst>
                <a:path h="1314450" w="12782550">
                  <a:moveTo>
                    <a:pt x="0" y="0"/>
                  </a:moveTo>
                  <a:lnTo>
                    <a:pt x="12782550" y="0"/>
                  </a:lnTo>
                  <a:lnTo>
                    <a:pt x="12782550" y="1314450"/>
                  </a:lnTo>
                  <a:lnTo>
                    <a:pt x="0" y="1314450"/>
                  </a:lnTo>
                  <a:close/>
                </a:path>
              </a:pathLst>
            </a:custGeom>
            <a:solidFill>
              <a:srgbClr val="2072B7"/>
            </a:solidFill>
            <a:ln w="14288" cap="sq">
              <a:solidFill>
                <a:srgbClr val="2072B7"/>
              </a:solidFill>
              <a:prstDash val="solid"/>
              <a:miter/>
            </a:ln>
          </p:spPr>
        </p:sp>
        <p:sp>
          <p:nvSpPr>
            <p:cNvPr name="TextBox 40" id="40"/>
            <p:cNvSpPr txBox="true"/>
            <p:nvPr/>
          </p:nvSpPr>
          <p:spPr>
            <a:xfrm>
              <a:off x="0" y="-19050"/>
              <a:ext cx="12782550" cy="1333500"/>
            </a:xfrm>
            <a:prstGeom prst="rect">
              <a:avLst/>
            </a:prstGeom>
          </p:spPr>
          <p:txBody>
            <a:bodyPr anchor="ctr" rtlCol="false" tIns="50800" lIns="50800" bIns="50800" rIns="50800"/>
            <a:lstStyle/>
            <a:p>
              <a:pPr algn="ctr">
                <a:lnSpc>
                  <a:spcPts val="4079"/>
                </a:lnSpc>
              </a:pPr>
              <a:r>
                <a:rPr lang="en-US" sz="3399">
                  <a:solidFill>
                    <a:srgbClr val="FFFFFF"/>
                  </a:solidFill>
                  <a:latin typeface="Arial"/>
                  <a:ea typeface="Arial"/>
                  <a:cs typeface="Arial"/>
                  <a:sym typeface="Arial"/>
                </a:rPr>
                <a:t>Tổng hợp thống kê, chọn điểm chia cho các cây</a:t>
              </a:r>
            </a:p>
          </p:txBody>
        </p:sp>
      </p:grpSp>
      <p:grpSp>
        <p:nvGrpSpPr>
          <p:cNvPr name="Group 41" id="41"/>
          <p:cNvGrpSpPr/>
          <p:nvPr/>
        </p:nvGrpSpPr>
        <p:grpSpPr>
          <a:xfrm rot="0">
            <a:off x="7636669" y="8423275"/>
            <a:ext cx="9586912" cy="985838"/>
            <a:chOff x="0" y="0"/>
            <a:chExt cx="12782550" cy="1314450"/>
          </a:xfrm>
        </p:grpSpPr>
        <p:sp>
          <p:nvSpPr>
            <p:cNvPr name="Freeform 42" id="42"/>
            <p:cNvSpPr/>
            <p:nvPr/>
          </p:nvSpPr>
          <p:spPr>
            <a:xfrm flipH="false" flipV="false" rot="0">
              <a:off x="0" y="0"/>
              <a:ext cx="12782550" cy="1314450"/>
            </a:xfrm>
            <a:custGeom>
              <a:avLst/>
              <a:gdLst/>
              <a:ahLst/>
              <a:cxnLst/>
              <a:rect r="r" b="b" t="t" l="l"/>
              <a:pathLst>
                <a:path h="1314450" w="12782550">
                  <a:moveTo>
                    <a:pt x="0" y="0"/>
                  </a:moveTo>
                  <a:lnTo>
                    <a:pt x="12782550" y="0"/>
                  </a:lnTo>
                  <a:lnTo>
                    <a:pt x="12782550" y="1314450"/>
                  </a:lnTo>
                  <a:lnTo>
                    <a:pt x="0" y="1314450"/>
                  </a:lnTo>
                  <a:close/>
                </a:path>
              </a:pathLst>
            </a:custGeom>
            <a:solidFill>
              <a:srgbClr val="2072B7"/>
            </a:solidFill>
            <a:ln w="14288" cap="sq">
              <a:solidFill>
                <a:srgbClr val="2072B7"/>
              </a:solidFill>
              <a:prstDash val="solid"/>
              <a:miter/>
            </a:ln>
          </p:spPr>
        </p:sp>
        <p:sp>
          <p:nvSpPr>
            <p:cNvPr name="TextBox 43" id="43"/>
            <p:cNvSpPr txBox="true"/>
            <p:nvPr/>
          </p:nvSpPr>
          <p:spPr>
            <a:xfrm>
              <a:off x="0" y="-19050"/>
              <a:ext cx="12782550" cy="1333500"/>
            </a:xfrm>
            <a:prstGeom prst="rect">
              <a:avLst/>
            </a:prstGeom>
          </p:spPr>
          <p:txBody>
            <a:bodyPr anchor="ctr" rtlCol="false" tIns="50800" lIns="50800" bIns="50800" rIns="50800"/>
            <a:lstStyle/>
            <a:p>
              <a:pPr algn="ctr">
                <a:lnSpc>
                  <a:spcPts val="4079"/>
                </a:lnSpc>
              </a:pPr>
              <a:r>
                <a:rPr lang="en-US" sz="3399">
                  <a:solidFill>
                    <a:srgbClr val="FFFFFF"/>
                  </a:solidFill>
                  <a:latin typeface="Arial"/>
                  <a:ea typeface="Arial"/>
                  <a:cs typeface="Arial"/>
                  <a:sym typeface="Arial"/>
                </a:rPr>
                <a:t>Rừng cây dự đoán và bỏ phiếu đa số</a:t>
              </a:r>
            </a:p>
          </p:txBody>
        </p:sp>
      </p:grpSp>
      <p:sp>
        <p:nvSpPr>
          <p:cNvPr name="TextBox 44" id="44"/>
          <p:cNvSpPr txBox="true"/>
          <p:nvPr/>
        </p:nvSpPr>
        <p:spPr>
          <a:xfrm rot="0">
            <a:off x="857250" y="3328987"/>
            <a:ext cx="6000750" cy="1152525"/>
          </a:xfrm>
          <a:prstGeom prst="rect">
            <a:avLst/>
          </a:prstGeom>
        </p:spPr>
        <p:txBody>
          <a:bodyPr anchor="t" rtlCol="false" tIns="0" lIns="0" bIns="0" rIns="0">
            <a:spAutoFit/>
          </a:bodyPr>
          <a:lstStyle/>
          <a:p>
            <a:pPr algn="l">
              <a:lnSpc>
                <a:spcPts val="4484"/>
              </a:lnSpc>
            </a:pPr>
            <a:r>
              <a:rPr lang="en-US" sz="3737">
                <a:solidFill>
                  <a:srgbClr val="202D39"/>
                </a:solidFill>
                <a:latin typeface="Arial"/>
                <a:ea typeface="Arial"/>
                <a:cs typeface="Arial"/>
                <a:sym typeface="Arial"/>
              </a:rPr>
              <a:t>Dữ liệu được chia thành nhiều phân vùng.</a:t>
            </a:r>
          </a:p>
        </p:txBody>
      </p:sp>
      <p:sp>
        <p:nvSpPr>
          <p:cNvPr name="TextBox 45" id="45"/>
          <p:cNvSpPr txBox="true"/>
          <p:nvPr/>
        </p:nvSpPr>
        <p:spPr>
          <a:xfrm rot="0">
            <a:off x="857250" y="4929187"/>
            <a:ext cx="6000750" cy="1152525"/>
          </a:xfrm>
          <a:prstGeom prst="rect">
            <a:avLst/>
          </a:prstGeom>
        </p:spPr>
        <p:txBody>
          <a:bodyPr anchor="t" rtlCol="false" tIns="0" lIns="0" bIns="0" rIns="0">
            <a:spAutoFit/>
          </a:bodyPr>
          <a:lstStyle/>
          <a:p>
            <a:pPr algn="l">
              <a:lnSpc>
                <a:spcPts val="4484"/>
              </a:lnSpc>
            </a:pPr>
            <a:r>
              <a:rPr lang="en-US" sz="3737">
                <a:solidFill>
                  <a:srgbClr val="202D39"/>
                </a:solidFill>
                <a:latin typeface="Arial"/>
                <a:ea typeface="Arial"/>
                <a:cs typeface="Arial"/>
                <a:sym typeface="Arial"/>
              </a:rPr>
              <a:t>Executor tính thống kê trên phần dữ liệu được giao.</a:t>
            </a:r>
          </a:p>
        </p:txBody>
      </p:sp>
      <p:sp>
        <p:nvSpPr>
          <p:cNvPr name="TextBox 46" id="46"/>
          <p:cNvSpPr txBox="true"/>
          <p:nvPr/>
        </p:nvSpPr>
        <p:spPr>
          <a:xfrm rot="0">
            <a:off x="857250" y="6529387"/>
            <a:ext cx="6000750" cy="1714500"/>
          </a:xfrm>
          <a:prstGeom prst="rect">
            <a:avLst/>
          </a:prstGeom>
        </p:spPr>
        <p:txBody>
          <a:bodyPr anchor="t" rtlCol="false" tIns="0" lIns="0" bIns="0" rIns="0">
            <a:spAutoFit/>
          </a:bodyPr>
          <a:lstStyle/>
          <a:p>
            <a:pPr algn="l">
              <a:lnSpc>
                <a:spcPts val="4484"/>
              </a:lnSpc>
            </a:pPr>
            <a:r>
              <a:rPr lang="en-US" sz="3737">
                <a:solidFill>
                  <a:srgbClr val="202D39"/>
                </a:solidFill>
                <a:latin typeface="Arial"/>
                <a:ea typeface="Arial"/>
                <a:cs typeface="Arial"/>
                <a:sym typeface="Arial"/>
              </a:rPr>
              <a:t>Kết hợp thống kê để xây cây. Khi dự đoán, rừng tổng hợp nhãn.</a:t>
            </a:r>
          </a:p>
        </p:txBody>
      </p:sp>
      <p:sp>
        <p:nvSpPr>
          <p:cNvPr name="TextBox 47" id="4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20</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668"/>
            <a:ext cx="18288000" cy="1070038"/>
            <a:chOff x="0" y="0"/>
            <a:chExt cx="24384000" cy="1426718"/>
          </a:xfrm>
        </p:grpSpPr>
        <p:sp>
          <p:nvSpPr>
            <p:cNvPr name="Freeform 3" id="3"/>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2072B7"/>
            </a:solidFill>
          </p:spPr>
        </p:sp>
      </p:grpSp>
      <p:grpSp>
        <p:nvGrpSpPr>
          <p:cNvPr name="Group 4" id="4"/>
          <p:cNvGrpSpPr/>
          <p:nvPr/>
        </p:nvGrpSpPr>
        <p:grpSpPr>
          <a:xfrm rot="0">
            <a:off x="477926" y="3334"/>
            <a:ext cx="4935598" cy="1027605"/>
            <a:chOff x="0" y="0"/>
            <a:chExt cx="6580797" cy="1370140"/>
          </a:xfrm>
        </p:grpSpPr>
        <p:sp>
          <p:nvSpPr>
            <p:cNvPr name="Freeform 5" id="5"/>
            <p:cNvSpPr/>
            <p:nvPr/>
          </p:nvSpPr>
          <p:spPr>
            <a:xfrm flipH="false" flipV="false" rot="0">
              <a:off x="0" y="0"/>
              <a:ext cx="6580759" cy="1370203"/>
            </a:xfrm>
            <a:custGeom>
              <a:avLst/>
              <a:gdLst/>
              <a:ahLst/>
              <a:cxnLst/>
              <a:rect r="r" b="b" t="t" l="l"/>
              <a:pathLst>
                <a:path h="1370203" w="6580759">
                  <a:moveTo>
                    <a:pt x="0" y="0"/>
                  </a:moveTo>
                  <a:lnTo>
                    <a:pt x="6580759" y="0"/>
                  </a:lnTo>
                  <a:lnTo>
                    <a:pt x="6580759" y="1370203"/>
                  </a:lnTo>
                  <a:lnTo>
                    <a:pt x="0" y="1370203"/>
                  </a:lnTo>
                  <a:lnTo>
                    <a:pt x="0" y="0"/>
                  </a:lnTo>
                  <a:close/>
                </a:path>
              </a:pathLst>
            </a:custGeom>
            <a:blipFill>
              <a:blip r:embed="rId2"/>
              <a:stretch>
                <a:fillRect l="-191" t="0" r="-192" b="4"/>
              </a:stretch>
            </a:blipFill>
          </p:spPr>
        </p:sp>
      </p:grpSp>
      <p:grpSp>
        <p:nvGrpSpPr>
          <p:cNvPr name="Group 6" id="6"/>
          <p:cNvGrpSpPr/>
          <p:nvPr/>
        </p:nvGrpSpPr>
        <p:grpSpPr>
          <a:xfrm rot="0">
            <a:off x="2663190" y="10082212"/>
            <a:ext cx="15624810" cy="204845"/>
            <a:chOff x="0" y="0"/>
            <a:chExt cx="20833080" cy="273126"/>
          </a:xfrm>
        </p:grpSpPr>
        <p:sp>
          <p:nvSpPr>
            <p:cNvPr name="Freeform 7" id="7"/>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2072B7"/>
            </a:solidFill>
          </p:spPr>
        </p:sp>
      </p:grpSp>
      <p:grpSp>
        <p:nvGrpSpPr>
          <p:cNvPr name="Group 8" id="8"/>
          <p:cNvGrpSpPr/>
          <p:nvPr/>
        </p:nvGrpSpPr>
        <p:grpSpPr>
          <a:xfrm rot="0">
            <a:off x="2743238" y="10108759"/>
            <a:ext cx="15544724" cy="152705"/>
            <a:chOff x="0" y="0"/>
            <a:chExt cx="20726298" cy="203606"/>
          </a:xfrm>
        </p:grpSpPr>
        <p:sp>
          <p:nvSpPr>
            <p:cNvPr name="Freeform 9" id="9"/>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3"/>
              <a:stretch>
                <a:fillRect l="0" t="0" r="0" b="-35745"/>
              </a:stretch>
            </a:blipFill>
          </p:spPr>
        </p:sp>
      </p:grpSp>
      <p:sp>
        <p:nvSpPr>
          <p:cNvPr name="TextBox 10" id="10"/>
          <p:cNvSpPr txBox="true"/>
          <p:nvPr/>
        </p:nvSpPr>
        <p:spPr>
          <a:xfrm rot="0">
            <a:off x="302009" y="10002231"/>
            <a:ext cx="2254501" cy="327536"/>
          </a:xfrm>
          <a:prstGeom prst="rect">
            <a:avLst/>
          </a:prstGeom>
        </p:spPr>
        <p:txBody>
          <a:bodyPr anchor="t" rtlCol="false" tIns="0" lIns="0" bIns="0" rIns="0">
            <a:spAutoFit/>
          </a:bodyPr>
          <a:lstStyle/>
          <a:p>
            <a:pPr algn="l">
              <a:lnSpc>
                <a:spcPts val="1800"/>
              </a:lnSpc>
            </a:pPr>
            <a:r>
              <a:rPr lang="en-US" sz="1500">
                <a:solidFill>
                  <a:srgbClr val="0070C0"/>
                </a:solidFill>
                <a:latin typeface="Calibri (MS)"/>
                <a:ea typeface="Calibri (MS)"/>
                <a:cs typeface="Calibri (MS)"/>
                <a:sym typeface="Calibri (MS)"/>
              </a:rPr>
              <a:t>https://huit.edu.vn</a:t>
            </a:r>
          </a:p>
        </p:txBody>
      </p:sp>
      <p:sp>
        <p:nvSpPr>
          <p:cNvPr name="TextBox 11" id="11"/>
          <p:cNvSpPr txBox="true"/>
          <p:nvPr/>
        </p:nvSpPr>
        <p:spPr>
          <a:xfrm rot="0">
            <a:off x="928688" y="1400175"/>
            <a:ext cx="16430625" cy="1014413"/>
          </a:xfrm>
          <a:prstGeom prst="rect">
            <a:avLst/>
          </a:prstGeom>
        </p:spPr>
        <p:txBody>
          <a:bodyPr anchor="t" rtlCol="false" tIns="0" lIns="0" bIns="0" rIns="0">
            <a:spAutoFit/>
          </a:bodyPr>
          <a:lstStyle/>
          <a:p>
            <a:pPr algn="l">
              <a:lnSpc>
                <a:spcPts val="5130"/>
              </a:lnSpc>
            </a:pPr>
            <a:r>
              <a:rPr lang="en-US" sz="4275" b="true">
                <a:solidFill>
                  <a:srgbClr val="2072B7"/>
                </a:solidFill>
                <a:latin typeface="Calibri (MS) Bold"/>
                <a:ea typeface="Calibri (MS) Bold"/>
                <a:cs typeface="Calibri (MS) Bold"/>
                <a:sym typeface="Calibri (MS) Bold"/>
              </a:rPr>
              <a:t>Dữ liệu và nhãn mục tiêu</a:t>
            </a:r>
          </a:p>
        </p:txBody>
      </p:sp>
      <p:grpSp>
        <p:nvGrpSpPr>
          <p:cNvPr name="Group 12" id="12"/>
          <p:cNvGrpSpPr/>
          <p:nvPr/>
        </p:nvGrpSpPr>
        <p:grpSpPr>
          <a:xfrm rot="0">
            <a:off x="841524" y="2414588"/>
            <a:ext cx="9820631" cy="5679281"/>
            <a:chOff x="0" y="0"/>
            <a:chExt cx="12192000" cy="7050646"/>
          </a:xfrm>
        </p:grpSpPr>
        <p:sp>
          <p:nvSpPr>
            <p:cNvPr name="Freeform 13" id="13"/>
            <p:cNvSpPr/>
            <p:nvPr/>
          </p:nvSpPr>
          <p:spPr>
            <a:xfrm flipH="false" flipV="false" rot="0">
              <a:off x="0" y="0"/>
              <a:ext cx="12192000" cy="7050659"/>
            </a:xfrm>
            <a:custGeom>
              <a:avLst/>
              <a:gdLst/>
              <a:ahLst/>
              <a:cxnLst/>
              <a:rect r="r" b="b" t="t" l="l"/>
              <a:pathLst>
                <a:path h="7050659" w="12192000">
                  <a:moveTo>
                    <a:pt x="0" y="0"/>
                  </a:moveTo>
                  <a:lnTo>
                    <a:pt x="12192000" y="0"/>
                  </a:lnTo>
                  <a:lnTo>
                    <a:pt x="12192000" y="7050659"/>
                  </a:lnTo>
                  <a:lnTo>
                    <a:pt x="0" y="7050659"/>
                  </a:lnTo>
                  <a:lnTo>
                    <a:pt x="0" y="0"/>
                  </a:lnTo>
                  <a:close/>
                </a:path>
              </a:pathLst>
            </a:custGeom>
            <a:blipFill>
              <a:blip r:embed="rId4"/>
              <a:stretch>
                <a:fillRect l="-28874" t="-16680" r="0" b="-12193"/>
              </a:stretch>
            </a:blipFill>
          </p:spPr>
        </p:sp>
      </p:grpSp>
      <p:sp>
        <p:nvSpPr>
          <p:cNvPr name="TextBox 14" id="14"/>
          <p:cNvSpPr txBox="true"/>
          <p:nvPr/>
        </p:nvSpPr>
        <p:spPr>
          <a:xfrm rot="0">
            <a:off x="10787062" y="2933700"/>
            <a:ext cx="6715125" cy="1266825"/>
          </a:xfrm>
          <a:prstGeom prst="rect">
            <a:avLst/>
          </a:prstGeom>
        </p:spPr>
        <p:txBody>
          <a:bodyPr anchor="t" rtlCol="false" tIns="0" lIns="0" bIns="0" rIns="0">
            <a:spAutoFit/>
          </a:bodyPr>
          <a:lstStyle/>
          <a:p>
            <a:pPr algn="l">
              <a:lnSpc>
                <a:spcPts val="3644"/>
              </a:lnSpc>
            </a:pPr>
            <a:r>
              <a:rPr lang="en-US" sz="3037">
                <a:solidFill>
                  <a:srgbClr val="222222"/>
                </a:solidFill>
                <a:latin typeface="Calibri (MS)"/>
                <a:ea typeface="Calibri (MS)"/>
                <a:cs typeface="Calibri (MS)"/>
                <a:sym typeface="Calibri (MS)"/>
              </a:rPr>
              <a:t>Nguồn BTS, hàng không Hoa Kỳ năm 2024.</a:t>
            </a:r>
          </a:p>
        </p:txBody>
      </p:sp>
      <p:sp>
        <p:nvSpPr>
          <p:cNvPr name="TextBox 15" id="15"/>
          <p:cNvSpPr txBox="true"/>
          <p:nvPr/>
        </p:nvSpPr>
        <p:spPr>
          <a:xfrm rot="0">
            <a:off x="10787062" y="4771430"/>
            <a:ext cx="6715125" cy="1266825"/>
          </a:xfrm>
          <a:prstGeom prst="rect">
            <a:avLst/>
          </a:prstGeom>
        </p:spPr>
        <p:txBody>
          <a:bodyPr anchor="t" rtlCol="false" tIns="0" lIns="0" bIns="0" rIns="0">
            <a:spAutoFit/>
          </a:bodyPr>
          <a:lstStyle/>
          <a:p>
            <a:pPr algn="l">
              <a:lnSpc>
                <a:spcPts val="3644"/>
              </a:lnSpc>
            </a:pPr>
            <a:r>
              <a:rPr lang="en-US" sz="3037">
                <a:solidFill>
                  <a:srgbClr val="222222"/>
                </a:solidFill>
                <a:latin typeface="Calibri (MS)"/>
                <a:ea typeface="Calibri (MS)"/>
                <a:cs typeface="Calibri (MS)"/>
                <a:sym typeface="Calibri (MS)"/>
              </a:rPr>
              <a:t>6 nhãn: OnTime, Carrier, Weather, NAS, Security, LateAircraft.</a:t>
            </a:r>
          </a:p>
        </p:txBody>
      </p:sp>
      <p:sp>
        <p:nvSpPr>
          <p:cNvPr name="TextBox 16" id="16"/>
          <p:cNvSpPr txBox="true"/>
          <p:nvPr/>
        </p:nvSpPr>
        <p:spPr>
          <a:xfrm rot="0">
            <a:off x="10787062" y="6609159"/>
            <a:ext cx="6715125" cy="1266825"/>
          </a:xfrm>
          <a:prstGeom prst="rect">
            <a:avLst/>
          </a:prstGeom>
        </p:spPr>
        <p:txBody>
          <a:bodyPr anchor="t" rtlCol="false" tIns="0" lIns="0" bIns="0" rIns="0">
            <a:spAutoFit/>
          </a:bodyPr>
          <a:lstStyle/>
          <a:p>
            <a:pPr algn="l">
              <a:lnSpc>
                <a:spcPts val="3644"/>
              </a:lnSpc>
            </a:pPr>
            <a:r>
              <a:rPr lang="en-US" sz="3037">
                <a:solidFill>
                  <a:srgbClr val="222222"/>
                </a:solidFill>
                <a:latin typeface="Calibri (MS)"/>
                <a:ea typeface="Calibri (MS)"/>
                <a:cs typeface="Calibri (MS)"/>
                <a:sym typeface="Calibri (MS)"/>
              </a:rPr>
              <a:t>OnTime khoảng 79,2% dữ liệu sạch. Các lớp trễ ít gặp hơn nhiều.</a:t>
            </a:r>
          </a:p>
        </p:txBody>
      </p:sp>
      <p:sp>
        <p:nvSpPr>
          <p:cNvPr name="TextBox 17" id="17"/>
          <p:cNvSpPr txBox="true"/>
          <p:nvPr/>
        </p:nvSpPr>
        <p:spPr>
          <a:xfrm rot="0">
            <a:off x="1768995" y="8379619"/>
            <a:ext cx="6894466" cy="400050"/>
          </a:xfrm>
          <a:prstGeom prst="rect">
            <a:avLst/>
          </a:prstGeom>
        </p:spPr>
        <p:txBody>
          <a:bodyPr anchor="t" rtlCol="false" tIns="0" lIns="0" bIns="0" rIns="0">
            <a:spAutoFit/>
          </a:bodyPr>
          <a:lstStyle/>
          <a:p>
            <a:pPr algn="l">
              <a:lnSpc>
                <a:spcPts val="2700"/>
              </a:lnSpc>
            </a:pPr>
            <a:r>
              <a:rPr lang="en-US" sz="2250">
                <a:solidFill>
                  <a:srgbClr val="2072B7"/>
                </a:solidFill>
                <a:latin typeface="Calibri (MS)"/>
                <a:ea typeface="Calibri (MS)"/>
                <a:cs typeface="Calibri (MS)"/>
                <a:sym typeface="Calibri (MS)"/>
              </a:rPr>
              <a:t>Phân bố trên 6.965.267 bản ghi sạch</a:t>
            </a:r>
          </a:p>
        </p:txBody>
      </p:sp>
      <p:sp>
        <p:nvSpPr>
          <p:cNvPr name="TextBox 18" id="18"/>
          <p:cNvSpPr txBox="true"/>
          <p:nvPr/>
        </p:nvSpPr>
        <p:spPr>
          <a:xfrm rot="0">
            <a:off x="1768995" y="8951119"/>
            <a:ext cx="13099485" cy="742950"/>
          </a:xfrm>
          <a:prstGeom prst="rect">
            <a:avLst/>
          </a:prstGeom>
        </p:spPr>
        <p:txBody>
          <a:bodyPr anchor="t" rtlCol="false" tIns="0" lIns="0" bIns="0" rIns="0">
            <a:spAutoFit/>
          </a:bodyPr>
          <a:lstStyle/>
          <a:p>
            <a:pPr algn="l">
              <a:lnSpc>
                <a:spcPts val="2700"/>
              </a:lnSpc>
            </a:pPr>
            <a:r>
              <a:rPr lang="en-US" sz="2250">
                <a:solidFill>
                  <a:srgbClr val="222222"/>
                </a:solidFill>
                <a:latin typeface="Calibri (MS)"/>
                <a:ea typeface="Calibri (MS)"/>
                <a:cs typeface="Calibri (MS)"/>
                <a:sym typeface="Calibri (MS)"/>
              </a:rPr>
              <a:t>Carrier: hãng bay · Weather: thời tiết · NAS: hệ thống không phận</a:t>
            </a:r>
          </a:p>
          <a:p>
            <a:pPr algn="l">
              <a:lnSpc>
                <a:spcPts val="2700"/>
              </a:lnSpc>
            </a:pPr>
            <a:r>
              <a:rPr lang="en-US" sz="2250">
                <a:solidFill>
                  <a:srgbClr val="222222"/>
                </a:solidFill>
                <a:latin typeface="Calibri (MS)"/>
                <a:ea typeface="Calibri (MS)"/>
                <a:cs typeface="Calibri (MS)"/>
                <a:sym typeface="Calibri (MS)"/>
              </a:rPr>
              <a:t>Security: an ninh · LateAircraft: máy bay đến muộn</a:t>
            </a:r>
          </a:p>
        </p:txBody>
      </p:sp>
      <p:sp>
        <p:nvSpPr>
          <p:cNvPr name="TextBox 19" id="1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21</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1F72B6"/>
        </a:solidFill>
      </p:bgPr>
    </p:bg>
    <p:spTree>
      <p:nvGrpSpPr>
        <p:cNvPr id="1" name=""/>
        <p:cNvGrpSpPr/>
        <p:nvPr/>
      </p:nvGrpSpPr>
      <p:grpSpPr>
        <a:xfrm>
          <a:off x="0" y="0"/>
          <a:ext cx="0" cy="0"/>
          <a:chOff x="0" y="0"/>
          <a:chExt cx="0" cy="0"/>
        </a:xfrm>
      </p:grpSpPr>
      <p:grpSp>
        <p:nvGrpSpPr>
          <p:cNvPr name="Group 2" id="2"/>
          <p:cNvGrpSpPr/>
          <p:nvPr/>
        </p:nvGrpSpPr>
        <p:grpSpPr>
          <a:xfrm rot="0">
            <a:off x="0" y="-12668"/>
            <a:ext cx="18288000" cy="1070038"/>
            <a:chOff x="0" y="0"/>
            <a:chExt cx="24384000" cy="1426718"/>
          </a:xfrm>
        </p:grpSpPr>
        <p:sp>
          <p:nvSpPr>
            <p:cNvPr name="Freeform 3" id="3"/>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FFFFFF"/>
            </a:solidFill>
          </p:spPr>
        </p:sp>
      </p:grpSp>
      <p:grpSp>
        <p:nvGrpSpPr>
          <p:cNvPr name="Group 4" id="4"/>
          <p:cNvGrpSpPr/>
          <p:nvPr/>
        </p:nvGrpSpPr>
        <p:grpSpPr>
          <a:xfrm rot="0">
            <a:off x="477926" y="3334"/>
            <a:ext cx="4935598" cy="1027605"/>
            <a:chOff x="0" y="0"/>
            <a:chExt cx="6580797" cy="1370140"/>
          </a:xfrm>
        </p:grpSpPr>
        <p:sp>
          <p:nvSpPr>
            <p:cNvPr name="Freeform 5" id="5"/>
            <p:cNvSpPr/>
            <p:nvPr/>
          </p:nvSpPr>
          <p:spPr>
            <a:xfrm flipH="false" flipV="false" rot="0">
              <a:off x="0" y="0"/>
              <a:ext cx="6580759" cy="1370203"/>
            </a:xfrm>
            <a:custGeom>
              <a:avLst/>
              <a:gdLst/>
              <a:ahLst/>
              <a:cxnLst/>
              <a:rect r="r" b="b" t="t" l="l"/>
              <a:pathLst>
                <a:path h="1370203" w="6580759">
                  <a:moveTo>
                    <a:pt x="0" y="0"/>
                  </a:moveTo>
                  <a:lnTo>
                    <a:pt x="6580759" y="0"/>
                  </a:lnTo>
                  <a:lnTo>
                    <a:pt x="6580759" y="1370203"/>
                  </a:lnTo>
                  <a:lnTo>
                    <a:pt x="0" y="1370203"/>
                  </a:lnTo>
                  <a:lnTo>
                    <a:pt x="0" y="0"/>
                  </a:lnTo>
                  <a:close/>
                </a:path>
              </a:pathLst>
            </a:custGeom>
            <a:blipFill>
              <a:blip r:embed="rId2"/>
              <a:stretch>
                <a:fillRect l="0" t="0" r="-384" b="4"/>
              </a:stretch>
            </a:blipFill>
          </p:spPr>
        </p:sp>
      </p:grpSp>
      <p:grpSp>
        <p:nvGrpSpPr>
          <p:cNvPr name="Group 6" id="6"/>
          <p:cNvGrpSpPr/>
          <p:nvPr/>
        </p:nvGrpSpPr>
        <p:grpSpPr>
          <a:xfrm rot="0">
            <a:off x="2663190" y="10082212"/>
            <a:ext cx="15624810" cy="204845"/>
            <a:chOff x="0" y="0"/>
            <a:chExt cx="20833080" cy="273126"/>
          </a:xfrm>
        </p:grpSpPr>
        <p:sp>
          <p:nvSpPr>
            <p:cNvPr name="Freeform 7" id="7"/>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FFFFFF"/>
            </a:solidFill>
          </p:spPr>
        </p:sp>
      </p:grpSp>
      <p:grpSp>
        <p:nvGrpSpPr>
          <p:cNvPr name="Group 8" id="8"/>
          <p:cNvGrpSpPr/>
          <p:nvPr/>
        </p:nvGrpSpPr>
        <p:grpSpPr>
          <a:xfrm rot="0">
            <a:off x="2743238" y="10108759"/>
            <a:ext cx="15544724" cy="152705"/>
            <a:chOff x="0" y="0"/>
            <a:chExt cx="20726298" cy="203606"/>
          </a:xfrm>
        </p:grpSpPr>
        <p:sp>
          <p:nvSpPr>
            <p:cNvPr name="Freeform 9" id="9"/>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3"/>
              <a:stretch>
                <a:fillRect l="0" t="0" r="0" b="-35745"/>
              </a:stretch>
            </a:blipFill>
          </p:spPr>
        </p:sp>
      </p:grpSp>
      <p:sp>
        <p:nvSpPr>
          <p:cNvPr name="TextBox 10" id="10"/>
          <p:cNvSpPr txBox="true"/>
          <p:nvPr/>
        </p:nvSpPr>
        <p:spPr>
          <a:xfrm rot="0">
            <a:off x="302009" y="10040331"/>
            <a:ext cx="2254501" cy="228600"/>
          </a:xfrm>
          <a:prstGeom prst="rect">
            <a:avLst/>
          </a:prstGeom>
        </p:spPr>
        <p:txBody>
          <a:bodyPr anchor="t" rtlCol="false" tIns="0" lIns="0" bIns="0" rIns="0">
            <a:spAutoFit/>
          </a:bodyPr>
          <a:lstStyle/>
          <a:p>
            <a:pPr algn="l">
              <a:lnSpc>
                <a:spcPts val="1800"/>
              </a:lnSpc>
            </a:pPr>
            <a:r>
              <a:rPr lang="en-US" sz="1500">
                <a:solidFill>
                  <a:srgbClr val="FFFFFF"/>
                </a:solidFill>
                <a:latin typeface="Quicksand"/>
                <a:ea typeface="Quicksand"/>
                <a:cs typeface="Quicksand"/>
                <a:sym typeface="Quicksand"/>
              </a:rPr>
              <a:t>https://huit.edu.vn</a:t>
            </a:r>
          </a:p>
        </p:txBody>
      </p:sp>
      <p:sp>
        <p:nvSpPr>
          <p:cNvPr name="TextBox 11" id="11"/>
          <p:cNvSpPr txBox="true"/>
          <p:nvPr/>
        </p:nvSpPr>
        <p:spPr>
          <a:xfrm rot="0">
            <a:off x="3201001" y="4713732"/>
            <a:ext cx="11885999" cy="916686"/>
          </a:xfrm>
          <a:prstGeom prst="rect">
            <a:avLst/>
          </a:prstGeom>
        </p:spPr>
        <p:txBody>
          <a:bodyPr anchor="t" rtlCol="false" tIns="0" lIns="0" bIns="0" rIns="0">
            <a:spAutoFit/>
          </a:bodyPr>
          <a:lstStyle/>
          <a:p>
            <a:pPr algn="ctr">
              <a:lnSpc>
                <a:spcPts val="6911"/>
              </a:lnSpc>
            </a:pPr>
            <a:r>
              <a:rPr lang="en-US" b="true" sz="6399">
                <a:solidFill>
                  <a:srgbClr val="FFFFFF"/>
                </a:solidFill>
                <a:latin typeface="Quicksand Bold"/>
                <a:ea typeface="Quicksand Bold"/>
                <a:cs typeface="Quicksand Bold"/>
                <a:sym typeface="Quicksand Bold"/>
              </a:rPr>
              <a:t>THỰC NGHIỆM VÀ KẾT QUẢ</a:t>
            </a:r>
          </a:p>
        </p:txBody>
      </p:sp>
      <p:sp>
        <p:nvSpPr>
          <p:cNvPr name="TextBox 12" id="1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Noto Sans"/>
                <a:ea typeface="Noto Sans"/>
                <a:cs typeface="Noto Sans"/>
                <a:sym typeface="Noto Sans"/>
              </a:rPr>
              <a:t>22</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668"/>
            <a:ext cx="18288000" cy="1070038"/>
            <a:chOff x="0" y="0"/>
            <a:chExt cx="24384000" cy="1426718"/>
          </a:xfrm>
        </p:grpSpPr>
        <p:sp>
          <p:nvSpPr>
            <p:cNvPr name="Freeform 3" id="3"/>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2072B7"/>
            </a:solidFill>
          </p:spPr>
        </p:sp>
      </p:grpSp>
      <p:grpSp>
        <p:nvGrpSpPr>
          <p:cNvPr name="Group 4" id="4"/>
          <p:cNvGrpSpPr/>
          <p:nvPr/>
        </p:nvGrpSpPr>
        <p:grpSpPr>
          <a:xfrm rot="0">
            <a:off x="477926" y="3334"/>
            <a:ext cx="4935598" cy="1027605"/>
            <a:chOff x="0" y="0"/>
            <a:chExt cx="6580797" cy="1370140"/>
          </a:xfrm>
        </p:grpSpPr>
        <p:sp>
          <p:nvSpPr>
            <p:cNvPr name="Freeform 5" id="5"/>
            <p:cNvSpPr/>
            <p:nvPr/>
          </p:nvSpPr>
          <p:spPr>
            <a:xfrm flipH="false" flipV="false" rot="0">
              <a:off x="0" y="0"/>
              <a:ext cx="6580759" cy="1370203"/>
            </a:xfrm>
            <a:custGeom>
              <a:avLst/>
              <a:gdLst/>
              <a:ahLst/>
              <a:cxnLst/>
              <a:rect r="r" b="b" t="t" l="l"/>
              <a:pathLst>
                <a:path h="1370203" w="6580759">
                  <a:moveTo>
                    <a:pt x="0" y="0"/>
                  </a:moveTo>
                  <a:lnTo>
                    <a:pt x="6580759" y="0"/>
                  </a:lnTo>
                  <a:lnTo>
                    <a:pt x="6580759" y="1370203"/>
                  </a:lnTo>
                  <a:lnTo>
                    <a:pt x="0" y="1370203"/>
                  </a:lnTo>
                  <a:lnTo>
                    <a:pt x="0" y="0"/>
                  </a:lnTo>
                  <a:close/>
                </a:path>
              </a:pathLst>
            </a:custGeom>
            <a:blipFill>
              <a:blip r:embed="rId3"/>
              <a:stretch>
                <a:fillRect l="-191" t="0" r="-192" b="4"/>
              </a:stretch>
            </a:blipFill>
          </p:spPr>
        </p:sp>
      </p:grpSp>
      <p:grpSp>
        <p:nvGrpSpPr>
          <p:cNvPr name="Group 6" id="6"/>
          <p:cNvGrpSpPr/>
          <p:nvPr/>
        </p:nvGrpSpPr>
        <p:grpSpPr>
          <a:xfrm rot="0">
            <a:off x="2663190" y="10082212"/>
            <a:ext cx="15624810" cy="204845"/>
            <a:chOff x="0" y="0"/>
            <a:chExt cx="20833080" cy="273126"/>
          </a:xfrm>
        </p:grpSpPr>
        <p:sp>
          <p:nvSpPr>
            <p:cNvPr name="Freeform 7" id="7"/>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2072B7"/>
            </a:solidFill>
          </p:spPr>
        </p:sp>
      </p:grpSp>
      <p:grpSp>
        <p:nvGrpSpPr>
          <p:cNvPr name="Group 8" id="8"/>
          <p:cNvGrpSpPr/>
          <p:nvPr/>
        </p:nvGrpSpPr>
        <p:grpSpPr>
          <a:xfrm rot="0">
            <a:off x="2743238" y="10108759"/>
            <a:ext cx="15544724" cy="152705"/>
            <a:chOff x="0" y="0"/>
            <a:chExt cx="20726298" cy="203606"/>
          </a:xfrm>
        </p:grpSpPr>
        <p:sp>
          <p:nvSpPr>
            <p:cNvPr name="Freeform 9" id="9"/>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4"/>
              <a:stretch>
                <a:fillRect l="0" t="0" r="0" b="-35745"/>
              </a:stretch>
            </a:blipFill>
          </p:spPr>
        </p:sp>
      </p:grpSp>
      <p:sp>
        <p:nvSpPr>
          <p:cNvPr name="TextBox 10" id="10"/>
          <p:cNvSpPr txBox="true"/>
          <p:nvPr/>
        </p:nvSpPr>
        <p:spPr>
          <a:xfrm rot="0">
            <a:off x="302009" y="10002231"/>
            <a:ext cx="2254501" cy="327536"/>
          </a:xfrm>
          <a:prstGeom prst="rect">
            <a:avLst/>
          </a:prstGeom>
        </p:spPr>
        <p:txBody>
          <a:bodyPr anchor="t" rtlCol="false" tIns="0" lIns="0" bIns="0" rIns="0">
            <a:spAutoFit/>
          </a:bodyPr>
          <a:lstStyle/>
          <a:p>
            <a:pPr algn="l">
              <a:lnSpc>
                <a:spcPts val="1800"/>
              </a:lnSpc>
            </a:pPr>
            <a:r>
              <a:rPr lang="en-US" sz="1500">
                <a:solidFill>
                  <a:srgbClr val="0070C0"/>
                </a:solidFill>
                <a:latin typeface="Calibri (MS)"/>
                <a:ea typeface="Calibri (MS)"/>
                <a:cs typeface="Calibri (MS)"/>
                <a:sym typeface="Calibri (MS)"/>
              </a:rPr>
              <a:t>https://huit.edu.vn</a:t>
            </a:r>
          </a:p>
        </p:txBody>
      </p:sp>
      <p:sp>
        <p:nvSpPr>
          <p:cNvPr name="TextBox 11" id="11"/>
          <p:cNvSpPr txBox="true"/>
          <p:nvPr/>
        </p:nvSpPr>
        <p:spPr>
          <a:xfrm rot="0">
            <a:off x="857250" y="1457325"/>
            <a:ext cx="16430625" cy="857250"/>
          </a:xfrm>
          <a:prstGeom prst="rect">
            <a:avLst/>
          </a:prstGeom>
        </p:spPr>
        <p:txBody>
          <a:bodyPr anchor="t" rtlCol="false" tIns="0" lIns="0" bIns="0" rIns="0">
            <a:spAutoFit/>
          </a:bodyPr>
          <a:lstStyle/>
          <a:p>
            <a:pPr algn="l">
              <a:lnSpc>
                <a:spcPts val="6554"/>
              </a:lnSpc>
            </a:pPr>
            <a:r>
              <a:rPr lang="en-US" sz="5462" b="true">
                <a:solidFill>
                  <a:srgbClr val="2072B7"/>
                </a:solidFill>
                <a:latin typeface="Arial Bold"/>
                <a:ea typeface="Arial Bold"/>
                <a:cs typeface="Arial Bold"/>
                <a:sym typeface="Arial Bold"/>
              </a:rPr>
              <a:t>Thiết lập thực nghiệm</a:t>
            </a:r>
          </a:p>
        </p:txBody>
      </p:sp>
      <p:sp>
        <p:nvSpPr>
          <p:cNvPr name="TextBox 12" id="12"/>
          <p:cNvSpPr txBox="true"/>
          <p:nvPr/>
        </p:nvSpPr>
        <p:spPr>
          <a:xfrm rot="0">
            <a:off x="857250" y="2333625"/>
            <a:ext cx="16573500" cy="609600"/>
          </a:xfrm>
          <a:prstGeom prst="rect">
            <a:avLst/>
          </a:prstGeom>
        </p:spPr>
        <p:txBody>
          <a:bodyPr anchor="t" rtlCol="false" tIns="0" lIns="0" bIns="0" rIns="0">
            <a:spAutoFit/>
          </a:bodyPr>
          <a:lstStyle/>
          <a:p>
            <a:pPr algn="l">
              <a:lnSpc>
                <a:spcPts val="4799"/>
              </a:lnSpc>
            </a:pPr>
            <a:r>
              <a:rPr lang="en-US" sz="3999" b="true">
                <a:solidFill>
                  <a:srgbClr val="174C7E"/>
                </a:solidFill>
                <a:latin typeface="Arial Bold"/>
                <a:ea typeface="Arial Bold"/>
                <a:cs typeface="Arial Bold"/>
                <a:sym typeface="Arial Bold"/>
              </a:rPr>
              <a:t>Đánh giá chất lượng theo lớp và thời gian thực tế </a:t>
            </a:r>
          </a:p>
        </p:txBody>
      </p:sp>
      <p:sp>
        <p:nvSpPr>
          <p:cNvPr name="TextBox 13" id="13"/>
          <p:cNvSpPr txBox="true"/>
          <p:nvPr/>
        </p:nvSpPr>
        <p:spPr>
          <a:xfrm rot="0">
            <a:off x="16859250" y="9505950"/>
            <a:ext cx="714375" cy="366713"/>
          </a:xfrm>
          <a:prstGeom prst="rect">
            <a:avLst/>
          </a:prstGeom>
        </p:spPr>
        <p:txBody>
          <a:bodyPr anchor="t" rtlCol="false" tIns="0" lIns="0" bIns="0" rIns="0">
            <a:spAutoFit/>
          </a:bodyPr>
          <a:lstStyle/>
          <a:p>
            <a:pPr algn="l">
              <a:lnSpc>
                <a:spcPts val="2295"/>
              </a:lnSpc>
            </a:pPr>
            <a:r>
              <a:rPr lang="en-US" sz="1912">
                <a:solidFill>
                  <a:srgbClr val="2072B7"/>
                </a:solidFill>
                <a:latin typeface="Arial"/>
                <a:ea typeface="Arial"/>
                <a:cs typeface="Arial"/>
                <a:sym typeface="Arial"/>
              </a:rPr>
              <a:t>22</a:t>
            </a:r>
          </a:p>
        </p:txBody>
      </p:sp>
      <p:sp>
        <p:nvSpPr>
          <p:cNvPr name="TextBox 14" id="14"/>
          <p:cNvSpPr txBox="true"/>
          <p:nvPr/>
        </p:nvSpPr>
        <p:spPr>
          <a:xfrm rot="0">
            <a:off x="857250" y="3267075"/>
            <a:ext cx="6072188" cy="1333500"/>
          </a:xfrm>
          <a:prstGeom prst="rect">
            <a:avLst/>
          </a:prstGeom>
        </p:spPr>
        <p:txBody>
          <a:bodyPr anchor="t" rtlCol="false" tIns="0" lIns="0" bIns="0" rIns="0">
            <a:spAutoFit/>
          </a:bodyPr>
          <a:lstStyle/>
          <a:p>
            <a:pPr algn="l">
              <a:lnSpc>
                <a:spcPts val="5204"/>
              </a:lnSpc>
            </a:pPr>
            <a:r>
              <a:rPr lang="en-US" sz="4337">
                <a:solidFill>
                  <a:srgbClr val="202D39"/>
                </a:solidFill>
                <a:latin typeface="Arial"/>
                <a:ea typeface="Arial"/>
                <a:cs typeface="Arial"/>
                <a:sym typeface="Arial"/>
              </a:rPr>
              <a:t>Dữ liệu sạch: 6.965.267 bản ghi.</a:t>
            </a:r>
          </a:p>
        </p:txBody>
      </p:sp>
      <p:sp>
        <p:nvSpPr>
          <p:cNvPr name="TextBox 15" id="15"/>
          <p:cNvSpPr txBox="true"/>
          <p:nvPr/>
        </p:nvSpPr>
        <p:spPr>
          <a:xfrm rot="0">
            <a:off x="857250" y="5085191"/>
            <a:ext cx="6072188" cy="1990725"/>
          </a:xfrm>
          <a:prstGeom prst="rect">
            <a:avLst/>
          </a:prstGeom>
        </p:spPr>
        <p:txBody>
          <a:bodyPr anchor="t" rtlCol="false" tIns="0" lIns="0" bIns="0" rIns="0">
            <a:spAutoFit/>
          </a:bodyPr>
          <a:lstStyle/>
          <a:p>
            <a:pPr algn="l">
              <a:lnSpc>
                <a:spcPts val="5204"/>
              </a:lnSpc>
            </a:pPr>
            <a:r>
              <a:rPr lang="en-US" sz="4337">
                <a:solidFill>
                  <a:srgbClr val="202D39"/>
                </a:solidFill>
                <a:latin typeface="Arial"/>
                <a:ea typeface="Arial"/>
                <a:cs typeface="Arial"/>
                <a:sym typeface="Arial"/>
              </a:rPr>
              <a:t>Tỷ lệ dự kiến: Train 70%, Validation 15%, Test 15%.</a:t>
            </a:r>
          </a:p>
        </p:txBody>
      </p:sp>
      <p:sp>
        <p:nvSpPr>
          <p:cNvPr name="TextBox 16" id="16"/>
          <p:cNvSpPr txBox="true"/>
          <p:nvPr/>
        </p:nvSpPr>
        <p:spPr>
          <a:xfrm rot="0">
            <a:off x="857250" y="7560533"/>
            <a:ext cx="6072188" cy="1990725"/>
          </a:xfrm>
          <a:prstGeom prst="rect">
            <a:avLst/>
          </a:prstGeom>
        </p:spPr>
        <p:txBody>
          <a:bodyPr anchor="t" rtlCol="false" tIns="0" lIns="0" bIns="0" rIns="0">
            <a:spAutoFit/>
          </a:bodyPr>
          <a:lstStyle/>
          <a:p>
            <a:pPr algn="l">
              <a:lnSpc>
                <a:spcPts val="5204"/>
              </a:lnSpc>
            </a:pPr>
            <a:r>
              <a:rPr lang="en-US" sz="4337">
                <a:solidFill>
                  <a:srgbClr val="202D39"/>
                </a:solidFill>
                <a:latin typeface="Arial"/>
                <a:ea typeface="Arial"/>
                <a:cs typeface="Arial"/>
                <a:sym typeface="Arial"/>
              </a:rPr>
              <a:t>Chưa đủ log để xác nhận cùng tập test và siêu tham số hai nhánh.</a:t>
            </a:r>
          </a:p>
        </p:txBody>
      </p:sp>
      <p:sp>
        <p:nvSpPr>
          <p:cNvPr name="TextBox 17" id="17"/>
          <p:cNvSpPr txBox="true"/>
          <p:nvPr/>
        </p:nvSpPr>
        <p:spPr>
          <a:xfrm rot="0">
            <a:off x="7858125" y="3267075"/>
            <a:ext cx="9286875" cy="676275"/>
          </a:xfrm>
          <a:prstGeom prst="rect">
            <a:avLst/>
          </a:prstGeom>
        </p:spPr>
        <p:txBody>
          <a:bodyPr anchor="t" rtlCol="false" tIns="0" lIns="0" bIns="0" rIns="0">
            <a:spAutoFit/>
          </a:bodyPr>
          <a:lstStyle/>
          <a:p>
            <a:pPr algn="l">
              <a:lnSpc>
                <a:spcPts val="5204"/>
              </a:lnSpc>
            </a:pPr>
            <a:r>
              <a:rPr lang="en-US" sz="4337" b="true">
                <a:solidFill>
                  <a:srgbClr val="2072B7"/>
                </a:solidFill>
                <a:latin typeface="Arial Bold"/>
                <a:ea typeface="Arial Bold"/>
                <a:cs typeface="Arial Bold"/>
                <a:sym typeface="Arial Bold"/>
              </a:rPr>
              <a:t>Accuracy</a:t>
            </a:r>
          </a:p>
        </p:txBody>
      </p:sp>
      <p:sp>
        <p:nvSpPr>
          <p:cNvPr name="TextBox 18" id="18"/>
          <p:cNvSpPr txBox="true"/>
          <p:nvPr/>
        </p:nvSpPr>
        <p:spPr>
          <a:xfrm rot="0">
            <a:off x="7858125" y="3910012"/>
            <a:ext cx="9286875" cy="657225"/>
          </a:xfrm>
          <a:prstGeom prst="rect">
            <a:avLst/>
          </a:prstGeom>
        </p:spPr>
        <p:txBody>
          <a:bodyPr anchor="t" rtlCol="false" tIns="0" lIns="0" bIns="0" rIns="0">
            <a:spAutoFit/>
          </a:bodyPr>
          <a:lstStyle/>
          <a:p>
            <a:pPr algn="l">
              <a:lnSpc>
                <a:spcPts val="5069"/>
              </a:lnSpc>
            </a:pPr>
            <a:r>
              <a:rPr lang="en-US" sz="4224">
                <a:solidFill>
                  <a:srgbClr val="202D39"/>
                </a:solidFill>
                <a:latin typeface="Arial"/>
                <a:ea typeface="Arial"/>
                <a:cs typeface="Arial"/>
                <a:sym typeface="Arial"/>
              </a:rPr>
              <a:t>Tỷ lệ dự đoán đúng trên toàn tập.</a:t>
            </a:r>
          </a:p>
        </p:txBody>
      </p:sp>
      <p:sp>
        <p:nvSpPr>
          <p:cNvPr name="TextBox 19" id="19"/>
          <p:cNvSpPr txBox="true"/>
          <p:nvPr/>
        </p:nvSpPr>
        <p:spPr>
          <a:xfrm rot="0">
            <a:off x="7858125" y="4867275"/>
            <a:ext cx="9286875" cy="676275"/>
          </a:xfrm>
          <a:prstGeom prst="rect">
            <a:avLst/>
          </a:prstGeom>
        </p:spPr>
        <p:txBody>
          <a:bodyPr anchor="t" rtlCol="false" tIns="0" lIns="0" bIns="0" rIns="0">
            <a:spAutoFit/>
          </a:bodyPr>
          <a:lstStyle/>
          <a:p>
            <a:pPr algn="l">
              <a:lnSpc>
                <a:spcPts val="5204"/>
              </a:lnSpc>
            </a:pPr>
            <a:r>
              <a:rPr lang="en-US" sz="4337" b="true">
                <a:solidFill>
                  <a:srgbClr val="2072B7"/>
                </a:solidFill>
                <a:latin typeface="Arial Bold"/>
                <a:ea typeface="Arial Bold"/>
                <a:cs typeface="Arial Bold"/>
                <a:sym typeface="Arial Bold"/>
              </a:rPr>
              <a:t>Weighted F1</a:t>
            </a:r>
          </a:p>
        </p:txBody>
      </p:sp>
      <p:sp>
        <p:nvSpPr>
          <p:cNvPr name="TextBox 20" id="20"/>
          <p:cNvSpPr txBox="true"/>
          <p:nvPr/>
        </p:nvSpPr>
        <p:spPr>
          <a:xfrm rot="0">
            <a:off x="7858125" y="5510212"/>
            <a:ext cx="9286875" cy="657225"/>
          </a:xfrm>
          <a:prstGeom prst="rect">
            <a:avLst/>
          </a:prstGeom>
        </p:spPr>
        <p:txBody>
          <a:bodyPr anchor="t" rtlCol="false" tIns="0" lIns="0" bIns="0" rIns="0">
            <a:spAutoFit/>
          </a:bodyPr>
          <a:lstStyle/>
          <a:p>
            <a:pPr algn="l">
              <a:lnSpc>
                <a:spcPts val="5069"/>
              </a:lnSpc>
            </a:pPr>
            <a:r>
              <a:rPr lang="en-US" sz="4224">
                <a:solidFill>
                  <a:srgbClr val="202D39"/>
                </a:solidFill>
                <a:latin typeface="Arial"/>
                <a:ea typeface="Arial"/>
                <a:cs typeface="Arial"/>
                <a:sym typeface="Arial"/>
              </a:rPr>
              <a:t>F1 từng lớp, có trọng số theo số mẫu.</a:t>
            </a:r>
          </a:p>
        </p:txBody>
      </p:sp>
      <p:sp>
        <p:nvSpPr>
          <p:cNvPr name="TextBox 21" id="21"/>
          <p:cNvSpPr txBox="true"/>
          <p:nvPr/>
        </p:nvSpPr>
        <p:spPr>
          <a:xfrm rot="0">
            <a:off x="7858125" y="6467475"/>
            <a:ext cx="9286875" cy="676275"/>
          </a:xfrm>
          <a:prstGeom prst="rect">
            <a:avLst/>
          </a:prstGeom>
        </p:spPr>
        <p:txBody>
          <a:bodyPr anchor="t" rtlCol="false" tIns="0" lIns="0" bIns="0" rIns="0">
            <a:spAutoFit/>
          </a:bodyPr>
          <a:lstStyle/>
          <a:p>
            <a:pPr algn="l">
              <a:lnSpc>
                <a:spcPts val="5204"/>
              </a:lnSpc>
            </a:pPr>
            <a:r>
              <a:rPr lang="en-US" sz="4337" b="true">
                <a:solidFill>
                  <a:srgbClr val="2072B7"/>
                </a:solidFill>
                <a:latin typeface="Arial Bold"/>
                <a:ea typeface="Arial Bold"/>
                <a:cs typeface="Arial Bold"/>
                <a:sym typeface="Arial Bold"/>
              </a:rPr>
              <a:t>Macro F1</a:t>
            </a:r>
          </a:p>
        </p:txBody>
      </p:sp>
      <p:sp>
        <p:nvSpPr>
          <p:cNvPr name="TextBox 22" id="22"/>
          <p:cNvSpPr txBox="true"/>
          <p:nvPr/>
        </p:nvSpPr>
        <p:spPr>
          <a:xfrm rot="0">
            <a:off x="7858125" y="7110412"/>
            <a:ext cx="9286875" cy="1295400"/>
          </a:xfrm>
          <a:prstGeom prst="rect">
            <a:avLst/>
          </a:prstGeom>
        </p:spPr>
        <p:txBody>
          <a:bodyPr anchor="t" rtlCol="false" tIns="0" lIns="0" bIns="0" rIns="0">
            <a:spAutoFit/>
          </a:bodyPr>
          <a:lstStyle/>
          <a:p>
            <a:pPr algn="l">
              <a:lnSpc>
                <a:spcPts val="5069"/>
              </a:lnSpc>
            </a:pPr>
            <a:r>
              <a:rPr lang="en-US" sz="4224">
                <a:solidFill>
                  <a:srgbClr val="202D39"/>
                </a:solidFill>
                <a:latin typeface="Arial"/>
                <a:ea typeface="Arial"/>
                <a:cs typeface="Arial"/>
                <a:sym typeface="Arial"/>
              </a:rPr>
              <a:t>Trung bình F1 các lớp, mỗi lớp ngang nhau.</a:t>
            </a:r>
          </a:p>
        </p:txBody>
      </p:sp>
      <p:sp>
        <p:nvSpPr>
          <p:cNvPr name="TextBox 23" id="2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23</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668"/>
            <a:ext cx="18288000" cy="1070038"/>
            <a:chOff x="0" y="0"/>
            <a:chExt cx="24384000" cy="1426718"/>
          </a:xfrm>
        </p:grpSpPr>
        <p:sp>
          <p:nvSpPr>
            <p:cNvPr name="Freeform 3" id="3"/>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2072B7"/>
            </a:solidFill>
          </p:spPr>
        </p:sp>
      </p:grpSp>
      <p:grpSp>
        <p:nvGrpSpPr>
          <p:cNvPr name="Group 4" id="4"/>
          <p:cNvGrpSpPr/>
          <p:nvPr/>
        </p:nvGrpSpPr>
        <p:grpSpPr>
          <a:xfrm rot="0">
            <a:off x="477926" y="3334"/>
            <a:ext cx="4935598" cy="1027605"/>
            <a:chOff x="0" y="0"/>
            <a:chExt cx="6580797" cy="1370140"/>
          </a:xfrm>
        </p:grpSpPr>
        <p:sp>
          <p:nvSpPr>
            <p:cNvPr name="Freeform 5" id="5"/>
            <p:cNvSpPr/>
            <p:nvPr/>
          </p:nvSpPr>
          <p:spPr>
            <a:xfrm flipH="false" flipV="false" rot="0">
              <a:off x="0" y="0"/>
              <a:ext cx="6580759" cy="1370203"/>
            </a:xfrm>
            <a:custGeom>
              <a:avLst/>
              <a:gdLst/>
              <a:ahLst/>
              <a:cxnLst/>
              <a:rect r="r" b="b" t="t" l="l"/>
              <a:pathLst>
                <a:path h="1370203" w="6580759">
                  <a:moveTo>
                    <a:pt x="0" y="0"/>
                  </a:moveTo>
                  <a:lnTo>
                    <a:pt x="6580759" y="0"/>
                  </a:lnTo>
                  <a:lnTo>
                    <a:pt x="6580759" y="1370203"/>
                  </a:lnTo>
                  <a:lnTo>
                    <a:pt x="0" y="1370203"/>
                  </a:lnTo>
                  <a:lnTo>
                    <a:pt x="0" y="0"/>
                  </a:lnTo>
                  <a:close/>
                </a:path>
              </a:pathLst>
            </a:custGeom>
            <a:blipFill>
              <a:blip r:embed="rId3"/>
              <a:stretch>
                <a:fillRect l="-191" t="0" r="-192" b="4"/>
              </a:stretch>
            </a:blipFill>
          </p:spPr>
        </p:sp>
      </p:grpSp>
      <p:grpSp>
        <p:nvGrpSpPr>
          <p:cNvPr name="Group 6" id="6"/>
          <p:cNvGrpSpPr/>
          <p:nvPr/>
        </p:nvGrpSpPr>
        <p:grpSpPr>
          <a:xfrm rot="0">
            <a:off x="2663190" y="10082212"/>
            <a:ext cx="15624810" cy="204845"/>
            <a:chOff x="0" y="0"/>
            <a:chExt cx="20833080" cy="273126"/>
          </a:xfrm>
        </p:grpSpPr>
        <p:sp>
          <p:nvSpPr>
            <p:cNvPr name="Freeform 7" id="7"/>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2072B7"/>
            </a:solidFill>
          </p:spPr>
        </p:sp>
      </p:grpSp>
      <p:grpSp>
        <p:nvGrpSpPr>
          <p:cNvPr name="Group 8" id="8"/>
          <p:cNvGrpSpPr/>
          <p:nvPr/>
        </p:nvGrpSpPr>
        <p:grpSpPr>
          <a:xfrm rot="0">
            <a:off x="2743238" y="10108759"/>
            <a:ext cx="15544724" cy="152705"/>
            <a:chOff x="0" y="0"/>
            <a:chExt cx="20726298" cy="203606"/>
          </a:xfrm>
        </p:grpSpPr>
        <p:sp>
          <p:nvSpPr>
            <p:cNvPr name="Freeform 9" id="9"/>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4"/>
              <a:stretch>
                <a:fillRect l="0" t="0" r="0" b="-35745"/>
              </a:stretch>
            </a:blipFill>
          </p:spPr>
        </p:sp>
      </p:grpSp>
      <p:sp>
        <p:nvSpPr>
          <p:cNvPr name="TextBox 10" id="10"/>
          <p:cNvSpPr txBox="true"/>
          <p:nvPr/>
        </p:nvSpPr>
        <p:spPr>
          <a:xfrm rot="0">
            <a:off x="302009" y="10002231"/>
            <a:ext cx="2254501" cy="327536"/>
          </a:xfrm>
          <a:prstGeom prst="rect">
            <a:avLst/>
          </a:prstGeom>
        </p:spPr>
        <p:txBody>
          <a:bodyPr anchor="t" rtlCol="false" tIns="0" lIns="0" bIns="0" rIns="0">
            <a:spAutoFit/>
          </a:bodyPr>
          <a:lstStyle/>
          <a:p>
            <a:pPr algn="l">
              <a:lnSpc>
                <a:spcPts val="1800"/>
              </a:lnSpc>
            </a:pPr>
            <a:r>
              <a:rPr lang="en-US" sz="1500">
                <a:solidFill>
                  <a:srgbClr val="0070C0"/>
                </a:solidFill>
                <a:latin typeface="Calibri (MS)"/>
                <a:ea typeface="Calibri (MS)"/>
                <a:cs typeface="Calibri (MS)"/>
                <a:sym typeface="Calibri (MS)"/>
              </a:rPr>
              <a:t>https://huit.edu.vn</a:t>
            </a:r>
          </a:p>
        </p:txBody>
      </p:sp>
      <p:sp>
        <p:nvSpPr>
          <p:cNvPr name="TextBox 11" id="11"/>
          <p:cNvSpPr txBox="true"/>
          <p:nvPr/>
        </p:nvSpPr>
        <p:spPr>
          <a:xfrm rot="0">
            <a:off x="857250" y="1466850"/>
            <a:ext cx="16430625" cy="819150"/>
          </a:xfrm>
          <a:prstGeom prst="rect">
            <a:avLst/>
          </a:prstGeom>
        </p:spPr>
        <p:txBody>
          <a:bodyPr anchor="t" rtlCol="false" tIns="0" lIns="0" bIns="0" rIns="0">
            <a:spAutoFit/>
          </a:bodyPr>
          <a:lstStyle/>
          <a:p>
            <a:pPr algn="l">
              <a:lnSpc>
                <a:spcPts val="4995"/>
              </a:lnSpc>
            </a:pPr>
            <a:r>
              <a:rPr lang="en-US" sz="4162" b="true">
                <a:solidFill>
                  <a:srgbClr val="2072B7"/>
                </a:solidFill>
                <a:latin typeface="Arial Bold"/>
                <a:ea typeface="Arial Bold"/>
                <a:cs typeface="Arial Bold"/>
                <a:sym typeface="Arial Bold"/>
              </a:rPr>
              <a:t>Kết quả sáu mô hình CPU</a:t>
            </a:r>
          </a:p>
        </p:txBody>
      </p:sp>
      <p:sp>
        <p:nvSpPr>
          <p:cNvPr name="TextBox 12" id="12"/>
          <p:cNvSpPr txBox="true"/>
          <p:nvPr/>
        </p:nvSpPr>
        <p:spPr>
          <a:xfrm rot="0">
            <a:off x="857250" y="2324100"/>
            <a:ext cx="16573500" cy="619125"/>
          </a:xfrm>
          <a:prstGeom prst="rect">
            <a:avLst/>
          </a:prstGeom>
        </p:spPr>
        <p:txBody>
          <a:bodyPr anchor="t" rtlCol="false" tIns="0" lIns="0" bIns="0" rIns="0">
            <a:spAutoFit/>
          </a:bodyPr>
          <a:lstStyle/>
          <a:p>
            <a:pPr algn="l">
              <a:lnSpc>
                <a:spcPts val="3240"/>
              </a:lnSpc>
            </a:pPr>
            <a:r>
              <a:rPr lang="en-US" sz="2700" b="true">
                <a:solidFill>
                  <a:srgbClr val="174C7E"/>
                </a:solidFill>
                <a:latin typeface="Arial Bold"/>
                <a:ea typeface="Arial Bold"/>
                <a:cs typeface="Arial Bold"/>
                <a:sym typeface="Arial Bold"/>
              </a:rPr>
              <a:t>Accuracy gần 79% chưa chứng minh mô hình nhận diện tốt các lớp trễ ít gặp</a:t>
            </a:r>
          </a:p>
        </p:txBody>
      </p:sp>
      <p:sp>
        <p:nvSpPr>
          <p:cNvPr name="TextBox 13" id="13"/>
          <p:cNvSpPr txBox="true"/>
          <p:nvPr/>
        </p:nvSpPr>
        <p:spPr>
          <a:xfrm rot="0">
            <a:off x="16859250" y="9505950"/>
            <a:ext cx="714375" cy="366713"/>
          </a:xfrm>
          <a:prstGeom prst="rect">
            <a:avLst/>
          </a:prstGeom>
        </p:spPr>
        <p:txBody>
          <a:bodyPr anchor="t" rtlCol="false" tIns="0" lIns="0" bIns="0" rIns="0">
            <a:spAutoFit/>
          </a:bodyPr>
          <a:lstStyle/>
          <a:p>
            <a:pPr algn="l">
              <a:lnSpc>
                <a:spcPts val="2295"/>
              </a:lnSpc>
            </a:pPr>
            <a:r>
              <a:rPr lang="en-US" sz="1912">
                <a:solidFill>
                  <a:srgbClr val="2072B7"/>
                </a:solidFill>
                <a:latin typeface="Arial"/>
                <a:ea typeface="Arial"/>
                <a:cs typeface="Arial"/>
                <a:sym typeface="Arial"/>
              </a:rPr>
              <a:t>23</a:t>
            </a:r>
          </a:p>
        </p:txBody>
      </p:sp>
      <p:graphicFrame>
        <p:nvGraphicFramePr>
          <p:cNvPr name="Table 14" id="14"/>
          <p:cNvGraphicFramePr>
            <a:graphicFrameLocks noGrp="true"/>
          </p:cNvGraphicFramePr>
          <p:nvPr/>
        </p:nvGraphicFramePr>
        <p:xfrm>
          <a:off x="857250" y="3371850"/>
          <a:ext cx="16573500" cy="5191805"/>
        </p:xfrm>
        <a:graphic>
          <a:graphicData uri="http://schemas.openxmlformats.org/drawingml/2006/table">
            <a:tbl>
              <a:tblPr/>
              <a:tblGrid>
                <a:gridCol w="3266271"/>
                <a:gridCol w="2734479"/>
                <a:gridCol w="2571750"/>
                <a:gridCol w="2286000"/>
                <a:gridCol w="2286000"/>
                <a:gridCol w="3429000"/>
              </a:tblGrid>
              <a:tr h="1077313">
                <a:tc>
                  <a:txBody>
                    <a:bodyPr anchor="t" rtlCol="false"/>
                    <a:lstStyle/>
                    <a:p>
                      <a:pPr algn="l">
                        <a:lnSpc>
                          <a:spcPts val="3240"/>
                        </a:lnSpc>
                        <a:defRPr/>
                      </a:pPr>
                      <a:r>
                        <a:rPr lang="en-US" sz="2700" b="true">
                          <a:solidFill>
                            <a:srgbClr val="FFFFFF"/>
                          </a:solidFill>
                          <a:latin typeface="Arial Bold"/>
                          <a:ea typeface="Arial Bold"/>
                          <a:cs typeface="Arial Bold"/>
                          <a:sym typeface="Arial Bold"/>
                        </a:rPr>
                        <a:t>Mô hình</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2072B7"/>
                    </a:solidFill>
                  </a:tcPr>
                </a:tc>
                <a:tc>
                  <a:txBody>
                    <a:bodyPr anchor="t" rtlCol="false"/>
                    <a:lstStyle/>
                    <a:p>
                      <a:pPr algn="l">
                        <a:lnSpc>
                          <a:spcPts val="3240"/>
                        </a:lnSpc>
                        <a:defRPr/>
                      </a:pPr>
                      <a:r>
                        <a:rPr lang="en-US" sz="2700" b="true">
                          <a:solidFill>
                            <a:srgbClr val="FFFFFF"/>
                          </a:solidFill>
                          <a:latin typeface="Arial Bold"/>
                          <a:ea typeface="Arial Bold"/>
                          <a:cs typeface="Arial Bold"/>
                          <a:sym typeface="Arial Bold"/>
                        </a:rPr>
                        <a:t>Accuracy %</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2072B7"/>
                    </a:solidFill>
                  </a:tcPr>
                </a:tc>
                <a:tc>
                  <a:txBody>
                    <a:bodyPr anchor="t" rtlCol="false"/>
                    <a:lstStyle/>
                    <a:p>
                      <a:pPr algn="l">
                        <a:lnSpc>
                          <a:spcPts val="3240"/>
                        </a:lnSpc>
                        <a:defRPr/>
                      </a:pPr>
                      <a:r>
                        <a:rPr lang="en-US" sz="2700" b="true">
                          <a:solidFill>
                            <a:srgbClr val="FFFFFF"/>
                          </a:solidFill>
                          <a:latin typeface="Arial Bold"/>
                          <a:ea typeface="Arial Bold"/>
                          <a:cs typeface="Arial Bold"/>
                          <a:sym typeface="Arial Bold"/>
                        </a:rPr>
                        <a:t>Weighted F1</a:t>
                      </a:r>
                      <a:endParaRPr lang="en-US" sz="1100"/>
                    </a:p>
                    <a:p>
                      <a:pPr algn="l">
                        <a:lnSpc>
                          <a:spcPts val="3240"/>
                        </a:lnSpc>
                      </a:pPr>
                      <a:r>
                        <a:rPr lang="en-US" sz="2700" b="true">
                          <a:solidFill>
                            <a:srgbClr val="FFFFFF"/>
                          </a:solidFill>
                          <a:latin typeface="Arial Bold"/>
                          <a:ea typeface="Arial Bold"/>
                          <a:cs typeface="Arial Bold"/>
                          <a:sym typeface="Arial Bold"/>
                        </a:rPr>
                        <a:t>%</a:t>
                      </a:r>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2072B7"/>
                    </a:solidFill>
                  </a:tcPr>
                </a:tc>
                <a:tc>
                  <a:txBody>
                    <a:bodyPr anchor="t" rtlCol="false"/>
                    <a:lstStyle/>
                    <a:p>
                      <a:pPr algn="l">
                        <a:lnSpc>
                          <a:spcPts val="3240"/>
                        </a:lnSpc>
                        <a:defRPr/>
                      </a:pPr>
                      <a:r>
                        <a:rPr lang="en-US" sz="2700" b="true">
                          <a:solidFill>
                            <a:srgbClr val="FFFFFF"/>
                          </a:solidFill>
                          <a:latin typeface="Arial Bold"/>
                          <a:ea typeface="Arial Bold"/>
                          <a:cs typeface="Arial Bold"/>
                          <a:sym typeface="Arial Bold"/>
                        </a:rPr>
                        <a:t>Macro F1</a:t>
                      </a:r>
                      <a:endParaRPr lang="en-US" sz="1100"/>
                    </a:p>
                    <a:p>
                      <a:pPr algn="l">
                        <a:lnSpc>
                          <a:spcPts val="3240"/>
                        </a:lnSpc>
                      </a:pPr>
                      <a:r>
                        <a:rPr lang="en-US" sz="2700" b="true">
                          <a:solidFill>
                            <a:srgbClr val="FFFFFF"/>
                          </a:solidFill>
                          <a:latin typeface="Arial Bold"/>
                          <a:ea typeface="Arial Bold"/>
                          <a:cs typeface="Arial Bold"/>
                          <a:sym typeface="Arial Bold"/>
                        </a:rPr>
                        <a:t>%</a:t>
                      </a:r>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2072B7"/>
                    </a:solidFill>
                  </a:tcPr>
                </a:tc>
                <a:tc>
                  <a:txBody>
                    <a:bodyPr anchor="t" rtlCol="false"/>
                    <a:lstStyle/>
                    <a:p>
                      <a:pPr algn="l">
                        <a:lnSpc>
                          <a:spcPts val="3240"/>
                        </a:lnSpc>
                        <a:defRPr/>
                      </a:pPr>
                      <a:r>
                        <a:rPr lang="en-US" sz="2700" b="true">
                          <a:solidFill>
                            <a:srgbClr val="FFFFFF"/>
                          </a:solidFill>
                          <a:latin typeface="Arial Bold"/>
                          <a:ea typeface="Arial Bold"/>
                          <a:cs typeface="Arial Bold"/>
                          <a:sym typeface="Arial Bold"/>
                        </a:rPr>
                        <a:t>Train</a:t>
                      </a:r>
                      <a:endParaRPr lang="en-US" sz="1100"/>
                    </a:p>
                    <a:p>
                      <a:pPr algn="l">
                        <a:lnSpc>
                          <a:spcPts val="3240"/>
                        </a:lnSpc>
                      </a:pPr>
                      <a:r>
                        <a:rPr lang="en-US" sz="2700" b="true">
                          <a:solidFill>
                            <a:srgbClr val="FFFFFF"/>
                          </a:solidFill>
                          <a:latin typeface="Arial Bold"/>
                          <a:ea typeface="Arial Bold"/>
                          <a:cs typeface="Arial Bold"/>
                          <a:sym typeface="Arial Bold"/>
                        </a:rPr>
                        <a:t>giây</a:t>
                      </a:r>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2072B7"/>
                    </a:solidFill>
                  </a:tcPr>
                </a:tc>
                <a:tc>
                  <a:txBody>
                    <a:bodyPr anchor="t" rtlCol="false"/>
                    <a:lstStyle/>
                    <a:p>
                      <a:pPr algn="l">
                        <a:lnSpc>
                          <a:spcPts val="3240"/>
                        </a:lnSpc>
                        <a:defRPr/>
                      </a:pPr>
                      <a:r>
                        <a:rPr lang="en-US" sz="2700" b="true">
                          <a:solidFill>
                            <a:srgbClr val="FFFFFF"/>
                          </a:solidFill>
                          <a:latin typeface="Arial Bold"/>
                          <a:ea typeface="Arial Bold"/>
                          <a:cs typeface="Arial Bold"/>
                          <a:sym typeface="Arial Bold"/>
                        </a:rPr>
                        <a:t>Suy luận</a:t>
                      </a:r>
                      <a:endParaRPr lang="en-US" sz="1100"/>
                    </a:p>
                    <a:p>
                      <a:pPr algn="l">
                        <a:lnSpc>
                          <a:spcPts val="3240"/>
                        </a:lnSpc>
                      </a:pPr>
                      <a:r>
                        <a:rPr lang="en-US" sz="2700" b="true">
                          <a:solidFill>
                            <a:srgbClr val="FFFFFF"/>
                          </a:solidFill>
                          <a:latin typeface="Arial Bold"/>
                          <a:ea typeface="Arial Bold"/>
                          <a:cs typeface="Arial Bold"/>
                          <a:sym typeface="Arial Bold"/>
                        </a:rPr>
                        <a:t>ms/1.000 mẫu</a:t>
                      </a:r>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2072B7"/>
                    </a:solidFill>
                  </a:tcPr>
                </a:tc>
              </a:tr>
              <a:tr h="685749">
                <a:tc>
                  <a:txBody>
                    <a:bodyPr anchor="t" rtlCol="false"/>
                    <a:lstStyle/>
                    <a:p>
                      <a:pPr algn="l">
                        <a:lnSpc>
                          <a:spcPts val="3240"/>
                        </a:lnSpc>
                        <a:defRPr/>
                      </a:pPr>
                      <a:r>
                        <a:rPr lang="en-US" sz="2700">
                          <a:solidFill>
                            <a:srgbClr val="202D39"/>
                          </a:solidFill>
                          <a:latin typeface="Arial"/>
                          <a:ea typeface="Arial"/>
                          <a:cs typeface="Arial"/>
                          <a:sym typeface="Arial"/>
                        </a:rPr>
                        <a:t>Logistic Reg.</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DF5FB"/>
                    </a:solidFill>
                  </a:tcPr>
                </a:tc>
                <a:tc>
                  <a:txBody>
                    <a:bodyPr anchor="t" rtlCol="false"/>
                    <a:lstStyle/>
                    <a:p>
                      <a:pPr algn="l">
                        <a:lnSpc>
                          <a:spcPts val="3240"/>
                        </a:lnSpc>
                        <a:defRPr/>
                      </a:pPr>
                      <a:r>
                        <a:rPr lang="en-US" sz="2700">
                          <a:solidFill>
                            <a:srgbClr val="202D39"/>
                          </a:solidFill>
                          <a:latin typeface="Arial"/>
                          <a:ea typeface="Arial"/>
                          <a:cs typeface="Arial"/>
                          <a:sym typeface="Arial"/>
                        </a:rPr>
                        <a:t>79,18</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DF5FB"/>
                    </a:solidFill>
                  </a:tcPr>
                </a:tc>
                <a:tc>
                  <a:txBody>
                    <a:bodyPr anchor="t" rtlCol="false"/>
                    <a:lstStyle/>
                    <a:p>
                      <a:pPr algn="l">
                        <a:lnSpc>
                          <a:spcPts val="3240"/>
                        </a:lnSpc>
                        <a:defRPr/>
                      </a:pPr>
                      <a:r>
                        <a:rPr lang="en-US" sz="2700">
                          <a:solidFill>
                            <a:srgbClr val="202D39"/>
                          </a:solidFill>
                          <a:latin typeface="Arial"/>
                          <a:ea typeface="Arial"/>
                          <a:cs typeface="Arial"/>
                          <a:sym typeface="Arial"/>
                        </a:rPr>
                        <a:t>69,98</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DF5FB"/>
                    </a:solidFill>
                  </a:tcPr>
                </a:tc>
                <a:tc>
                  <a:txBody>
                    <a:bodyPr anchor="t" rtlCol="false"/>
                    <a:lstStyle/>
                    <a:p>
                      <a:pPr algn="l">
                        <a:lnSpc>
                          <a:spcPts val="3240"/>
                        </a:lnSpc>
                        <a:defRPr/>
                      </a:pPr>
                      <a:r>
                        <a:rPr lang="en-US" sz="2700">
                          <a:solidFill>
                            <a:srgbClr val="202D39"/>
                          </a:solidFill>
                          <a:latin typeface="Arial"/>
                          <a:ea typeface="Arial"/>
                          <a:cs typeface="Arial"/>
                          <a:sym typeface="Arial"/>
                        </a:rPr>
                        <a:t>14,73</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DF5FB"/>
                    </a:solidFill>
                  </a:tcPr>
                </a:tc>
                <a:tc>
                  <a:txBody>
                    <a:bodyPr anchor="t" rtlCol="false"/>
                    <a:lstStyle/>
                    <a:p>
                      <a:pPr algn="l">
                        <a:lnSpc>
                          <a:spcPts val="3240"/>
                        </a:lnSpc>
                        <a:defRPr/>
                      </a:pPr>
                      <a:r>
                        <a:rPr lang="en-US" sz="2700">
                          <a:solidFill>
                            <a:srgbClr val="202D39"/>
                          </a:solidFill>
                          <a:latin typeface="Arial"/>
                          <a:ea typeface="Arial"/>
                          <a:cs typeface="Arial"/>
                          <a:sym typeface="Arial"/>
                        </a:rPr>
                        <a:t>11,03</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DF5FB"/>
                    </a:solidFill>
                  </a:tcPr>
                </a:tc>
                <a:tc>
                  <a:txBody>
                    <a:bodyPr anchor="t" rtlCol="false"/>
                    <a:lstStyle/>
                    <a:p>
                      <a:pPr algn="l">
                        <a:lnSpc>
                          <a:spcPts val="3240"/>
                        </a:lnSpc>
                        <a:defRPr/>
                      </a:pPr>
                      <a:r>
                        <a:rPr lang="en-US" sz="2700">
                          <a:solidFill>
                            <a:srgbClr val="202D39"/>
                          </a:solidFill>
                          <a:latin typeface="Arial"/>
                          <a:ea typeface="Arial"/>
                          <a:cs typeface="Arial"/>
                          <a:sym typeface="Arial"/>
                        </a:rPr>
                        <a:t>7,18</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DF5FB"/>
                    </a:solidFill>
                  </a:tcPr>
                </a:tc>
              </a:tr>
              <a:tr h="685749">
                <a:tc>
                  <a:txBody>
                    <a:bodyPr anchor="t" rtlCol="false"/>
                    <a:lstStyle/>
                    <a:p>
                      <a:pPr algn="l">
                        <a:lnSpc>
                          <a:spcPts val="3240"/>
                        </a:lnSpc>
                        <a:defRPr/>
                      </a:pPr>
                      <a:r>
                        <a:rPr lang="en-US" sz="2700">
                          <a:solidFill>
                            <a:srgbClr val="202D39"/>
                          </a:solidFill>
                          <a:latin typeface="Arial"/>
                          <a:ea typeface="Arial"/>
                          <a:cs typeface="Arial"/>
                          <a:sym typeface="Arial"/>
                        </a:rPr>
                        <a:t>Decision Tree</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3240"/>
                        </a:lnSpc>
                        <a:defRPr/>
                      </a:pPr>
                      <a:r>
                        <a:rPr lang="en-US" sz="2700">
                          <a:solidFill>
                            <a:srgbClr val="202D39"/>
                          </a:solidFill>
                          <a:latin typeface="Arial"/>
                          <a:ea typeface="Arial"/>
                          <a:cs typeface="Arial"/>
                          <a:sym typeface="Arial"/>
                        </a:rPr>
                        <a:t>79,20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3240"/>
                        </a:lnSpc>
                        <a:defRPr/>
                      </a:pPr>
                      <a:r>
                        <a:rPr lang="en-US" sz="2700">
                          <a:solidFill>
                            <a:srgbClr val="202D39"/>
                          </a:solidFill>
                          <a:latin typeface="Arial"/>
                          <a:ea typeface="Arial"/>
                          <a:cs typeface="Arial"/>
                          <a:sym typeface="Arial"/>
                        </a:rPr>
                        <a:t>70,39</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3240"/>
                        </a:lnSpc>
                        <a:defRPr/>
                      </a:pPr>
                      <a:r>
                        <a:rPr lang="en-US" sz="2700">
                          <a:solidFill>
                            <a:srgbClr val="202D39"/>
                          </a:solidFill>
                          <a:latin typeface="Arial"/>
                          <a:ea typeface="Arial"/>
                          <a:cs typeface="Arial"/>
                          <a:sym typeface="Arial"/>
                        </a:rPr>
                        <a:t>15,56</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3240"/>
                        </a:lnSpc>
                        <a:defRPr/>
                      </a:pPr>
                      <a:r>
                        <a:rPr lang="en-US" sz="2700">
                          <a:solidFill>
                            <a:srgbClr val="202D39"/>
                          </a:solidFill>
                          <a:latin typeface="Arial"/>
                          <a:ea typeface="Arial"/>
                          <a:cs typeface="Arial"/>
                          <a:sym typeface="Arial"/>
                        </a:rPr>
                        <a:t>28,96</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3240"/>
                        </a:lnSpc>
                        <a:defRPr/>
                      </a:pPr>
                      <a:r>
                        <a:rPr lang="en-US" sz="2700">
                          <a:solidFill>
                            <a:srgbClr val="202D39"/>
                          </a:solidFill>
                          <a:latin typeface="Arial"/>
                          <a:ea typeface="Arial"/>
                          <a:cs typeface="Arial"/>
                          <a:sym typeface="Arial"/>
                        </a:rPr>
                        <a:t>0,70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685749">
                <a:tc>
                  <a:txBody>
                    <a:bodyPr anchor="t" rtlCol="false"/>
                    <a:lstStyle/>
                    <a:p>
                      <a:pPr algn="l">
                        <a:lnSpc>
                          <a:spcPts val="3240"/>
                        </a:lnSpc>
                        <a:defRPr/>
                      </a:pPr>
                      <a:r>
                        <a:rPr lang="en-US" sz="2700">
                          <a:solidFill>
                            <a:srgbClr val="202D39"/>
                          </a:solidFill>
                          <a:latin typeface="Arial"/>
                          <a:ea typeface="Arial"/>
                          <a:cs typeface="Arial"/>
                          <a:sym typeface="Arial"/>
                        </a:rPr>
                        <a:t>Random Forest</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DF5FB"/>
                    </a:solidFill>
                  </a:tcPr>
                </a:tc>
                <a:tc>
                  <a:txBody>
                    <a:bodyPr anchor="t" rtlCol="false"/>
                    <a:lstStyle/>
                    <a:p>
                      <a:pPr algn="l">
                        <a:lnSpc>
                          <a:spcPts val="3240"/>
                        </a:lnSpc>
                        <a:defRPr/>
                      </a:pPr>
                      <a:r>
                        <a:rPr lang="en-US" sz="2700">
                          <a:solidFill>
                            <a:srgbClr val="202D39"/>
                          </a:solidFill>
                          <a:latin typeface="Arial"/>
                          <a:ea typeface="Arial"/>
                          <a:cs typeface="Arial"/>
                          <a:sym typeface="Arial"/>
                        </a:rPr>
                        <a:t>79,18</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DF5FB"/>
                    </a:solidFill>
                  </a:tcPr>
                </a:tc>
                <a:tc>
                  <a:txBody>
                    <a:bodyPr anchor="t" rtlCol="false"/>
                    <a:lstStyle/>
                    <a:p>
                      <a:pPr algn="l">
                        <a:lnSpc>
                          <a:spcPts val="3240"/>
                        </a:lnSpc>
                        <a:defRPr/>
                      </a:pPr>
                      <a:r>
                        <a:rPr lang="en-US" sz="2700">
                          <a:solidFill>
                            <a:srgbClr val="202D39"/>
                          </a:solidFill>
                          <a:latin typeface="Arial"/>
                          <a:ea typeface="Arial"/>
                          <a:cs typeface="Arial"/>
                          <a:sym typeface="Arial"/>
                        </a:rPr>
                        <a:t>69,98</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DF5FB"/>
                    </a:solidFill>
                  </a:tcPr>
                </a:tc>
                <a:tc>
                  <a:txBody>
                    <a:bodyPr anchor="t" rtlCol="false"/>
                    <a:lstStyle/>
                    <a:p>
                      <a:pPr algn="l">
                        <a:lnSpc>
                          <a:spcPts val="3240"/>
                        </a:lnSpc>
                        <a:defRPr/>
                      </a:pPr>
                      <a:r>
                        <a:rPr lang="en-US" sz="2700">
                          <a:solidFill>
                            <a:srgbClr val="202D39"/>
                          </a:solidFill>
                          <a:latin typeface="Arial"/>
                          <a:ea typeface="Arial"/>
                          <a:cs typeface="Arial"/>
                          <a:sym typeface="Arial"/>
                        </a:rPr>
                        <a:t>14,73</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DF5FB"/>
                    </a:solidFill>
                  </a:tcPr>
                </a:tc>
                <a:tc>
                  <a:txBody>
                    <a:bodyPr anchor="t" rtlCol="false"/>
                    <a:lstStyle/>
                    <a:p>
                      <a:pPr algn="l">
                        <a:lnSpc>
                          <a:spcPts val="3240"/>
                        </a:lnSpc>
                        <a:defRPr/>
                      </a:pPr>
                      <a:r>
                        <a:rPr lang="en-US" sz="2700">
                          <a:solidFill>
                            <a:srgbClr val="202D39"/>
                          </a:solidFill>
                          <a:latin typeface="Arial"/>
                          <a:ea typeface="Arial"/>
                          <a:cs typeface="Arial"/>
                          <a:sym typeface="Arial"/>
                        </a:rPr>
                        <a:t>85,18</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DF5FB"/>
                    </a:solidFill>
                  </a:tcPr>
                </a:tc>
                <a:tc>
                  <a:txBody>
                    <a:bodyPr anchor="t" rtlCol="false"/>
                    <a:lstStyle/>
                    <a:p>
                      <a:pPr algn="l">
                        <a:lnSpc>
                          <a:spcPts val="3240"/>
                        </a:lnSpc>
                        <a:defRPr/>
                      </a:pPr>
                      <a:r>
                        <a:rPr lang="en-US" sz="2700">
                          <a:solidFill>
                            <a:srgbClr val="202D39"/>
                          </a:solidFill>
                          <a:latin typeface="Arial"/>
                          <a:ea typeface="Arial"/>
                          <a:cs typeface="Arial"/>
                          <a:sym typeface="Arial"/>
                        </a:rPr>
                        <a:t>16,31</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DF5FB"/>
                    </a:solidFill>
                  </a:tcPr>
                </a:tc>
              </a:tr>
              <a:tr h="685749">
                <a:tc>
                  <a:txBody>
                    <a:bodyPr anchor="t" rtlCol="false"/>
                    <a:lstStyle/>
                    <a:p>
                      <a:pPr algn="l">
                        <a:lnSpc>
                          <a:spcPts val="3240"/>
                        </a:lnSpc>
                        <a:defRPr/>
                      </a:pPr>
                      <a:r>
                        <a:rPr lang="en-US" sz="2700">
                          <a:solidFill>
                            <a:srgbClr val="202D39"/>
                          </a:solidFill>
                          <a:latin typeface="Arial"/>
                          <a:ea typeface="Arial"/>
                          <a:cs typeface="Arial"/>
                          <a:sym typeface="Arial"/>
                        </a:rPr>
                        <a:t>LightGBM</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3240"/>
                        </a:lnSpc>
                        <a:defRPr/>
                      </a:pPr>
                      <a:r>
                        <a:rPr lang="en-US" sz="2700">
                          <a:solidFill>
                            <a:srgbClr val="202D39"/>
                          </a:solidFill>
                          <a:latin typeface="Arial"/>
                          <a:ea typeface="Arial"/>
                          <a:cs typeface="Arial"/>
                          <a:sym typeface="Arial"/>
                        </a:rPr>
                        <a:t>79,24</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3240"/>
                        </a:lnSpc>
                        <a:defRPr/>
                      </a:pPr>
                      <a:r>
                        <a:rPr lang="en-US" sz="2700">
                          <a:solidFill>
                            <a:srgbClr val="202D39"/>
                          </a:solidFill>
                          <a:latin typeface="Arial"/>
                          <a:ea typeface="Arial"/>
                          <a:cs typeface="Arial"/>
                          <a:sym typeface="Arial"/>
                        </a:rPr>
                        <a:t>70,32</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3240"/>
                        </a:lnSpc>
                        <a:defRPr/>
                      </a:pPr>
                      <a:r>
                        <a:rPr lang="en-US" sz="2700">
                          <a:solidFill>
                            <a:srgbClr val="202D39"/>
                          </a:solidFill>
                          <a:latin typeface="Arial"/>
                          <a:ea typeface="Arial"/>
                          <a:cs typeface="Arial"/>
                          <a:sym typeface="Arial"/>
                        </a:rPr>
                        <a:t>15,87</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3240"/>
                        </a:lnSpc>
                        <a:defRPr/>
                      </a:pPr>
                      <a:r>
                        <a:rPr lang="en-US" sz="2700">
                          <a:solidFill>
                            <a:srgbClr val="202D39"/>
                          </a:solidFill>
                          <a:latin typeface="Arial"/>
                          <a:ea typeface="Arial"/>
                          <a:cs typeface="Arial"/>
                          <a:sym typeface="Arial"/>
                        </a:rPr>
                        <a:t>53,59</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3240"/>
                        </a:lnSpc>
                        <a:defRPr/>
                      </a:pPr>
                      <a:r>
                        <a:rPr lang="en-US" sz="2700">
                          <a:solidFill>
                            <a:srgbClr val="202D39"/>
                          </a:solidFill>
                          <a:latin typeface="Arial"/>
                          <a:ea typeface="Arial"/>
                          <a:cs typeface="Arial"/>
                          <a:sym typeface="Arial"/>
                        </a:rPr>
                        <a:t>6,15</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685749">
                <a:tc>
                  <a:txBody>
                    <a:bodyPr anchor="t" rtlCol="false"/>
                    <a:lstStyle/>
                    <a:p>
                      <a:pPr algn="l">
                        <a:lnSpc>
                          <a:spcPts val="3240"/>
                        </a:lnSpc>
                        <a:defRPr/>
                      </a:pPr>
                      <a:r>
                        <a:rPr lang="en-US" sz="2700">
                          <a:solidFill>
                            <a:srgbClr val="202D39"/>
                          </a:solidFill>
                          <a:latin typeface="Arial"/>
                          <a:ea typeface="Arial"/>
                          <a:cs typeface="Arial"/>
                          <a:sym typeface="Arial"/>
                        </a:rPr>
                        <a:t>XGBoost</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DF5FB"/>
                    </a:solidFill>
                  </a:tcPr>
                </a:tc>
                <a:tc>
                  <a:txBody>
                    <a:bodyPr anchor="t" rtlCol="false"/>
                    <a:lstStyle/>
                    <a:p>
                      <a:pPr algn="l">
                        <a:lnSpc>
                          <a:spcPts val="3240"/>
                        </a:lnSpc>
                        <a:defRPr/>
                      </a:pPr>
                      <a:r>
                        <a:rPr lang="en-US" sz="2700">
                          <a:solidFill>
                            <a:srgbClr val="202D39"/>
                          </a:solidFill>
                          <a:latin typeface="Arial"/>
                          <a:ea typeface="Arial"/>
                          <a:cs typeface="Arial"/>
                          <a:sym typeface="Arial"/>
                        </a:rPr>
                        <a:t>79,26</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DF5FB"/>
                    </a:solidFill>
                  </a:tcPr>
                </a:tc>
                <a:tc>
                  <a:txBody>
                    <a:bodyPr anchor="t" rtlCol="false"/>
                    <a:lstStyle/>
                    <a:p>
                      <a:pPr algn="l">
                        <a:lnSpc>
                          <a:spcPts val="3240"/>
                        </a:lnSpc>
                        <a:defRPr/>
                      </a:pPr>
                      <a:r>
                        <a:rPr lang="en-US" sz="2700">
                          <a:solidFill>
                            <a:srgbClr val="202D39"/>
                          </a:solidFill>
                          <a:latin typeface="Arial"/>
                          <a:ea typeface="Arial"/>
                          <a:cs typeface="Arial"/>
                          <a:sym typeface="Arial"/>
                        </a:rPr>
                        <a:t>70,33</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DF5FB"/>
                    </a:solidFill>
                  </a:tcPr>
                </a:tc>
                <a:tc>
                  <a:txBody>
                    <a:bodyPr anchor="t" rtlCol="false"/>
                    <a:lstStyle/>
                    <a:p>
                      <a:pPr algn="l">
                        <a:lnSpc>
                          <a:spcPts val="3240"/>
                        </a:lnSpc>
                        <a:defRPr/>
                      </a:pPr>
                      <a:r>
                        <a:rPr lang="en-US" sz="2700">
                          <a:solidFill>
                            <a:srgbClr val="202D39"/>
                          </a:solidFill>
                          <a:latin typeface="Arial"/>
                          <a:ea typeface="Arial"/>
                          <a:cs typeface="Arial"/>
                          <a:sym typeface="Arial"/>
                        </a:rPr>
                        <a:t>15,50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DF5FB"/>
                    </a:solidFill>
                  </a:tcPr>
                </a:tc>
                <a:tc>
                  <a:txBody>
                    <a:bodyPr anchor="t" rtlCol="false"/>
                    <a:lstStyle/>
                    <a:p>
                      <a:pPr algn="l">
                        <a:lnSpc>
                          <a:spcPts val="3240"/>
                        </a:lnSpc>
                        <a:defRPr/>
                      </a:pPr>
                      <a:r>
                        <a:rPr lang="en-US" sz="2700">
                          <a:solidFill>
                            <a:srgbClr val="202D39"/>
                          </a:solidFill>
                          <a:latin typeface="Arial"/>
                          <a:ea typeface="Arial"/>
                          <a:cs typeface="Arial"/>
                          <a:sym typeface="Arial"/>
                        </a:rPr>
                        <a:t>122,18</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DF5FB"/>
                    </a:solidFill>
                  </a:tcPr>
                </a:tc>
                <a:tc>
                  <a:txBody>
                    <a:bodyPr anchor="t" rtlCol="false"/>
                    <a:lstStyle/>
                    <a:p>
                      <a:pPr algn="l">
                        <a:lnSpc>
                          <a:spcPts val="3240"/>
                        </a:lnSpc>
                        <a:defRPr/>
                      </a:pPr>
                      <a:r>
                        <a:rPr lang="en-US" sz="2700">
                          <a:solidFill>
                            <a:srgbClr val="202D39"/>
                          </a:solidFill>
                          <a:latin typeface="Arial"/>
                          <a:ea typeface="Arial"/>
                          <a:cs typeface="Arial"/>
                          <a:sym typeface="Arial"/>
                        </a:rPr>
                        <a:t>4,43</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DF5FB"/>
                    </a:solidFill>
                  </a:tcPr>
                </a:tc>
              </a:tr>
              <a:tr h="685749">
                <a:tc>
                  <a:txBody>
                    <a:bodyPr anchor="t" rtlCol="false"/>
                    <a:lstStyle/>
                    <a:p>
                      <a:pPr algn="l">
                        <a:lnSpc>
                          <a:spcPts val="3240"/>
                        </a:lnSpc>
                        <a:defRPr/>
                      </a:pPr>
                      <a:r>
                        <a:rPr lang="en-US" sz="2700">
                          <a:solidFill>
                            <a:srgbClr val="202D39"/>
                          </a:solidFill>
                          <a:latin typeface="Arial"/>
                          <a:ea typeface="Arial"/>
                          <a:cs typeface="Arial"/>
                          <a:sym typeface="Arial"/>
                        </a:rPr>
                        <a:t>CatBoost</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3240"/>
                        </a:lnSpc>
                        <a:defRPr/>
                      </a:pPr>
                      <a:r>
                        <a:rPr lang="en-US" sz="2700">
                          <a:solidFill>
                            <a:srgbClr val="202D39"/>
                          </a:solidFill>
                          <a:latin typeface="Arial"/>
                          <a:ea typeface="Arial"/>
                          <a:cs typeface="Arial"/>
                          <a:sym typeface="Arial"/>
                        </a:rPr>
                        <a:t>79,26</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3240"/>
                        </a:lnSpc>
                        <a:defRPr/>
                      </a:pPr>
                      <a:r>
                        <a:rPr lang="en-US" sz="2700">
                          <a:solidFill>
                            <a:srgbClr val="202D39"/>
                          </a:solidFill>
                          <a:latin typeface="Arial"/>
                          <a:ea typeface="Arial"/>
                          <a:cs typeface="Arial"/>
                          <a:sym typeface="Arial"/>
                        </a:rPr>
                        <a:t>70,50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3240"/>
                        </a:lnSpc>
                        <a:defRPr/>
                      </a:pPr>
                      <a:r>
                        <a:rPr lang="en-US" sz="2700">
                          <a:solidFill>
                            <a:srgbClr val="202D39"/>
                          </a:solidFill>
                          <a:latin typeface="Arial"/>
                          <a:ea typeface="Arial"/>
                          <a:cs typeface="Arial"/>
                          <a:sym typeface="Arial"/>
                        </a:rPr>
                        <a:t>15,77</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3240"/>
                        </a:lnSpc>
                        <a:defRPr/>
                      </a:pPr>
                      <a:r>
                        <a:rPr lang="en-US" sz="2700">
                          <a:solidFill>
                            <a:srgbClr val="202D39"/>
                          </a:solidFill>
                          <a:latin typeface="Arial"/>
                          <a:ea typeface="Arial"/>
                          <a:cs typeface="Arial"/>
                          <a:sym typeface="Arial"/>
                        </a:rPr>
                        <a:t>233,89</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3240"/>
                        </a:lnSpc>
                        <a:defRPr/>
                      </a:pPr>
                      <a:r>
                        <a:rPr lang="en-US" sz="2700">
                          <a:solidFill>
                            <a:srgbClr val="202D39"/>
                          </a:solidFill>
                          <a:latin typeface="Arial"/>
                          <a:ea typeface="Arial"/>
                          <a:cs typeface="Arial"/>
                          <a:sym typeface="Arial"/>
                        </a:rPr>
                        <a:t>8,24</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bl>
          </a:graphicData>
        </a:graphic>
      </p:graphicFrame>
      <p:sp>
        <p:nvSpPr>
          <p:cNvPr name="TextBox 15" id="15"/>
          <p:cNvSpPr txBox="true"/>
          <p:nvPr/>
        </p:nvSpPr>
        <p:spPr>
          <a:xfrm rot="0">
            <a:off x="857250" y="8739188"/>
            <a:ext cx="16573500" cy="590550"/>
          </a:xfrm>
          <a:prstGeom prst="rect">
            <a:avLst/>
          </a:prstGeom>
        </p:spPr>
        <p:txBody>
          <a:bodyPr anchor="t" rtlCol="false" tIns="0" lIns="0" bIns="0" rIns="0">
            <a:spAutoFit/>
          </a:bodyPr>
          <a:lstStyle/>
          <a:p>
            <a:pPr algn="l">
              <a:lnSpc>
                <a:spcPts val="3240"/>
              </a:lnSpc>
            </a:pPr>
            <a:r>
              <a:rPr lang="en-US" sz="2700" b="true">
                <a:solidFill>
                  <a:srgbClr val="2072B7"/>
                </a:solidFill>
                <a:latin typeface="Arial Bold"/>
                <a:ea typeface="Arial Bold"/>
                <a:cs typeface="Arial Bold"/>
                <a:sym typeface="Arial Bold"/>
              </a:rPr>
              <a:t>CatBoost dẫn đầu Weighted F1: 70,50%. LightGBM dẫn đầu Macro F1: 15,87%.</a:t>
            </a:r>
          </a:p>
        </p:txBody>
      </p:sp>
      <p:sp>
        <p:nvSpPr>
          <p:cNvPr name="TextBox 16" id="1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24</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668"/>
            <a:ext cx="18288000" cy="1070038"/>
            <a:chOff x="0" y="0"/>
            <a:chExt cx="24384000" cy="1426718"/>
          </a:xfrm>
        </p:grpSpPr>
        <p:sp>
          <p:nvSpPr>
            <p:cNvPr name="Freeform 3" id="3"/>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2072B7"/>
            </a:solidFill>
          </p:spPr>
        </p:sp>
      </p:grpSp>
      <p:grpSp>
        <p:nvGrpSpPr>
          <p:cNvPr name="Group 4" id="4"/>
          <p:cNvGrpSpPr/>
          <p:nvPr/>
        </p:nvGrpSpPr>
        <p:grpSpPr>
          <a:xfrm rot="0">
            <a:off x="477926" y="3334"/>
            <a:ext cx="4935598" cy="1027605"/>
            <a:chOff x="0" y="0"/>
            <a:chExt cx="6580797" cy="1370140"/>
          </a:xfrm>
        </p:grpSpPr>
        <p:sp>
          <p:nvSpPr>
            <p:cNvPr name="Freeform 5" id="5"/>
            <p:cNvSpPr/>
            <p:nvPr/>
          </p:nvSpPr>
          <p:spPr>
            <a:xfrm flipH="false" flipV="false" rot="0">
              <a:off x="0" y="0"/>
              <a:ext cx="6580759" cy="1370203"/>
            </a:xfrm>
            <a:custGeom>
              <a:avLst/>
              <a:gdLst/>
              <a:ahLst/>
              <a:cxnLst/>
              <a:rect r="r" b="b" t="t" l="l"/>
              <a:pathLst>
                <a:path h="1370203" w="6580759">
                  <a:moveTo>
                    <a:pt x="0" y="0"/>
                  </a:moveTo>
                  <a:lnTo>
                    <a:pt x="6580759" y="0"/>
                  </a:lnTo>
                  <a:lnTo>
                    <a:pt x="6580759" y="1370203"/>
                  </a:lnTo>
                  <a:lnTo>
                    <a:pt x="0" y="1370203"/>
                  </a:lnTo>
                  <a:lnTo>
                    <a:pt x="0" y="0"/>
                  </a:lnTo>
                  <a:close/>
                </a:path>
              </a:pathLst>
            </a:custGeom>
            <a:blipFill>
              <a:blip r:embed="rId3"/>
              <a:stretch>
                <a:fillRect l="-191" t="0" r="-192" b="4"/>
              </a:stretch>
            </a:blipFill>
          </p:spPr>
        </p:sp>
      </p:grpSp>
      <p:grpSp>
        <p:nvGrpSpPr>
          <p:cNvPr name="Group 6" id="6"/>
          <p:cNvGrpSpPr/>
          <p:nvPr/>
        </p:nvGrpSpPr>
        <p:grpSpPr>
          <a:xfrm rot="0">
            <a:off x="2663190" y="10082212"/>
            <a:ext cx="15624810" cy="204845"/>
            <a:chOff x="0" y="0"/>
            <a:chExt cx="20833080" cy="273126"/>
          </a:xfrm>
        </p:grpSpPr>
        <p:sp>
          <p:nvSpPr>
            <p:cNvPr name="Freeform 7" id="7"/>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2072B7"/>
            </a:solidFill>
          </p:spPr>
        </p:sp>
      </p:grpSp>
      <p:grpSp>
        <p:nvGrpSpPr>
          <p:cNvPr name="Group 8" id="8"/>
          <p:cNvGrpSpPr/>
          <p:nvPr/>
        </p:nvGrpSpPr>
        <p:grpSpPr>
          <a:xfrm rot="0">
            <a:off x="2743238" y="10108759"/>
            <a:ext cx="15544724" cy="152705"/>
            <a:chOff x="0" y="0"/>
            <a:chExt cx="20726298" cy="203606"/>
          </a:xfrm>
        </p:grpSpPr>
        <p:sp>
          <p:nvSpPr>
            <p:cNvPr name="Freeform 9" id="9"/>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4"/>
              <a:stretch>
                <a:fillRect l="0" t="0" r="0" b="-35745"/>
              </a:stretch>
            </a:blipFill>
          </p:spPr>
        </p:sp>
      </p:grpSp>
      <p:sp>
        <p:nvSpPr>
          <p:cNvPr name="TextBox 10" id="10"/>
          <p:cNvSpPr txBox="true"/>
          <p:nvPr/>
        </p:nvSpPr>
        <p:spPr>
          <a:xfrm rot="0">
            <a:off x="302009" y="10002231"/>
            <a:ext cx="2254501" cy="327536"/>
          </a:xfrm>
          <a:prstGeom prst="rect">
            <a:avLst/>
          </a:prstGeom>
        </p:spPr>
        <p:txBody>
          <a:bodyPr anchor="t" rtlCol="false" tIns="0" lIns="0" bIns="0" rIns="0">
            <a:spAutoFit/>
          </a:bodyPr>
          <a:lstStyle/>
          <a:p>
            <a:pPr algn="l">
              <a:lnSpc>
                <a:spcPts val="1800"/>
              </a:lnSpc>
            </a:pPr>
            <a:r>
              <a:rPr lang="en-US" sz="1500">
                <a:solidFill>
                  <a:srgbClr val="0070C0"/>
                </a:solidFill>
                <a:latin typeface="Calibri (MS)"/>
                <a:ea typeface="Calibri (MS)"/>
                <a:cs typeface="Calibri (MS)"/>
                <a:sym typeface="Calibri (MS)"/>
              </a:rPr>
              <a:t>https://huit.edu.vn</a:t>
            </a:r>
          </a:p>
        </p:txBody>
      </p:sp>
      <p:sp>
        <p:nvSpPr>
          <p:cNvPr name="TextBox 11" id="11"/>
          <p:cNvSpPr txBox="true"/>
          <p:nvPr/>
        </p:nvSpPr>
        <p:spPr>
          <a:xfrm rot="0">
            <a:off x="857250" y="1466850"/>
            <a:ext cx="16430625" cy="819150"/>
          </a:xfrm>
          <a:prstGeom prst="rect">
            <a:avLst/>
          </a:prstGeom>
        </p:spPr>
        <p:txBody>
          <a:bodyPr anchor="t" rtlCol="false" tIns="0" lIns="0" bIns="0" rIns="0">
            <a:spAutoFit/>
          </a:bodyPr>
          <a:lstStyle/>
          <a:p>
            <a:pPr algn="l">
              <a:lnSpc>
                <a:spcPts val="4995"/>
              </a:lnSpc>
            </a:pPr>
            <a:r>
              <a:rPr lang="en-US" sz="4162" b="true">
                <a:solidFill>
                  <a:srgbClr val="2072B7"/>
                </a:solidFill>
                <a:latin typeface="Arial Bold"/>
                <a:ea typeface="Arial Bold"/>
                <a:cs typeface="Arial Bold"/>
                <a:sym typeface="Arial Bold"/>
              </a:rPr>
              <a:t>Accuracy cao, Macro F1 còn thấp</a:t>
            </a:r>
          </a:p>
        </p:txBody>
      </p:sp>
      <p:sp>
        <p:nvSpPr>
          <p:cNvPr name="TextBox 12" id="12"/>
          <p:cNvSpPr txBox="true"/>
          <p:nvPr/>
        </p:nvSpPr>
        <p:spPr>
          <a:xfrm rot="0">
            <a:off x="857250" y="2324100"/>
            <a:ext cx="16573500" cy="619125"/>
          </a:xfrm>
          <a:prstGeom prst="rect">
            <a:avLst/>
          </a:prstGeom>
        </p:spPr>
        <p:txBody>
          <a:bodyPr anchor="t" rtlCol="false" tIns="0" lIns="0" bIns="0" rIns="0">
            <a:spAutoFit/>
          </a:bodyPr>
          <a:lstStyle/>
          <a:p>
            <a:pPr algn="l">
              <a:lnSpc>
                <a:spcPts val="3240"/>
              </a:lnSpc>
            </a:pPr>
            <a:r>
              <a:rPr lang="en-US" sz="2700" b="true">
                <a:solidFill>
                  <a:srgbClr val="174C7E"/>
                </a:solidFill>
                <a:latin typeface="Arial Bold"/>
                <a:ea typeface="Arial Bold"/>
                <a:cs typeface="Arial Bold"/>
                <a:sym typeface="Arial Bold"/>
              </a:rPr>
              <a:t>Lớp OnTime chiếm đa số, nên cần xem thêm chất lượng trên từng nguyên nhân trễ</a:t>
            </a:r>
          </a:p>
        </p:txBody>
      </p:sp>
      <p:sp>
        <p:nvSpPr>
          <p:cNvPr name="TextBox 13" id="13"/>
          <p:cNvSpPr txBox="true"/>
          <p:nvPr/>
        </p:nvSpPr>
        <p:spPr>
          <a:xfrm rot="0">
            <a:off x="16859250" y="9505950"/>
            <a:ext cx="714375" cy="366713"/>
          </a:xfrm>
          <a:prstGeom prst="rect">
            <a:avLst/>
          </a:prstGeom>
        </p:spPr>
        <p:txBody>
          <a:bodyPr anchor="t" rtlCol="false" tIns="0" lIns="0" bIns="0" rIns="0">
            <a:spAutoFit/>
          </a:bodyPr>
          <a:lstStyle/>
          <a:p>
            <a:pPr algn="l">
              <a:lnSpc>
                <a:spcPts val="2295"/>
              </a:lnSpc>
            </a:pPr>
            <a:r>
              <a:rPr lang="en-US" sz="1912">
                <a:solidFill>
                  <a:srgbClr val="2072B7"/>
                </a:solidFill>
                <a:latin typeface="Arial"/>
                <a:ea typeface="Arial"/>
                <a:cs typeface="Arial"/>
                <a:sym typeface="Arial"/>
              </a:rPr>
              <a:t>24</a:t>
            </a:r>
          </a:p>
        </p:txBody>
      </p:sp>
      <p:sp>
        <p:nvSpPr>
          <p:cNvPr name="TextBox 14" id="14"/>
          <p:cNvSpPr txBox="true"/>
          <p:nvPr/>
        </p:nvSpPr>
        <p:spPr>
          <a:xfrm rot="0">
            <a:off x="857250" y="3409950"/>
            <a:ext cx="6072188" cy="1376362"/>
          </a:xfrm>
          <a:prstGeom prst="rect">
            <a:avLst/>
          </a:prstGeom>
        </p:spPr>
        <p:txBody>
          <a:bodyPr anchor="t" rtlCol="false" tIns="0" lIns="0" bIns="0" rIns="0">
            <a:spAutoFit/>
          </a:bodyPr>
          <a:lstStyle/>
          <a:p>
            <a:pPr algn="l">
              <a:lnSpc>
                <a:spcPts val="3779"/>
              </a:lnSpc>
            </a:pPr>
            <a:r>
              <a:rPr lang="en-US" sz="3150">
                <a:solidFill>
                  <a:srgbClr val="202D39"/>
                </a:solidFill>
                <a:latin typeface="Arial"/>
                <a:ea typeface="Arial"/>
                <a:cs typeface="Arial"/>
                <a:sym typeface="Arial"/>
              </a:rPr>
              <a:t>Accuracy dao động 79,18–79,26%.</a:t>
            </a:r>
          </a:p>
        </p:txBody>
      </p:sp>
      <p:sp>
        <p:nvSpPr>
          <p:cNvPr name="TextBox 15" id="15"/>
          <p:cNvSpPr txBox="true"/>
          <p:nvPr/>
        </p:nvSpPr>
        <p:spPr>
          <a:xfrm rot="0">
            <a:off x="857250" y="5081588"/>
            <a:ext cx="6072188" cy="1376362"/>
          </a:xfrm>
          <a:prstGeom prst="rect">
            <a:avLst/>
          </a:prstGeom>
        </p:spPr>
        <p:txBody>
          <a:bodyPr anchor="t" rtlCol="false" tIns="0" lIns="0" bIns="0" rIns="0">
            <a:spAutoFit/>
          </a:bodyPr>
          <a:lstStyle/>
          <a:p>
            <a:pPr algn="l">
              <a:lnSpc>
                <a:spcPts val="3779"/>
              </a:lnSpc>
            </a:pPr>
            <a:r>
              <a:rPr lang="en-US" sz="3150">
                <a:solidFill>
                  <a:srgbClr val="202D39"/>
                </a:solidFill>
                <a:latin typeface="Arial"/>
                <a:ea typeface="Arial"/>
                <a:cs typeface="Arial"/>
                <a:sym typeface="Arial"/>
              </a:rPr>
              <a:t>Macro F1 chỉ 14,73–15,87%.</a:t>
            </a:r>
          </a:p>
        </p:txBody>
      </p:sp>
      <p:sp>
        <p:nvSpPr>
          <p:cNvPr name="TextBox 16" id="16"/>
          <p:cNvSpPr txBox="true"/>
          <p:nvPr/>
        </p:nvSpPr>
        <p:spPr>
          <a:xfrm rot="0">
            <a:off x="857250" y="6753225"/>
            <a:ext cx="6072188" cy="1376362"/>
          </a:xfrm>
          <a:prstGeom prst="rect">
            <a:avLst/>
          </a:prstGeom>
        </p:spPr>
        <p:txBody>
          <a:bodyPr anchor="t" rtlCol="false" tIns="0" lIns="0" bIns="0" rIns="0">
            <a:spAutoFit/>
          </a:bodyPr>
          <a:lstStyle/>
          <a:p>
            <a:pPr algn="l">
              <a:lnSpc>
                <a:spcPts val="3779"/>
              </a:lnSpc>
            </a:pPr>
            <a:r>
              <a:rPr lang="en-US" sz="3150">
                <a:solidFill>
                  <a:srgbClr val="202D39"/>
                </a:solidFill>
                <a:latin typeface="Arial"/>
                <a:ea typeface="Arial"/>
                <a:cs typeface="Arial"/>
                <a:sym typeface="Arial"/>
              </a:rPr>
              <a:t>Chênh lệch này cho thấy kết quả tổng thể chưa phản ánh tốt các lớp hiếm.</a:t>
            </a:r>
          </a:p>
        </p:txBody>
      </p:sp>
      <p:pic>
        <p:nvPicPr>
          <p:cNvPr id="17" name="">
            <a:extLst>
              <a:ext uri="{FF2B5EF4-FFF2-40B4-BE49-F238E27FC236}">
                <a16:creationId xmlns:a16="http://schemas.microsoft.com/office/drawing/2014/main" id="{5B63825B-F99D-4C89-AF73-23F0D8F55459}"/>
              </a:ext>
            </a:extLst>
          </p:cNvPr>
          <p:cNvPicPr>
            <a:picLocks noChangeAspect="1"/>
          </p:cNvPicPr>
          <p:nvPr/>
        </p:nvPicPr>
        <p:blipFill>
          <a:blip r:embed="rIdResultPicture25"/>
          <a:srcRect l="0" t="53000" r="0" b="0"/>
          <a:stretch/>
        </p:blipFill>
        <p:spPr>
          <a:xfrm>
            <a:off x="7496175" y="3238500"/>
            <a:ext cx="10096500" cy="5048250"/>
          </a:xfrm>
          <a:prstGeom prst="rect">
            <a:avLst/>
          </a:prstGeom>
        </p:spPr>
      </p:pic>
      <p:sp>
        <p:nvSpPr>
          <p:cNvPr name="TextBox 18" id="1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25</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668"/>
            <a:ext cx="18288000" cy="1070038"/>
            <a:chOff x="0" y="0"/>
            <a:chExt cx="24384000" cy="1426718"/>
          </a:xfrm>
        </p:grpSpPr>
        <p:sp>
          <p:nvSpPr>
            <p:cNvPr name="Freeform 3" id="3"/>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2072B7"/>
            </a:solidFill>
          </p:spPr>
        </p:sp>
      </p:grpSp>
      <p:grpSp>
        <p:nvGrpSpPr>
          <p:cNvPr name="Group 4" id="4"/>
          <p:cNvGrpSpPr/>
          <p:nvPr/>
        </p:nvGrpSpPr>
        <p:grpSpPr>
          <a:xfrm rot="0">
            <a:off x="477926" y="3334"/>
            <a:ext cx="4935598" cy="1027605"/>
            <a:chOff x="0" y="0"/>
            <a:chExt cx="6580797" cy="1370140"/>
          </a:xfrm>
        </p:grpSpPr>
        <p:sp>
          <p:nvSpPr>
            <p:cNvPr name="Freeform 5" id="5"/>
            <p:cNvSpPr/>
            <p:nvPr/>
          </p:nvSpPr>
          <p:spPr>
            <a:xfrm flipH="false" flipV="false" rot="0">
              <a:off x="0" y="0"/>
              <a:ext cx="6580759" cy="1370203"/>
            </a:xfrm>
            <a:custGeom>
              <a:avLst/>
              <a:gdLst/>
              <a:ahLst/>
              <a:cxnLst/>
              <a:rect r="r" b="b" t="t" l="l"/>
              <a:pathLst>
                <a:path h="1370203" w="6580759">
                  <a:moveTo>
                    <a:pt x="0" y="0"/>
                  </a:moveTo>
                  <a:lnTo>
                    <a:pt x="6580759" y="0"/>
                  </a:lnTo>
                  <a:lnTo>
                    <a:pt x="6580759" y="1370203"/>
                  </a:lnTo>
                  <a:lnTo>
                    <a:pt x="0" y="1370203"/>
                  </a:lnTo>
                  <a:lnTo>
                    <a:pt x="0" y="0"/>
                  </a:lnTo>
                  <a:close/>
                </a:path>
              </a:pathLst>
            </a:custGeom>
            <a:blipFill>
              <a:blip r:embed="rId3"/>
              <a:stretch>
                <a:fillRect l="-191" t="0" r="-192" b="4"/>
              </a:stretch>
            </a:blipFill>
          </p:spPr>
        </p:sp>
      </p:grpSp>
      <p:grpSp>
        <p:nvGrpSpPr>
          <p:cNvPr name="Group 6" id="6"/>
          <p:cNvGrpSpPr/>
          <p:nvPr/>
        </p:nvGrpSpPr>
        <p:grpSpPr>
          <a:xfrm rot="0">
            <a:off x="2663190" y="10082212"/>
            <a:ext cx="15624810" cy="204845"/>
            <a:chOff x="0" y="0"/>
            <a:chExt cx="20833080" cy="273126"/>
          </a:xfrm>
        </p:grpSpPr>
        <p:sp>
          <p:nvSpPr>
            <p:cNvPr name="Freeform 7" id="7"/>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2072B7"/>
            </a:solidFill>
          </p:spPr>
        </p:sp>
      </p:grpSp>
      <p:grpSp>
        <p:nvGrpSpPr>
          <p:cNvPr name="Group 8" id="8"/>
          <p:cNvGrpSpPr/>
          <p:nvPr/>
        </p:nvGrpSpPr>
        <p:grpSpPr>
          <a:xfrm rot="0">
            <a:off x="2743238" y="10108759"/>
            <a:ext cx="15544724" cy="152705"/>
            <a:chOff x="0" y="0"/>
            <a:chExt cx="20726298" cy="203606"/>
          </a:xfrm>
        </p:grpSpPr>
        <p:sp>
          <p:nvSpPr>
            <p:cNvPr name="Freeform 9" id="9"/>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4"/>
              <a:stretch>
                <a:fillRect l="0" t="0" r="0" b="-35745"/>
              </a:stretch>
            </a:blipFill>
          </p:spPr>
        </p:sp>
      </p:grpSp>
      <p:sp>
        <p:nvSpPr>
          <p:cNvPr name="TextBox 10" id="10"/>
          <p:cNvSpPr txBox="true"/>
          <p:nvPr/>
        </p:nvSpPr>
        <p:spPr>
          <a:xfrm rot="0">
            <a:off x="302009" y="10002231"/>
            <a:ext cx="2254501" cy="327536"/>
          </a:xfrm>
          <a:prstGeom prst="rect">
            <a:avLst/>
          </a:prstGeom>
        </p:spPr>
        <p:txBody>
          <a:bodyPr anchor="t" rtlCol="false" tIns="0" lIns="0" bIns="0" rIns="0">
            <a:spAutoFit/>
          </a:bodyPr>
          <a:lstStyle/>
          <a:p>
            <a:pPr algn="l">
              <a:lnSpc>
                <a:spcPts val="1800"/>
              </a:lnSpc>
            </a:pPr>
            <a:r>
              <a:rPr lang="en-US" sz="1500">
                <a:solidFill>
                  <a:srgbClr val="0070C0"/>
                </a:solidFill>
                <a:latin typeface="Calibri (MS)"/>
                <a:ea typeface="Calibri (MS)"/>
                <a:cs typeface="Calibri (MS)"/>
                <a:sym typeface="Calibri (MS)"/>
              </a:rPr>
              <a:t>https://huit.edu.vn</a:t>
            </a:r>
          </a:p>
        </p:txBody>
      </p:sp>
      <p:sp>
        <p:nvSpPr>
          <p:cNvPr name="TextBox 11" id="11"/>
          <p:cNvSpPr txBox="true"/>
          <p:nvPr/>
        </p:nvSpPr>
        <p:spPr>
          <a:xfrm rot="0">
            <a:off x="857250" y="1466850"/>
            <a:ext cx="16430625" cy="819150"/>
          </a:xfrm>
          <a:prstGeom prst="rect">
            <a:avLst/>
          </a:prstGeom>
        </p:spPr>
        <p:txBody>
          <a:bodyPr anchor="t" rtlCol="false" tIns="0" lIns="0" bIns="0" rIns="0">
            <a:spAutoFit/>
          </a:bodyPr>
          <a:lstStyle/>
          <a:p>
            <a:pPr algn="l">
              <a:lnSpc>
                <a:spcPts val="4995"/>
              </a:lnSpc>
            </a:pPr>
            <a:r>
              <a:rPr lang="en-US" sz="4162" b="true">
                <a:solidFill>
                  <a:srgbClr val="2072B7"/>
                </a:solidFill>
                <a:latin typeface="Arial Bold"/>
                <a:ea typeface="Arial Bold"/>
                <a:cs typeface="Arial Bold"/>
                <a:sym typeface="Arial Bold"/>
              </a:rPr>
              <a:t>Ba mô hình Spark MLlib thực đo</a:t>
            </a:r>
          </a:p>
        </p:txBody>
      </p:sp>
      <p:sp>
        <p:nvSpPr>
          <p:cNvPr name="TextBox 12" id="12"/>
          <p:cNvSpPr txBox="true"/>
          <p:nvPr/>
        </p:nvSpPr>
        <p:spPr>
          <a:xfrm rot="0">
            <a:off x="857250" y="2324100"/>
            <a:ext cx="16573500" cy="619125"/>
          </a:xfrm>
          <a:prstGeom prst="rect">
            <a:avLst/>
          </a:prstGeom>
        </p:spPr>
        <p:txBody>
          <a:bodyPr anchor="t" rtlCol="false" tIns="0" lIns="0" bIns="0" rIns="0">
            <a:spAutoFit/>
          </a:bodyPr>
          <a:lstStyle/>
          <a:p>
            <a:pPr algn="l">
              <a:lnSpc>
                <a:spcPts val="3240"/>
              </a:lnSpc>
            </a:pPr>
            <a:r>
              <a:rPr lang="en-US" sz="2700" b="true">
                <a:solidFill>
                  <a:srgbClr val="174C7E"/>
                </a:solidFill>
                <a:latin typeface="Arial Bold"/>
                <a:ea typeface="Arial Bold"/>
                <a:cs typeface="Arial Bold"/>
                <a:sym typeface="Arial Bold"/>
              </a:rPr>
              <a:t>Chỉ Logistic Regression, Decision Tree và Random Forest được xác nhận huấn luyện thật</a:t>
            </a:r>
          </a:p>
        </p:txBody>
      </p:sp>
      <p:sp>
        <p:nvSpPr>
          <p:cNvPr name="TextBox 13" id="13"/>
          <p:cNvSpPr txBox="true"/>
          <p:nvPr/>
        </p:nvSpPr>
        <p:spPr>
          <a:xfrm rot="0">
            <a:off x="16859250" y="9505950"/>
            <a:ext cx="714375" cy="366713"/>
          </a:xfrm>
          <a:prstGeom prst="rect">
            <a:avLst/>
          </a:prstGeom>
        </p:spPr>
        <p:txBody>
          <a:bodyPr anchor="t" rtlCol="false" tIns="0" lIns="0" bIns="0" rIns="0">
            <a:spAutoFit/>
          </a:bodyPr>
          <a:lstStyle/>
          <a:p>
            <a:pPr algn="l">
              <a:lnSpc>
                <a:spcPts val="2295"/>
              </a:lnSpc>
            </a:pPr>
            <a:r>
              <a:rPr lang="en-US" sz="1912">
                <a:solidFill>
                  <a:srgbClr val="2072B7"/>
                </a:solidFill>
                <a:latin typeface="Arial"/>
                <a:ea typeface="Arial"/>
                <a:cs typeface="Arial"/>
                <a:sym typeface="Arial"/>
              </a:rPr>
              <a:t>25</a:t>
            </a:r>
          </a:p>
        </p:txBody>
      </p:sp>
      <p:graphicFrame>
        <p:nvGraphicFramePr>
          <p:cNvPr name="Table 14" id="14"/>
          <p:cNvGraphicFramePr>
            <a:graphicFrameLocks noGrp="true"/>
          </p:cNvGraphicFramePr>
          <p:nvPr/>
        </p:nvGraphicFramePr>
        <p:xfrm>
          <a:off x="857250" y="3400425"/>
          <a:ext cx="16554450" cy="3505200"/>
        </p:xfrm>
        <a:graphic>
          <a:graphicData uri="http://schemas.openxmlformats.org/drawingml/2006/table">
            <a:tbl>
              <a:tblPr/>
              <a:tblGrid>
                <a:gridCol w="4994877"/>
                <a:gridCol w="2568794"/>
                <a:gridCol w="2996926"/>
                <a:gridCol w="2283372"/>
                <a:gridCol w="3710480"/>
              </a:tblGrid>
              <a:tr h="876300">
                <a:tc>
                  <a:txBody>
                    <a:bodyPr anchor="t" rtlCol="false"/>
                    <a:lstStyle/>
                    <a:p>
                      <a:pPr algn="l">
                        <a:lnSpc>
                          <a:spcPts val="3375"/>
                        </a:lnSpc>
                        <a:defRPr/>
                      </a:pPr>
                      <a:r>
                        <a:rPr lang="en-US" sz="2812" b="true">
                          <a:solidFill>
                            <a:srgbClr val="FFFFFF"/>
                          </a:solidFill>
                          <a:latin typeface="Arial Bold"/>
                          <a:ea typeface="Arial Bold"/>
                          <a:cs typeface="Arial Bold"/>
                          <a:sym typeface="Arial Bold"/>
                        </a:rPr>
                        <a:t>Mô hình Spark</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2072B7"/>
                    </a:solidFill>
                  </a:tcPr>
                </a:tc>
                <a:tc>
                  <a:txBody>
                    <a:bodyPr anchor="t" rtlCol="false"/>
                    <a:lstStyle/>
                    <a:p>
                      <a:pPr algn="l">
                        <a:lnSpc>
                          <a:spcPts val="3375"/>
                        </a:lnSpc>
                        <a:defRPr/>
                      </a:pPr>
                      <a:r>
                        <a:rPr lang="en-US" sz="2812" b="true">
                          <a:solidFill>
                            <a:srgbClr val="FFFFFF"/>
                          </a:solidFill>
                          <a:latin typeface="Arial Bold"/>
                          <a:ea typeface="Arial Bold"/>
                          <a:cs typeface="Arial Bold"/>
                          <a:sym typeface="Arial Bold"/>
                        </a:rPr>
                        <a:t>Accuracy</a:t>
                      </a:r>
                      <a:endParaRPr lang="en-US" sz="1100"/>
                    </a:p>
                    <a:p>
                      <a:pPr algn="l">
                        <a:lnSpc>
                          <a:spcPts val="3375"/>
                        </a:lnSpc>
                      </a:pPr>
                      <a:r>
                        <a:rPr lang="en-US" sz="2812" b="true">
                          <a:solidFill>
                            <a:srgbClr val="FFFFFF"/>
                          </a:solidFill>
                          <a:latin typeface="Arial Bold"/>
                          <a:ea typeface="Arial Bold"/>
                          <a:cs typeface="Arial Bold"/>
                          <a:sym typeface="Arial Bold"/>
                        </a:rPr>
                        <a:t>%</a:t>
                      </a:r>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2072B7"/>
                    </a:solidFill>
                  </a:tcPr>
                </a:tc>
                <a:tc>
                  <a:txBody>
                    <a:bodyPr anchor="t" rtlCol="false"/>
                    <a:lstStyle/>
                    <a:p>
                      <a:pPr algn="l">
                        <a:lnSpc>
                          <a:spcPts val="3375"/>
                        </a:lnSpc>
                        <a:defRPr/>
                      </a:pPr>
                      <a:r>
                        <a:rPr lang="en-US" sz="2812" b="true">
                          <a:solidFill>
                            <a:srgbClr val="FFFFFF"/>
                          </a:solidFill>
                          <a:latin typeface="Arial Bold"/>
                          <a:ea typeface="Arial Bold"/>
                          <a:cs typeface="Arial Bold"/>
                          <a:sym typeface="Arial Bold"/>
                        </a:rPr>
                        <a:t>Weighted F1</a:t>
                      </a:r>
                      <a:endParaRPr lang="en-US" sz="1100"/>
                    </a:p>
                    <a:p>
                      <a:pPr algn="l">
                        <a:lnSpc>
                          <a:spcPts val="3375"/>
                        </a:lnSpc>
                      </a:pPr>
                      <a:r>
                        <a:rPr lang="en-US" sz="2812" b="true">
                          <a:solidFill>
                            <a:srgbClr val="FFFFFF"/>
                          </a:solidFill>
                          <a:latin typeface="Arial Bold"/>
                          <a:ea typeface="Arial Bold"/>
                          <a:cs typeface="Arial Bold"/>
                          <a:sym typeface="Arial Bold"/>
                        </a:rPr>
                        <a:t>%</a:t>
                      </a:r>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2072B7"/>
                    </a:solidFill>
                  </a:tcPr>
                </a:tc>
                <a:tc>
                  <a:txBody>
                    <a:bodyPr anchor="t" rtlCol="false"/>
                    <a:lstStyle/>
                    <a:p>
                      <a:pPr algn="l">
                        <a:lnSpc>
                          <a:spcPts val="3375"/>
                        </a:lnSpc>
                        <a:defRPr/>
                      </a:pPr>
                      <a:r>
                        <a:rPr lang="en-US" sz="2812" b="true">
                          <a:solidFill>
                            <a:srgbClr val="FFFFFF"/>
                          </a:solidFill>
                          <a:latin typeface="Arial Bold"/>
                          <a:ea typeface="Arial Bold"/>
                          <a:cs typeface="Arial Bold"/>
                          <a:sym typeface="Arial Bold"/>
                        </a:rPr>
                        <a:t>Train</a:t>
                      </a:r>
                      <a:endParaRPr lang="en-US" sz="1100"/>
                    </a:p>
                    <a:p>
                      <a:pPr algn="l">
                        <a:lnSpc>
                          <a:spcPts val="3375"/>
                        </a:lnSpc>
                      </a:pPr>
                      <a:r>
                        <a:rPr lang="en-US" sz="2812" b="true">
                          <a:solidFill>
                            <a:srgbClr val="FFFFFF"/>
                          </a:solidFill>
                          <a:latin typeface="Arial Bold"/>
                          <a:ea typeface="Arial Bold"/>
                          <a:cs typeface="Arial Bold"/>
                          <a:sym typeface="Arial Bold"/>
                        </a:rPr>
                        <a:t>giây</a:t>
                      </a:r>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2072B7"/>
                    </a:solidFill>
                  </a:tcPr>
                </a:tc>
                <a:tc>
                  <a:txBody>
                    <a:bodyPr anchor="t" rtlCol="false"/>
                    <a:lstStyle/>
                    <a:p>
                      <a:pPr algn="l">
                        <a:lnSpc>
                          <a:spcPts val="3375"/>
                        </a:lnSpc>
                        <a:defRPr/>
                      </a:pPr>
                      <a:r>
                        <a:rPr lang="en-US" sz="2812" b="true">
                          <a:solidFill>
                            <a:srgbClr val="FFFFFF"/>
                          </a:solidFill>
                          <a:latin typeface="Arial Bold"/>
                          <a:ea typeface="Arial Bold"/>
                          <a:cs typeface="Arial Bold"/>
                          <a:sym typeface="Arial Bold"/>
                        </a:rPr>
                        <a:t>Suy luận</a:t>
                      </a:r>
                      <a:endParaRPr lang="en-US" sz="1100"/>
                    </a:p>
                    <a:p>
                      <a:pPr algn="l">
                        <a:lnSpc>
                          <a:spcPts val="3375"/>
                        </a:lnSpc>
                      </a:pPr>
                      <a:r>
                        <a:rPr lang="en-US" sz="2812" b="true">
                          <a:solidFill>
                            <a:srgbClr val="FFFFFF"/>
                          </a:solidFill>
                          <a:latin typeface="Arial Bold"/>
                          <a:ea typeface="Arial Bold"/>
                          <a:cs typeface="Arial Bold"/>
                          <a:sym typeface="Arial Bold"/>
                        </a:rPr>
                        <a:t>ms/1.000 mẫu</a:t>
                      </a:r>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2072B7"/>
                    </a:solidFill>
                  </a:tcPr>
                </a:tc>
              </a:tr>
              <a:tr h="876300">
                <a:tc>
                  <a:txBody>
                    <a:bodyPr anchor="t" rtlCol="false"/>
                    <a:lstStyle/>
                    <a:p>
                      <a:pPr algn="l">
                        <a:lnSpc>
                          <a:spcPts val="3375"/>
                        </a:lnSpc>
                        <a:defRPr/>
                      </a:pPr>
                      <a:r>
                        <a:rPr lang="en-US" sz="2812">
                          <a:solidFill>
                            <a:srgbClr val="202D39"/>
                          </a:solidFill>
                          <a:latin typeface="Arial"/>
                          <a:ea typeface="Arial"/>
                          <a:cs typeface="Arial"/>
                          <a:sym typeface="Arial"/>
                        </a:rPr>
                        <a:t>Logistic Regression</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DF5FB"/>
                    </a:solidFill>
                  </a:tcPr>
                </a:tc>
                <a:tc>
                  <a:txBody>
                    <a:bodyPr anchor="t" rtlCol="false"/>
                    <a:lstStyle/>
                    <a:p>
                      <a:pPr algn="l">
                        <a:lnSpc>
                          <a:spcPts val="3375"/>
                        </a:lnSpc>
                        <a:defRPr/>
                      </a:pPr>
                      <a:r>
                        <a:rPr lang="en-US" sz="2812">
                          <a:solidFill>
                            <a:srgbClr val="202D39"/>
                          </a:solidFill>
                          <a:latin typeface="Arial"/>
                          <a:ea typeface="Arial"/>
                          <a:cs typeface="Arial"/>
                          <a:sym typeface="Arial"/>
                        </a:rPr>
                        <a:t>79,20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DF5FB"/>
                    </a:solidFill>
                  </a:tcPr>
                </a:tc>
                <a:tc>
                  <a:txBody>
                    <a:bodyPr anchor="t" rtlCol="false"/>
                    <a:lstStyle/>
                    <a:p>
                      <a:pPr algn="l">
                        <a:lnSpc>
                          <a:spcPts val="3375"/>
                        </a:lnSpc>
                        <a:defRPr/>
                      </a:pPr>
                      <a:r>
                        <a:rPr lang="en-US" sz="2812">
                          <a:solidFill>
                            <a:srgbClr val="202D39"/>
                          </a:solidFill>
                          <a:latin typeface="Arial"/>
                          <a:ea typeface="Arial"/>
                          <a:cs typeface="Arial"/>
                          <a:sym typeface="Arial"/>
                        </a:rPr>
                        <a:t>70,00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DF5FB"/>
                    </a:solidFill>
                  </a:tcPr>
                </a:tc>
                <a:tc>
                  <a:txBody>
                    <a:bodyPr anchor="t" rtlCol="false"/>
                    <a:lstStyle/>
                    <a:p>
                      <a:pPr algn="l">
                        <a:lnSpc>
                          <a:spcPts val="3375"/>
                        </a:lnSpc>
                        <a:defRPr/>
                      </a:pPr>
                      <a:r>
                        <a:rPr lang="en-US" sz="2812">
                          <a:solidFill>
                            <a:srgbClr val="202D39"/>
                          </a:solidFill>
                          <a:latin typeface="Arial"/>
                          <a:ea typeface="Arial"/>
                          <a:cs typeface="Arial"/>
                          <a:sym typeface="Arial"/>
                        </a:rPr>
                        <a:t>19,29</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DF5FB"/>
                    </a:solidFill>
                  </a:tcPr>
                </a:tc>
                <a:tc>
                  <a:txBody>
                    <a:bodyPr anchor="t" rtlCol="false"/>
                    <a:lstStyle/>
                    <a:p>
                      <a:pPr algn="l">
                        <a:lnSpc>
                          <a:spcPts val="3375"/>
                        </a:lnSpc>
                        <a:defRPr/>
                      </a:pPr>
                      <a:r>
                        <a:rPr lang="en-US" sz="2812">
                          <a:solidFill>
                            <a:srgbClr val="202D39"/>
                          </a:solidFill>
                          <a:latin typeface="Arial"/>
                          <a:ea typeface="Arial"/>
                          <a:cs typeface="Arial"/>
                          <a:sym typeface="Arial"/>
                        </a:rPr>
                        <a:t>2,19</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DF5FB"/>
                    </a:solidFill>
                  </a:tcPr>
                </a:tc>
              </a:tr>
              <a:tr h="876300">
                <a:tc>
                  <a:txBody>
                    <a:bodyPr anchor="t" rtlCol="false"/>
                    <a:lstStyle/>
                    <a:p>
                      <a:pPr algn="l">
                        <a:lnSpc>
                          <a:spcPts val="3375"/>
                        </a:lnSpc>
                        <a:defRPr/>
                      </a:pPr>
                      <a:r>
                        <a:rPr lang="en-US" sz="2812">
                          <a:solidFill>
                            <a:srgbClr val="202D39"/>
                          </a:solidFill>
                          <a:latin typeface="Arial"/>
                          <a:ea typeface="Arial"/>
                          <a:cs typeface="Arial"/>
                          <a:sym typeface="Arial"/>
                        </a:rPr>
                        <a:t>Decision Tree</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3375"/>
                        </a:lnSpc>
                        <a:defRPr/>
                      </a:pPr>
                      <a:r>
                        <a:rPr lang="en-US" sz="2812">
                          <a:solidFill>
                            <a:srgbClr val="202D39"/>
                          </a:solidFill>
                          <a:latin typeface="Arial"/>
                          <a:ea typeface="Arial"/>
                          <a:cs typeface="Arial"/>
                          <a:sym typeface="Arial"/>
                        </a:rPr>
                        <a:t>79,20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3375"/>
                        </a:lnSpc>
                        <a:defRPr/>
                      </a:pPr>
                      <a:r>
                        <a:rPr lang="en-US" sz="2812">
                          <a:solidFill>
                            <a:srgbClr val="202D39"/>
                          </a:solidFill>
                          <a:latin typeface="Arial"/>
                          <a:ea typeface="Arial"/>
                          <a:cs typeface="Arial"/>
                          <a:sym typeface="Arial"/>
                        </a:rPr>
                        <a:t>70,00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3375"/>
                        </a:lnSpc>
                        <a:defRPr/>
                      </a:pPr>
                      <a:r>
                        <a:rPr lang="en-US" sz="2812">
                          <a:solidFill>
                            <a:srgbClr val="202D39"/>
                          </a:solidFill>
                          <a:latin typeface="Arial"/>
                          <a:ea typeface="Arial"/>
                          <a:cs typeface="Arial"/>
                          <a:sym typeface="Arial"/>
                        </a:rPr>
                        <a:t>23,13</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3375"/>
                        </a:lnSpc>
                        <a:defRPr/>
                      </a:pPr>
                      <a:r>
                        <a:rPr lang="en-US" sz="2812">
                          <a:solidFill>
                            <a:srgbClr val="202D39"/>
                          </a:solidFill>
                          <a:latin typeface="Arial"/>
                          <a:ea typeface="Arial"/>
                          <a:cs typeface="Arial"/>
                          <a:sym typeface="Arial"/>
                        </a:rPr>
                        <a:t>1,77</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876300">
                <a:tc>
                  <a:txBody>
                    <a:bodyPr anchor="t" rtlCol="false"/>
                    <a:lstStyle/>
                    <a:p>
                      <a:pPr algn="l">
                        <a:lnSpc>
                          <a:spcPts val="3375"/>
                        </a:lnSpc>
                        <a:defRPr/>
                      </a:pPr>
                      <a:r>
                        <a:rPr lang="en-US" sz="2812">
                          <a:solidFill>
                            <a:srgbClr val="202D39"/>
                          </a:solidFill>
                          <a:latin typeface="Arial"/>
                          <a:ea typeface="Arial"/>
                          <a:cs typeface="Arial"/>
                          <a:sym typeface="Arial"/>
                        </a:rPr>
                        <a:t>Random Forest</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DF5FB"/>
                    </a:solidFill>
                  </a:tcPr>
                </a:tc>
                <a:tc>
                  <a:txBody>
                    <a:bodyPr anchor="t" rtlCol="false"/>
                    <a:lstStyle/>
                    <a:p>
                      <a:pPr algn="l">
                        <a:lnSpc>
                          <a:spcPts val="3375"/>
                        </a:lnSpc>
                        <a:defRPr/>
                      </a:pPr>
                      <a:r>
                        <a:rPr lang="en-US" sz="2812">
                          <a:solidFill>
                            <a:srgbClr val="202D39"/>
                          </a:solidFill>
                          <a:latin typeface="Arial"/>
                          <a:ea typeface="Arial"/>
                          <a:cs typeface="Arial"/>
                          <a:sym typeface="Arial"/>
                        </a:rPr>
                        <a:t>79,20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DF5FB"/>
                    </a:solidFill>
                  </a:tcPr>
                </a:tc>
                <a:tc>
                  <a:txBody>
                    <a:bodyPr anchor="t" rtlCol="false"/>
                    <a:lstStyle/>
                    <a:p>
                      <a:pPr algn="l">
                        <a:lnSpc>
                          <a:spcPts val="3375"/>
                        </a:lnSpc>
                        <a:defRPr/>
                      </a:pPr>
                      <a:r>
                        <a:rPr lang="en-US" sz="2812">
                          <a:solidFill>
                            <a:srgbClr val="202D39"/>
                          </a:solidFill>
                          <a:latin typeface="Arial"/>
                          <a:ea typeface="Arial"/>
                          <a:cs typeface="Arial"/>
                          <a:sym typeface="Arial"/>
                        </a:rPr>
                        <a:t>70,00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DF5FB"/>
                    </a:solidFill>
                  </a:tcPr>
                </a:tc>
                <a:tc>
                  <a:txBody>
                    <a:bodyPr anchor="t" rtlCol="false"/>
                    <a:lstStyle/>
                    <a:p>
                      <a:pPr algn="l">
                        <a:lnSpc>
                          <a:spcPts val="3375"/>
                        </a:lnSpc>
                        <a:defRPr/>
                      </a:pPr>
                      <a:r>
                        <a:rPr lang="en-US" sz="2812">
                          <a:solidFill>
                            <a:srgbClr val="202D39"/>
                          </a:solidFill>
                          <a:latin typeface="Arial"/>
                          <a:ea typeface="Arial"/>
                          <a:cs typeface="Arial"/>
                          <a:sym typeface="Arial"/>
                        </a:rPr>
                        <a:t>31,03</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DF5FB"/>
                    </a:solidFill>
                  </a:tcPr>
                </a:tc>
                <a:tc>
                  <a:txBody>
                    <a:bodyPr anchor="t" rtlCol="false"/>
                    <a:lstStyle/>
                    <a:p>
                      <a:pPr algn="l">
                        <a:lnSpc>
                          <a:spcPts val="3375"/>
                        </a:lnSpc>
                        <a:defRPr/>
                      </a:pPr>
                      <a:r>
                        <a:rPr lang="en-US" sz="2812">
                          <a:solidFill>
                            <a:srgbClr val="202D39"/>
                          </a:solidFill>
                          <a:latin typeface="Arial"/>
                          <a:ea typeface="Arial"/>
                          <a:cs typeface="Arial"/>
                          <a:sym typeface="Arial"/>
                        </a:rPr>
                        <a:t>1,86</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DF5FB"/>
                    </a:solidFill>
                  </a:tcPr>
                </a:tc>
              </a:tr>
            </a:tbl>
          </a:graphicData>
        </a:graphic>
      </p:graphicFrame>
      <p:sp>
        <p:nvSpPr>
          <p:cNvPr name="TextBox 15" id="15"/>
          <p:cNvSpPr txBox="true"/>
          <p:nvPr/>
        </p:nvSpPr>
        <p:spPr>
          <a:xfrm rot="0">
            <a:off x="857250" y="7481888"/>
            <a:ext cx="16573500" cy="647700"/>
          </a:xfrm>
          <a:prstGeom prst="rect">
            <a:avLst/>
          </a:prstGeom>
        </p:spPr>
        <p:txBody>
          <a:bodyPr anchor="t" rtlCol="false" tIns="0" lIns="0" bIns="0" rIns="0">
            <a:spAutoFit/>
          </a:bodyPr>
          <a:lstStyle/>
          <a:p>
            <a:pPr algn="l">
              <a:lnSpc>
                <a:spcPts val="3779"/>
              </a:lnSpc>
            </a:pPr>
            <a:r>
              <a:rPr lang="en-US" sz="3150" b="true">
                <a:solidFill>
                  <a:srgbClr val="2072B7"/>
                </a:solidFill>
                <a:latin typeface="Arial Bold"/>
                <a:ea typeface="Arial Bold"/>
                <a:cs typeface="Arial Bold"/>
                <a:sym typeface="Arial Bold"/>
              </a:rPr>
              <a:t>Cả ba đạt Accuracy 79,20% và Weighted F1 70,00%.</a:t>
            </a:r>
          </a:p>
        </p:txBody>
      </p:sp>
      <p:sp>
        <p:nvSpPr>
          <p:cNvPr name="TextBox 16" id="16"/>
          <p:cNvSpPr txBox="true"/>
          <p:nvPr/>
        </p:nvSpPr>
        <p:spPr>
          <a:xfrm rot="0">
            <a:off x="857250" y="8410575"/>
            <a:ext cx="16573500" cy="947738"/>
          </a:xfrm>
          <a:prstGeom prst="rect">
            <a:avLst/>
          </a:prstGeom>
        </p:spPr>
        <p:txBody>
          <a:bodyPr anchor="t" rtlCol="false" tIns="0" lIns="0" bIns="0" rIns="0">
            <a:spAutoFit/>
          </a:bodyPr>
          <a:lstStyle/>
          <a:p>
            <a:pPr algn="l">
              <a:lnSpc>
                <a:spcPts val="3240"/>
              </a:lnSpc>
            </a:pPr>
            <a:r>
              <a:rPr lang="en-US" sz="2700">
                <a:solidFill>
                  <a:srgbClr val="586675"/>
                </a:solidFill>
                <a:latin typeface="Arial"/>
                <a:ea typeface="Arial"/>
                <a:cs typeface="Arial"/>
                <a:sym typeface="Arial"/>
              </a:rPr>
              <a:t>Macro F1 chưa có. Ba tích hợp boosting Spark chưa có kết quả thực đo hợp lệ.</a:t>
            </a:r>
          </a:p>
        </p:txBody>
      </p:sp>
      <p:sp>
        <p:nvSpPr>
          <p:cNvPr name="TextBox 17" id="1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26</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668"/>
            <a:ext cx="18288000" cy="1070038"/>
            <a:chOff x="0" y="0"/>
            <a:chExt cx="24384000" cy="1426718"/>
          </a:xfrm>
        </p:grpSpPr>
        <p:sp>
          <p:nvSpPr>
            <p:cNvPr name="Freeform 3" id="3"/>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2072B7"/>
            </a:solidFill>
          </p:spPr>
        </p:sp>
      </p:grpSp>
      <p:grpSp>
        <p:nvGrpSpPr>
          <p:cNvPr name="Group 4" id="4"/>
          <p:cNvGrpSpPr/>
          <p:nvPr/>
        </p:nvGrpSpPr>
        <p:grpSpPr>
          <a:xfrm rot="0">
            <a:off x="477926" y="3334"/>
            <a:ext cx="4935598" cy="1027605"/>
            <a:chOff x="0" y="0"/>
            <a:chExt cx="6580797" cy="1370140"/>
          </a:xfrm>
        </p:grpSpPr>
        <p:sp>
          <p:nvSpPr>
            <p:cNvPr name="Freeform 5" id="5"/>
            <p:cNvSpPr/>
            <p:nvPr/>
          </p:nvSpPr>
          <p:spPr>
            <a:xfrm flipH="false" flipV="false" rot="0">
              <a:off x="0" y="0"/>
              <a:ext cx="6580759" cy="1370203"/>
            </a:xfrm>
            <a:custGeom>
              <a:avLst/>
              <a:gdLst/>
              <a:ahLst/>
              <a:cxnLst/>
              <a:rect r="r" b="b" t="t" l="l"/>
              <a:pathLst>
                <a:path h="1370203" w="6580759">
                  <a:moveTo>
                    <a:pt x="0" y="0"/>
                  </a:moveTo>
                  <a:lnTo>
                    <a:pt x="6580759" y="0"/>
                  </a:lnTo>
                  <a:lnTo>
                    <a:pt x="6580759" y="1370203"/>
                  </a:lnTo>
                  <a:lnTo>
                    <a:pt x="0" y="1370203"/>
                  </a:lnTo>
                  <a:lnTo>
                    <a:pt x="0" y="0"/>
                  </a:lnTo>
                  <a:close/>
                </a:path>
              </a:pathLst>
            </a:custGeom>
            <a:blipFill>
              <a:blip r:embed="rId3"/>
              <a:stretch>
                <a:fillRect l="-191" t="0" r="-192" b="4"/>
              </a:stretch>
            </a:blipFill>
          </p:spPr>
        </p:sp>
      </p:grpSp>
      <p:grpSp>
        <p:nvGrpSpPr>
          <p:cNvPr name="Group 6" id="6"/>
          <p:cNvGrpSpPr/>
          <p:nvPr/>
        </p:nvGrpSpPr>
        <p:grpSpPr>
          <a:xfrm rot="0">
            <a:off x="2663190" y="10082212"/>
            <a:ext cx="15624810" cy="204845"/>
            <a:chOff x="0" y="0"/>
            <a:chExt cx="20833080" cy="273126"/>
          </a:xfrm>
        </p:grpSpPr>
        <p:sp>
          <p:nvSpPr>
            <p:cNvPr name="Freeform 7" id="7"/>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2072B7"/>
            </a:solidFill>
          </p:spPr>
        </p:sp>
      </p:grpSp>
      <p:grpSp>
        <p:nvGrpSpPr>
          <p:cNvPr name="Group 8" id="8"/>
          <p:cNvGrpSpPr/>
          <p:nvPr/>
        </p:nvGrpSpPr>
        <p:grpSpPr>
          <a:xfrm rot="0">
            <a:off x="2743238" y="10108759"/>
            <a:ext cx="15544724" cy="152705"/>
            <a:chOff x="0" y="0"/>
            <a:chExt cx="20726298" cy="203606"/>
          </a:xfrm>
        </p:grpSpPr>
        <p:sp>
          <p:nvSpPr>
            <p:cNvPr name="Freeform 9" id="9"/>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4"/>
              <a:stretch>
                <a:fillRect l="0" t="0" r="0" b="-35745"/>
              </a:stretch>
            </a:blipFill>
          </p:spPr>
        </p:sp>
      </p:grpSp>
      <p:sp>
        <p:nvSpPr>
          <p:cNvPr name="TextBox 10" id="10"/>
          <p:cNvSpPr txBox="true"/>
          <p:nvPr/>
        </p:nvSpPr>
        <p:spPr>
          <a:xfrm rot="0">
            <a:off x="302009" y="10002231"/>
            <a:ext cx="2254501" cy="327536"/>
          </a:xfrm>
          <a:prstGeom prst="rect">
            <a:avLst/>
          </a:prstGeom>
        </p:spPr>
        <p:txBody>
          <a:bodyPr anchor="t" rtlCol="false" tIns="0" lIns="0" bIns="0" rIns="0">
            <a:spAutoFit/>
          </a:bodyPr>
          <a:lstStyle/>
          <a:p>
            <a:pPr algn="l">
              <a:lnSpc>
                <a:spcPts val="1800"/>
              </a:lnSpc>
            </a:pPr>
            <a:r>
              <a:rPr lang="en-US" sz="1500">
                <a:solidFill>
                  <a:srgbClr val="0070C0"/>
                </a:solidFill>
                <a:latin typeface="Calibri (MS)"/>
                <a:ea typeface="Calibri (MS)"/>
                <a:cs typeface="Calibri (MS)"/>
                <a:sym typeface="Calibri (MS)"/>
              </a:rPr>
              <a:t>https://huit.edu.vn</a:t>
            </a:r>
          </a:p>
        </p:txBody>
      </p:sp>
      <p:sp>
        <p:nvSpPr>
          <p:cNvPr name="TextBox 11" id="11"/>
          <p:cNvSpPr txBox="true"/>
          <p:nvPr/>
        </p:nvSpPr>
        <p:spPr>
          <a:xfrm rot="0">
            <a:off x="857250" y="1466850"/>
            <a:ext cx="16430625" cy="819150"/>
          </a:xfrm>
          <a:prstGeom prst="rect">
            <a:avLst/>
          </a:prstGeom>
        </p:spPr>
        <p:txBody>
          <a:bodyPr anchor="t" rtlCol="false" tIns="0" lIns="0" bIns="0" rIns="0">
            <a:spAutoFit/>
          </a:bodyPr>
          <a:lstStyle/>
          <a:p>
            <a:pPr algn="l">
              <a:lnSpc>
                <a:spcPts val="4995"/>
              </a:lnSpc>
            </a:pPr>
            <a:r>
              <a:rPr lang="en-US" sz="4162" b="true">
                <a:solidFill>
                  <a:srgbClr val="2072B7"/>
                </a:solidFill>
                <a:latin typeface="Arial Bold"/>
                <a:ea typeface="Arial Bold"/>
                <a:cs typeface="Arial Bold"/>
                <a:sym typeface="Arial Bold"/>
              </a:rPr>
              <a:t>Đối sánh thời gian CPU và Spark</a:t>
            </a:r>
          </a:p>
        </p:txBody>
      </p:sp>
      <p:sp>
        <p:nvSpPr>
          <p:cNvPr name="TextBox 12" id="12"/>
          <p:cNvSpPr txBox="true"/>
          <p:nvPr/>
        </p:nvSpPr>
        <p:spPr>
          <a:xfrm rot="0">
            <a:off x="857250" y="2324100"/>
            <a:ext cx="16573500" cy="619125"/>
          </a:xfrm>
          <a:prstGeom prst="rect">
            <a:avLst/>
          </a:prstGeom>
        </p:spPr>
        <p:txBody>
          <a:bodyPr anchor="t" rtlCol="false" tIns="0" lIns="0" bIns="0" rIns="0">
            <a:spAutoFit/>
          </a:bodyPr>
          <a:lstStyle/>
          <a:p>
            <a:pPr algn="l">
              <a:lnSpc>
                <a:spcPts val="3240"/>
              </a:lnSpc>
            </a:pPr>
            <a:r>
              <a:rPr lang="en-US" sz="2700" b="true">
                <a:solidFill>
                  <a:srgbClr val="174C7E"/>
                </a:solidFill>
                <a:latin typeface="Arial Bold"/>
                <a:ea typeface="Arial Bold"/>
                <a:cs typeface="Arial Bold"/>
                <a:sym typeface="Arial Bold"/>
              </a:rPr>
              <a:t>Random Forest Spark có thời gian train thấp hơn trong hai cấu hình đang xét</a:t>
            </a:r>
          </a:p>
        </p:txBody>
      </p:sp>
      <p:sp>
        <p:nvSpPr>
          <p:cNvPr name="TextBox 13" id="13"/>
          <p:cNvSpPr txBox="true"/>
          <p:nvPr/>
        </p:nvSpPr>
        <p:spPr>
          <a:xfrm rot="0">
            <a:off x="16859250" y="9505950"/>
            <a:ext cx="714375" cy="366713"/>
          </a:xfrm>
          <a:prstGeom prst="rect">
            <a:avLst/>
          </a:prstGeom>
        </p:spPr>
        <p:txBody>
          <a:bodyPr anchor="t" rtlCol="false" tIns="0" lIns="0" bIns="0" rIns="0">
            <a:spAutoFit/>
          </a:bodyPr>
          <a:lstStyle/>
          <a:p>
            <a:pPr algn="l">
              <a:lnSpc>
                <a:spcPts val="2295"/>
              </a:lnSpc>
            </a:pPr>
            <a:r>
              <a:rPr lang="en-US" sz="1912">
                <a:solidFill>
                  <a:srgbClr val="2072B7"/>
                </a:solidFill>
                <a:latin typeface="Arial"/>
                <a:ea typeface="Arial"/>
                <a:cs typeface="Arial"/>
                <a:sym typeface="Arial"/>
              </a:rPr>
              <a:t>26</a:t>
            </a:r>
          </a:p>
        </p:txBody>
      </p:sp>
      <p:sp>
        <p:nvSpPr>
          <p:cNvPr name="TextBox 14" id="14"/>
          <p:cNvSpPr txBox="true"/>
          <p:nvPr/>
        </p:nvSpPr>
        <p:spPr>
          <a:xfrm rot="0">
            <a:off x="857250" y="3338512"/>
            <a:ext cx="6072188" cy="1376362"/>
          </a:xfrm>
          <a:prstGeom prst="rect">
            <a:avLst/>
          </a:prstGeom>
        </p:spPr>
        <p:txBody>
          <a:bodyPr anchor="t" rtlCol="false" tIns="0" lIns="0" bIns="0" rIns="0">
            <a:spAutoFit/>
          </a:bodyPr>
          <a:lstStyle/>
          <a:p>
            <a:pPr algn="l">
              <a:lnSpc>
                <a:spcPts val="3644"/>
              </a:lnSpc>
            </a:pPr>
            <a:r>
              <a:rPr lang="en-US" sz="3037">
                <a:solidFill>
                  <a:srgbClr val="202D39"/>
                </a:solidFill>
                <a:latin typeface="Arial"/>
                <a:ea typeface="Arial"/>
                <a:cs typeface="Arial"/>
                <a:sym typeface="Arial"/>
              </a:rPr>
              <a:t>Random Forest train: 85,18 giây CPU và 31,03 giây Spark.</a:t>
            </a:r>
          </a:p>
        </p:txBody>
      </p:sp>
      <p:sp>
        <p:nvSpPr>
          <p:cNvPr name="TextBox 15" id="15"/>
          <p:cNvSpPr txBox="true"/>
          <p:nvPr/>
        </p:nvSpPr>
        <p:spPr>
          <a:xfrm rot="0">
            <a:off x="857250" y="5010150"/>
            <a:ext cx="6072188" cy="1376362"/>
          </a:xfrm>
          <a:prstGeom prst="rect">
            <a:avLst/>
          </a:prstGeom>
        </p:spPr>
        <p:txBody>
          <a:bodyPr anchor="t" rtlCol="false" tIns="0" lIns="0" bIns="0" rIns="0">
            <a:spAutoFit/>
          </a:bodyPr>
          <a:lstStyle/>
          <a:p>
            <a:pPr algn="l">
              <a:lnSpc>
                <a:spcPts val="3644"/>
              </a:lnSpc>
            </a:pPr>
            <a:r>
              <a:rPr lang="en-US" sz="3037">
                <a:solidFill>
                  <a:srgbClr val="202D39"/>
                </a:solidFill>
                <a:latin typeface="Arial"/>
                <a:ea typeface="Arial"/>
                <a:cs typeface="Arial"/>
                <a:sym typeface="Arial"/>
              </a:rPr>
              <a:t>Tỷ lệ thời gian train: 2,75 lần.</a:t>
            </a:r>
          </a:p>
        </p:txBody>
      </p:sp>
      <p:sp>
        <p:nvSpPr>
          <p:cNvPr name="TextBox 16" id="16"/>
          <p:cNvSpPr txBox="true"/>
          <p:nvPr/>
        </p:nvSpPr>
        <p:spPr>
          <a:xfrm rot="0">
            <a:off x="857250" y="6681788"/>
            <a:ext cx="6072188" cy="1376362"/>
          </a:xfrm>
          <a:prstGeom prst="rect">
            <a:avLst/>
          </a:prstGeom>
        </p:spPr>
        <p:txBody>
          <a:bodyPr anchor="t" rtlCol="false" tIns="0" lIns="0" bIns="0" rIns="0">
            <a:spAutoFit/>
          </a:bodyPr>
          <a:lstStyle/>
          <a:p>
            <a:pPr algn="l">
              <a:lnSpc>
                <a:spcPts val="3644"/>
              </a:lnSpc>
            </a:pPr>
            <a:r>
              <a:rPr lang="en-US" sz="3037">
                <a:solidFill>
                  <a:srgbClr val="202D39"/>
                </a:solidFill>
                <a:latin typeface="Arial"/>
                <a:ea typeface="Arial"/>
                <a:cs typeface="Arial"/>
                <a:sym typeface="Arial"/>
              </a:rPr>
              <a:t>Suy luận: 16,31 và 1,86 ms/1.000 mẫu, tỷ lệ 8,77 lần.</a:t>
            </a:r>
          </a:p>
        </p:txBody>
      </p:sp>
      <p:pic>
        <p:nvPicPr>
          <p:cNvPr id="17" name="">
            <a:extLst>
              <a:ext uri="{FF2B5EF4-FFF2-40B4-BE49-F238E27FC236}">
                <a16:creationId xmlns:a16="http://schemas.microsoft.com/office/drawing/2014/main" id="{0AC71BAE-79ED-493B-A80D-95C04DA28DEA}"/>
              </a:ext>
            </a:extLst>
          </p:cNvPr>
          <p:cNvPicPr>
            <a:picLocks noChangeAspect="1"/>
          </p:cNvPicPr>
          <p:nvPr/>
        </p:nvPicPr>
        <p:blipFill>
          <a:blip r:embed="rIdResultPicture27"/>
          <a:srcRect l="0" t="53000" r="0" b="8000"/>
          <a:stretch/>
        </p:blipFill>
        <p:spPr>
          <a:xfrm>
            <a:off x="7496175" y="4095750"/>
            <a:ext cx="10096500" cy="2905125"/>
          </a:xfrm>
          <a:prstGeom prst="rect">
            <a:avLst/>
          </a:prstGeom>
        </p:spPr>
      </p:pic>
      <p:sp>
        <p:nvSpPr>
          <p:cNvPr name="TextBox 18" id="18"/>
          <p:cNvSpPr txBox="true"/>
          <p:nvPr/>
        </p:nvSpPr>
        <p:spPr>
          <a:xfrm rot="0">
            <a:off x="857250" y="8939212"/>
            <a:ext cx="16430625" cy="590550"/>
          </a:xfrm>
          <a:prstGeom prst="rect">
            <a:avLst/>
          </a:prstGeom>
        </p:spPr>
        <p:txBody>
          <a:bodyPr anchor="t" rtlCol="false" tIns="0" lIns="0" bIns="0" rIns="0">
            <a:spAutoFit/>
          </a:bodyPr>
          <a:lstStyle/>
          <a:p>
            <a:pPr algn="l">
              <a:lnSpc>
                <a:spcPts val="3104"/>
              </a:lnSpc>
            </a:pPr>
            <a:r>
              <a:rPr lang="en-US" sz="2587">
                <a:solidFill>
                  <a:srgbClr val="586675"/>
                </a:solidFill>
                <a:latin typeface="Arial"/>
                <a:ea typeface="Arial"/>
                <a:cs typeface="Arial"/>
                <a:sym typeface="Arial"/>
              </a:rPr>
              <a:t>Khác cấu hình và tập test chưa cố định. Không suy ra tăng tốc toàn trình.</a:t>
            </a:r>
          </a:p>
        </p:txBody>
      </p:sp>
      <p:sp>
        <p:nvSpPr>
          <p:cNvPr name="TextBox 19" id="1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27</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668"/>
            <a:ext cx="18288000" cy="1070038"/>
            <a:chOff x="0" y="0"/>
            <a:chExt cx="24384000" cy="1426718"/>
          </a:xfrm>
        </p:grpSpPr>
        <p:sp>
          <p:nvSpPr>
            <p:cNvPr name="Freeform 3" id="3"/>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2072B7"/>
            </a:solidFill>
          </p:spPr>
        </p:sp>
      </p:grpSp>
      <p:grpSp>
        <p:nvGrpSpPr>
          <p:cNvPr name="Group 4" id="4"/>
          <p:cNvGrpSpPr/>
          <p:nvPr/>
        </p:nvGrpSpPr>
        <p:grpSpPr>
          <a:xfrm rot="0">
            <a:off x="477926" y="3334"/>
            <a:ext cx="4935598" cy="1027605"/>
            <a:chOff x="0" y="0"/>
            <a:chExt cx="6580797" cy="1370140"/>
          </a:xfrm>
        </p:grpSpPr>
        <p:sp>
          <p:nvSpPr>
            <p:cNvPr name="Freeform 5" id="5"/>
            <p:cNvSpPr/>
            <p:nvPr/>
          </p:nvSpPr>
          <p:spPr>
            <a:xfrm flipH="false" flipV="false" rot="0">
              <a:off x="0" y="0"/>
              <a:ext cx="6580759" cy="1370203"/>
            </a:xfrm>
            <a:custGeom>
              <a:avLst/>
              <a:gdLst/>
              <a:ahLst/>
              <a:cxnLst/>
              <a:rect r="r" b="b" t="t" l="l"/>
              <a:pathLst>
                <a:path h="1370203" w="6580759">
                  <a:moveTo>
                    <a:pt x="0" y="0"/>
                  </a:moveTo>
                  <a:lnTo>
                    <a:pt x="6580759" y="0"/>
                  </a:lnTo>
                  <a:lnTo>
                    <a:pt x="6580759" y="1370203"/>
                  </a:lnTo>
                  <a:lnTo>
                    <a:pt x="0" y="1370203"/>
                  </a:lnTo>
                  <a:lnTo>
                    <a:pt x="0" y="0"/>
                  </a:lnTo>
                  <a:close/>
                </a:path>
              </a:pathLst>
            </a:custGeom>
            <a:blipFill>
              <a:blip r:embed="rId3"/>
              <a:stretch>
                <a:fillRect l="-191" t="0" r="-192" b="4"/>
              </a:stretch>
            </a:blipFill>
          </p:spPr>
        </p:sp>
      </p:grpSp>
      <p:grpSp>
        <p:nvGrpSpPr>
          <p:cNvPr name="Group 6" id="6"/>
          <p:cNvGrpSpPr/>
          <p:nvPr/>
        </p:nvGrpSpPr>
        <p:grpSpPr>
          <a:xfrm rot="0">
            <a:off x="2663190" y="10082212"/>
            <a:ext cx="15624810" cy="204845"/>
            <a:chOff x="0" y="0"/>
            <a:chExt cx="20833080" cy="273126"/>
          </a:xfrm>
        </p:grpSpPr>
        <p:sp>
          <p:nvSpPr>
            <p:cNvPr name="Freeform 7" id="7"/>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2072B7"/>
            </a:solidFill>
          </p:spPr>
        </p:sp>
      </p:grpSp>
      <p:grpSp>
        <p:nvGrpSpPr>
          <p:cNvPr name="Group 8" id="8"/>
          <p:cNvGrpSpPr/>
          <p:nvPr/>
        </p:nvGrpSpPr>
        <p:grpSpPr>
          <a:xfrm rot="0">
            <a:off x="2743238" y="10108759"/>
            <a:ext cx="15544724" cy="152705"/>
            <a:chOff x="0" y="0"/>
            <a:chExt cx="20726298" cy="203606"/>
          </a:xfrm>
        </p:grpSpPr>
        <p:sp>
          <p:nvSpPr>
            <p:cNvPr name="Freeform 9" id="9"/>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4"/>
              <a:stretch>
                <a:fillRect l="0" t="0" r="0" b="-35745"/>
              </a:stretch>
            </a:blipFill>
          </p:spPr>
        </p:sp>
      </p:grpSp>
      <p:sp>
        <p:nvSpPr>
          <p:cNvPr name="TextBox 10" id="10"/>
          <p:cNvSpPr txBox="true"/>
          <p:nvPr/>
        </p:nvSpPr>
        <p:spPr>
          <a:xfrm rot="0">
            <a:off x="302009" y="10002231"/>
            <a:ext cx="2254501" cy="327536"/>
          </a:xfrm>
          <a:prstGeom prst="rect">
            <a:avLst/>
          </a:prstGeom>
        </p:spPr>
        <p:txBody>
          <a:bodyPr anchor="t" rtlCol="false" tIns="0" lIns="0" bIns="0" rIns="0">
            <a:spAutoFit/>
          </a:bodyPr>
          <a:lstStyle/>
          <a:p>
            <a:pPr algn="l">
              <a:lnSpc>
                <a:spcPts val="1800"/>
              </a:lnSpc>
            </a:pPr>
            <a:r>
              <a:rPr lang="en-US" sz="1500">
                <a:solidFill>
                  <a:srgbClr val="0070C0"/>
                </a:solidFill>
                <a:latin typeface="Calibri (MS)"/>
                <a:ea typeface="Calibri (MS)"/>
                <a:cs typeface="Calibri (MS)"/>
                <a:sym typeface="Calibri (MS)"/>
              </a:rPr>
              <a:t>https://huit.edu.vn</a:t>
            </a:r>
          </a:p>
        </p:txBody>
      </p:sp>
      <p:sp>
        <p:nvSpPr>
          <p:cNvPr name="TextBox 11" id="11"/>
          <p:cNvSpPr txBox="true"/>
          <p:nvPr/>
        </p:nvSpPr>
        <p:spPr>
          <a:xfrm rot="0">
            <a:off x="857250" y="1466850"/>
            <a:ext cx="16430625" cy="819150"/>
          </a:xfrm>
          <a:prstGeom prst="rect">
            <a:avLst/>
          </a:prstGeom>
        </p:spPr>
        <p:txBody>
          <a:bodyPr anchor="t" rtlCol="false" tIns="0" lIns="0" bIns="0" rIns="0">
            <a:spAutoFit/>
          </a:bodyPr>
          <a:lstStyle/>
          <a:p>
            <a:pPr algn="l">
              <a:lnSpc>
                <a:spcPts val="4995"/>
              </a:lnSpc>
            </a:pPr>
            <a:r>
              <a:rPr lang="en-US" sz="4162" b="true">
                <a:solidFill>
                  <a:srgbClr val="2072B7"/>
                </a:solidFill>
                <a:latin typeface="Arial Bold"/>
                <a:ea typeface="Arial Bold"/>
                <a:cs typeface="Arial Bold"/>
                <a:sym typeface="Arial Bold"/>
              </a:rPr>
              <a:t>Ma trận nhầm lẫn Random Forest CPU</a:t>
            </a:r>
          </a:p>
        </p:txBody>
      </p:sp>
      <p:sp>
        <p:nvSpPr>
          <p:cNvPr name="TextBox 12" id="12"/>
          <p:cNvSpPr txBox="true"/>
          <p:nvPr/>
        </p:nvSpPr>
        <p:spPr>
          <a:xfrm rot="0">
            <a:off x="857250" y="2324100"/>
            <a:ext cx="16573500" cy="619125"/>
          </a:xfrm>
          <a:prstGeom prst="rect">
            <a:avLst/>
          </a:prstGeom>
        </p:spPr>
        <p:txBody>
          <a:bodyPr anchor="t" rtlCol="false" tIns="0" lIns="0" bIns="0" rIns="0">
            <a:spAutoFit/>
          </a:bodyPr>
          <a:lstStyle/>
          <a:p>
            <a:pPr algn="l">
              <a:lnSpc>
                <a:spcPts val="3240"/>
              </a:lnSpc>
            </a:pPr>
            <a:r>
              <a:rPr lang="en-US" sz="2700" b="true">
                <a:solidFill>
                  <a:srgbClr val="174C7E"/>
                </a:solidFill>
                <a:latin typeface="Arial Bold"/>
                <a:ea typeface="Arial Bold"/>
                <a:cs typeface="Arial Bold"/>
                <a:sym typeface="Arial Bold"/>
              </a:rPr>
              <a:t>Ở mức làm tròn của hình, mô hình gần như chỉ dự đoán OnTime</a:t>
            </a:r>
          </a:p>
        </p:txBody>
      </p:sp>
      <p:sp>
        <p:nvSpPr>
          <p:cNvPr name="TextBox 13" id="13"/>
          <p:cNvSpPr txBox="true"/>
          <p:nvPr/>
        </p:nvSpPr>
        <p:spPr>
          <a:xfrm rot="0">
            <a:off x="16859250" y="9505950"/>
            <a:ext cx="714375" cy="366713"/>
          </a:xfrm>
          <a:prstGeom prst="rect">
            <a:avLst/>
          </a:prstGeom>
        </p:spPr>
        <p:txBody>
          <a:bodyPr anchor="t" rtlCol="false" tIns="0" lIns="0" bIns="0" rIns="0">
            <a:spAutoFit/>
          </a:bodyPr>
          <a:lstStyle/>
          <a:p>
            <a:pPr algn="l">
              <a:lnSpc>
                <a:spcPts val="2295"/>
              </a:lnSpc>
            </a:pPr>
            <a:r>
              <a:rPr lang="en-US" sz="1912">
                <a:solidFill>
                  <a:srgbClr val="2072B7"/>
                </a:solidFill>
                <a:latin typeface="Arial"/>
                <a:ea typeface="Arial"/>
                <a:cs typeface="Arial"/>
                <a:sym typeface="Arial"/>
              </a:rPr>
              <a:t>27</a:t>
            </a:r>
          </a:p>
        </p:txBody>
      </p:sp>
      <p:graphicFrame>
        <p:nvGraphicFramePr>
          <p:cNvPr name="Table 14" id="14"/>
          <p:cNvGraphicFramePr>
            <a:graphicFrameLocks noGrp="true"/>
          </p:cNvGraphicFramePr>
          <p:nvPr/>
        </p:nvGraphicFramePr>
        <p:xfrm>
          <a:off x="785812" y="3571875"/>
          <a:ext cx="9848850" cy="4572000"/>
        </p:xfrm>
        <a:graphic>
          <a:graphicData uri="http://schemas.openxmlformats.org/drawingml/2006/table">
            <a:tbl>
              <a:tblPr/>
              <a:tblGrid>
                <a:gridCol w="1855580"/>
                <a:gridCol w="1332212"/>
                <a:gridCol w="1332212"/>
                <a:gridCol w="1332212"/>
                <a:gridCol w="1332212"/>
                <a:gridCol w="1332212"/>
                <a:gridCol w="1332212"/>
              </a:tblGrid>
              <a:tr h="920062">
                <a:tc>
                  <a:txBody>
                    <a:bodyPr anchor="t" rtlCol="false"/>
                    <a:lstStyle/>
                    <a:p>
                      <a:pPr algn="l">
                        <a:lnSpc>
                          <a:spcPts val="2430"/>
                        </a:lnSpc>
                        <a:defRPr/>
                      </a:pPr>
                      <a:r>
                        <a:rPr lang="en-US" sz="2025" b="true">
                          <a:solidFill>
                            <a:srgbClr val="FFFFFF"/>
                          </a:solidFill>
                          <a:latin typeface="Arial Bold"/>
                          <a:ea typeface="Arial Bold"/>
                          <a:cs typeface="Arial Bold"/>
                          <a:sym typeface="Arial Bold"/>
                        </a:rPr>
                        <a:t>Thực tế /</a:t>
                      </a:r>
                      <a:endParaRPr lang="en-US" sz="1100"/>
                    </a:p>
                    <a:p>
                      <a:pPr algn="l">
                        <a:lnSpc>
                          <a:spcPts val="2430"/>
                        </a:lnSpc>
                      </a:pPr>
                      <a:r>
                        <a:rPr lang="en-US" sz="2025" b="true">
                          <a:solidFill>
                            <a:srgbClr val="FFFFFF"/>
                          </a:solidFill>
                          <a:latin typeface="Arial Bold"/>
                          <a:ea typeface="Arial Bold"/>
                          <a:cs typeface="Arial Bold"/>
                          <a:sym typeface="Arial Bold"/>
                        </a:rPr>
                        <a:t>Dự đoán</a:t>
                      </a:r>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2072B7"/>
                    </a:solidFill>
                  </a:tcPr>
                </a:tc>
                <a:tc>
                  <a:txBody>
                    <a:bodyPr anchor="t" rtlCol="false"/>
                    <a:lstStyle/>
                    <a:p>
                      <a:pPr algn="l">
                        <a:lnSpc>
                          <a:spcPts val="2430"/>
                        </a:lnSpc>
                        <a:defRPr/>
                      </a:pPr>
                      <a:r>
                        <a:rPr lang="en-US" sz="2025" b="true">
                          <a:solidFill>
                            <a:srgbClr val="FFFFFF"/>
                          </a:solidFill>
                          <a:latin typeface="Arial Bold"/>
                          <a:ea typeface="Arial Bold"/>
                          <a:cs typeface="Arial Bold"/>
                          <a:sym typeface="Arial Bold"/>
                        </a:rPr>
                        <a:t>OnTime</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2072B7"/>
                    </a:solidFill>
                  </a:tcPr>
                </a:tc>
                <a:tc>
                  <a:txBody>
                    <a:bodyPr anchor="t" rtlCol="false"/>
                    <a:lstStyle/>
                    <a:p>
                      <a:pPr algn="l">
                        <a:lnSpc>
                          <a:spcPts val="2430"/>
                        </a:lnSpc>
                        <a:defRPr/>
                      </a:pPr>
                      <a:r>
                        <a:rPr lang="en-US" sz="2025" b="true">
                          <a:solidFill>
                            <a:srgbClr val="FFFFFF"/>
                          </a:solidFill>
                          <a:latin typeface="Arial Bold"/>
                          <a:ea typeface="Arial Bold"/>
                          <a:cs typeface="Arial Bold"/>
                          <a:sym typeface="Arial Bold"/>
                        </a:rPr>
                        <a:t>Carrier</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2072B7"/>
                    </a:solidFill>
                  </a:tcPr>
                </a:tc>
                <a:tc>
                  <a:txBody>
                    <a:bodyPr anchor="t" rtlCol="false"/>
                    <a:lstStyle/>
                    <a:p>
                      <a:pPr algn="l">
                        <a:lnSpc>
                          <a:spcPts val="2430"/>
                        </a:lnSpc>
                        <a:defRPr/>
                      </a:pPr>
                      <a:r>
                        <a:rPr lang="en-US" sz="2025" b="true">
                          <a:solidFill>
                            <a:srgbClr val="FFFFFF"/>
                          </a:solidFill>
                          <a:latin typeface="Arial Bold"/>
                          <a:ea typeface="Arial Bold"/>
                          <a:cs typeface="Arial Bold"/>
                          <a:sym typeface="Arial Bold"/>
                        </a:rPr>
                        <a:t>Weather</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2072B7"/>
                    </a:solidFill>
                  </a:tcPr>
                </a:tc>
                <a:tc>
                  <a:txBody>
                    <a:bodyPr anchor="t" rtlCol="false"/>
                    <a:lstStyle/>
                    <a:p>
                      <a:pPr algn="l">
                        <a:lnSpc>
                          <a:spcPts val="2430"/>
                        </a:lnSpc>
                        <a:defRPr/>
                      </a:pPr>
                      <a:r>
                        <a:rPr lang="en-US" sz="2025" b="true">
                          <a:solidFill>
                            <a:srgbClr val="FFFFFF"/>
                          </a:solidFill>
                          <a:latin typeface="Arial Bold"/>
                          <a:ea typeface="Arial Bold"/>
                          <a:cs typeface="Arial Bold"/>
                          <a:sym typeface="Arial Bold"/>
                        </a:rPr>
                        <a:t>NAS</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2072B7"/>
                    </a:solidFill>
                  </a:tcPr>
                </a:tc>
                <a:tc>
                  <a:txBody>
                    <a:bodyPr anchor="t" rtlCol="false"/>
                    <a:lstStyle/>
                    <a:p>
                      <a:pPr algn="l">
                        <a:lnSpc>
                          <a:spcPts val="2430"/>
                        </a:lnSpc>
                        <a:defRPr/>
                      </a:pPr>
                      <a:r>
                        <a:rPr lang="en-US" sz="2025" b="true">
                          <a:solidFill>
                            <a:srgbClr val="FFFFFF"/>
                          </a:solidFill>
                          <a:latin typeface="Arial Bold"/>
                          <a:ea typeface="Arial Bold"/>
                          <a:cs typeface="Arial Bold"/>
                          <a:sym typeface="Arial Bold"/>
                        </a:rPr>
                        <a:t>Security</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2072B7"/>
                    </a:solidFill>
                  </a:tcPr>
                </a:tc>
                <a:tc>
                  <a:txBody>
                    <a:bodyPr anchor="t" rtlCol="false"/>
                    <a:lstStyle/>
                    <a:p>
                      <a:pPr algn="l">
                        <a:lnSpc>
                          <a:spcPts val="2430"/>
                        </a:lnSpc>
                        <a:defRPr/>
                      </a:pPr>
                      <a:r>
                        <a:rPr lang="en-US" sz="2025" b="true">
                          <a:solidFill>
                            <a:srgbClr val="FFFFFF"/>
                          </a:solidFill>
                          <a:latin typeface="Arial Bold"/>
                          <a:ea typeface="Arial Bold"/>
                          <a:cs typeface="Arial Bold"/>
                          <a:sym typeface="Arial Bold"/>
                        </a:rPr>
                        <a:t>Late</a:t>
                      </a:r>
                      <a:endParaRPr lang="en-US" sz="1100"/>
                    </a:p>
                    <a:p>
                      <a:pPr algn="l">
                        <a:lnSpc>
                          <a:spcPts val="2430"/>
                        </a:lnSpc>
                      </a:pPr>
                      <a:r>
                        <a:rPr lang="en-US" sz="2025" b="true">
                          <a:solidFill>
                            <a:srgbClr val="FFFFFF"/>
                          </a:solidFill>
                          <a:latin typeface="Arial Bold"/>
                          <a:ea typeface="Arial Bold"/>
                          <a:cs typeface="Arial Bold"/>
                          <a:sym typeface="Arial Bold"/>
                        </a:rPr>
                        <a:t>Aircraft</a:t>
                      </a:r>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2072B7"/>
                    </a:solidFill>
                  </a:tcPr>
                </a:tc>
              </a:tr>
              <a:tr h="608656">
                <a:tc>
                  <a:txBody>
                    <a:bodyPr anchor="t" rtlCol="false"/>
                    <a:lstStyle/>
                    <a:p>
                      <a:pPr algn="l">
                        <a:lnSpc>
                          <a:spcPts val="2430"/>
                        </a:lnSpc>
                        <a:defRPr/>
                      </a:pPr>
                      <a:r>
                        <a:rPr lang="en-US" sz="2025">
                          <a:solidFill>
                            <a:srgbClr val="202D39"/>
                          </a:solidFill>
                          <a:latin typeface="Arial"/>
                          <a:ea typeface="Arial"/>
                          <a:cs typeface="Arial"/>
                          <a:sym typeface="Arial"/>
                        </a:rPr>
                        <a:t>OnTime</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DF5FB"/>
                    </a:solidFill>
                  </a:tcPr>
                </a:tc>
                <a:tc>
                  <a:txBody>
                    <a:bodyPr anchor="t" rtlCol="false"/>
                    <a:lstStyle/>
                    <a:p>
                      <a:pPr algn="l">
                        <a:lnSpc>
                          <a:spcPts val="3240"/>
                        </a:lnSpc>
                        <a:defRPr/>
                      </a:pPr>
                      <a:r>
                        <a:rPr lang="en-US" sz="2700" b="true">
                          <a:solidFill>
                            <a:srgbClr val="FFFFFF"/>
                          </a:solidFill>
                          <a:latin typeface="Arial Bold"/>
                          <a:ea typeface="Arial Bold"/>
                          <a:cs typeface="Arial Bold"/>
                          <a:sym typeface="Arial Bold"/>
                        </a:rPr>
                        <a:t>100,0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74C7E"/>
                    </a:solidFill>
                  </a:tcPr>
                </a:tc>
                <a:tc>
                  <a:txBody>
                    <a:bodyPr anchor="t" rtlCol="false"/>
                    <a:lstStyle/>
                    <a:p>
                      <a:pPr algn="l">
                        <a:lnSpc>
                          <a:spcPts val="3240"/>
                        </a:lnSpc>
                        <a:defRPr/>
                      </a:pPr>
                      <a:r>
                        <a:rPr lang="en-US" sz="2700">
                          <a:solidFill>
                            <a:srgbClr val="202D39"/>
                          </a:solidFill>
                          <a:latin typeface="Arial"/>
                          <a:ea typeface="Arial"/>
                          <a:cs typeface="Arial"/>
                          <a:sym typeface="Arial"/>
                        </a:rPr>
                        <a:t>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6FAFD"/>
                    </a:solidFill>
                  </a:tcPr>
                </a:tc>
                <a:tc>
                  <a:txBody>
                    <a:bodyPr anchor="t" rtlCol="false"/>
                    <a:lstStyle/>
                    <a:p>
                      <a:pPr algn="l">
                        <a:lnSpc>
                          <a:spcPts val="3240"/>
                        </a:lnSpc>
                        <a:defRPr/>
                      </a:pPr>
                      <a:r>
                        <a:rPr lang="en-US" sz="2700">
                          <a:solidFill>
                            <a:srgbClr val="202D39"/>
                          </a:solidFill>
                          <a:latin typeface="Arial"/>
                          <a:ea typeface="Arial"/>
                          <a:cs typeface="Arial"/>
                          <a:sym typeface="Arial"/>
                        </a:rPr>
                        <a:t>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6FAFD"/>
                    </a:solidFill>
                  </a:tcPr>
                </a:tc>
                <a:tc>
                  <a:txBody>
                    <a:bodyPr anchor="t" rtlCol="false"/>
                    <a:lstStyle/>
                    <a:p>
                      <a:pPr algn="l">
                        <a:lnSpc>
                          <a:spcPts val="3240"/>
                        </a:lnSpc>
                        <a:defRPr/>
                      </a:pPr>
                      <a:r>
                        <a:rPr lang="en-US" sz="2700">
                          <a:solidFill>
                            <a:srgbClr val="202D39"/>
                          </a:solidFill>
                          <a:latin typeface="Arial"/>
                          <a:ea typeface="Arial"/>
                          <a:cs typeface="Arial"/>
                          <a:sym typeface="Arial"/>
                        </a:rPr>
                        <a:t>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6FAFD"/>
                    </a:solidFill>
                  </a:tcPr>
                </a:tc>
                <a:tc>
                  <a:txBody>
                    <a:bodyPr anchor="t" rtlCol="false"/>
                    <a:lstStyle/>
                    <a:p>
                      <a:pPr algn="l">
                        <a:lnSpc>
                          <a:spcPts val="3240"/>
                        </a:lnSpc>
                        <a:defRPr/>
                      </a:pPr>
                      <a:r>
                        <a:rPr lang="en-US" sz="2700">
                          <a:solidFill>
                            <a:srgbClr val="202D39"/>
                          </a:solidFill>
                          <a:latin typeface="Arial"/>
                          <a:ea typeface="Arial"/>
                          <a:cs typeface="Arial"/>
                          <a:sym typeface="Arial"/>
                        </a:rPr>
                        <a:t>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6FAFD"/>
                    </a:solidFill>
                  </a:tcPr>
                </a:tc>
                <a:tc>
                  <a:txBody>
                    <a:bodyPr anchor="t" rtlCol="false"/>
                    <a:lstStyle/>
                    <a:p>
                      <a:pPr algn="l">
                        <a:lnSpc>
                          <a:spcPts val="3240"/>
                        </a:lnSpc>
                        <a:defRPr/>
                      </a:pPr>
                      <a:r>
                        <a:rPr lang="en-US" sz="2700">
                          <a:solidFill>
                            <a:srgbClr val="202D39"/>
                          </a:solidFill>
                          <a:latin typeface="Arial"/>
                          <a:ea typeface="Arial"/>
                          <a:cs typeface="Arial"/>
                          <a:sym typeface="Arial"/>
                        </a:rPr>
                        <a:t>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6FAFD"/>
                    </a:solidFill>
                  </a:tcPr>
                </a:tc>
              </a:tr>
              <a:tr h="608656">
                <a:tc>
                  <a:txBody>
                    <a:bodyPr anchor="t" rtlCol="false"/>
                    <a:lstStyle/>
                    <a:p>
                      <a:pPr algn="l">
                        <a:lnSpc>
                          <a:spcPts val="2430"/>
                        </a:lnSpc>
                        <a:defRPr/>
                      </a:pPr>
                      <a:r>
                        <a:rPr lang="en-US" sz="2025">
                          <a:solidFill>
                            <a:srgbClr val="202D39"/>
                          </a:solidFill>
                          <a:latin typeface="Arial"/>
                          <a:ea typeface="Arial"/>
                          <a:cs typeface="Arial"/>
                          <a:sym typeface="Arial"/>
                        </a:rPr>
                        <a:t>Carrier</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3240"/>
                        </a:lnSpc>
                        <a:defRPr/>
                      </a:pPr>
                      <a:r>
                        <a:rPr lang="en-US" sz="2700">
                          <a:solidFill>
                            <a:srgbClr val="FFFFFF"/>
                          </a:solidFill>
                          <a:latin typeface="Arial"/>
                          <a:ea typeface="Arial"/>
                          <a:cs typeface="Arial"/>
                          <a:sym typeface="Arial"/>
                        </a:rPr>
                        <a:t>100,0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74C7E"/>
                    </a:solidFill>
                  </a:tcPr>
                </a:tc>
                <a:tc>
                  <a:txBody>
                    <a:bodyPr anchor="t" rtlCol="false"/>
                    <a:lstStyle/>
                    <a:p>
                      <a:pPr algn="l">
                        <a:lnSpc>
                          <a:spcPts val="3240"/>
                        </a:lnSpc>
                        <a:defRPr/>
                      </a:pPr>
                      <a:r>
                        <a:rPr lang="en-US" sz="2700" b="true">
                          <a:solidFill>
                            <a:srgbClr val="202D39"/>
                          </a:solidFill>
                          <a:latin typeface="Arial Bold"/>
                          <a:ea typeface="Arial Bold"/>
                          <a:cs typeface="Arial Bold"/>
                          <a:sym typeface="Arial Bold"/>
                        </a:rPr>
                        <a:t>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6FAFD"/>
                    </a:solidFill>
                  </a:tcPr>
                </a:tc>
                <a:tc>
                  <a:txBody>
                    <a:bodyPr anchor="t" rtlCol="false"/>
                    <a:lstStyle/>
                    <a:p>
                      <a:pPr algn="l">
                        <a:lnSpc>
                          <a:spcPts val="3240"/>
                        </a:lnSpc>
                        <a:defRPr/>
                      </a:pPr>
                      <a:r>
                        <a:rPr lang="en-US" sz="2700">
                          <a:solidFill>
                            <a:srgbClr val="202D39"/>
                          </a:solidFill>
                          <a:latin typeface="Arial"/>
                          <a:ea typeface="Arial"/>
                          <a:cs typeface="Arial"/>
                          <a:sym typeface="Arial"/>
                        </a:rPr>
                        <a:t>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6FAFD"/>
                    </a:solidFill>
                  </a:tcPr>
                </a:tc>
                <a:tc>
                  <a:txBody>
                    <a:bodyPr anchor="t" rtlCol="false"/>
                    <a:lstStyle/>
                    <a:p>
                      <a:pPr algn="l">
                        <a:lnSpc>
                          <a:spcPts val="3240"/>
                        </a:lnSpc>
                        <a:defRPr/>
                      </a:pPr>
                      <a:r>
                        <a:rPr lang="en-US" sz="2700">
                          <a:solidFill>
                            <a:srgbClr val="202D39"/>
                          </a:solidFill>
                          <a:latin typeface="Arial"/>
                          <a:ea typeface="Arial"/>
                          <a:cs typeface="Arial"/>
                          <a:sym typeface="Arial"/>
                        </a:rPr>
                        <a:t>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6FAFD"/>
                    </a:solidFill>
                  </a:tcPr>
                </a:tc>
                <a:tc>
                  <a:txBody>
                    <a:bodyPr anchor="t" rtlCol="false"/>
                    <a:lstStyle/>
                    <a:p>
                      <a:pPr algn="l">
                        <a:lnSpc>
                          <a:spcPts val="3240"/>
                        </a:lnSpc>
                        <a:defRPr/>
                      </a:pPr>
                      <a:r>
                        <a:rPr lang="en-US" sz="2700">
                          <a:solidFill>
                            <a:srgbClr val="202D39"/>
                          </a:solidFill>
                          <a:latin typeface="Arial"/>
                          <a:ea typeface="Arial"/>
                          <a:cs typeface="Arial"/>
                          <a:sym typeface="Arial"/>
                        </a:rPr>
                        <a:t>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6FAFD"/>
                    </a:solidFill>
                  </a:tcPr>
                </a:tc>
                <a:tc>
                  <a:txBody>
                    <a:bodyPr anchor="t" rtlCol="false"/>
                    <a:lstStyle/>
                    <a:p>
                      <a:pPr algn="l">
                        <a:lnSpc>
                          <a:spcPts val="3240"/>
                        </a:lnSpc>
                        <a:defRPr/>
                      </a:pPr>
                      <a:r>
                        <a:rPr lang="en-US" sz="2700">
                          <a:solidFill>
                            <a:srgbClr val="202D39"/>
                          </a:solidFill>
                          <a:latin typeface="Arial"/>
                          <a:ea typeface="Arial"/>
                          <a:cs typeface="Arial"/>
                          <a:sym typeface="Arial"/>
                        </a:rPr>
                        <a:t>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6FAFD"/>
                    </a:solidFill>
                  </a:tcPr>
                </a:tc>
              </a:tr>
              <a:tr h="608656">
                <a:tc>
                  <a:txBody>
                    <a:bodyPr anchor="t" rtlCol="false"/>
                    <a:lstStyle/>
                    <a:p>
                      <a:pPr algn="l">
                        <a:lnSpc>
                          <a:spcPts val="2430"/>
                        </a:lnSpc>
                        <a:defRPr/>
                      </a:pPr>
                      <a:r>
                        <a:rPr lang="en-US" sz="2025">
                          <a:solidFill>
                            <a:srgbClr val="202D39"/>
                          </a:solidFill>
                          <a:latin typeface="Arial"/>
                          <a:ea typeface="Arial"/>
                          <a:cs typeface="Arial"/>
                          <a:sym typeface="Arial"/>
                        </a:rPr>
                        <a:t>Weather</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DF5FB"/>
                    </a:solidFill>
                  </a:tcPr>
                </a:tc>
                <a:tc>
                  <a:txBody>
                    <a:bodyPr anchor="t" rtlCol="false"/>
                    <a:lstStyle/>
                    <a:p>
                      <a:pPr algn="l">
                        <a:lnSpc>
                          <a:spcPts val="3240"/>
                        </a:lnSpc>
                        <a:defRPr/>
                      </a:pPr>
                      <a:r>
                        <a:rPr lang="en-US" sz="2700">
                          <a:solidFill>
                            <a:srgbClr val="FFFFFF"/>
                          </a:solidFill>
                          <a:latin typeface="Arial"/>
                          <a:ea typeface="Arial"/>
                          <a:cs typeface="Arial"/>
                          <a:sym typeface="Arial"/>
                        </a:rPr>
                        <a:t>100,0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74C7E"/>
                    </a:solidFill>
                  </a:tcPr>
                </a:tc>
                <a:tc>
                  <a:txBody>
                    <a:bodyPr anchor="t" rtlCol="false"/>
                    <a:lstStyle/>
                    <a:p>
                      <a:pPr algn="l">
                        <a:lnSpc>
                          <a:spcPts val="3240"/>
                        </a:lnSpc>
                        <a:defRPr/>
                      </a:pPr>
                      <a:r>
                        <a:rPr lang="en-US" sz="2700">
                          <a:solidFill>
                            <a:srgbClr val="202D39"/>
                          </a:solidFill>
                          <a:latin typeface="Arial"/>
                          <a:ea typeface="Arial"/>
                          <a:cs typeface="Arial"/>
                          <a:sym typeface="Arial"/>
                        </a:rPr>
                        <a:t>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6FAFD"/>
                    </a:solidFill>
                  </a:tcPr>
                </a:tc>
                <a:tc>
                  <a:txBody>
                    <a:bodyPr anchor="t" rtlCol="false"/>
                    <a:lstStyle/>
                    <a:p>
                      <a:pPr algn="l">
                        <a:lnSpc>
                          <a:spcPts val="3240"/>
                        </a:lnSpc>
                        <a:defRPr/>
                      </a:pPr>
                      <a:r>
                        <a:rPr lang="en-US" sz="2700" b="true">
                          <a:solidFill>
                            <a:srgbClr val="202D39"/>
                          </a:solidFill>
                          <a:latin typeface="Arial Bold"/>
                          <a:ea typeface="Arial Bold"/>
                          <a:cs typeface="Arial Bold"/>
                          <a:sym typeface="Arial Bold"/>
                        </a:rPr>
                        <a:t>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6FAFD"/>
                    </a:solidFill>
                  </a:tcPr>
                </a:tc>
                <a:tc>
                  <a:txBody>
                    <a:bodyPr anchor="t" rtlCol="false"/>
                    <a:lstStyle/>
                    <a:p>
                      <a:pPr algn="l">
                        <a:lnSpc>
                          <a:spcPts val="3240"/>
                        </a:lnSpc>
                        <a:defRPr/>
                      </a:pPr>
                      <a:r>
                        <a:rPr lang="en-US" sz="2700">
                          <a:solidFill>
                            <a:srgbClr val="202D39"/>
                          </a:solidFill>
                          <a:latin typeface="Arial"/>
                          <a:ea typeface="Arial"/>
                          <a:cs typeface="Arial"/>
                          <a:sym typeface="Arial"/>
                        </a:rPr>
                        <a:t>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6FAFD"/>
                    </a:solidFill>
                  </a:tcPr>
                </a:tc>
                <a:tc>
                  <a:txBody>
                    <a:bodyPr anchor="t" rtlCol="false"/>
                    <a:lstStyle/>
                    <a:p>
                      <a:pPr algn="l">
                        <a:lnSpc>
                          <a:spcPts val="3240"/>
                        </a:lnSpc>
                        <a:defRPr/>
                      </a:pPr>
                      <a:r>
                        <a:rPr lang="en-US" sz="2700">
                          <a:solidFill>
                            <a:srgbClr val="202D39"/>
                          </a:solidFill>
                          <a:latin typeface="Arial"/>
                          <a:ea typeface="Arial"/>
                          <a:cs typeface="Arial"/>
                          <a:sym typeface="Arial"/>
                        </a:rPr>
                        <a:t>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6FAFD"/>
                    </a:solidFill>
                  </a:tcPr>
                </a:tc>
                <a:tc>
                  <a:txBody>
                    <a:bodyPr anchor="t" rtlCol="false"/>
                    <a:lstStyle/>
                    <a:p>
                      <a:pPr algn="l">
                        <a:lnSpc>
                          <a:spcPts val="3240"/>
                        </a:lnSpc>
                        <a:defRPr/>
                      </a:pPr>
                      <a:r>
                        <a:rPr lang="en-US" sz="2700">
                          <a:solidFill>
                            <a:srgbClr val="202D39"/>
                          </a:solidFill>
                          <a:latin typeface="Arial"/>
                          <a:ea typeface="Arial"/>
                          <a:cs typeface="Arial"/>
                          <a:sym typeface="Arial"/>
                        </a:rPr>
                        <a:t>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6FAFD"/>
                    </a:solidFill>
                  </a:tcPr>
                </a:tc>
              </a:tr>
              <a:tr h="608656">
                <a:tc>
                  <a:txBody>
                    <a:bodyPr anchor="t" rtlCol="false"/>
                    <a:lstStyle/>
                    <a:p>
                      <a:pPr algn="l">
                        <a:lnSpc>
                          <a:spcPts val="2430"/>
                        </a:lnSpc>
                        <a:defRPr/>
                      </a:pPr>
                      <a:r>
                        <a:rPr lang="en-US" sz="2025">
                          <a:solidFill>
                            <a:srgbClr val="202D39"/>
                          </a:solidFill>
                          <a:latin typeface="Arial"/>
                          <a:ea typeface="Arial"/>
                          <a:cs typeface="Arial"/>
                          <a:sym typeface="Arial"/>
                        </a:rPr>
                        <a:t>NAS</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3240"/>
                        </a:lnSpc>
                        <a:defRPr/>
                      </a:pPr>
                      <a:r>
                        <a:rPr lang="en-US" sz="2700">
                          <a:solidFill>
                            <a:srgbClr val="FFFFFF"/>
                          </a:solidFill>
                          <a:latin typeface="Arial"/>
                          <a:ea typeface="Arial"/>
                          <a:cs typeface="Arial"/>
                          <a:sym typeface="Arial"/>
                        </a:rPr>
                        <a:t>100,0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74C7E"/>
                    </a:solidFill>
                  </a:tcPr>
                </a:tc>
                <a:tc>
                  <a:txBody>
                    <a:bodyPr anchor="t" rtlCol="false"/>
                    <a:lstStyle/>
                    <a:p>
                      <a:pPr algn="l">
                        <a:lnSpc>
                          <a:spcPts val="3240"/>
                        </a:lnSpc>
                        <a:defRPr/>
                      </a:pPr>
                      <a:r>
                        <a:rPr lang="en-US" sz="2700">
                          <a:solidFill>
                            <a:srgbClr val="202D39"/>
                          </a:solidFill>
                          <a:latin typeface="Arial"/>
                          <a:ea typeface="Arial"/>
                          <a:cs typeface="Arial"/>
                          <a:sym typeface="Arial"/>
                        </a:rPr>
                        <a:t>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6FAFD"/>
                    </a:solidFill>
                  </a:tcPr>
                </a:tc>
                <a:tc>
                  <a:txBody>
                    <a:bodyPr anchor="t" rtlCol="false"/>
                    <a:lstStyle/>
                    <a:p>
                      <a:pPr algn="l">
                        <a:lnSpc>
                          <a:spcPts val="3240"/>
                        </a:lnSpc>
                        <a:defRPr/>
                      </a:pPr>
                      <a:r>
                        <a:rPr lang="en-US" sz="2700">
                          <a:solidFill>
                            <a:srgbClr val="202D39"/>
                          </a:solidFill>
                          <a:latin typeface="Arial"/>
                          <a:ea typeface="Arial"/>
                          <a:cs typeface="Arial"/>
                          <a:sym typeface="Arial"/>
                        </a:rPr>
                        <a:t>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6FAFD"/>
                    </a:solidFill>
                  </a:tcPr>
                </a:tc>
                <a:tc>
                  <a:txBody>
                    <a:bodyPr anchor="t" rtlCol="false"/>
                    <a:lstStyle/>
                    <a:p>
                      <a:pPr algn="l">
                        <a:lnSpc>
                          <a:spcPts val="3240"/>
                        </a:lnSpc>
                        <a:defRPr/>
                      </a:pPr>
                      <a:r>
                        <a:rPr lang="en-US" sz="2700" b="true">
                          <a:solidFill>
                            <a:srgbClr val="202D39"/>
                          </a:solidFill>
                          <a:latin typeface="Arial Bold"/>
                          <a:ea typeface="Arial Bold"/>
                          <a:cs typeface="Arial Bold"/>
                          <a:sym typeface="Arial Bold"/>
                        </a:rPr>
                        <a:t>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6FAFD"/>
                    </a:solidFill>
                  </a:tcPr>
                </a:tc>
                <a:tc>
                  <a:txBody>
                    <a:bodyPr anchor="t" rtlCol="false"/>
                    <a:lstStyle/>
                    <a:p>
                      <a:pPr algn="l">
                        <a:lnSpc>
                          <a:spcPts val="3240"/>
                        </a:lnSpc>
                        <a:defRPr/>
                      </a:pPr>
                      <a:r>
                        <a:rPr lang="en-US" sz="2700">
                          <a:solidFill>
                            <a:srgbClr val="202D39"/>
                          </a:solidFill>
                          <a:latin typeface="Arial"/>
                          <a:ea typeface="Arial"/>
                          <a:cs typeface="Arial"/>
                          <a:sym typeface="Arial"/>
                        </a:rPr>
                        <a:t>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6FAFD"/>
                    </a:solidFill>
                  </a:tcPr>
                </a:tc>
                <a:tc>
                  <a:txBody>
                    <a:bodyPr anchor="t" rtlCol="false"/>
                    <a:lstStyle/>
                    <a:p>
                      <a:pPr algn="l">
                        <a:lnSpc>
                          <a:spcPts val="3240"/>
                        </a:lnSpc>
                        <a:defRPr/>
                      </a:pPr>
                      <a:r>
                        <a:rPr lang="en-US" sz="2700">
                          <a:solidFill>
                            <a:srgbClr val="202D39"/>
                          </a:solidFill>
                          <a:latin typeface="Arial"/>
                          <a:ea typeface="Arial"/>
                          <a:cs typeface="Arial"/>
                          <a:sym typeface="Arial"/>
                        </a:rPr>
                        <a:t>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6FAFD"/>
                    </a:solidFill>
                  </a:tcPr>
                </a:tc>
              </a:tr>
              <a:tr h="608656">
                <a:tc>
                  <a:txBody>
                    <a:bodyPr anchor="t" rtlCol="false"/>
                    <a:lstStyle/>
                    <a:p>
                      <a:pPr algn="l">
                        <a:lnSpc>
                          <a:spcPts val="2430"/>
                        </a:lnSpc>
                        <a:defRPr/>
                      </a:pPr>
                      <a:r>
                        <a:rPr lang="en-US" sz="2025">
                          <a:solidFill>
                            <a:srgbClr val="202D39"/>
                          </a:solidFill>
                          <a:latin typeface="Arial"/>
                          <a:ea typeface="Arial"/>
                          <a:cs typeface="Arial"/>
                          <a:sym typeface="Arial"/>
                        </a:rPr>
                        <a:t>Security</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DF5FB"/>
                    </a:solidFill>
                  </a:tcPr>
                </a:tc>
                <a:tc>
                  <a:txBody>
                    <a:bodyPr anchor="t" rtlCol="false"/>
                    <a:lstStyle/>
                    <a:p>
                      <a:pPr algn="l">
                        <a:lnSpc>
                          <a:spcPts val="3240"/>
                        </a:lnSpc>
                        <a:defRPr/>
                      </a:pPr>
                      <a:r>
                        <a:rPr lang="en-US" sz="2700">
                          <a:solidFill>
                            <a:srgbClr val="FFFFFF"/>
                          </a:solidFill>
                          <a:latin typeface="Arial"/>
                          <a:ea typeface="Arial"/>
                          <a:cs typeface="Arial"/>
                          <a:sym typeface="Arial"/>
                        </a:rPr>
                        <a:t>100,0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74C7E"/>
                    </a:solidFill>
                  </a:tcPr>
                </a:tc>
                <a:tc>
                  <a:txBody>
                    <a:bodyPr anchor="t" rtlCol="false"/>
                    <a:lstStyle/>
                    <a:p>
                      <a:pPr algn="l">
                        <a:lnSpc>
                          <a:spcPts val="3240"/>
                        </a:lnSpc>
                        <a:defRPr/>
                      </a:pPr>
                      <a:r>
                        <a:rPr lang="en-US" sz="2700">
                          <a:solidFill>
                            <a:srgbClr val="202D39"/>
                          </a:solidFill>
                          <a:latin typeface="Arial"/>
                          <a:ea typeface="Arial"/>
                          <a:cs typeface="Arial"/>
                          <a:sym typeface="Arial"/>
                        </a:rPr>
                        <a:t>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6FAFD"/>
                    </a:solidFill>
                  </a:tcPr>
                </a:tc>
                <a:tc>
                  <a:txBody>
                    <a:bodyPr anchor="t" rtlCol="false"/>
                    <a:lstStyle/>
                    <a:p>
                      <a:pPr algn="l">
                        <a:lnSpc>
                          <a:spcPts val="3240"/>
                        </a:lnSpc>
                        <a:defRPr/>
                      </a:pPr>
                      <a:r>
                        <a:rPr lang="en-US" sz="2700">
                          <a:solidFill>
                            <a:srgbClr val="202D39"/>
                          </a:solidFill>
                          <a:latin typeface="Arial"/>
                          <a:ea typeface="Arial"/>
                          <a:cs typeface="Arial"/>
                          <a:sym typeface="Arial"/>
                        </a:rPr>
                        <a:t>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6FAFD"/>
                    </a:solidFill>
                  </a:tcPr>
                </a:tc>
                <a:tc>
                  <a:txBody>
                    <a:bodyPr anchor="t" rtlCol="false"/>
                    <a:lstStyle/>
                    <a:p>
                      <a:pPr algn="l">
                        <a:lnSpc>
                          <a:spcPts val="3240"/>
                        </a:lnSpc>
                        <a:defRPr/>
                      </a:pPr>
                      <a:r>
                        <a:rPr lang="en-US" sz="2700">
                          <a:solidFill>
                            <a:srgbClr val="202D39"/>
                          </a:solidFill>
                          <a:latin typeface="Arial"/>
                          <a:ea typeface="Arial"/>
                          <a:cs typeface="Arial"/>
                          <a:sym typeface="Arial"/>
                        </a:rPr>
                        <a:t>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6FAFD"/>
                    </a:solidFill>
                  </a:tcPr>
                </a:tc>
                <a:tc>
                  <a:txBody>
                    <a:bodyPr anchor="t" rtlCol="false"/>
                    <a:lstStyle/>
                    <a:p>
                      <a:pPr algn="l">
                        <a:lnSpc>
                          <a:spcPts val="3240"/>
                        </a:lnSpc>
                        <a:defRPr/>
                      </a:pPr>
                      <a:r>
                        <a:rPr lang="en-US" sz="2700" b="true">
                          <a:solidFill>
                            <a:srgbClr val="202D39"/>
                          </a:solidFill>
                          <a:latin typeface="Arial Bold"/>
                          <a:ea typeface="Arial Bold"/>
                          <a:cs typeface="Arial Bold"/>
                          <a:sym typeface="Arial Bold"/>
                        </a:rPr>
                        <a:t>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6FAFD"/>
                    </a:solidFill>
                  </a:tcPr>
                </a:tc>
                <a:tc>
                  <a:txBody>
                    <a:bodyPr anchor="t" rtlCol="false"/>
                    <a:lstStyle/>
                    <a:p>
                      <a:pPr algn="l">
                        <a:lnSpc>
                          <a:spcPts val="3240"/>
                        </a:lnSpc>
                        <a:defRPr/>
                      </a:pPr>
                      <a:r>
                        <a:rPr lang="en-US" sz="2700">
                          <a:solidFill>
                            <a:srgbClr val="202D39"/>
                          </a:solidFill>
                          <a:latin typeface="Arial"/>
                          <a:ea typeface="Arial"/>
                          <a:cs typeface="Arial"/>
                          <a:sym typeface="Arial"/>
                        </a:rPr>
                        <a:t>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6FAFD"/>
                    </a:solidFill>
                  </a:tcPr>
                </a:tc>
              </a:tr>
              <a:tr h="608656">
                <a:tc>
                  <a:txBody>
                    <a:bodyPr anchor="t" rtlCol="false"/>
                    <a:lstStyle/>
                    <a:p>
                      <a:pPr algn="l">
                        <a:lnSpc>
                          <a:spcPts val="2430"/>
                        </a:lnSpc>
                        <a:defRPr/>
                      </a:pPr>
                      <a:r>
                        <a:rPr lang="en-US" sz="2025">
                          <a:solidFill>
                            <a:srgbClr val="202D39"/>
                          </a:solidFill>
                          <a:latin typeface="Arial"/>
                          <a:ea typeface="Arial"/>
                          <a:cs typeface="Arial"/>
                          <a:sym typeface="Arial"/>
                        </a:rPr>
                        <a:t>LateAircraft</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3240"/>
                        </a:lnSpc>
                        <a:defRPr/>
                      </a:pPr>
                      <a:r>
                        <a:rPr lang="en-US" sz="2700">
                          <a:solidFill>
                            <a:srgbClr val="FFFFFF"/>
                          </a:solidFill>
                          <a:latin typeface="Arial"/>
                          <a:ea typeface="Arial"/>
                          <a:cs typeface="Arial"/>
                          <a:sym typeface="Arial"/>
                        </a:rPr>
                        <a:t>100,0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74C7E"/>
                    </a:solidFill>
                  </a:tcPr>
                </a:tc>
                <a:tc>
                  <a:txBody>
                    <a:bodyPr anchor="t" rtlCol="false"/>
                    <a:lstStyle/>
                    <a:p>
                      <a:pPr algn="l">
                        <a:lnSpc>
                          <a:spcPts val="3240"/>
                        </a:lnSpc>
                        <a:defRPr/>
                      </a:pPr>
                      <a:r>
                        <a:rPr lang="en-US" sz="2700">
                          <a:solidFill>
                            <a:srgbClr val="202D39"/>
                          </a:solidFill>
                          <a:latin typeface="Arial"/>
                          <a:ea typeface="Arial"/>
                          <a:cs typeface="Arial"/>
                          <a:sym typeface="Arial"/>
                        </a:rPr>
                        <a:t>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6FAFD"/>
                    </a:solidFill>
                  </a:tcPr>
                </a:tc>
                <a:tc>
                  <a:txBody>
                    <a:bodyPr anchor="t" rtlCol="false"/>
                    <a:lstStyle/>
                    <a:p>
                      <a:pPr algn="l">
                        <a:lnSpc>
                          <a:spcPts val="3240"/>
                        </a:lnSpc>
                        <a:defRPr/>
                      </a:pPr>
                      <a:r>
                        <a:rPr lang="en-US" sz="2700">
                          <a:solidFill>
                            <a:srgbClr val="202D39"/>
                          </a:solidFill>
                          <a:latin typeface="Arial"/>
                          <a:ea typeface="Arial"/>
                          <a:cs typeface="Arial"/>
                          <a:sym typeface="Arial"/>
                        </a:rPr>
                        <a:t>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6FAFD"/>
                    </a:solidFill>
                  </a:tcPr>
                </a:tc>
                <a:tc>
                  <a:txBody>
                    <a:bodyPr anchor="t" rtlCol="false"/>
                    <a:lstStyle/>
                    <a:p>
                      <a:pPr algn="l">
                        <a:lnSpc>
                          <a:spcPts val="3240"/>
                        </a:lnSpc>
                        <a:defRPr/>
                      </a:pPr>
                      <a:r>
                        <a:rPr lang="en-US" sz="2700">
                          <a:solidFill>
                            <a:srgbClr val="202D39"/>
                          </a:solidFill>
                          <a:latin typeface="Arial"/>
                          <a:ea typeface="Arial"/>
                          <a:cs typeface="Arial"/>
                          <a:sym typeface="Arial"/>
                        </a:rPr>
                        <a:t>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6FAFD"/>
                    </a:solidFill>
                  </a:tcPr>
                </a:tc>
                <a:tc>
                  <a:txBody>
                    <a:bodyPr anchor="t" rtlCol="false"/>
                    <a:lstStyle/>
                    <a:p>
                      <a:pPr algn="l">
                        <a:lnSpc>
                          <a:spcPts val="3240"/>
                        </a:lnSpc>
                        <a:defRPr/>
                      </a:pPr>
                      <a:r>
                        <a:rPr lang="en-US" sz="2700">
                          <a:solidFill>
                            <a:srgbClr val="202D39"/>
                          </a:solidFill>
                          <a:latin typeface="Arial"/>
                          <a:ea typeface="Arial"/>
                          <a:cs typeface="Arial"/>
                          <a:sym typeface="Arial"/>
                        </a:rPr>
                        <a:t>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6FAFD"/>
                    </a:solidFill>
                  </a:tcPr>
                </a:tc>
                <a:tc>
                  <a:txBody>
                    <a:bodyPr anchor="t" rtlCol="false"/>
                    <a:lstStyle/>
                    <a:p>
                      <a:pPr algn="l">
                        <a:lnSpc>
                          <a:spcPts val="3240"/>
                        </a:lnSpc>
                        <a:defRPr/>
                      </a:pPr>
                      <a:r>
                        <a:rPr lang="en-US" sz="2700" b="true">
                          <a:solidFill>
                            <a:srgbClr val="202D39"/>
                          </a:solidFill>
                          <a:latin typeface="Arial Bold"/>
                          <a:ea typeface="Arial Bold"/>
                          <a:cs typeface="Arial Bold"/>
                          <a:sym typeface="Arial Bold"/>
                        </a:rPr>
                        <a:t>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6FAFD"/>
                    </a:solidFill>
                  </a:tcPr>
                </a:tc>
              </a:tr>
            </a:tbl>
          </a:graphicData>
        </a:graphic>
      </p:graphicFrame>
      <p:sp>
        <p:nvSpPr>
          <p:cNvPr name="TextBox 15" id="15"/>
          <p:cNvSpPr txBox="true"/>
          <p:nvPr/>
        </p:nvSpPr>
        <p:spPr>
          <a:xfrm rot="0">
            <a:off x="785812" y="8605837"/>
            <a:ext cx="9858375" cy="695325"/>
          </a:xfrm>
          <a:prstGeom prst="rect">
            <a:avLst/>
          </a:prstGeom>
        </p:spPr>
        <p:txBody>
          <a:bodyPr anchor="t" rtlCol="false" tIns="0" lIns="0" bIns="0" rIns="0">
            <a:spAutoFit/>
          </a:bodyPr>
          <a:lstStyle/>
          <a:p>
            <a:pPr algn="l">
              <a:lnSpc>
                <a:spcPts val="2835"/>
              </a:lnSpc>
            </a:pPr>
            <a:r>
              <a:rPr lang="en-US" sz="2362">
                <a:solidFill>
                  <a:srgbClr val="586675"/>
                </a:solidFill>
                <a:latin typeface="Arial"/>
                <a:ea typeface="Arial"/>
                <a:cs typeface="Arial"/>
                <a:sym typeface="Arial"/>
              </a:rPr>
              <a:t>Tỷ lệ theo hàng, đơn vị %. Các giá trị đã làm tròn.</a:t>
            </a:r>
          </a:p>
        </p:txBody>
      </p:sp>
      <p:sp>
        <p:nvSpPr>
          <p:cNvPr name="TextBox 16" id="16"/>
          <p:cNvSpPr txBox="true"/>
          <p:nvPr/>
        </p:nvSpPr>
        <p:spPr>
          <a:xfrm rot="0">
            <a:off x="11430000" y="3481388"/>
            <a:ext cx="6000750" cy="1376362"/>
          </a:xfrm>
          <a:prstGeom prst="rect">
            <a:avLst/>
          </a:prstGeom>
        </p:spPr>
        <p:txBody>
          <a:bodyPr anchor="t" rtlCol="false" tIns="0" lIns="0" bIns="0" rIns="0">
            <a:spAutoFit/>
          </a:bodyPr>
          <a:lstStyle/>
          <a:p>
            <a:pPr algn="l">
              <a:lnSpc>
                <a:spcPts val="3644"/>
              </a:lnSpc>
            </a:pPr>
            <a:r>
              <a:rPr lang="en-US" sz="3037">
                <a:solidFill>
                  <a:srgbClr val="202D39"/>
                </a:solidFill>
                <a:latin typeface="Arial"/>
                <a:ea typeface="Arial"/>
                <a:cs typeface="Arial"/>
                <a:sym typeface="Arial"/>
              </a:rPr>
              <a:t>Accuracy 79,18% đến từ khả năng dự đoán lớp đông.</a:t>
            </a:r>
          </a:p>
        </p:txBody>
      </p:sp>
      <p:sp>
        <p:nvSpPr>
          <p:cNvPr name="TextBox 17" id="17"/>
          <p:cNvSpPr txBox="true"/>
          <p:nvPr/>
        </p:nvSpPr>
        <p:spPr>
          <a:xfrm rot="0">
            <a:off x="11430000" y="5124450"/>
            <a:ext cx="6000750" cy="1376362"/>
          </a:xfrm>
          <a:prstGeom prst="rect">
            <a:avLst/>
          </a:prstGeom>
        </p:spPr>
        <p:txBody>
          <a:bodyPr anchor="t" rtlCol="false" tIns="0" lIns="0" bIns="0" rIns="0">
            <a:spAutoFit/>
          </a:bodyPr>
          <a:lstStyle/>
          <a:p>
            <a:pPr algn="l">
              <a:lnSpc>
                <a:spcPts val="3644"/>
              </a:lnSpc>
            </a:pPr>
            <a:r>
              <a:rPr lang="en-US" sz="3037">
                <a:solidFill>
                  <a:srgbClr val="202D39"/>
                </a:solidFill>
                <a:latin typeface="Arial"/>
                <a:ea typeface="Arial"/>
                <a:cs typeface="Arial"/>
                <a:sym typeface="Arial"/>
              </a:rPr>
              <a:t>Macro F1 chỉ 14,73%. Các nguyên nhân trễ chưa được phân biệt tốt.</a:t>
            </a:r>
          </a:p>
        </p:txBody>
      </p:sp>
      <p:sp>
        <p:nvSpPr>
          <p:cNvPr name="TextBox 18" id="18"/>
          <p:cNvSpPr txBox="true"/>
          <p:nvPr/>
        </p:nvSpPr>
        <p:spPr>
          <a:xfrm rot="0">
            <a:off x="11430000" y="6767512"/>
            <a:ext cx="6000750" cy="1376362"/>
          </a:xfrm>
          <a:prstGeom prst="rect">
            <a:avLst/>
          </a:prstGeom>
        </p:spPr>
        <p:txBody>
          <a:bodyPr anchor="t" rtlCol="false" tIns="0" lIns="0" bIns="0" rIns="0">
            <a:spAutoFit/>
          </a:bodyPr>
          <a:lstStyle/>
          <a:p>
            <a:pPr algn="l">
              <a:lnSpc>
                <a:spcPts val="3644"/>
              </a:lnSpc>
            </a:pPr>
            <a:r>
              <a:rPr lang="en-US" sz="3037">
                <a:solidFill>
                  <a:srgbClr val="202D39"/>
                </a:solidFill>
                <a:latin typeface="Arial"/>
                <a:ea typeface="Arial"/>
                <a:cs typeface="Arial"/>
                <a:sym typeface="Arial"/>
              </a:rPr>
              <a:t>Đây là kết quả CPU, không dùng để suy ra hiệu quả từng lớp Spark.</a:t>
            </a:r>
          </a:p>
        </p:txBody>
      </p:sp>
      <p:sp>
        <p:nvSpPr>
          <p:cNvPr name="TextBox 19" id="1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28</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668"/>
            <a:ext cx="18288000" cy="1070038"/>
            <a:chOff x="0" y="0"/>
            <a:chExt cx="24384000" cy="1426718"/>
          </a:xfrm>
        </p:grpSpPr>
        <p:sp>
          <p:nvSpPr>
            <p:cNvPr name="Freeform 3" id="3"/>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2072B7"/>
            </a:solidFill>
          </p:spPr>
        </p:sp>
      </p:grpSp>
      <p:grpSp>
        <p:nvGrpSpPr>
          <p:cNvPr name="Group 4" id="4"/>
          <p:cNvGrpSpPr/>
          <p:nvPr/>
        </p:nvGrpSpPr>
        <p:grpSpPr>
          <a:xfrm rot="0">
            <a:off x="477926" y="3334"/>
            <a:ext cx="4935598" cy="1027605"/>
            <a:chOff x="0" y="0"/>
            <a:chExt cx="6580797" cy="1370140"/>
          </a:xfrm>
        </p:grpSpPr>
        <p:sp>
          <p:nvSpPr>
            <p:cNvPr name="Freeform 5" id="5"/>
            <p:cNvSpPr/>
            <p:nvPr/>
          </p:nvSpPr>
          <p:spPr>
            <a:xfrm flipH="false" flipV="false" rot="0">
              <a:off x="0" y="0"/>
              <a:ext cx="6580759" cy="1370203"/>
            </a:xfrm>
            <a:custGeom>
              <a:avLst/>
              <a:gdLst/>
              <a:ahLst/>
              <a:cxnLst/>
              <a:rect r="r" b="b" t="t" l="l"/>
              <a:pathLst>
                <a:path h="1370203" w="6580759">
                  <a:moveTo>
                    <a:pt x="0" y="0"/>
                  </a:moveTo>
                  <a:lnTo>
                    <a:pt x="6580759" y="0"/>
                  </a:lnTo>
                  <a:lnTo>
                    <a:pt x="6580759" y="1370203"/>
                  </a:lnTo>
                  <a:lnTo>
                    <a:pt x="0" y="1370203"/>
                  </a:lnTo>
                  <a:lnTo>
                    <a:pt x="0" y="0"/>
                  </a:lnTo>
                  <a:close/>
                </a:path>
              </a:pathLst>
            </a:custGeom>
            <a:blipFill>
              <a:blip r:embed="rId3"/>
              <a:stretch>
                <a:fillRect l="-191" t="0" r="-192" b="4"/>
              </a:stretch>
            </a:blipFill>
          </p:spPr>
        </p:sp>
      </p:grpSp>
      <p:grpSp>
        <p:nvGrpSpPr>
          <p:cNvPr name="Group 6" id="6"/>
          <p:cNvGrpSpPr/>
          <p:nvPr/>
        </p:nvGrpSpPr>
        <p:grpSpPr>
          <a:xfrm rot="0">
            <a:off x="2663190" y="10082212"/>
            <a:ext cx="15624810" cy="204845"/>
            <a:chOff x="0" y="0"/>
            <a:chExt cx="20833080" cy="273126"/>
          </a:xfrm>
        </p:grpSpPr>
        <p:sp>
          <p:nvSpPr>
            <p:cNvPr name="Freeform 7" id="7"/>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2072B7"/>
            </a:solidFill>
          </p:spPr>
        </p:sp>
      </p:grpSp>
      <p:grpSp>
        <p:nvGrpSpPr>
          <p:cNvPr name="Group 8" id="8"/>
          <p:cNvGrpSpPr/>
          <p:nvPr/>
        </p:nvGrpSpPr>
        <p:grpSpPr>
          <a:xfrm rot="0">
            <a:off x="2743238" y="10108759"/>
            <a:ext cx="15544724" cy="152705"/>
            <a:chOff x="0" y="0"/>
            <a:chExt cx="20726298" cy="203606"/>
          </a:xfrm>
        </p:grpSpPr>
        <p:sp>
          <p:nvSpPr>
            <p:cNvPr name="Freeform 9" id="9"/>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4"/>
              <a:stretch>
                <a:fillRect l="0" t="0" r="0" b="-35745"/>
              </a:stretch>
            </a:blipFill>
          </p:spPr>
        </p:sp>
      </p:grpSp>
      <p:sp>
        <p:nvSpPr>
          <p:cNvPr name="TextBox 10" id="10"/>
          <p:cNvSpPr txBox="true"/>
          <p:nvPr/>
        </p:nvSpPr>
        <p:spPr>
          <a:xfrm rot="0">
            <a:off x="302009" y="10002231"/>
            <a:ext cx="2254501" cy="327536"/>
          </a:xfrm>
          <a:prstGeom prst="rect">
            <a:avLst/>
          </a:prstGeom>
        </p:spPr>
        <p:txBody>
          <a:bodyPr anchor="t" rtlCol="false" tIns="0" lIns="0" bIns="0" rIns="0">
            <a:spAutoFit/>
          </a:bodyPr>
          <a:lstStyle/>
          <a:p>
            <a:pPr algn="l">
              <a:lnSpc>
                <a:spcPts val="1800"/>
              </a:lnSpc>
            </a:pPr>
            <a:r>
              <a:rPr lang="en-US" sz="1500">
                <a:solidFill>
                  <a:srgbClr val="0070C0"/>
                </a:solidFill>
                <a:latin typeface="Calibri (MS)"/>
                <a:ea typeface="Calibri (MS)"/>
                <a:cs typeface="Calibri (MS)"/>
                <a:sym typeface="Calibri (MS)"/>
              </a:rPr>
              <a:t>https://huit.edu.vn</a:t>
            </a:r>
          </a:p>
        </p:txBody>
      </p:sp>
      <p:sp>
        <p:nvSpPr>
          <p:cNvPr name="TextBox 11" id="11"/>
          <p:cNvSpPr txBox="true"/>
          <p:nvPr/>
        </p:nvSpPr>
        <p:spPr>
          <a:xfrm rot="0">
            <a:off x="857250" y="1466850"/>
            <a:ext cx="16430625" cy="819150"/>
          </a:xfrm>
          <a:prstGeom prst="rect">
            <a:avLst/>
          </a:prstGeom>
        </p:spPr>
        <p:txBody>
          <a:bodyPr anchor="t" rtlCol="false" tIns="0" lIns="0" bIns="0" rIns="0">
            <a:spAutoFit/>
          </a:bodyPr>
          <a:lstStyle/>
          <a:p>
            <a:pPr algn="l">
              <a:lnSpc>
                <a:spcPts val="4995"/>
              </a:lnSpc>
            </a:pPr>
            <a:r>
              <a:rPr lang="en-US" sz="4162" b="true">
                <a:solidFill>
                  <a:srgbClr val="2072B7"/>
                </a:solidFill>
                <a:latin typeface="Arial Bold"/>
                <a:ea typeface="Arial Bold"/>
                <a:cs typeface="Arial Bold"/>
                <a:sym typeface="Arial Bold"/>
              </a:rPr>
              <a:t>Ma trận nhầm lẫn CatBoost CPU</a:t>
            </a:r>
          </a:p>
        </p:txBody>
      </p:sp>
      <p:sp>
        <p:nvSpPr>
          <p:cNvPr name="TextBox 12" id="12"/>
          <p:cNvSpPr txBox="true"/>
          <p:nvPr/>
        </p:nvSpPr>
        <p:spPr>
          <a:xfrm rot="0">
            <a:off x="857250" y="2324100"/>
            <a:ext cx="16573500" cy="619125"/>
          </a:xfrm>
          <a:prstGeom prst="rect">
            <a:avLst/>
          </a:prstGeom>
        </p:spPr>
        <p:txBody>
          <a:bodyPr anchor="t" rtlCol="false" tIns="0" lIns="0" bIns="0" rIns="0">
            <a:spAutoFit/>
          </a:bodyPr>
          <a:lstStyle/>
          <a:p>
            <a:pPr algn="l">
              <a:lnSpc>
                <a:spcPts val="3240"/>
              </a:lnSpc>
            </a:pPr>
            <a:r>
              <a:rPr lang="en-US" sz="2700" b="true">
                <a:solidFill>
                  <a:srgbClr val="174C7E"/>
                </a:solidFill>
                <a:latin typeface="Arial Bold"/>
                <a:ea typeface="Arial Bold"/>
                <a:cs typeface="Arial Bold"/>
                <a:sym typeface="Arial Bold"/>
              </a:rPr>
              <a:t>CatBoost nhận diện được một số mẫu trễ, nhưng tỷ lệ đúng vẫn thấp</a:t>
            </a:r>
          </a:p>
        </p:txBody>
      </p:sp>
      <p:sp>
        <p:nvSpPr>
          <p:cNvPr name="TextBox 13" id="13"/>
          <p:cNvSpPr txBox="true"/>
          <p:nvPr/>
        </p:nvSpPr>
        <p:spPr>
          <a:xfrm rot="0">
            <a:off x="16859250" y="9505950"/>
            <a:ext cx="714375" cy="366713"/>
          </a:xfrm>
          <a:prstGeom prst="rect">
            <a:avLst/>
          </a:prstGeom>
        </p:spPr>
        <p:txBody>
          <a:bodyPr anchor="t" rtlCol="false" tIns="0" lIns="0" bIns="0" rIns="0">
            <a:spAutoFit/>
          </a:bodyPr>
          <a:lstStyle/>
          <a:p>
            <a:pPr algn="l">
              <a:lnSpc>
                <a:spcPts val="2295"/>
              </a:lnSpc>
            </a:pPr>
            <a:r>
              <a:rPr lang="en-US" sz="1912">
                <a:solidFill>
                  <a:srgbClr val="2072B7"/>
                </a:solidFill>
                <a:latin typeface="Arial"/>
                <a:ea typeface="Arial"/>
                <a:cs typeface="Arial"/>
                <a:sym typeface="Arial"/>
              </a:rPr>
              <a:t>28</a:t>
            </a:r>
          </a:p>
        </p:txBody>
      </p:sp>
      <p:graphicFrame>
        <p:nvGraphicFramePr>
          <p:cNvPr name="Table 14" id="14"/>
          <p:cNvGraphicFramePr>
            <a:graphicFrameLocks noGrp="true"/>
          </p:cNvGraphicFramePr>
          <p:nvPr/>
        </p:nvGraphicFramePr>
        <p:xfrm>
          <a:off x="7643812" y="3571875"/>
          <a:ext cx="9848850" cy="4630728"/>
        </p:xfrm>
        <a:graphic>
          <a:graphicData uri="http://schemas.openxmlformats.org/drawingml/2006/table">
            <a:tbl>
              <a:tblPr/>
              <a:tblGrid>
                <a:gridCol w="1855580"/>
                <a:gridCol w="1332212"/>
                <a:gridCol w="1332212"/>
                <a:gridCol w="1332212"/>
                <a:gridCol w="1332212"/>
                <a:gridCol w="1332212"/>
                <a:gridCol w="1332212"/>
              </a:tblGrid>
              <a:tr h="920050">
                <a:tc>
                  <a:txBody>
                    <a:bodyPr anchor="t" rtlCol="false"/>
                    <a:lstStyle/>
                    <a:p>
                      <a:pPr algn="l">
                        <a:lnSpc>
                          <a:spcPts val="2430"/>
                        </a:lnSpc>
                        <a:defRPr/>
                      </a:pPr>
                      <a:r>
                        <a:rPr lang="en-US" sz="2025" b="true">
                          <a:solidFill>
                            <a:srgbClr val="FFFFFF"/>
                          </a:solidFill>
                          <a:latin typeface="Arial Bold"/>
                          <a:ea typeface="Arial Bold"/>
                          <a:cs typeface="Arial Bold"/>
                          <a:sym typeface="Arial Bold"/>
                        </a:rPr>
                        <a:t>Thực tế /</a:t>
                      </a:r>
                      <a:endParaRPr lang="en-US" sz="1100"/>
                    </a:p>
                    <a:p>
                      <a:pPr algn="l">
                        <a:lnSpc>
                          <a:spcPts val="2430"/>
                        </a:lnSpc>
                      </a:pPr>
                      <a:r>
                        <a:rPr lang="en-US" sz="2025" b="true">
                          <a:solidFill>
                            <a:srgbClr val="FFFFFF"/>
                          </a:solidFill>
                          <a:latin typeface="Arial Bold"/>
                          <a:ea typeface="Arial Bold"/>
                          <a:cs typeface="Arial Bold"/>
                          <a:sym typeface="Arial Bold"/>
                        </a:rPr>
                        <a:t>Dự đoán</a:t>
                      </a:r>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2072B7"/>
                    </a:solidFill>
                  </a:tcPr>
                </a:tc>
                <a:tc>
                  <a:txBody>
                    <a:bodyPr anchor="t" rtlCol="false"/>
                    <a:lstStyle/>
                    <a:p>
                      <a:pPr algn="l">
                        <a:lnSpc>
                          <a:spcPts val="2430"/>
                        </a:lnSpc>
                        <a:defRPr/>
                      </a:pPr>
                      <a:r>
                        <a:rPr lang="en-US" sz="2025" b="true">
                          <a:solidFill>
                            <a:srgbClr val="FFFFFF"/>
                          </a:solidFill>
                          <a:latin typeface="Arial Bold"/>
                          <a:ea typeface="Arial Bold"/>
                          <a:cs typeface="Arial Bold"/>
                          <a:sym typeface="Arial Bold"/>
                        </a:rPr>
                        <a:t>OnTime</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2072B7"/>
                    </a:solidFill>
                  </a:tcPr>
                </a:tc>
                <a:tc>
                  <a:txBody>
                    <a:bodyPr anchor="t" rtlCol="false"/>
                    <a:lstStyle/>
                    <a:p>
                      <a:pPr algn="l">
                        <a:lnSpc>
                          <a:spcPts val="2430"/>
                        </a:lnSpc>
                        <a:defRPr/>
                      </a:pPr>
                      <a:r>
                        <a:rPr lang="en-US" sz="2025" b="true">
                          <a:solidFill>
                            <a:srgbClr val="FFFFFF"/>
                          </a:solidFill>
                          <a:latin typeface="Arial Bold"/>
                          <a:ea typeface="Arial Bold"/>
                          <a:cs typeface="Arial Bold"/>
                          <a:sym typeface="Arial Bold"/>
                        </a:rPr>
                        <a:t>Carrier</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2072B7"/>
                    </a:solidFill>
                  </a:tcPr>
                </a:tc>
                <a:tc>
                  <a:txBody>
                    <a:bodyPr anchor="t" rtlCol="false"/>
                    <a:lstStyle/>
                    <a:p>
                      <a:pPr algn="l">
                        <a:lnSpc>
                          <a:spcPts val="2430"/>
                        </a:lnSpc>
                        <a:defRPr/>
                      </a:pPr>
                      <a:r>
                        <a:rPr lang="en-US" sz="2025" b="true">
                          <a:solidFill>
                            <a:srgbClr val="FFFFFF"/>
                          </a:solidFill>
                          <a:latin typeface="Arial Bold"/>
                          <a:ea typeface="Arial Bold"/>
                          <a:cs typeface="Arial Bold"/>
                          <a:sym typeface="Arial Bold"/>
                        </a:rPr>
                        <a:t>Weather</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2072B7"/>
                    </a:solidFill>
                  </a:tcPr>
                </a:tc>
                <a:tc>
                  <a:txBody>
                    <a:bodyPr anchor="t" rtlCol="false"/>
                    <a:lstStyle/>
                    <a:p>
                      <a:pPr algn="l">
                        <a:lnSpc>
                          <a:spcPts val="2430"/>
                        </a:lnSpc>
                        <a:defRPr/>
                      </a:pPr>
                      <a:r>
                        <a:rPr lang="en-US" sz="2025" b="true">
                          <a:solidFill>
                            <a:srgbClr val="FFFFFF"/>
                          </a:solidFill>
                          <a:latin typeface="Arial Bold"/>
                          <a:ea typeface="Arial Bold"/>
                          <a:cs typeface="Arial Bold"/>
                          <a:sym typeface="Arial Bold"/>
                        </a:rPr>
                        <a:t>NAS</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2072B7"/>
                    </a:solidFill>
                  </a:tcPr>
                </a:tc>
                <a:tc>
                  <a:txBody>
                    <a:bodyPr anchor="t" rtlCol="false"/>
                    <a:lstStyle/>
                    <a:p>
                      <a:pPr algn="l">
                        <a:lnSpc>
                          <a:spcPts val="2430"/>
                        </a:lnSpc>
                        <a:defRPr/>
                      </a:pPr>
                      <a:r>
                        <a:rPr lang="en-US" sz="2025" b="true">
                          <a:solidFill>
                            <a:srgbClr val="FFFFFF"/>
                          </a:solidFill>
                          <a:latin typeface="Arial Bold"/>
                          <a:ea typeface="Arial Bold"/>
                          <a:cs typeface="Arial Bold"/>
                          <a:sym typeface="Arial Bold"/>
                        </a:rPr>
                        <a:t>Security</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2072B7"/>
                    </a:solidFill>
                  </a:tcPr>
                </a:tc>
                <a:tc>
                  <a:txBody>
                    <a:bodyPr anchor="t" rtlCol="false"/>
                    <a:lstStyle/>
                    <a:p>
                      <a:pPr algn="l">
                        <a:lnSpc>
                          <a:spcPts val="2430"/>
                        </a:lnSpc>
                        <a:defRPr/>
                      </a:pPr>
                      <a:r>
                        <a:rPr lang="en-US" sz="2025" b="true">
                          <a:solidFill>
                            <a:srgbClr val="FFFFFF"/>
                          </a:solidFill>
                          <a:latin typeface="Arial Bold"/>
                          <a:ea typeface="Arial Bold"/>
                          <a:cs typeface="Arial Bold"/>
                          <a:sym typeface="Arial Bold"/>
                        </a:rPr>
                        <a:t>Late</a:t>
                      </a:r>
                      <a:endParaRPr lang="en-US" sz="1100"/>
                    </a:p>
                    <a:p>
                      <a:pPr algn="l">
                        <a:lnSpc>
                          <a:spcPts val="2430"/>
                        </a:lnSpc>
                      </a:pPr>
                      <a:r>
                        <a:rPr lang="en-US" sz="2025" b="true">
                          <a:solidFill>
                            <a:srgbClr val="FFFFFF"/>
                          </a:solidFill>
                          <a:latin typeface="Arial Bold"/>
                          <a:ea typeface="Arial Bold"/>
                          <a:cs typeface="Arial Bold"/>
                          <a:sym typeface="Arial Bold"/>
                        </a:rPr>
                        <a:t>Aircraft</a:t>
                      </a:r>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2072B7"/>
                    </a:solidFill>
                  </a:tcPr>
                </a:tc>
              </a:tr>
              <a:tr h="608648">
                <a:tc>
                  <a:txBody>
                    <a:bodyPr anchor="t" rtlCol="false"/>
                    <a:lstStyle/>
                    <a:p>
                      <a:pPr algn="l">
                        <a:lnSpc>
                          <a:spcPts val="2430"/>
                        </a:lnSpc>
                        <a:defRPr/>
                      </a:pPr>
                      <a:r>
                        <a:rPr lang="en-US" sz="2025">
                          <a:solidFill>
                            <a:srgbClr val="202D39"/>
                          </a:solidFill>
                          <a:latin typeface="Arial"/>
                          <a:ea typeface="Arial"/>
                          <a:cs typeface="Arial"/>
                          <a:sym typeface="Arial"/>
                        </a:rPr>
                        <a:t>OnTime</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DF5FB"/>
                    </a:solidFill>
                  </a:tcPr>
                </a:tc>
                <a:tc>
                  <a:txBody>
                    <a:bodyPr anchor="t" rtlCol="false"/>
                    <a:lstStyle/>
                    <a:p>
                      <a:pPr algn="l">
                        <a:lnSpc>
                          <a:spcPts val="3240"/>
                        </a:lnSpc>
                        <a:defRPr/>
                      </a:pPr>
                      <a:r>
                        <a:rPr lang="en-US" sz="2700" b="true">
                          <a:solidFill>
                            <a:srgbClr val="FFFFFF"/>
                          </a:solidFill>
                          <a:latin typeface="Arial Bold"/>
                          <a:ea typeface="Arial Bold"/>
                          <a:cs typeface="Arial Bold"/>
                          <a:sym typeface="Arial Bold"/>
                        </a:rPr>
                        <a:t>99,8</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74C7E"/>
                    </a:solidFill>
                  </a:tcPr>
                </a:tc>
                <a:tc>
                  <a:txBody>
                    <a:bodyPr anchor="t" rtlCol="false"/>
                    <a:lstStyle/>
                    <a:p>
                      <a:pPr algn="l">
                        <a:lnSpc>
                          <a:spcPts val="3240"/>
                        </a:lnSpc>
                        <a:defRPr/>
                      </a:pPr>
                      <a:r>
                        <a:rPr lang="en-US" sz="2700">
                          <a:solidFill>
                            <a:srgbClr val="202D39"/>
                          </a:solidFill>
                          <a:latin typeface="Arial"/>
                          <a:ea typeface="Arial"/>
                          <a:cs typeface="Arial"/>
                          <a:sym typeface="Arial"/>
                        </a:rPr>
                        <a:t>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6FAFD"/>
                    </a:solidFill>
                  </a:tcPr>
                </a:tc>
                <a:tc>
                  <a:txBody>
                    <a:bodyPr anchor="t" rtlCol="false"/>
                    <a:lstStyle/>
                    <a:p>
                      <a:pPr algn="l">
                        <a:lnSpc>
                          <a:spcPts val="3240"/>
                        </a:lnSpc>
                        <a:defRPr/>
                      </a:pPr>
                      <a:r>
                        <a:rPr lang="en-US" sz="2700">
                          <a:solidFill>
                            <a:srgbClr val="202D39"/>
                          </a:solidFill>
                          <a:latin typeface="Arial"/>
                          <a:ea typeface="Arial"/>
                          <a:cs typeface="Arial"/>
                          <a:sym typeface="Arial"/>
                        </a:rPr>
                        <a:t>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6FAFD"/>
                    </a:solidFill>
                  </a:tcPr>
                </a:tc>
                <a:tc>
                  <a:txBody>
                    <a:bodyPr anchor="t" rtlCol="false"/>
                    <a:lstStyle/>
                    <a:p>
                      <a:pPr algn="l">
                        <a:lnSpc>
                          <a:spcPts val="3240"/>
                        </a:lnSpc>
                        <a:defRPr/>
                      </a:pPr>
                      <a:r>
                        <a:rPr lang="en-US" sz="2700">
                          <a:solidFill>
                            <a:srgbClr val="202D39"/>
                          </a:solidFill>
                          <a:latin typeface="Arial"/>
                          <a:ea typeface="Arial"/>
                          <a:cs typeface="Arial"/>
                          <a:sym typeface="Arial"/>
                        </a:rPr>
                        <a:t>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6FAFD"/>
                    </a:solidFill>
                  </a:tcPr>
                </a:tc>
                <a:tc>
                  <a:txBody>
                    <a:bodyPr anchor="t" rtlCol="false"/>
                    <a:lstStyle/>
                    <a:p>
                      <a:pPr algn="l">
                        <a:lnSpc>
                          <a:spcPts val="3240"/>
                        </a:lnSpc>
                        <a:defRPr/>
                      </a:pPr>
                      <a:r>
                        <a:rPr lang="en-US" sz="2700">
                          <a:solidFill>
                            <a:srgbClr val="202D39"/>
                          </a:solidFill>
                          <a:latin typeface="Arial"/>
                          <a:ea typeface="Arial"/>
                          <a:cs typeface="Arial"/>
                          <a:sym typeface="Arial"/>
                        </a:rPr>
                        <a:t>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6FAFD"/>
                    </a:solidFill>
                  </a:tcPr>
                </a:tc>
                <a:tc>
                  <a:txBody>
                    <a:bodyPr anchor="t" rtlCol="false"/>
                    <a:lstStyle/>
                    <a:p>
                      <a:pPr algn="l">
                        <a:lnSpc>
                          <a:spcPts val="3240"/>
                        </a:lnSpc>
                        <a:defRPr/>
                      </a:pPr>
                      <a:r>
                        <a:rPr lang="en-US" sz="2700">
                          <a:solidFill>
                            <a:srgbClr val="202D39"/>
                          </a:solidFill>
                          <a:latin typeface="Arial"/>
                          <a:ea typeface="Arial"/>
                          <a:cs typeface="Arial"/>
                          <a:sym typeface="Arial"/>
                        </a:rPr>
                        <a:t>0,2</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FEBF7"/>
                    </a:solidFill>
                  </a:tcPr>
                </a:tc>
              </a:tr>
              <a:tr h="608648">
                <a:tc>
                  <a:txBody>
                    <a:bodyPr anchor="t" rtlCol="false"/>
                    <a:lstStyle/>
                    <a:p>
                      <a:pPr algn="l">
                        <a:lnSpc>
                          <a:spcPts val="2430"/>
                        </a:lnSpc>
                        <a:defRPr/>
                      </a:pPr>
                      <a:r>
                        <a:rPr lang="en-US" sz="2025">
                          <a:solidFill>
                            <a:srgbClr val="202D39"/>
                          </a:solidFill>
                          <a:latin typeface="Arial"/>
                          <a:ea typeface="Arial"/>
                          <a:cs typeface="Arial"/>
                          <a:sym typeface="Arial"/>
                        </a:rPr>
                        <a:t>Carrier</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3240"/>
                        </a:lnSpc>
                        <a:defRPr/>
                      </a:pPr>
                      <a:r>
                        <a:rPr lang="en-US" sz="2700">
                          <a:solidFill>
                            <a:srgbClr val="FFFFFF"/>
                          </a:solidFill>
                          <a:latin typeface="Arial"/>
                          <a:ea typeface="Arial"/>
                          <a:cs typeface="Arial"/>
                          <a:sym typeface="Arial"/>
                        </a:rPr>
                        <a:t>98,8</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74C7E"/>
                    </a:solidFill>
                  </a:tcPr>
                </a:tc>
                <a:tc>
                  <a:txBody>
                    <a:bodyPr anchor="t" rtlCol="false"/>
                    <a:lstStyle/>
                    <a:p>
                      <a:pPr algn="l">
                        <a:lnSpc>
                          <a:spcPts val="3240"/>
                        </a:lnSpc>
                        <a:defRPr/>
                      </a:pPr>
                      <a:r>
                        <a:rPr lang="en-US" sz="2700" b="true">
                          <a:solidFill>
                            <a:srgbClr val="202D39"/>
                          </a:solidFill>
                          <a:latin typeface="Arial Bold"/>
                          <a:ea typeface="Arial Bold"/>
                          <a:cs typeface="Arial Bold"/>
                          <a:sym typeface="Arial Bold"/>
                        </a:rPr>
                        <a:t>0,3</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FEBF7"/>
                    </a:solidFill>
                  </a:tcPr>
                </a:tc>
                <a:tc>
                  <a:txBody>
                    <a:bodyPr anchor="t" rtlCol="false"/>
                    <a:lstStyle/>
                    <a:p>
                      <a:pPr algn="l">
                        <a:lnSpc>
                          <a:spcPts val="3240"/>
                        </a:lnSpc>
                        <a:defRPr/>
                      </a:pPr>
                      <a:r>
                        <a:rPr lang="en-US" sz="2700">
                          <a:solidFill>
                            <a:srgbClr val="202D39"/>
                          </a:solidFill>
                          <a:latin typeface="Arial"/>
                          <a:ea typeface="Arial"/>
                          <a:cs typeface="Arial"/>
                          <a:sym typeface="Arial"/>
                        </a:rPr>
                        <a:t>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6FAFD"/>
                    </a:solidFill>
                  </a:tcPr>
                </a:tc>
                <a:tc>
                  <a:txBody>
                    <a:bodyPr anchor="t" rtlCol="false"/>
                    <a:lstStyle/>
                    <a:p>
                      <a:pPr algn="l">
                        <a:lnSpc>
                          <a:spcPts val="3240"/>
                        </a:lnSpc>
                        <a:defRPr/>
                      </a:pPr>
                      <a:r>
                        <a:rPr lang="en-US" sz="2700">
                          <a:solidFill>
                            <a:srgbClr val="202D39"/>
                          </a:solidFill>
                          <a:latin typeface="Arial"/>
                          <a:ea typeface="Arial"/>
                          <a:cs typeface="Arial"/>
                          <a:sym typeface="Arial"/>
                        </a:rPr>
                        <a:t>0,1</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FEBF7"/>
                    </a:solidFill>
                  </a:tcPr>
                </a:tc>
                <a:tc>
                  <a:txBody>
                    <a:bodyPr anchor="t" rtlCol="false"/>
                    <a:lstStyle/>
                    <a:p>
                      <a:pPr algn="l">
                        <a:lnSpc>
                          <a:spcPts val="3240"/>
                        </a:lnSpc>
                        <a:defRPr/>
                      </a:pPr>
                      <a:r>
                        <a:rPr lang="en-US" sz="2700">
                          <a:solidFill>
                            <a:srgbClr val="202D39"/>
                          </a:solidFill>
                          <a:latin typeface="Arial"/>
                          <a:ea typeface="Arial"/>
                          <a:cs typeface="Arial"/>
                          <a:sym typeface="Arial"/>
                        </a:rPr>
                        <a:t>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6FAFD"/>
                    </a:solidFill>
                  </a:tcPr>
                </a:tc>
                <a:tc>
                  <a:txBody>
                    <a:bodyPr anchor="t" rtlCol="false"/>
                    <a:lstStyle/>
                    <a:p>
                      <a:pPr algn="l">
                        <a:lnSpc>
                          <a:spcPts val="3240"/>
                        </a:lnSpc>
                        <a:defRPr/>
                      </a:pPr>
                      <a:r>
                        <a:rPr lang="en-US" sz="2700">
                          <a:solidFill>
                            <a:srgbClr val="202D39"/>
                          </a:solidFill>
                          <a:latin typeface="Arial"/>
                          <a:ea typeface="Arial"/>
                          <a:cs typeface="Arial"/>
                          <a:sym typeface="Arial"/>
                        </a:rPr>
                        <a:t>0,9</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FEBF7"/>
                    </a:solidFill>
                  </a:tcPr>
                </a:tc>
              </a:tr>
              <a:tr h="608648">
                <a:tc>
                  <a:txBody>
                    <a:bodyPr anchor="t" rtlCol="false"/>
                    <a:lstStyle/>
                    <a:p>
                      <a:pPr algn="l">
                        <a:lnSpc>
                          <a:spcPts val="2430"/>
                        </a:lnSpc>
                        <a:defRPr/>
                      </a:pPr>
                      <a:r>
                        <a:rPr lang="en-US" sz="2025">
                          <a:solidFill>
                            <a:srgbClr val="202D39"/>
                          </a:solidFill>
                          <a:latin typeface="Arial"/>
                          <a:ea typeface="Arial"/>
                          <a:cs typeface="Arial"/>
                          <a:sym typeface="Arial"/>
                        </a:rPr>
                        <a:t>Weather</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DF5FB"/>
                    </a:solidFill>
                  </a:tcPr>
                </a:tc>
                <a:tc>
                  <a:txBody>
                    <a:bodyPr anchor="t" rtlCol="false"/>
                    <a:lstStyle/>
                    <a:p>
                      <a:pPr algn="l">
                        <a:lnSpc>
                          <a:spcPts val="3240"/>
                        </a:lnSpc>
                        <a:defRPr/>
                      </a:pPr>
                      <a:r>
                        <a:rPr lang="en-US" sz="2700">
                          <a:solidFill>
                            <a:srgbClr val="FFFFFF"/>
                          </a:solidFill>
                          <a:latin typeface="Arial"/>
                          <a:ea typeface="Arial"/>
                          <a:cs typeface="Arial"/>
                          <a:sym typeface="Arial"/>
                        </a:rPr>
                        <a:t>98,4</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74C7E"/>
                    </a:solidFill>
                  </a:tcPr>
                </a:tc>
                <a:tc>
                  <a:txBody>
                    <a:bodyPr anchor="t" rtlCol="false"/>
                    <a:lstStyle/>
                    <a:p>
                      <a:pPr algn="l">
                        <a:lnSpc>
                          <a:spcPts val="3240"/>
                        </a:lnSpc>
                        <a:defRPr/>
                      </a:pPr>
                      <a:r>
                        <a:rPr lang="en-US" sz="2700">
                          <a:solidFill>
                            <a:srgbClr val="202D39"/>
                          </a:solidFill>
                          <a:latin typeface="Arial"/>
                          <a:ea typeface="Arial"/>
                          <a:cs typeface="Arial"/>
                          <a:sym typeface="Arial"/>
                        </a:rPr>
                        <a:t>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6FAFD"/>
                    </a:solidFill>
                  </a:tcPr>
                </a:tc>
                <a:tc>
                  <a:txBody>
                    <a:bodyPr anchor="t" rtlCol="false"/>
                    <a:lstStyle/>
                    <a:p>
                      <a:pPr algn="l">
                        <a:lnSpc>
                          <a:spcPts val="3240"/>
                        </a:lnSpc>
                        <a:defRPr/>
                      </a:pPr>
                      <a:r>
                        <a:rPr lang="en-US" sz="2700" b="true">
                          <a:solidFill>
                            <a:srgbClr val="202D39"/>
                          </a:solidFill>
                          <a:latin typeface="Arial Bold"/>
                          <a:ea typeface="Arial Bold"/>
                          <a:cs typeface="Arial Bold"/>
                          <a:sym typeface="Arial Bold"/>
                        </a:rPr>
                        <a:t>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6FAFD"/>
                    </a:solidFill>
                  </a:tcPr>
                </a:tc>
                <a:tc>
                  <a:txBody>
                    <a:bodyPr anchor="t" rtlCol="false"/>
                    <a:lstStyle/>
                    <a:p>
                      <a:pPr algn="l">
                        <a:lnSpc>
                          <a:spcPts val="3240"/>
                        </a:lnSpc>
                        <a:defRPr/>
                      </a:pPr>
                      <a:r>
                        <a:rPr lang="en-US" sz="2700">
                          <a:solidFill>
                            <a:srgbClr val="202D39"/>
                          </a:solidFill>
                          <a:latin typeface="Arial"/>
                          <a:ea typeface="Arial"/>
                          <a:cs typeface="Arial"/>
                          <a:sym typeface="Arial"/>
                        </a:rPr>
                        <a:t>0,1</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FEBF7"/>
                    </a:solidFill>
                  </a:tcPr>
                </a:tc>
                <a:tc>
                  <a:txBody>
                    <a:bodyPr anchor="t" rtlCol="false"/>
                    <a:lstStyle/>
                    <a:p>
                      <a:pPr algn="l">
                        <a:lnSpc>
                          <a:spcPts val="3240"/>
                        </a:lnSpc>
                        <a:defRPr/>
                      </a:pPr>
                      <a:r>
                        <a:rPr lang="en-US" sz="2700">
                          <a:solidFill>
                            <a:srgbClr val="202D39"/>
                          </a:solidFill>
                          <a:latin typeface="Arial"/>
                          <a:ea typeface="Arial"/>
                          <a:cs typeface="Arial"/>
                          <a:sym typeface="Arial"/>
                        </a:rPr>
                        <a:t>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6FAFD"/>
                    </a:solidFill>
                  </a:tcPr>
                </a:tc>
                <a:tc>
                  <a:txBody>
                    <a:bodyPr anchor="t" rtlCol="false"/>
                    <a:lstStyle/>
                    <a:p>
                      <a:pPr algn="l">
                        <a:lnSpc>
                          <a:spcPts val="3240"/>
                        </a:lnSpc>
                        <a:defRPr/>
                      </a:pPr>
                      <a:r>
                        <a:rPr lang="en-US" sz="2700">
                          <a:solidFill>
                            <a:srgbClr val="202D39"/>
                          </a:solidFill>
                          <a:latin typeface="Arial"/>
                          <a:ea typeface="Arial"/>
                          <a:cs typeface="Arial"/>
                          <a:sym typeface="Arial"/>
                        </a:rPr>
                        <a:t>1,5</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FEBF7"/>
                    </a:solidFill>
                  </a:tcPr>
                </a:tc>
              </a:tr>
              <a:tr h="667436">
                <a:tc>
                  <a:txBody>
                    <a:bodyPr anchor="t" rtlCol="false"/>
                    <a:lstStyle/>
                    <a:p>
                      <a:pPr algn="l">
                        <a:lnSpc>
                          <a:spcPts val="2430"/>
                        </a:lnSpc>
                        <a:defRPr/>
                      </a:pPr>
                      <a:r>
                        <a:rPr lang="en-US" sz="2025">
                          <a:solidFill>
                            <a:srgbClr val="202D39"/>
                          </a:solidFill>
                          <a:latin typeface="Arial"/>
                          <a:ea typeface="Arial"/>
                          <a:cs typeface="Arial"/>
                          <a:sym typeface="Arial"/>
                        </a:rPr>
                        <a:t>NAS</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3240"/>
                        </a:lnSpc>
                        <a:defRPr/>
                      </a:pPr>
                      <a:r>
                        <a:rPr lang="en-US" sz="2700">
                          <a:solidFill>
                            <a:srgbClr val="FFFFFF"/>
                          </a:solidFill>
                          <a:latin typeface="Arial"/>
                          <a:ea typeface="Arial"/>
                          <a:cs typeface="Arial"/>
                          <a:sym typeface="Arial"/>
                        </a:rPr>
                        <a:t>98,8</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74C7E"/>
                    </a:solidFill>
                  </a:tcPr>
                </a:tc>
                <a:tc>
                  <a:txBody>
                    <a:bodyPr anchor="t" rtlCol="false"/>
                    <a:lstStyle/>
                    <a:p>
                      <a:pPr algn="l">
                        <a:lnSpc>
                          <a:spcPts val="3240"/>
                        </a:lnSpc>
                        <a:defRPr/>
                      </a:pPr>
                      <a:r>
                        <a:rPr lang="en-US" sz="2700">
                          <a:solidFill>
                            <a:srgbClr val="202D39"/>
                          </a:solidFill>
                          <a:latin typeface="Arial"/>
                          <a:ea typeface="Arial"/>
                          <a:cs typeface="Arial"/>
                          <a:sym typeface="Arial"/>
                        </a:rPr>
                        <a:t>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6FAFD"/>
                    </a:solidFill>
                  </a:tcPr>
                </a:tc>
                <a:tc>
                  <a:txBody>
                    <a:bodyPr anchor="t" rtlCol="false"/>
                    <a:lstStyle/>
                    <a:p>
                      <a:pPr algn="l">
                        <a:lnSpc>
                          <a:spcPts val="3240"/>
                        </a:lnSpc>
                        <a:defRPr/>
                      </a:pPr>
                      <a:r>
                        <a:rPr lang="en-US" sz="2700">
                          <a:solidFill>
                            <a:srgbClr val="202D39"/>
                          </a:solidFill>
                          <a:latin typeface="Arial"/>
                          <a:ea typeface="Arial"/>
                          <a:cs typeface="Arial"/>
                          <a:sym typeface="Arial"/>
                        </a:rPr>
                        <a:t>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6FAFD"/>
                    </a:solidFill>
                  </a:tcPr>
                </a:tc>
                <a:tc>
                  <a:txBody>
                    <a:bodyPr anchor="t" rtlCol="false"/>
                    <a:lstStyle/>
                    <a:p>
                      <a:pPr algn="l">
                        <a:lnSpc>
                          <a:spcPts val="3240"/>
                        </a:lnSpc>
                        <a:defRPr/>
                      </a:pPr>
                      <a:r>
                        <a:rPr lang="en-US" sz="2700" b="true">
                          <a:solidFill>
                            <a:srgbClr val="202D39"/>
                          </a:solidFill>
                          <a:latin typeface="Arial Bold"/>
                          <a:ea typeface="Arial Bold"/>
                          <a:cs typeface="Arial Bold"/>
                          <a:sym typeface="Arial Bold"/>
                        </a:rPr>
                        <a:t>0,5</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FEBF7"/>
                    </a:solidFill>
                  </a:tcPr>
                </a:tc>
                <a:tc>
                  <a:txBody>
                    <a:bodyPr anchor="t" rtlCol="false"/>
                    <a:lstStyle/>
                    <a:p>
                      <a:pPr algn="l">
                        <a:lnSpc>
                          <a:spcPts val="3240"/>
                        </a:lnSpc>
                        <a:defRPr/>
                      </a:pPr>
                      <a:r>
                        <a:rPr lang="en-US" sz="2700">
                          <a:solidFill>
                            <a:srgbClr val="202D39"/>
                          </a:solidFill>
                          <a:latin typeface="Arial"/>
                          <a:ea typeface="Arial"/>
                          <a:cs typeface="Arial"/>
                          <a:sym typeface="Arial"/>
                        </a:rPr>
                        <a:t>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6FAFD"/>
                    </a:solidFill>
                  </a:tcPr>
                </a:tc>
                <a:tc>
                  <a:txBody>
                    <a:bodyPr anchor="t" rtlCol="false"/>
                    <a:lstStyle/>
                    <a:p>
                      <a:pPr algn="l">
                        <a:lnSpc>
                          <a:spcPts val="3240"/>
                        </a:lnSpc>
                        <a:defRPr/>
                      </a:pPr>
                      <a:r>
                        <a:rPr lang="en-US" sz="2700">
                          <a:solidFill>
                            <a:srgbClr val="202D39"/>
                          </a:solidFill>
                          <a:latin typeface="Arial"/>
                          <a:ea typeface="Arial"/>
                          <a:cs typeface="Arial"/>
                          <a:sym typeface="Arial"/>
                        </a:rPr>
                        <a:t>0,6</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FEBF7"/>
                    </a:solidFill>
                  </a:tcPr>
                </a:tc>
              </a:tr>
              <a:tr h="608648">
                <a:tc>
                  <a:txBody>
                    <a:bodyPr anchor="t" rtlCol="false"/>
                    <a:lstStyle/>
                    <a:p>
                      <a:pPr algn="l">
                        <a:lnSpc>
                          <a:spcPts val="2430"/>
                        </a:lnSpc>
                        <a:defRPr/>
                      </a:pPr>
                      <a:r>
                        <a:rPr lang="en-US" sz="2025">
                          <a:solidFill>
                            <a:srgbClr val="202D39"/>
                          </a:solidFill>
                          <a:latin typeface="Arial"/>
                          <a:ea typeface="Arial"/>
                          <a:cs typeface="Arial"/>
                          <a:sym typeface="Arial"/>
                        </a:rPr>
                        <a:t>Security</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DF5FB"/>
                    </a:solidFill>
                  </a:tcPr>
                </a:tc>
                <a:tc>
                  <a:txBody>
                    <a:bodyPr anchor="t" rtlCol="false"/>
                    <a:lstStyle/>
                    <a:p>
                      <a:pPr algn="l">
                        <a:lnSpc>
                          <a:spcPts val="3240"/>
                        </a:lnSpc>
                        <a:defRPr/>
                      </a:pPr>
                      <a:r>
                        <a:rPr lang="en-US" sz="2700">
                          <a:solidFill>
                            <a:srgbClr val="FFFFFF"/>
                          </a:solidFill>
                          <a:latin typeface="Arial"/>
                          <a:ea typeface="Arial"/>
                          <a:cs typeface="Arial"/>
                          <a:sym typeface="Arial"/>
                        </a:rPr>
                        <a:t>99,5</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74C7E"/>
                    </a:solidFill>
                  </a:tcPr>
                </a:tc>
                <a:tc>
                  <a:txBody>
                    <a:bodyPr anchor="t" rtlCol="false"/>
                    <a:lstStyle/>
                    <a:p>
                      <a:pPr algn="l">
                        <a:lnSpc>
                          <a:spcPts val="3240"/>
                        </a:lnSpc>
                        <a:defRPr/>
                      </a:pPr>
                      <a:r>
                        <a:rPr lang="en-US" sz="2700">
                          <a:solidFill>
                            <a:srgbClr val="202D39"/>
                          </a:solidFill>
                          <a:latin typeface="Arial"/>
                          <a:ea typeface="Arial"/>
                          <a:cs typeface="Arial"/>
                          <a:sym typeface="Arial"/>
                        </a:rPr>
                        <a:t>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6FAFD"/>
                    </a:solidFill>
                  </a:tcPr>
                </a:tc>
                <a:tc>
                  <a:txBody>
                    <a:bodyPr anchor="t" rtlCol="false"/>
                    <a:lstStyle/>
                    <a:p>
                      <a:pPr algn="l">
                        <a:lnSpc>
                          <a:spcPts val="3240"/>
                        </a:lnSpc>
                        <a:defRPr/>
                      </a:pPr>
                      <a:r>
                        <a:rPr lang="en-US" sz="2700">
                          <a:solidFill>
                            <a:srgbClr val="202D39"/>
                          </a:solidFill>
                          <a:latin typeface="Arial"/>
                          <a:ea typeface="Arial"/>
                          <a:cs typeface="Arial"/>
                          <a:sym typeface="Arial"/>
                        </a:rPr>
                        <a:t>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6FAFD"/>
                    </a:solidFill>
                  </a:tcPr>
                </a:tc>
                <a:tc>
                  <a:txBody>
                    <a:bodyPr anchor="t" rtlCol="false"/>
                    <a:lstStyle/>
                    <a:p>
                      <a:pPr algn="l">
                        <a:lnSpc>
                          <a:spcPts val="3240"/>
                        </a:lnSpc>
                        <a:defRPr/>
                      </a:pPr>
                      <a:r>
                        <a:rPr lang="en-US" sz="2700">
                          <a:solidFill>
                            <a:srgbClr val="202D39"/>
                          </a:solidFill>
                          <a:latin typeface="Arial"/>
                          <a:ea typeface="Arial"/>
                          <a:cs typeface="Arial"/>
                          <a:sym typeface="Arial"/>
                        </a:rPr>
                        <a:t>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6FAFD"/>
                    </a:solidFill>
                  </a:tcPr>
                </a:tc>
                <a:tc>
                  <a:txBody>
                    <a:bodyPr anchor="t" rtlCol="false"/>
                    <a:lstStyle/>
                    <a:p>
                      <a:pPr algn="l">
                        <a:lnSpc>
                          <a:spcPts val="3240"/>
                        </a:lnSpc>
                        <a:defRPr/>
                      </a:pPr>
                      <a:r>
                        <a:rPr lang="en-US" sz="2700" b="true">
                          <a:solidFill>
                            <a:srgbClr val="202D39"/>
                          </a:solidFill>
                          <a:latin typeface="Arial Bold"/>
                          <a:ea typeface="Arial Bold"/>
                          <a:cs typeface="Arial Bold"/>
                          <a:sym typeface="Arial Bold"/>
                        </a:rPr>
                        <a:t>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6FAFD"/>
                    </a:solidFill>
                  </a:tcPr>
                </a:tc>
                <a:tc>
                  <a:txBody>
                    <a:bodyPr anchor="t" rtlCol="false"/>
                    <a:lstStyle/>
                    <a:p>
                      <a:pPr algn="l">
                        <a:lnSpc>
                          <a:spcPts val="3240"/>
                        </a:lnSpc>
                        <a:defRPr/>
                      </a:pPr>
                      <a:r>
                        <a:rPr lang="en-US" sz="2700">
                          <a:solidFill>
                            <a:srgbClr val="202D39"/>
                          </a:solidFill>
                          <a:latin typeface="Arial"/>
                          <a:ea typeface="Arial"/>
                          <a:cs typeface="Arial"/>
                          <a:sym typeface="Arial"/>
                        </a:rPr>
                        <a:t>0,5</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FEBF7"/>
                    </a:solidFill>
                  </a:tcPr>
                </a:tc>
              </a:tr>
              <a:tr h="608648">
                <a:tc>
                  <a:txBody>
                    <a:bodyPr anchor="t" rtlCol="false"/>
                    <a:lstStyle/>
                    <a:p>
                      <a:pPr algn="l">
                        <a:lnSpc>
                          <a:spcPts val="2430"/>
                        </a:lnSpc>
                        <a:defRPr/>
                      </a:pPr>
                      <a:r>
                        <a:rPr lang="en-US" sz="2025">
                          <a:solidFill>
                            <a:srgbClr val="202D39"/>
                          </a:solidFill>
                          <a:latin typeface="Arial"/>
                          <a:ea typeface="Arial"/>
                          <a:cs typeface="Arial"/>
                          <a:sym typeface="Arial"/>
                        </a:rPr>
                        <a:t>LateAircraft</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3240"/>
                        </a:lnSpc>
                        <a:defRPr/>
                      </a:pPr>
                      <a:r>
                        <a:rPr lang="en-US" sz="2700">
                          <a:solidFill>
                            <a:srgbClr val="FFFFFF"/>
                          </a:solidFill>
                          <a:latin typeface="Arial"/>
                          <a:ea typeface="Arial"/>
                          <a:cs typeface="Arial"/>
                          <a:sym typeface="Arial"/>
                        </a:rPr>
                        <a:t>97,5</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74C7E"/>
                    </a:solidFill>
                  </a:tcPr>
                </a:tc>
                <a:tc>
                  <a:txBody>
                    <a:bodyPr anchor="t" rtlCol="false"/>
                    <a:lstStyle/>
                    <a:p>
                      <a:pPr algn="l">
                        <a:lnSpc>
                          <a:spcPts val="3240"/>
                        </a:lnSpc>
                        <a:defRPr/>
                      </a:pPr>
                      <a:r>
                        <a:rPr lang="en-US" sz="2700">
                          <a:solidFill>
                            <a:srgbClr val="202D39"/>
                          </a:solidFill>
                          <a:latin typeface="Arial"/>
                          <a:ea typeface="Arial"/>
                          <a:cs typeface="Arial"/>
                          <a:sym typeface="Arial"/>
                        </a:rPr>
                        <a:t>0,1</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FEBF7"/>
                    </a:solidFill>
                  </a:tcPr>
                </a:tc>
                <a:tc>
                  <a:txBody>
                    <a:bodyPr anchor="t" rtlCol="false"/>
                    <a:lstStyle/>
                    <a:p>
                      <a:pPr algn="l">
                        <a:lnSpc>
                          <a:spcPts val="3240"/>
                        </a:lnSpc>
                        <a:defRPr/>
                      </a:pPr>
                      <a:r>
                        <a:rPr lang="en-US" sz="2700">
                          <a:solidFill>
                            <a:srgbClr val="202D39"/>
                          </a:solidFill>
                          <a:latin typeface="Arial"/>
                          <a:ea typeface="Arial"/>
                          <a:cs typeface="Arial"/>
                          <a:sym typeface="Arial"/>
                        </a:rPr>
                        <a:t>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6FAFD"/>
                    </a:solidFill>
                  </a:tcPr>
                </a:tc>
                <a:tc>
                  <a:txBody>
                    <a:bodyPr anchor="t" rtlCol="false"/>
                    <a:lstStyle/>
                    <a:p>
                      <a:pPr algn="l">
                        <a:lnSpc>
                          <a:spcPts val="3240"/>
                        </a:lnSpc>
                        <a:defRPr/>
                      </a:pPr>
                      <a:r>
                        <a:rPr lang="en-US" sz="2700">
                          <a:solidFill>
                            <a:srgbClr val="202D39"/>
                          </a:solidFill>
                          <a:latin typeface="Arial"/>
                          <a:ea typeface="Arial"/>
                          <a:cs typeface="Arial"/>
                          <a:sym typeface="Arial"/>
                        </a:rPr>
                        <a:t>0,1</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FEBF7"/>
                    </a:solidFill>
                  </a:tcPr>
                </a:tc>
                <a:tc>
                  <a:txBody>
                    <a:bodyPr anchor="t" rtlCol="false"/>
                    <a:lstStyle/>
                    <a:p>
                      <a:pPr algn="l">
                        <a:lnSpc>
                          <a:spcPts val="3240"/>
                        </a:lnSpc>
                        <a:defRPr/>
                      </a:pPr>
                      <a:r>
                        <a:rPr lang="en-US" sz="2700">
                          <a:solidFill>
                            <a:srgbClr val="202D39"/>
                          </a:solidFill>
                          <a:latin typeface="Arial"/>
                          <a:ea typeface="Arial"/>
                          <a:cs typeface="Arial"/>
                          <a:sym typeface="Arial"/>
                        </a:rPr>
                        <a:t>0,0</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6FAFD"/>
                    </a:solidFill>
                  </a:tcPr>
                </a:tc>
                <a:tc>
                  <a:txBody>
                    <a:bodyPr anchor="t" rtlCol="false"/>
                    <a:lstStyle/>
                    <a:p>
                      <a:pPr algn="l">
                        <a:lnSpc>
                          <a:spcPts val="3240"/>
                        </a:lnSpc>
                        <a:defRPr/>
                      </a:pPr>
                      <a:r>
                        <a:rPr lang="en-US" sz="2700" b="true">
                          <a:solidFill>
                            <a:srgbClr val="202D39"/>
                          </a:solidFill>
                          <a:latin typeface="Arial Bold"/>
                          <a:ea typeface="Arial Bold"/>
                          <a:cs typeface="Arial Bold"/>
                          <a:sym typeface="Arial Bold"/>
                        </a:rPr>
                        <a:t>2,3</a:t>
                      </a:r>
                      <a:endParaRPr lang="en-US" sz="1100"/>
                    </a:p>
                  </a:txBody>
                  <a:tcPr marL="47625" marR="47625" marT="47625" marB="47625"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FEBF7"/>
                    </a:solidFill>
                  </a:tcPr>
                </a:tc>
              </a:tr>
            </a:tbl>
          </a:graphicData>
        </a:graphic>
      </p:graphicFrame>
      <p:sp>
        <p:nvSpPr>
          <p:cNvPr name="TextBox 15" id="15"/>
          <p:cNvSpPr txBox="true"/>
          <p:nvPr/>
        </p:nvSpPr>
        <p:spPr>
          <a:xfrm rot="0">
            <a:off x="857250" y="3338512"/>
            <a:ext cx="6072188" cy="1376362"/>
          </a:xfrm>
          <a:prstGeom prst="rect">
            <a:avLst/>
          </a:prstGeom>
        </p:spPr>
        <p:txBody>
          <a:bodyPr anchor="t" rtlCol="false" tIns="0" lIns="0" bIns="0" rIns="0">
            <a:spAutoFit/>
          </a:bodyPr>
          <a:lstStyle/>
          <a:p>
            <a:pPr algn="l">
              <a:lnSpc>
                <a:spcPts val="3644"/>
              </a:lnSpc>
            </a:pPr>
            <a:r>
              <a:rPr lang="en-US" sz="3037">
                <a:solidFill>
                  <a:srgbClr val="202D39"/>
                </a:solidFill>
                <a:latin typeface="Arial"/>
                <a:ea typeface="Arial"/>
                <a:cs typeface="Arial"/>
                <a:sym typeface="Arial"/>
              </a:rPr>
              <a:t>OnTime được nhận diện khoảng 99,8%.</a:t>
            </a:r>
          </a:p>
        </p:txBody>
      </p:sp>
      <p:sp>
        <p:nvSpPr>
          <p:cNvPr name="TextBox 16" id="16"/>
          <p:cNvSpPr txBox="true"/>
          <p:nvPr/>
        </p:nvSpPr>
        <p:spPr>
          <a:xfrm rot="0">
            <a:off x="857250" y="5038725"/>
            <a:ext cx="6072188" cy="1376362"/>
          </a:xfrm>
          <a:prstGeom prst="rect">
            <a:avLst/>
          </a:prstGeom>
        </p:spPr>
        <p:txBody>
          <a:bodyPr anchor="t" rtlCol="false" tIns="0" lIns="0" bIns="0" rIns="0">
            <a:spAutoFit/>
          </a:bodyPr>
          <a:lstStyle/>
          <a:p>
            <a:pPr algn="l">
              <a:lnSpc>
                <a:spcPts val="3644"/>
              </a:lnSpc>
            </a:pPr>
            <a:r>
              <a:rPr lang="en-US" sz="3037">
                <a:solidFill>
                  <a:srgbClr val="202D39"/>
                </a:solidFill>
                <a:latin typeface="Arial"/>
                <a:ea typeface="Arial"/>
                <a:cs typeface="Arial"/>
                <a:sym typeface="Arial"/>
              </a:rPr>
              <a:t>Recall Carrier 0,3%, NAS 0,5%, LateAircraft 2,3%.</a:t>
            </a:r>
          </a:p>
        </p:txBody>
      </p:sp>
      <p:sp>
        <p:nvSpPr>
          <p:cNvPr name="TextBox 17" id="17"/>
          <p:cNvSpPr txBox="true"/>
          <p:nvPr/>
        </p:nvSpPr>
        <p:spPr>
          <a:xfrm rot="0">
            <a:off x="857250" y="6738938"/>
            <a:ext cx="6072188" cy="1376362"/>
          </a:xfrm>
          <a:prstGeom prst="rect">
            <a:avLst/>
          </a:prstGeom>
        </p:spPr>
        <p:txBody>
          <a:bodyPr anchor="t" rtlCol="false" tIns="0" lIns="0" bIns="0" rIns="0">
            <a:spAutoFit/>
          </a:bodyPr>
          <a:lstStyle/>
          <a:p>
            <a:pPr algn="l">
              <a:lnSpc>
                <a:spcPts val="3644"/>
              </a:lnSpc>
            </a:pPr>
            <a:r>
              <a:rPr lang="en-US" sz="3037">
                <a:solidFill>
                  <a:srgbClr val="202D39"/>
                </a:solidFill>
                <a:latin typeface="Arial"/>
                <a:ea typeface="Arial"/>
                <a:cs typeface="Arial"/>
                <a:sym typeface="Arial"/>
              </a:rPr>
              <a:t>Weighted F1 70,50% chưa đủ chứng minh khả năng dự đoán nguyên nhân trễ.</a:t>
            </a:r>
          </a:p>
        </p:txBody>
      </p:sp>
      <p:sp>
        <p:nvSpPr>
          <p:cNvPr name="TextBox 18" id="1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29</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668"/>
            <a:ext cx="18288000" cy="1070038"/>
            <a:chOff x="0" y="0"/>
            <a:chExt cx="24384000" cy="1426718"/>
          </a:xfrm>
        </p:grpSpPr>
        <p:sp>
          <p:nvSpPr>
            <p:cNvPr name="Freeform 3" id="3"/>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2072B7"/>
            </a:solidFill>
          </p:spPr>
        </p:sp>
      </p:grpSp>
      <p:grpSp>
        <p:nvGrpSpPr>
          <p:cNvPr name="Group 4" id="4"/>
          <p:cNvGrpSpPr/>
          <p:nvPr/>
        </p:nvGrpSpPr>
        <p:grpSpPr>
          <a:xfrm rot="0">
            <a:off x="477926" y="3334"/>
            <a:ext cx="4935598" cy="1027605"/>
            <a:chOff x="0" y="0"/>
            <a:chExt cx="6580797" cy="1370140"/>
          </a:xfrm>
        </p:grpSpPr>
        <p:sp>
          <p:nvSpPr>
            <p:cNvPr name="Freeform 5" id="5"/>
            <p:cNvSpPr/>
            <p:nvPr/>
          </p:nvSpPr>
          <p:spPr>
            <a:xfrm flipH="false" flipV="false" rot="0">
              <a:off x="0" y="0"/>
              <a:ext cx="6580759" cy="1370203"/>
            </a:xfrm>
            <a:custGeom>
              <a:avLst/>
              <a:gdLst/>
              <a:ahLst/>
              <a:cxnLst/>
              <a:rect r="r" b="b" t="t" l="l"/>
              <a:pathLst>
                <a:path h="1370203" w="6580759">
                  <a:moveTo>
                    <a:pt x="0" y="0"/>
                  </a:moveTo>
                  <a:lnTo>
                    <a:pt x="6580759" y="0"/>
                  </a:lnTo>
                  <a:lnTo>
                    <a:pt x="6580759" y="1370203"/>
                  </a:lnTo>
                  <a:lnTo>
                    <a:pt x="0" y="1370203"/>
                  </a:lnTo>
                  <a:lnTo>
                    <a:pt x="0" y="0"/>
                  </a:lnTo>
                  <a:close/>
                </a:path>
              </a:pathLst>
            </a:custGeom>
            <a:blipFill>
              <a:blip r:embed="rId3"/>
              <a:stretch>
                <a:fillRect l="-191" t="0" r="-192" b="4"/>
              </a:stretch>
            </a:blipFill>
          </p:spPr>
        </p:sp>
      </p:grpSp>
      <p:grpSp>
        <p:nvGrpSpPr>
          <p:cNvPr name="Group 6" id="6"/>
          <p:cNvGrpSpPr/>
          <p:nvPr/>
        </p:nvGrpSpPr>
        <p:grpSpPr>
          <a:xfrm rot="0">
            <a:off x="2663190" y="10082212"/>
            <a:ext cx="15624810" cy="204845"/>
            <a:chOff x="0" y="0"/>
            <a:chExt cx="20833080" cy="273126"/>
          </a:xfrm>
        </p:grpSpPr>
        <p:sp>
          <p:nvSpPr>
            <p:cNvPr name="Freeform 7" id="7"/>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2072B7"/>
            </a:solidFill>
          </p:spPr>
        </p:sp>
      </p:grpSp>
      <p:grpSp>
        <p:nvGrpSpPr>
          <p:cNvPr name="Group 8" id="8"/>
          <p:cNvGrpSpPr/>
          <p:nvPr/>
        </p:nvGrpSpPr>
        <p:grpSpPr>
          <a:xfrm rot="0">
            <a:off x="2743238" y="10108759"/>
            <a:ext cx="15544724" cy="152705"/>
            <a:chOff x="0" y="0"/>
            <a:chExt cx="20726298" cy="203606"/>
          </a:xfrm>
        </p:grpSpPr>
        <p:sp>
          <p:nvSpPr>
            <p:cNvPr name="Freeform 9" id="9"/>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4"/>
              <a:stretch>
                <a:fillRect l="0" t="0" r="0" b="-35745"/>
              </a:stretch>
            </a:blipFill>
          </p:spPr>
        </p:sp>
      </p:grpSp>
      <p:sp>
        <p:nvSpPr>
          <p:cNvPr name="TextBox 10" id="10"/>
          <p:cNvSpPr txBox="true"/>
          <p:nvPr/>
        </p:nvSpPr>
        <p:spPr>
          <a:xfrm rot="0">
            <a:off x="302009" y="10002231"/>
            <a:ext cx="2254501" cy="327536"/>
          </a:xfrm>
          <a:prstGeom prst="rect">
            <a:avLst/>
          </a:prstGeom>
        </p:spPr>
        <p:txBody>
          <a:bodyPr anchor="t" rtlCol="false" tIns="0" lIns="0" bIns="0" rIns="0">
            <a:spAutoFit/>
          </a:bodyPr>
          <a:lstStyle/>
          <a:p>
            <a:pPr algn="l">
              <a:lnSpc>
                <a:spcPts val="1800"/>
              </a:lnSpc>
            </a:pPr>
            <a:r>
              <a:rPr lang="en-US" sz="1500">
                <a:solidFill>
                  <a:srgbClr val="0070C0"/>
                </a:solidFill>
                <a:latin typeface="Calibri (MS)"/>
                <a:ea typeface="Calibri (MS)"/>
                <a:cs typeface="Calibri (MS)"/>
                <a:sym typeface="Calibri (MS)"/>
              </a:rPr>
              <a:t>https://huit.edu.vn</a:t>
            </a:r>
          </a:p>
        </p:txBody>
      </p:sp>
      <p:sp>
        <p:nvSpPr>
          <p:cNvPr name="TextBox 11" id="11"/>
          <p:cNvSpPr txBox="true"/>
          <p:nvPr/>
        </p:nvSpPr>
        <p:spPr>
          <a:xfrm rot="0">
            <a:off x="857250" y="1466850"/>
            <a:ext cx="16430625" cy="819150"/>
          </a:xfrm>
          <a:prstGeom prst="rect">
            <a:avLst/>
          </a:prstGeom>
        </p:spPr>
        <p:txBody>
          <a:bodyPr anchor="t" rtlCol="false" tIns="0" lIns="0" bIns="0" rIns="0">
            <a:spAutoFit/>
          </a:bodyPr>
          <a:lstStyle/>
          <a:p>
            <a:pPr algn="l">
              <a:lnSpc>
                <a:spcPts val="4995"/>
              </a:lnSpc>
            </a:pPr>
            <a:r>
              <a:rPr lang="en-US" sz="4162" b="true">
                <a:solidFill>
                  <a:srgbClr val="2072B7"/>
                </a:solidFill>
                <a:latin typeface="Arial Bold"/>
                <a:ea typeface="Arial Bold"/>
                <a:cs typeface="Arial Bold"/>
                <a:sym typeface="Arial Bold"/>
              </a:rPr>
              <a:t>Phân tích đặc trưng CPU</a:t>
            </a:r>
          </a:p>
        </p:txBody>
      </p:sp>
      <p:sp>
        <p:nvSpPr>
          <p:cNvPr name="TextBox 12" id="12"/>
          <p:cNvSpPr txBox="true"/>
          <p:nvPr/>
        </p:nvSpPr>
        <p:spPr>
          <a:xfrm rot="0">
            <a:off x="857250" y="2324100"/>
            <a:ext cx="16573500" cy="619125"/>
          </a:xfrm>
          <a:prstGeom prst="rect">
            <a:avLst/>
          </a:prstGeom>
        </p:spPr>
        <p:txBody>
          <a:bodyPr anchor="t" rtlCol="false" tIns="0" lIns="0" bIns="0" rIns="0">
            <a:spAutoFit/>
          </a:bodyPr>
          <a:lstStyle/>
          <a:p>
            <a:pPr algn="l">
              <a:lnSpc>
                <a:spcPts val="3240"/>
              </a:lnSpc>
            </a:pPr>
            <a:r>
              <a:rPr lang="en-US" sz="2700" b="true">
                <a:solidFill>
                  <a:srgbClr val="174C7E"/>
                </a:solidFill>
                <a:latin typeface="Arial Bold"/>
                <a:ea typeface="Arial Bold"/>
                <a:cs typeface="Arial Bold"/>
                <a:sym typeface="Arial Bold"/>
              </a:rPr>
              <a:t>Thứ hạng đặc trưng phản ánh cách mô hình sử dụng dữ liệu</a:t>
            </a:r>
          </a:p>
        </p:txBody>
      </p:sp>
      <p:sp>
        <p:nvSpPr>
          <p:cNvPr name="TextBox 13" id="13"/>
          <p:cNvSpPr txBox="true"/>
          <p:nvPr/>
        </p:nvSpPr>
        <p:spPr>
          <a:xfrm rot="0">
            <a:off x="16859250" y="9505950"/>
            <a:ext cx="714375" cy="366713"/>
          </a:xfrm>
          <a:prstGeom prst="rect">
            <a:avLst/>
          </a:prstGeom>
        </p:spPr>
        <p:txBody>
          <a:bodyPr anchor="t" rtlCol="false" tIns="0" lIns="0" bIns="0" rIns="0">
            <a:spAutoFit/>
          </a:bodyPr>
          <a:lstStyle/>
          <a:p>
            <a:pPr algn="l">
              <a:lnSpc>
                <a:spcPts val="2295"/>
              </a:lnSpc>
            </a:pPr>
            <a:r>
              <a:rPr lang="en-US" sz="1912">
                <a:solidFill>
                  <a:srgbClr val="2072B7"/>
                </a:solidFill>
                <a:latin typeface="Arial"/>
                <a:ea typeface="Arial"/>
                <a:cs typeface="Arial"/>
                <a:sym typeface="Arial"/>
              </a:rPr>
              <a:t>29</a:t>
            </a:r>
          </a:p>
        </p:txBody>
      </p:sp>
      <p:pic>
        <p:nvPicPr>
          <p:cNvPr id="14" name="">
            <a:extLst>
              <a:ext uri="{FF2B5EF4-FFF2-40B4-BE49-F238E27FC236}">
                <a16:creationId xmlns:a16="http://schemas.microsoft.com/office/drawing/2014/main" id="{4AB1C533-7324-4599-8E75-E203B62195B0}"/>
              </a:ext>
            </a:extLst>
          </p:cNvPr>
          <p:cNvPicPr>
            <a:picLocks noChangeAspect="1"/>
          </p:cNvPicPr>
          <p:nvPr/>
        </p:nvPicPr>
        <p:blipFill>
          <a:blip r:embed="rIdResultPicture30"/>
          <a:srcRect l="0" t="0" r="0" b="50600"/>
          <a:stretch/>
        </p:blipFill>
        <p:spPr>
          <a:xfrm>
            <a:off x="666750" y="3143250"/>
            <a:ext cx="10382250" cy="5715000"/>
          </a:xfrm>
          <a:prstGeom prst="rect">
            <a:avLst/>
          </a:prstGeom>
        </p:spPr>
      </p:pic>
      <p:sp>
        <p:nvSpPr>
          <p:cNvPr name="TextBox 15" id="15"/>
          <p:cNvSpPr txBox="true"/>
          <p:nvPr/>
        </p:nvSpPr>
        <p:spPr>
          <a:xfrm rot="0">
            <a:off x="11430000" y="3338512"/>
            <a:ext cx="6000750" cy="1376362"/>
          </a:xfrm>
          <a:prstGeom prst="rect">
            <a:avLst/>
          </a:prstGeom>
        </p:spPr>
        <p:txBody>
          <a:bodyPr anchor="t" rtlCol="false" tIns="0" lIns="0" bIns="0" rIns="0">
            <a:spAutoFit/>
          </a:bodyPr>
          <a:lstStyle/>
          <a:p>
            <a:pPr algn="l">
              <a:lnSpc>
                <a:spcPts val="3644"/>
              </a:lnSpc>
            </a:pPr>
            <a:r>
              <a:rPr lang="en-US" sz="3037">
                <a:solidFill>
                  <a:srgbClr val="202D39"/>
                </a:solidFill>
                <a:latin typeface="Arial"/>
                <a:ea typeface="Arial"/>
                <a:cs typeface="Arial"/>
                <a:sym typeface="Arial"/>
              </a:rPr>
              <a:t>Random Forest CPU ưu tiên tháng và thời điểm bay.</a:t>
            </a:r>
          </a:p>
        </p:txBody>
      </p:sp>
      <p:sp>
        <p:nvSpPr>
          <p:cNvPr name="TextBox 16" id="16"/>
          <p:cNvSpPr txBox="true"/>
          <p:nvPr/>
        </p:nvSpPr>
        <p:spPr>
          <a:xfrm rot="0">
            <a:off x="11430000" y="5038725"/>
            <a:ext cx="6000750" cy="1376362"/>
          </a:xfrm>
          <a:prstGeom prst="rect">
            <a:avLst/>
          </a:prstGeom>
        </p:spPr>
        <p:txBody>
          <a:bodyPr anchor="t" rtlCol="false" tIns="0" lIns="0" bIns="0" rIns="0">
            <a:spAutoFit/>
          </a:bodyPr>
          <a:lstStyle/>
          <a:p>
            <a:pPr algn="l">
              <a:lnSpc>
                <a:spcPts val="3644"/>
              </a:lnSpc>
            </a:pPr>
            <a:r>
              <a:rPr lang="en-US" sz="3037">
                <a:solidFill>
                  <a:srgbClr val="202D39"/>
                </a:solidFill>
                <a:latin typeface="Arial"/>
                <a:ea typeface="Arial"/>
                <a:cs typeface="Arial"/>
                <a:sym typeface="Arial"/>
              </a:rPr>
              <a:t>CatBoost CPU ưu tiên hãng bay, tháng và ngày trong tháng.</a:t>
            </a:r>
          </a:p>
        </p:txBody>
      </p:sp>
      <p:sp>
        <p:nvSpPr>
          <p:cNvPr name="TextBox 17" id="17"/>
          <p:cNvSpPr txBox="true"/>
          <p:nvPr/>
        </p:nvSpPr>
        <p:spPr>
          <a:xfrm rot="0">
            <a:off x="11430000" y="6738938"/>
            <a:ext cx="6000750" cy="1376362"/>
          </a:xfrm>
          <a:prstGeom prst="rect">
            <a:avLst/>
          </a:prstGeom>
        </p:spPr>
        <p:txBody>
          <a:bodyPr anchor="t" rtlCol="false" tIns="0" lIns="0" bIns="0" rIns="0">
            <a:spAutoFit/>
          </a:bodyPr>
          <a:lstStyle/>
          <a:p>
            <a:pPr algn="l">
              <a:lnSpc>
                <a:spcPts val="3644"/>
              </a:lnSpc>
            </a:pPr>
            <a:r>
              <a:rPr lang="en-US" sz="3037">
                <a:solidFill>
                  <a:srgbClr val="202D39"/>
                </a:solidFill>
                <a:latin typeface="Arial"/>
                <a:ea typeface="Arial"/>
                <a:cs typeface="Arial"/>
                <a:sym typeface="Arial"/>
              </a:rPr>
              <a:t>Hai mô hình dùng thang đo khác nhau. Trọng số không chứng minh quan hệ nhân quả.</a:t>
            </a:r>
          </a:p>
        </p:txBody>
      </p:sp>
      <p:sp>
        <p:nvSpPr>
          <p:cNvPr name="TextBox 18" id="1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30</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1F72B6"/>
        </a:solidFill>
      </p:bgPr>
    </p:bg>
    <p:spTree>
      <p:nvGrpSpPr>
        <p:cNvPr id="1" name=""/>
        <p:cNvGrpSpPr/>
        <p:nvPr/>
      </p:nvGrpSpPr>
      <p:grpSpPr>
        <a:xfrm>
          <a:off x="0" y="0"/>
          <a:ext cx="0" cy="0"/>
          <a:chOff x="0" y="0"/>
          <a:chExt cx="0" cy="0"/>
        </a:xfrm>
      </p:grpSpPr>
      <p:grpSp>
        <p:nvGrpSpPr>
          <p:cNvPr name="Group 2" id="2"/>
          <p:cNvGrpSpPr/>
          <p:nvPr/>
        </p:nvGrpSpPr>
        <p:grpSpPr>
          <a:xfrm rot="0">
            <a:off x="0" y="-12668"/>
            <a:ext cx="18288000" cy="1070038"/>
            <a:chOff x="0" y="0"/>
            <a:chExt cx="24384000" cy="1426718"/>
          </a:xfrm>
        </p:grpSpPr>
        <p:sp>
          <p:nvSpPr>
            <p:cNvPr name="Freeform 3" id="3"/>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FFFFFF"/>
            </a:solidFill>
          </p:spPr>
        </p:sp>
      </p:grpSp>
      <p:grpSp>
        <p:nvGrpSpPr>
          <p:cNvPr name="Group 4" id="4"/>
          <p:cNvGrpSpPr/>
          <p:nvPr/>
        </p:nvGrpSpPr>
        <p:grpSpPr>
          <a:xfrm rot="0">
            <a:off x="477926" y="3334"/>
            <a:ext cx="4935598" cy="1027605"/>
            <a:chOff x="0" y="0"/>
            <a:chExt cx="6580797" cy="1370140"/>
          </a:xfrm>
        </p:grpSpPr>
        <p:sp>
          <p:nvSpPr>
            <p:cNvPr name="Freeform 5" id="5"/>
            <p:cNvSpPr/>
            <p:nvPr/>
          </p:nvSpPr>
          <p:spPr>
            <a:xfrm flipH="false" flipV="false" rot="0">
              <a:off x="0" y="0"/>
              <a:ext cx="6580759" cy="1370203"/>
            </a:xfrm>
            <a:custGeom>
              <a:avLst/>
              <a:gdLst/>
              <a:ahLst/>
              <a:cxnLst/>
              <a:rect r="r" b="b" t="t" l="l"/>
              <a:pathLst>
                <a:path h="1370203" w="6580759">
                  <a:moveTo>
                    <a:pt x="0" y="0"/>
                  </a:moveTo>
                  <a:lnTo>
                    <a:pt x="6580759" y="0"/>
                  </a:lnTo>
                  <a:lnTo>
                    <a:pt x="6580759" y="1370203"/>
                  </a:lnTo>
                  <a:lnTo>
                    <a:pt x="0" y="1370203"/>
                  </a:lnTo>
                  <a:lnTo>
                    <a:pt x="0" y="0"/>
                  </a:lnTo>
                  <a:close/>
                </a:path>
              </a:pathLst>
            </a:custGeom>
            <a:blipFill>
              <a:blip r:embed="rId2"/>
              <a:stretch>
                <a:fillRect l="0" t="0" r="-384" b="4"/>
              </a:stretch>
            </a:blipFill>
          </p:spPr>
        </p:sp>
      </p:grpSp>
      <p:grpSp>
        <p:nvGrpSpPr>
          <p:cNvPr name="Group 6" id="6"/>
          <p:cNvGrpSpPr/>
          <p:nvPr/>
        </p:nvGrpSpPr>
        <p:grpSpPr>
          <a:xfrm rot="0">
            <a:off x="2663190" y="10082212"/>
            <a:ext cx="15624810" cy="204845"/>
            <a:chOff x="0" y="0"/>
            <a:chExt cx="20833080" cy="273126"/>
          </a:xfrm>
        </p:grpSpPr>
        <p:sp>
          <p:nvSpPr>
            <p:cNvPr name="Freeform 7" id="7"/>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FFFFFF"/>
            </a:solidFill>
          </p:spPr>
        </p:sp>
      </p:grpSp>
      <p:grpSp>
        <p:nvGrpSpPr>
          <p:cNvPr name="Group 8" id="8"/>
          <p:cNvGrpSpPr/>
          <p:nvPr/>
        </p:nvGrpSpPr>
        <p:grpSpPr>
          <a:xfrm rot="0">
            <a:off x="2743238" y="10108759"/>
            <a:ext cx="15544724" cy="152705"/>
            <a:chOff x="0" y="0"/>
            <a:chExt cx="20726298" cy="203606"/>
          </a:xfrm>
        </p:grpSpPr>
        <p:sp>
          <p:nvSpPr>
            <p:cNvPr name="Freeform 9" id="9"/>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3"/>
              <a:stretch>
                <a:fillRect l="0" t="0" r="0" b="-35745"/>
              </a:stretch>
            </a:blipFill>
          </p:spPr>
        </p:sp>
      </p:grpSp>
      <p:sp>
        <p:nvSpPr>
          <p:cNvPr name="TextBox 10" id="10"/>
          <p:cNvSpPr txBox="true"/>
          <p:nvPr/>
        </p:nvSpPr>
        <p:spPr>
          <a:xfrm rot="0">
            <a:off x="302009" y="10040331"/>
            <a:ext cx="2254501" cy="228600"/>
          </a:xfrm>
          <a:prstGeom prst="rect">
            <a:avLst/>
          </a:prstGeom>
        </p:spPr>
        <p:txBody>
          <a:bodyPr anchor="t" rtlCol="false" tIns="0" lIns="0" bIns="0" rIns="0">
            <a:spAutoFit/>
          </a:bodyPr>
          <a:lstStyle/>
          <a:p>
            <a:pPr algn="l">
              <a:lnSpc>
                <a:spcPts val="1800"/>
              </a:lnSpc>
            </a:pPr>
            <a:r>
              <a:rPr lang="en-US" sz="1500">
                <a:solidFill>
                  <a:srgbClr val="FFFFFF"/>
                </a:solidFill>
                <a:latin typeface="Quicksand"/>
                <a:ea typeface="Quicksand"/>
                <a:cs typeface="Quicksand"/>
                <a:sym typeface="Quicksand"/>
              </a:rPr>
              <a:t>https://huit.edu.vn</a:t>
            </a:r>
          </a:p>
        </p:txBody>
      </p:sp>
      <p:sp>
        <p:nvSpPr>
          <p:cNvPr name="TextBox 11" id="11"/>
          <p:cNvSpPr txBox="true"/>
          <p:nvPr/>
        </p:nvSpPr>
        <p:spPr>
          <a:xfrm rot="0">
            <a:off x="3201001" y="4713732"/>
            <a:ext cx="11885999" cy="916686"/>
          </a:xfrm>
          <a:prstGeom prst="rect">
            <a:avLst/>
          </a:prstGeom>
        </p:spPr>
        <p:txBody>
          <a:bodyPr anchor="t" rtlCol="false" tIns="0" lIns="0" bIns="0" rIns="0">
            <a:spAutoFit/>
          </a:bodyPr>
          <a:lstStyle/>
          <a:p>
            <a:pPr algn="ctr">
              <a:lnSpc>
                <a:spcPts val="6911"/>
              </a:lnSpc>
            </a:pPr>
            <a:r>
              <a:rPr lang="en-US" b="true" sz="6399">
                <a:solidFill>
                  <a:srgbClr val="FFFFFF"/>
                </a:solidFill>
                <a:latin typeface="Quicksand Bold"/>
                <a:ea typeface="Quicksand Bold"/>
                <a:cs typeface="Quicksand Bold"/>
                <a:sym typeface="Quicksand Bold"/>
              </a:rPr>
              <a:t>DEMO</a:t>
            </a:r>
          </a:p>
        </p:txBody>
      </p:sp>
      <p:sp>
        <p:nvSpPr>
          <p:cNvPr name="TextBox 12" id="1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Noto Sans"/>
                <a:ea typeface="Noto Sans"/>
                <a:cs typeface="Noto Sans"/>
                <a:sym typeface="Noto Sans"/>
              </a:rPr>
              <a:t>31</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668"/>
            <a:ext cx="18288000" cy="1070038"/>
            <a:chOff x="0" y="0"/>
            <a:chExt cx="24384000" cy="1426718"/>
          </a:xfrm>
        </p:grpSpPr>
        <p:sp>
          <p:nvSpPr>
            <p:cNvPr name="Freeform 3" id="3"/>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2072B7"/>
            </a:solidFill>
          </p:spPr>
        </p:sp>
      </p:grpSp>
      <p:grpSp>
        <p:nvGrpSpPr>
          <p:cNvPr name="Group 4" id="4"/>
          <p:cNvGrpSpPr/>
          <p:nvPr/>
        </p:nvGrpSpPr>
        <p:grpSpPr>
          <a:xfrm rot="0">
            <a:off x="477926" y="3334"/>
            <a:ext cx="4935598" cy="1027605"/>
            <a:chOff x="0" y="0"/>
            <a:chExt cx="6580797" cy="1370140"/>
          </a:xfrm>
        </p:grpSpPr>
        <p:sp>
          <p:nvSpPr>
            <p:cNvPr name="Freeform 5" id="5"/>
            <p:cNvSpPr/>
            <p:nvPr/>
          </p:nvSpPr>
          <p:spPr>
            <a:xfrm flipH="false" flipV="false" rot="0">
              <a:off x="0" y="0"/>
              <a:ext cx="6580759" cy="1370203"/>
            </a:xfrm>
            <a:custGeom>
              <a:avLst/>
              <a:gdLst/>
              <a:ahLst/>
              <a:cxnLst/>
              <a:rect r="r" b="b" t="t" l="l"/>
              <a:pathLst>
                <a:path h="1370203" w="6580759">
                  <a:moveTo>
                    <a:pt x="0" y="0"/>
                  </a:moveTo>
                  <a:lnTo>
                    <a:pt x="6580759" y="0"/>
                  </a:lnTo>
                  <a:lnTo>
                    <a:pt x="6580759" y="1370203"/>
                  </a:lnTo>
                  <a:lnTo>
                    <a:pt x="0" y="1370203"/>
                  </a:lnTo>
                  <a:lnTo>
                    <a:pt x="0" y="0"/>
                  </a:lnTo>
                  <a:close/>
                </a:path>
              </a:pathLst>
            </a:custGeom>
            <a:blipFill>
              <a:blip r:embed="rId3"/>
              <a:stretch>
                <a:fillRect l="-191" t="0" r="-192" b="4"/>
              </a:stretch>
            </a:blipFill>
          </p:spPr>
        </p:sp>
      </p:grpSp>
      <p:grpSp>
        <p:nvGrpSpPr>
          <p:cNvPr name="Group 6" id="6"/>
          <p:cNvGrpSpPr/>
          <p:nvPr/>
        </p:nvGrpSpPr>
        <p:grpSpPr>
          <a:xfrm rot="0">
            <a:off x="2663190" y="10082212"/>
            <a:ext cx="15624810" cy="204845"/>
            <a:chOff x="0" y="0"/>
            <a:chExt cx="20833080" cy="273126"/>
          </a:xfrm>
        </p:grpSpPr>
        <p:sp>
          <p:nvSpPr>
            <p:cNvPr name="Freeform 7" id="7"/>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2072B7"/>
            </a:solidFill>
          </p:spPr>
        </p:sp>
      </p:grpSp>
      <p:grpSp>
        <p:nvGrpSpPr>
          <p:cNvPr name="Group 8" id="8"/>
          <p:cNvGrpSpPr/>
          <p:nvPr/>
        </p:nvGrpSpPr>
        <p:grpSpPr>
          <a:xfrm rot="0">
            <a:off x="2743238" y="10108759"/>
            <a:ext cx="15544724" cy="152705"/>
            <a:chOff x="0" y="0"/>
            <a:chExt cx="20726298" cy="203606"/>
          </a:xfrm>
        </p:grpSpPr>
        <p:sp>
          <p:nvSpPr>
            <p:cNvPr name="Freeform 9" id="9"/>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4"/>
              <a:stretch>
                <a:fillRect l="0" t="0" r="0" b="-35745"/>
              </a:stretch>
            </a:blipFill>
          </p:spPr>
        </p:sp>
      </p:grpSp>
      <p:sp>
        <p:nvSpPr>
          <p:cNvPr name="TextBox 10" id="10"/>
          <p:cNvSpPr txBox="true"/>
          <p:nvPr/>
        </p:nvSpPr>
        <p:spPr>
          <a:xfrm rot="0">
            <a:off x="302009" y="10002231"/>
            <a:ext cx="2254501" cy="327536"/>
          </a:xfrm>
          <a:prstGeom prst="rect">
            <a:avLst/>
          </a:prstGeom>
        </p:spPr>
        <p:txBody>
          <a:bodyPr anchor="t" rtlCol="false" tIns="0" lIns="0" bIns="0" rIns="0">
            <a:spAutoFit/>
          </a:bodyPr>
          <a:lstStyle/>
          <a:p>
            <a:pPr algn="l">
              <a:lnSpc>
                <a:spcPts val="1800"/>
              </a:lnSpc>
            </a:pPr>
            <a:r>
              <a:rPr lang="en-US" sz="1500">
                <a:solidFill>
                  <a:srgbClr val="0070C0"/>
                </a:solidFill>
                <a:latin typeface="Calibri (MS)"/>
                <a:ea typeface="Calibri (MS)"/>
                <a:cs typeface="Calibri (MS)"/>
                <a:sym typeface="Calibri (MS)"/>
              </a:rPr>
              <a:t>https://huit.edu.vn</a:t>
            </a:r>
          </a:p>
        </p:txBody>
      </p:sp>
      <p:sp>
        <p:nvSpPr>
          <p:cNvPr name="AutoShape 11" id="11"/>
          <p:cNvSpPr/>
          <p:nvPr/>
        </p:nvSpPr>
        <p:spPr>
          <a:xfrm rot="5178540">
            <a:off x="12315368" y="7227094"/>
            <a:ext cx="443836" cy="19050"/>
          </a:xfrm>
          <a:prstGeom prst="line">
            <a:avLst/>
          </a:prstGeom>
          <a:ln cap="rnd" w="19050">
            <a:solidFill>
              <a:srgbClr val="2072B7"/>
            </a:solidFill>
            <a:prstDash val="solid"/>
            <a:headEnd type="none" len="sm" w="sm"/>
            <a:tailEnd type="triangle" len="med" w="lg"/>
          </a:ln>
        </p:spPr>
      </p:sp>
      <p:sp>
        <p:nvSpPr>
          <p:cNvPr name="AutoShape 12" id="12"/>
          <p:cNvSpPr/>
          <p:nvPr/>
        </p:nvSpPr>
        <p:spPr>
          <a:xfrm rot="5178540">
            <a:off x="12315368" y="5869781"/>
            <a:ext cx="443836" cy="19050"/>
          </a:xfrm>
          <a:prstGeom prst="line">
            <a:avLst/>
          </a:prstGeom>
          <a:ln cap="rnd" w="19050">
            <a:solidFill>
              <a:srgbClr val="2072B7"/>
            </a:solidFill>
            <a:prstDash val="solid"/>
            <a:headEnd type="none" len="sm" w="sm"/>
            <a:tailEnd type="triangle" len="med" w="lg"/>
          </a:ln>
        </p:spPr>
      </p:sp>
      <p:sp>
        <p:nvSpPr>
          <p:cNvPr name="AutoShape 13" id="13"/>
          <p:cNvSpPr/>
          <p:nvPr/>
        </p:nvSpPr>
        <p:spPr>
          <a:xfrm rot="5178540">
            <a:off x="12315368" y="4512469"/>
            <a:ext cx="443836" cy="19050"/>
          </a:xfrm>
          <a:prstGeom prst="line">
            <a:avLst/>
          </a:prstGeom>
          <a:ln cap="rnd" w="19050">
            <a:solidFill>
              <a:srgbClr val="2072B7"/>
            </a:solidFill>
            <a:prstDash val="solid"/>
            <a:headEnd type="none" len="sm" w="sm"/>
            <a:tailEnd type="triangle" len="med" w="lg"/>
          </a:ln>
        </p:spPr>
      </p:sp>
      <p:sp>
        <p:nvSpPr>
          <p:cNvPr name="TextBox 14" id="14"/>
          <p:cNvSpPr txBox="true"/>
          <p:nvPr/>
        </p:nvSpPr>
        <p:spPr>
          <a:xfrm rot="0">
            <a:off x="857250" y="1466850"/>
            <a:ext cx="16430625" cy="819150"/>
          </a:xfrm>
          <a:prstGeom prst="rect">
            <a:avLst/>
          </a:prstGeom>
        </p:spPr>
        <p:txBody>
          <a:bodyPr anchor="t" rtlCol="false" tIns="0" lIns="0" bIns="0" rIns="0">
            <a:spAutoFit/>
          </a:bodyPr>
          <a:lstStyle/>
          <a:p>
            <a:pPr algn="l">
              <a:lnSpc>
                <a:spcPts val="4995"/>
              </a:lnSpc>
            </a:pPr>
            <a:r>
              <a:rPr lang="en-US" sz="4162" b="true">
                <a:solidFill>
                  <a:srgbClr val="2072B7"/>
                </a:solidFill>
                <a:latin typeface="Arial Bold"/>
                <a:ea typeface="Arial Bold"/>
                <a:cs typeface="Arial Bold"/>
                <a:sym typeface="Arial Bold"/>
              </a:rPr>
              <a:t>Ứng dụng Web_Air</a:t>
            </a:r>
          </a:p>
        </p:txBody>
      </p:sp>
      <p:sp>
        <p:nvSpPr>
          <p:cNvPr name="TextBox 15" id="15"/>
          <p:cNvSpPr txBox="true"/>
          <p:nvPr/>
        </p:nvSpPr>
        <p:spPr>
          <a:xfrm rot="0">
            <a:off x="857250" y="2324100"/>
            <a:ext cx="16573500" cy="619125"/>
          </a:xfrm>
          <a:prstGeom prst="rect">
            <a:avLst/>
          </a:prstGeom>
        </p:spPr>
        <p:txBody>
          <a:bodyPr anchor="t" rtlCol="false" tIns="0" lIns="0" bIns="0" rIns="0">
            <a:spAutoFit/>
          </a:bodyPr>
          <a:lstStyle/>
          <a:p>
            <a:pPr algn="l">
              <a:lnSpc>
                <a:spcPts val="3240"/>
              </a:lnSpc>
            </a:pPr>
            <a:r>
              <a:rPr lang="en-US" sz="2700" b="true">
                <a:solidFill>
                  <a:srgbClr val="174C7E"/>
                </a:solidFill>
                <a:latin typeface="Arial Bold"/>
                <a:ea typeface="Arial Bold"/>
                <a:cs typeface="Arial Bold"/>
                <a:sym typeface="Arial Bold"/>
              </a:rPr>
              <a:t>Ứng dụng phục vụ dự đoán và hiển thị kết quả thực nghiệm</a:t>
            </a:r>
          </a:p>
        </p:txBody>
      </p:sp>
      <p:sp>
        <p:nvSpPr>
          <p:cNvPr name="TextBox 16" id="16"/>
          <p:cNvSpPr txBox="true"/>
          <p:nvPr/>
        </p:nvSpPr>
        <p:spPr>
          <a:xfrm rot="0">
            <a:off x="16859250" y="9505950"/>
            <a:ext cx="714375" cy="366713"/>
          </a:xfrm>
          <a:prstGeom prst="rect">
            <a:avLst/>
          </a:prstGeom>
        </p:spPr>
        <p:txBody>
          <a:bodyPr anchor="t" rtlCol="false" tIns="0" lIns="0" bIns="0" rIns="0">
            <a:spAutoFit/>
          </a:bodyPr>
          <a:lstStyle/>
          <a:p>
            <a:pPr algn="l">
              <a:lnSpc>
                <a:spcPts val="2295"/>
              </a:lnSpc>
            </a:pPr>
            <a:r>
              <a:rPr lang="en-US" sz="1912">
                <a:solidFill>
                  <a:srgbClr val="2072B7"/>
                </a:solidFill>
                <a:latin typeface="Arial"/>
                <a:ea typeface="Arial"/>
                <a:cs typeface="Arial"/>
                <a:sym typeface="Arial"/>
              </a:rPr>
              <a:t>30</a:t>
            </a:r>
          </a:p>
        </p:txBody>
      </p:sp>
      <p:sp>
        <p:nvSpPr>
          <p:cNvPr name="TextBox 17" id="17"/>
          <p:cNvSpPr txBox="true"/>
          <p:nvPr/>
        </p:nvSpPr>
        <p:spPr>
          <a:xfrm rot="0">
            <a:off x="857250" y="3481388"/>
            <a:ext cx="6072188" cy="1376362"/>
          </a:xfrm>
          <a:prstGeom prst="rect">
            <a:avLst/>
          </a:prstGeom>
        </p:spPr>
        <p:txBody>
          <a:bodyPr anchor="t" rtlCol="false" tIns="0" lIns="0" bIns="0" rIns="0">
            <a:spAutoFit/>
          </a:bodyPr>
          <a:lstStyle/>
          <a:p>
            <a:pPr algn="l">
              <a:lnSpc>
                <a:spcPts val="3644"/>
              </a:lnSpc>
            </a:pPr>
            <a:r>
              <a:rPr lang="en-US" sz="3037">
                <a:solidFill>
                  <a:srgbClr val="202D39"/>
                </a:solidFill>
                <a:latin typeface="Arial"/>
                <a:ea typeface="Arial"/>
                <a:cs typeface="Arial"/>
                <a:sym typeface="Arial"/>
              </a:rPr>
              <a:t>Người dùng nhập thông tin chuyến bay và nhận nhãn dự đoán.</a:t>
            </a:r>
          </a:p>
        </p:txBody>
      </p:sp>
      <p:sp>
        <p:nvSpPr>
          <p:cNvPr name="TextBox 18" id="18"/>
          <p:cNvSpPr txBox="true"/>
          <p:nvPr/>
        </p:nvSpPr>
        <p:spPr>
          <a:xfrm rot="0">
            <a:off x="857250" y="5124450"/>
            <a:ext cx="6072188" cy="1376362"/>
          </a:xfrm>
          <a:prstGeom prst="rect">
            <a:avLst/>
          </a:prstGeom>
        </p:spPr>
        <p:txBody>
          <a:bodyPr anchor="t" rtlCol="false" tIns="0" lIns="0" bIns="0" rIns="0">
            <a:spAutoFit/>
          </a:bodyPr>
          <a:lstStyle/>
          <a:p>
            <a:pPr algn="l">
              <a:lnSpc>
                <a:spcPts val="3644"/>
              </a:lnSpc>
            </a:pPr>
            <a:r>
              <a:rPr lang="en-US" sz="3037">
                <a:solidFill>
                  <a:srgbClr val="202D39"/>
                </a:solidFill>
                <a:latin typeface="Arial"/>
                <a:ea typeface="Arial"/>
                <a:cs typeface="Arial"/>
                <a:sym typeface="Arial"/>
              </a:rPr>
              <a:t>Web_Air giúp trình bày kết quả của đồ án.</a:t>
            </a:r>
          </a:p>
        </p:txBody>
      </p:sp>
      <p:sp>
        <p:nvSpPr>
          <p:cNvPr name="TextBox 19" id="19"/>
          <p:cNvSpPr txBox="true"/>
          <p:nvPr/>
        </p:nvSpPr>
        <p:spPr>
          <a:xfrm rot="0">
            <a:off x="857250" y="6767512"/>
            <a:ext cx="6072188" cy="1376362"/>
          </a:xfrm>
          <a:prstGeom prst="rect">
            <a:avLst/>
          </a:prstGeom>
        </p:spPr>
        <p:txBody>
          <a:bodyPr anchor="t" rtlCol="false" tIns="0" lIns="0" bIns="0" rIns="0">
            <a:spAutoFit/>
          </a:bodyPr>
          <a:lstStyle/>
          <a:p>
            <a:pPr algn="l">
              <a:lnSpc>
                <a:spcPts val="3644"/>
              </a:lnSpc>
            </a:pPr>
            <a:r>
              <a:rPr lang="en-US" sz="3037">
                <a:solidFill>
                  <a:srgbClr val="202D39"/>
                </a:solidFill>
                <a:latin typeface="Arial"/>
                <a:ea typeface="Arial"/>
                <a:cs typeface="Arial"/>
                <a:sym typeface="Arial"/>
              </a:rPr>
              <a:t>Chưa đo tải Web và thời gian phản hồi HTTP.</a:t>
            </a:r>
          </a:p>
        </p:txBody>
      </p:sp>
      <p:grpSp>
        <p:nvGrpSpPr>
          <p:cNvPr name="Group 20" id="20"/>
          <p:cNvGrpSpPr/>
          <p:nvPr/>
        </p:nvGrpSpPr>
        <p:grpSpPr>
          <a:xfrm rot="0">
            <a:off x="7779544" y="3364706"/>
            <a:ext cx="9515475" cy="957262"/>
            <a:chOff x="0" y="0"/>
            <a:chExt cx="12687300" cy="1276350"/>
          </a:xfrm>
        </p:grpSpPr>
        <p:sp>
          <p:nvSpPr>
            <p:cNvPr name="Freeform 21" id="21"/>
            <p:cNvSpPr/>
            <p:nvPr/>
          </p:nvSpPr>
          <p:spPr>
            <a:xfrm flipH="false" flipV="false" rot="0">
              <a:off x="0" y="0"/>
              <a:ext cx="12687300" cy="1276350"/>
            </a:xfrm>
            <a:custGeom>
              <a:avLst/>
              <a:gdLst/>
              <a:ahLst/>
              <a:cxnLst/>
              <a:rect r="r" b="b" t="t" l="l"/>
              <a:pathLst>
                <a:path h="1276350" w="12687300">
                  <a:moveTo>
                    <a:pt x="0" y="0"/>
                  </a:moveTo>
                  <a:lnTo>
                    <a:pt x="12687300" y="0"/>
                  </a:lnTo>
                  <a:lnTo>
                    <a:pt x="12687300" y="1276350"/>
                  </a:lnTo>
                  <a:lnTo>
                    <a:pt x="0" y="1276350"/>
                  </a:lnTo>
                  <a:close/>
                </a:path>
              </a:pathLst>
            </a:custGeom>
            <a:solidFill>
              <a:srgbClr val="2072B7"/>
            </a:solidFill>
            <a:ln w="14288" cap="sq">
              <a:solidFill>
                <a:srgbClr val="2072B7"/>
              </a:solidFill>
              <a:prstDash val="solid"/>
              <a:miter/>
            </a:ln>
          </p:spPr>
        </p:sp>
        <p:sp>
          <p:nvSpPr>
            <p:cNvPr name="TextBox 22" id="22"/>
            <p:cNvSpPr txBox="true"/>
            <p:nvPr/>
          </p:nvSpPr>
          <p:spPr>
            <a:xfrm>
              <a:off x="0" y="-19050"/>
              <a:ext cx="12687300" cy="1295400"/>
            </a:xfrm>
            <a:prstGeom prst="rect">
              <a:avLst/>
            </a:prstGeom>
          </p:spPr>
          <p:txBody>
            <a:bodyPr anchor="ctr" rtlCol="false" tIns="50800" lIns="50800" bIns="50800" rIns="50800"/>
            <a:lstStyle/>
            <a:p>
              <a:pPr algn="ctr">
                <a:lnSpc>
                  <a:spcPts val="3240"/>
                </a:lnSpc>
              </a:pPr>
              <a:r>
                <a:rPr lang="en-US" sz="2700">
                  <a:solidFill>
                    <a:srgbClr val="FFFFFF"/>
                  </a:solidFill>
                  <a:latin typeface="Arial"/>
                  <a:ea typeface="Arial"/>
                  <a:cs typeface="Arial"/>
                  <a:sym typeface="Arial"/>
                </a:rPr>
                <a:t>Nhập thông tin chuyến bay</a:t>
              </a:r>
            </a:p>
          </p:txBody>
        </p:sp>
      </p:grpSp>
      <p:grpSp>
        <p:nvGrpSpPr>
          <p:cNvPr name="Group 23" id="23"/>
          <p:cNvGrpSpPr/>
          <p:nvPr/>
        </p:nvGrpSpPr>
        <p:grpSpPr>
          <a:xfrm rot="0">
            <a:off x="7779544" y="4722019"/>
            <a:ext cx="9515475" cy="957262"/>
            <a:chOff x="0" y="0"/>
            <a:chExt cx="12687300" cy="1276350"/>
          </a:xfrm>
        </p:grpSpPr>
        <p:sp>
          <p:nvSpPr>
            <p:cNvPr name="Freeform 24" id="24"/>
            <p:cNvSpPr/>
            <p:nvPr/>
          </p:nvSpPr>
          <p:spPr>
            <a:xfrm flipH="false" flipV="false" rot="0">
              <a:off x="0" y="0"/>
              <a:ext cx="12687300" cy="1276350"/>
            </a:xfrm>
            <a:custGeom>
              <a:avLst/>
              <a:gdLst/>
              <a:ahLst/>
              <a:cxnLst/>
              <a:rect r="r" b="b" t="t" l="l"/>
              <a:pathLst>
                <a:path h="1276350" w="12687300">
                  <a:moveTo>
                    <a:pt x="0" y="0"/>
                  </a:moveTo>
                  <a:lnTo>
                    <a:pt x="12687300" y="0"/>
                  </a:lnTo>
                  <a:lnTo>
                    <a:pt x="12687300" y="1276350"/>
                  </a:lnTo>
                  <a:lnTo>
                    <a:pt x="0" y="1276350"/>
                  </a:lnTo>
                  <a:close/>
                </a:path>
              </a:pathLst>
            </a:custGeom>
            <a:solidFill>
              <a:srgbClr val="2072B7"/>
            </a:solidFill>
            <a:ln w="14288" cap="sq">
              <a:solidFill>
                <a:srgbClr val="2072B7"/>
              </a:solidFill>
              <a:prstDash val="solid"/>
              <a:miter/>
            </a:ln>
          </p:spPr>
        </p:sp>
        <p:sp>
          <p:nvSpPr>
            <p:cNvPr name="TextBox 25" id="25"/>
            <p:cNvSpPr txBox="true"/>
            <p:nvPr/>
          </p:nvSpPr>
          <p:spPr>
            <a:xfrm>
              <a:off x="0" y="-19050"/>
              <a:ext cx="12687300" cy="1295400"/>
            </a:xfrm>
            <a:prstGeom prst="rect">
              <a:avLst/>
            </a:prstGeom>
          </p:spPr>
          <p:txBody>
            <a:bodyPr anchor="ctr" rtlCol="false" tIns="50800" lIns="50800" bIns="50800" rIns="50800"/>
            <a:lstStyle/>
            <a:p>
              <a:pPr algn="ctr">
                <a:lnSpc>
                  <a:spcPts val="3240"/>
                </a:lnSpc>
              </a:pPr>
              <a:r>
                <a:rPr lang="en-US" sz="2700">
                  <a:solidFill>
                    <a:srgbClr val="FFFFFF"/>
                  </a:solidFill>
                  <a:latin typeface="Arial"/>
                  <a:ea typeface="Arial"/>
                  <a:cs typeface="Arial"/>
                  <a:sym typeface="Arial"/>
                </a:rPr>
                <a:t>Gửi yêu cầu dự đoán</a:t>
              </a:r>
            </a:p>
          </p:txBody>
        </p:sp>
      </p:grpSp>
      <p:grpSp>
        <p:nvGrpSpPr>
          <p:cNvPr name="Group 26" id="26"/>
          <p:cNvGrpSpPr/>
          <p:nvPr/>
        </p:nvGrpSpPr>
        <p:grpSpPr>
          <a:xfrm rot="0">
            <a:off x="7779544" y="6079331"/>
            <a:ext cx="9515475" cy="957262"/>
            <a:chOff x="0" y="0"/>
            <a:chExt cx="12687300" cy="1276350"/>
          </a:xfrm>
        </p:grpSpPr>
        <p:sp>
          <p:nvSpPr>
            <p:cNvPr name="Freeform 27" id="27"/>
            <p:cNvSpPr/>
            <p:nvPr/>
          </p:nvSpPr>
          <p:spPr>
            <a:xfrm flipH="false" flipV="false" rot="0">
              <a:off x="0" y="0"/>
              <a:ext cx="12687300" cy="1276350"/>
            </a:xfrm>
            <a:custGeom>
              <a:avLst/>
              <a:gdLst/>
              <a:ahLst/>
              <a:cxnLst/>
              <a:rect r="r" b="b" t="t" l="l"/>
              <a:pathLst>
                <a:path h="1276350" w="12687300">
                  <a:moveTo>
                    <a:pt x="0" y="0"/>
                  </a:moveTo>
                  <a:lnTo>
                    <a:pt x="12687300" y="0"/>
                  </a:lnTo>
                  <a:lnTo>
                    <a:pt x="12687300" y="1276350"/>
                  </a:lnTo>
                  <a:lnTo>
                    <a:pt x="0" y="1276350"/>
                  </a:lnTo>
                  <a:close/>
                </a:path>
              </a:pathLst>
            </a:custGeom>
            <a:solidFill>
              <a:srgbClr val="2072B7"/>
            </a:solidFill>
            <a:ln w="14288" cap="sq">
              <a:solidFill>
                <a:srgbClr val="2072B7"/>
              </a:solidFill>
              <a:prstDash val="solid"/>
              <a:miter/>
            </a:ln>
          </p:spPr>
        </p:sp>
        <p:sp>
          <p:nvSpPr>
            <p:cNvPr name="TextBox 28" id="28"/>
            <p:cNvSpPr txBox="true"/>
            <p:nvPr/>
          </p:nvSpPr>
          <p:spPr>
            <a:xfrm>
              <a:off x="0" y="-19050"/>
              <a:ext cx="12687300" cy="1295400"/>
            </a:xfrm>
            <a:prstGeom prst="rect">
              <a:avLst/>
            </a:prstGeom>
          </p:spPr>
          <p:txBody>
            <a:bodyPr anchor="ctr" rtlCol="false" tIns="50800" lIns="50800" bIns="50800" rIns="50800"/>
            <a:lstStyle/>
            <a:p>
              <a:pPr algn="ctr">
                <a:lnSpc>
                  <a:spcPts val="3240"/>
                </a:lnSpc>
              </a:pPr>
              <a:r>
                <a:rPr lang="en-US" sz="2700">
                  <a:solidFill>
                    <a:srgbClr val="FFFFFF"/>
                  </a:solidFill>
                  <a:latin typeface="Arial"/>
                  <a:ea typeface="Arial"/>
                  <a:cs typeface="Arial"/>
                  <a:sym typeface="Arial"/>
                </a:rPr>
                <a:t>Mô hình trả nhãn</a:t>
              </a:r>
            </a:p>
          </p:txBody>
        </p:sp>
      </p:grpSp>
      <p:grpSp>
        <p:nvGrpSpPr>
          <p:cNvPr name="Group 29" id="29"/>
          <p:cNvGrpSpPr/>
          <p:nvPr/>
        </p:nvGrpSpPr>
        <p:grpSpPr>
          <a:xfrm rot="0">
            <a:off x="7779544" y="7436644"/>
            <a:ext cx="9515475" cy="957262"/>
            <a:chOff x="0" y="0"/>
            <a:chExt cx="12687300" cy="1276350"/>
          </a:xfrm>
        </p:grpSpPr>
        <p:sp>
          <p:nvSpPr>
            <p:cNvPr name="Freeform 30" id="30"/>
            <p:cNvSpPr/>
            <p:nvPr/>
          </p:nvSpPr>
          <p:spPr>
            <a:xfrm flipH="false" flipV="false" rot="0">
              <a:off x="0" y="0"/>
              <a:ext cx="12687300" cy="1276350"/>
            </a:xfrm>
            <a:custGeom>
              <a:avLst/>
              <a:gdLst/>
              <a:ahLst/>
              <a:cxnLst/>
              <a:rect r="r" b="b" t="t" l="l"/>
              <a:pathLst>
                <a:path h="1276350" w="12687300">
                  <a:moveTo>
                    <a:pt x="0" y="0"/>
                  </a:moveTo>
                  <a:lnTo>
                    <a:pt x="12687300" y="0"/>
                  </a:lnTo>
                  <a:lnTo>
                    <a:pt x="12687300" y="1276350"/>
                  </a:lnTo>
                  <a:lnTo>
                    <a:pt x="0" y="1276350"/>
                  </a:lnTo>
                  <a:close/>
                </a:path>
              </a:pathLst>
            </a:custGeom>
            <a:solidFill>
              <a:srgbClr val="2072B7"/>
            </a:solidFill>
            <a:ln w="14288" cap="sq">
              <a:solidFill>
                <a:srgbClr val="2072B7"/>
              </a:solidFill>
              <a:prstDash val="solid"/>
              <a:miter/>
            </a:ln>
          </p:spPr>
        </p:sp>
        <p:sp>
          <p:nvSpPr>
            <p:cNvPr name="TextBox 31" id="31"/>
            <p:cNvSpPr txBox="true"/>
            <p:nvPr/>
          </p:nvSpPr>
          <p:spPr>
            <a:xfrm>
              <a:off x="0" y="-19050"/>
              <a:ext cx="12687300" cy="1295400"/>
            </a:xfrm>
            <a:prstGeom prst="rect">
              <a:avLst/>
            </a:prstGeom>
          </p:spPr>
          <p:txBody>
            <a:bodyPr anchor="ctr" rtlCol="false" tIns="50800" lIns="50800" bIns="50800" rIns="50800"/>
            <a:lstStyle/>
            <a:p>
              <a:pPr algn="ctr">
                <a:lnSpc>
                  <a:spcPts val="3240"/>
                </a:lnSpc>
              </a:pPr>
              <a:r>
                <a:rPr lang="en-US" sz="2700">
                  <a:solidFill>
                    <a:srgbClr val="FFFFFF"/>
                  </a:solidFill>
                  <a:latin typeface="Arial"/>
                  <a:ea typeface="Arial"/>
                  <a:cs typeface="Arial"/>
                  <a:sym typeface="Arial"/>
                </a:rPr>
                <a:t>Hiển thị kết quả</a:t>
              </a:r>
            </a:p>
          </p:txBody>
        </p:sp>
      </p:grpSp>
      <p:sp>
        <p:nvSpPr>
          <p:cNvPr name="TextBox 32" id="3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32</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668"/>
            <a:ext cx="18288000" cy="1070038"/>
            <a:chOff x="0" y="0"/>
            <a:chExt cx="24384000" cy="1426718"/>
          </a:xfrm>
        </p:grpSpPr>
        <p:sp>
          <p:nvSpPr>
            <p:cNvPr name="Freeform 3" id="3"/>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2072B7"/>
            </a:solidFill>
          </p:spPr>
        </p:sp>
      </p:grpSp>
      <p:grpSp>
        <p:nvGrpSpPr>
          <p:cNvPr name="Group 4" id="4"/>
          <p:cNvGrpSpPr/>
          <p:nvPr/>
        </p:nvGrpSpPr>
        <p:grpSpPr>
          <a:xfrm rot="0">
            <a:off x="477926" y="3334"/>
            <a:ext cx="4935598" cy="1027605"/>
            <a:chOff x="0" y="0"/>
            <a:chExt cx="6580797" cy="1370140"/>
          </a:xfrm>
        </p:grpSpPr>
        <p:sp>
          <p:nvSpPr>
            <p:cNvPr name="Freeform 5" id="5"/>
            <p:cNvSpPr/>
            <p:nvPr/>
          </p:nvSpPr>
          <p:spPr>
            <a:xfrm flipH="false" flipV="false" rot="0">
              <a:off x="0" y="0"/>
              <a:ext cx="6580759" cy="1370203"/>
            </a:xfrm>
            <a:custGeom>
              <a:avLst/>
              <a:gdLst/>
              <a:ahLst/>
              <a:cxnLst/>
              <a:rect r="r" b="b" t="t" l="l"/>
              <a:pathLst>
                <a:path h="1370203" w="6580759">
                  <a:moveTo>
                    <a:pt x="0" y="0"/>
                  </a:moveTo>
                  <a:lnTo>
                    <a:pt x="6580759" y="0"/>
                  </a:lnTo>
                  <a:lnTo>
                    <a:pt x="6580759" y="1370203"/>
                  </a:lnTo>
                  <a:lnTo>
                    <a:pt x="0" y="1370203"/>
                  </a:lnTo>
                  <a:lnTo>
                    <a:pt x="0" y="0"/>
                  </a:lnTo>
                  <a:close/>
                </a:path>
              </a:pathLst>
            </a:custGeom>
            <a:blipFill>
              <a:blip r:embed="rId3"/>
              <a:stretch>
                <a:fillRect l="-191" t="0" r="-192" b="4"/>
              </a:stretch>
            </a:blipFill>
          </p:spPr>
        </p:sp>
      </p:grpSp>
      <p:grpSp>
        <p:nvGrpSpPr>
          <p:cNvPr name="Group 6" id="6"/>
          <p:cNvGrpSpPr/>
          <p:nvPr/>
        </p:nvGrpSpPr>
        <p:grpSpPr>
          <a:xfrm rot="0">
            <a:off x="2663190" y="10082212"/>
            <a:ext cx="15624810" cy="204845"/>
            <a:chOff x="0" y="0"/>
            <a:chExt cx="20833080" cy="273126"/>
          </a:xfrm>
        </p:grpSpPr>
        <p:sp>
          <p:nvSpPr>
            <p:cNvPr name="Freeform 7" id="7"/>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2072B7"/>
            </a:solidFill>
          </p:spPr>
        </p:sp>
      </p:grpSp>
      <p:grpSp>
        <p:nvGrpSpPr>
          <p:cNvPr name="Group 8" id="8"/>
          <p:cNvGrpSpPr/>
          <p:nvPr/>
        </p:nvGrpSpPr>
        <p:grpSpPr>
          <a:xfrm rot="0">
            <a:off x="2743238" y="10108759"/>
            <a:ext cx="15544724" cy="152705"/>
            <a:chOff x="0" y="0"/>
            <a:chExt cx="20726298" cy="203606"/>
          </a:xfrm>
        </p:grpSpPr>
        <p:sp>
          <p:nvSpPr>
            <p:cNvPr name="Freeform 9" id="9"/>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4"/>
              <a:stretch>
                <a:fillRect l="0" t="0" r="0" b="-35745"/>
              </a:stretch>
            </a:blipFill>
          </p:spPr>
        </p:sp>
      </p:grpSp>
      <p:sp>
        <p:nvSpPr>
          <p:cNvPr name="TextBox 10" id="10"/>
          <p:cNvSpPr txBox="true"/>
          <p:nvPr/>
        </p:nvSpPr>
        <p:spPr>
          <a:xfrm rot="0">
            <a:off x="302009" y="10002231"/>
            <a:ext cx="2254501" cy="327536"/>
          </a:xfrm>
          <a:prstGeom prst="rect">
            <a:avLst/>
          </a:prstGeom>
        </p:spPr>
        <p:txBody>
          <a:bodyPr anchor="t" rtlCol="false" tIns="0" lIns="0" bIns="0" rIns="0">
            <a:spAutoFit/>
          </a:bodyPr>
          <a:lstStyle/>
          <a:p>
            <a:pPr algn="l">
              <a:lnSpc>
                <a:spcPts val="1800"/>
              </a:lnSpc>
            </a:pPr>
            <a:r>
              <a:rPr lang="en-US" sz="1500">
                <a:solidFill>
                  <a:srgbClr val="0070C0"/>
                </a:solidFill>
                <a:latin typeface="Calibri (MS)"/>
                <a:ea typeface="Calibri (MS)"/>
                <a:cs typeface="Calibri (MS)"/>
                <a:sym typeface="Calibri (MS)"/>
              </a:rPr>
              <a:t>https://huit.edu.vn</a:t>
            </a:r>
          </a:p>
        </p:txBody>
      </p:sp>
      <p:sp>
        <p:nvSpPr>
          <p:cNvPr name="AutoShape 11" id="11"/>
          <p:cNvSpPr/>
          <p:nvPr/>
        </p:nvSpPr>
        <p:spPr>
          <a:xfrm rot="5178540">
            <a:off x="5493087" y="5869781"/>
            <a:ext cx="443836" cy="19050"/>
          </a:xfrm>
          <a:prstGeom prst="line">
            <a:avLst/>
          </a:prstGeom>
          <a:ln cap="rnd" w="19050">
            <a:solidFill>
              <a:srgbClr val="2072B7"/>
            </a:solidFill>
            <a:prstDash val="solid"/>
            <a:headEnd type="none" len="sm" w="sm"/>
            <a:tailEnd type="triangle" len="med" w="lg"/>
          </a:ln>
        </p:spPr>
      </p:sp>
      <p:sp>
        <p:nvSpPr>
          <p:cNvPr name="AutoShape 12" id="12"/>
          <p:cNvSpPr/>
          <p:nvPr/>
        </p:nvSpPr>
        <p:spPr>
          <a:xfrm rot="5178540">
            <a:off x="5493087" y="4512469"/>
            <a:ext cx="443836" cy="19050"/>
          </a:xfrm>
          <a:prstGeom prst="line">
            <a:avLst/>
          </a:prstGeom>
          <a:ln cap="rnd" w="19050">
            <a:solidFill>
              <a:srgbClr val="2072B7"/>
            </a:solidFill>
            <a:prstDash val="solid"/>
            <a:headEnd type="none" len="sm" w="sm"/>
            <a:tailEnd type="triangle" len="med" w="lg"/>
          </a:ln>
        </p:spPr>
      </p:sp>
      <p:sp>
        <p:nvSpPr>
          <p:cNvPr name="TextBox 13" id="13"/>
          <p:cNvSpPr txBox="true"/>
          <p:nvPr/>
        </p:nvSpPr>
        <p:spPr>
          <a:xfrm rot="0">
            <a:off x="857250" y="1466850"/>
            <a:ext cx="16430625" cy="819150"/>
          </a:xfrm>
          <a:prstGeom prst="rect">
            <a:avLst/>
          </a:prstGeom>
        </p:spPr>
        <p:txBody>
          <a:bodyPr anchor="t" rtlCol="false" tIns="0" lIns="0" bIns="0" rIns="0">
            <a:spAutoFit/>
          </a:bodyPr>
          <a:lstStyle/>
          <a:p>
            <a:pPr algn="l">
              <a:lnSpc>
                <a:spcPts val="4995"/>
              </a:lnSpc>
            </a:pPr>
            <a:r>
              <a:rPr lang="en-US" sz="4162" b="true">
                <a:solidFill>
                  <a:srgbClr val="2072B7"/>
                </a:solidFill>
                <a:latin typeface="Arial Bold"/>
                <a:ea typeface="Arial Bold"/>
                <a:cs typeface="Arial Bold"/>
                <a:sym typeface="Arial Bold"/>
              </a:rPr>
              <a:t>Kết luận và hướng phát triển</a:t>
            </a:r>
          </a:p>
        </p:txBody>
      </p:sp>
      <p:sp>
        <p:nvSpPr>
          <p:cNvPr name="TextBox 14" id="14"/>
          <p:cNvSpPr txBox="true"/>
          <p:nvPr/>
        </p:nvSpPr>
        <p:spPr>
          <a:xfrm rot="0">
            <a:off x="857250" y="2324100"/>
            <a:ext cx="16573500" cy="619125"/>
          </a:xfrm>
          <a:prstGeom prst="rect">
            <a:avLst/>
          </a:prstGeom>
        </p:spPr>
        <p:txBody>
          <a:bodyPr anchor="t" rtlCol="false" tIns="0" lIns="0" bIns="0" rIns="0">
            <a:spAutoFit/>
          </a:bodyPr>
          <a:lstStyle/>
          <a:p>
            <a:pPr algn="l">
              <a:lnSpc>
                <a:spcPts val="3240"/>
              </a:lnSpc>
            </a:pPr>
            <a:r>
              <a:rPr lang="en-US" sz="2700" b="true">
                <a:solidFill>
                  <a:srgbClr val="174C7E"/>
                </a:solidFill>
                <a:latin typeface="Arial Bold"/>
                <a:ea typeface="Arial Bold"/>
                <a:cs typeface="Arial Bold"/>
                <a:sym typeface="Arial Bold"/>
              </a:rPr>
              <a:t>Đã xây dựng quy trình xử lý lớn, còn cần cải thiện nhận diện nguyên nhân trễ</a:t>
            </a:r>
          </a:p>
        </p:txBody>
      </p:sp>
      <p:sp>
        <p:nvSpPr>
          <p:cNvPr name="TextBox 15" id="15"/>
          <p:cNvSpPr txBox="true"/>
          <p:nvPr/>
        </p:nvSpPr>
        <p:spPr>
          <a:xfrm rot="0">
            <a:off x="16859250" y="9505950"/>
            <a:ext cx="714375" cy="366713"/>
          </a:xfrm>
          <a:prstGeom prst="rect">
            <a:avLst/>
          </a:prstGeom>
        </p:spPr>
        <p:txBody>
          <a:bodyPr anchor="t" rtlCol="false" tIns="0" lIns="0" bIns="0" rIns="0">
            <a:spAutoFit/>
          </a:bodyPr>
          <a:lstStyle/>
          <a:p>
            <a:pPr algn="l">
              <a:lnSpc>
                <a:spcPts val="2295"/>
              </a:lnSpc>
            </a:pPr>
            <a:r>
              <a:rPr lang="en-US" sz="1912">
                <a:solidFill>
                  <a:srgbClr val="2072B7"/>
                </a:solidFill>
                <a:latin typeface="Arial"/>
                <a:ea typeface="Arial"/>
                <a:cs typeface="Arial"/>
                <a:sym typeface="Arial"/>
              </a:rPr>
              <a:t>31</a:t>
            </a:r>
          </a:p>
        </p:txBody>
      </p:sp>
      <p:grpSp>
        <p:nvGrpSpPr>
          <p:cNvPr name="Group 16" id="16"/>
          <p:cNvGrpSpPr/>
          <p:nvPr/>
        </p:nvGrpSpPr>
        <p:grpSpPr>
          <a:xfrm rot="0">
            <a:off x="921544" y="3364706"/>
            <a:ext cx="9586912" cy="957262"/>
            <a:chOff x="0" y="0"/>
            <a:chExt cx="12782550" cy="1276350"/>
          </a:xfrm>
        </p:grpSpPr>
        <p:sp>
          <p:nvSpPr>
            <p:cNvPr name="Freeform 17" id="17"/>
            <p:cNvSpPr/>
            <p:nvPr/>
          </p:nvSpPr>
          <p:spPr>
            <a:xfrm flipH="false" flipV="false" rot="0">
              <a:off x="0" y="0"/>
              <a:ext cx="12782550" cy="1276350"/>
            </a:xfrm>
            <a:custGeom>
              <a:avLst/>
              <a:gdLst/>
              <a:ahLst/>
              <a:cxnLst/>
              <a:rect r="r" b="b" t="t" l="l"/>
              <a:pathLst>
                <a:path h="1276350" w="12782550">
                  <a:moveTo>
                    <a:pt x="0" y="0"/>
                  </a:moveTo>
                  <a:lnTo>
                    <a:pt x="12782550" y="0"/>
                  </a:lnTo>
                  <a:lnTo>
                    <a:pt x="12782550" y="1276350"/>
                  </a:lnTo>
                  <a:lnTo>
                    <a:pt x="0" y="1276350"/>
                  </a:lnTo>
                  <a:close/>
                </a:path>
              </a:pathLst>
            </a:custGeom>
            <a:solidFill>
              <a:srgbClr val="2072B7"/>
            </a:solidFill>
            <a:ln w="14288" cap="sq">
              <a:solidFill>
                <a:srgbClr val="2072B7"/>
              </a:solidFill>
              <a:prstDash val="solid"/>
              <a:miter/>
            </a:ln>
          </p:spPr>
        </p:sp>
        <p:sp>
          <p:nvSpPr>
            <p:cNvPr name="TextBox 18" id="18"/>
            <p:cNvSpPr txBox="true"/>
            <p:nvPr/>
          </p:nvSpPr>
          <p:spPr>
            <a:xfrm>
              <a:off x="0" y="-19050"/>
              <a:ext cx="12782550" cy="1295400"/>
            </a:xfrm>
            <a:prstGeom prst="rect">
              <a:avLst/>
            </a:prstGeom>
          </p:spPr>
          <p:txBody>
            <a:bodyPr anchor="ctr" rtlCol="false" tIns="50800" lIns="50800" bIns="50800" rIns="50800"/>
            <a:lstStyle/>
            <a:p>
              <a:pPr algn="ctr">
                <a:lnSpc>
                  <a:spcPts val="3240"/>
                </a:lnSpc>
              </a:pPr>
              <a:r>
                <a:rPr lang="en-US" sz="2700">
                  <a:solidFill>
                    <a:srgbClr val="FFFFFF"/>
                  </a:solidFill>
                  <a:latin typeface="Arial"/>
                  <a:ea typeface="Arial"/>
                  <a:cs typeface="Arial"/>
                  <a:sym typeface="Arial"/>
                </a:rPr>
                <a:t>Xử lý hơn 7 triệu chuyến bay</a:t>
              </a:r>
            </a:p>
          </p:txBody>
        </p:sp>
      </p:grpSp>
      <p:grpSp>
        <p:nvGrpSpPr>
          <p:cNvPr name="Group 19" id="19"/>
          <p:cNvGrpSpPr/>
          <p:nvPr/>
        </p:nvGrpSpPr>
        <p:grpSpPr>
          <a:xfrm rot="0">
            <a:off x="921544" y="4722019"/>
            <a:ext cx="9586912" cy="957262"/>
            <a:chOff x="0" y="0"/>
            <a:chExt cx="12782550" cy="1276350"/>
          </a:xfrm>
        </p:grpSpPr>
        <p:sp>
          <p:nvSpPr>
            <p:cNvPr name="Freeform 20" id="20"/>
            <p:cNvSpPr/>
            <p:nvPr/>
          </p:nvSpPr>
          <p:spPr>
            <a:xfrm flipH="false" flipV="false" rot="0">
              <a:off x="0" y="0"/>
              <a:ext cx="12782550" cy="1276350"/>
            </a:xfrm>
            <a:custGeom>
              <a:avLst/>
              <a:gdLst/>
              <a:ahLst/>
              <a:cxnLst/>
              <a:rect r="r" b="b" t="t" l="l"/>
              <a:pathLst>
                <a:path h="1276350" w="12782550">
                  <a:moveTo>
                    <a:pt x="0" y="0"/>
                  </a:moveTo>
                  <a:lnTo>
                    <a:pt x="12782550" y="0"/>
                  </a:lnTo>
                  <a:lnTo>
                    <a:pt x="12782550" y="1276350"/>
                  </a:lnTo>
                  <a:lnTo>
                    <a:pt x="0" y="1276350"/>
                  </a:lnTo>
                  <a:close/>
                </a:path>
              </a:pathLst>
            </a:custGeom>
            <a:solidFill>
              <a:srgbClr val="2072B7"/>
            </a:solidFill>
            <a:ln w="14288" cap="sq">
              <a:solidFill>
                <a:srgbClr val="2072B7"/>
              </a:solidFill>
              <a:prstDash val="solid"/>
              <a:miter/>
            </a:ln>
          </p:spPr>
        </p:sp>
        <p:sp>
          <p:nvSpPr>
            <p:cNvPr name="TextBox 21" id="21"/>
            <p:cNvSpPr txBox="true"/>
            <p:nvPr/>
          </p:nvSpPr>
          <p:spPr>
            <a:xfrm>
              <a:off x="0" y="-19050"/>
              <a:ext cx="12782550" cy="1295400"/>
            </a:xfrm>
            <a:prstGeom prst="rect">
              <a:avLst/>
            </a:prstGeom>
          </p:spPr>
          <p:txBody>
            <a:bodyPr anchor="ctr" rtlCol="false" tIns="50800" lIns="50800" bIns="50800" rIns="50800"/>
            <a:lstStyle/>
            <a:p>
              <a:pPr algn="ctr">
                <a:lnSpc>
                  <a:spcPts val="3240"/>
                </a:lnSpc>
              </a:pPr>
              <a:r>
                <a:rPr lang="en-US" sz="2700">
                  <a:solidFill>
                    <a:srgbClr val="FFFFFF"/>
                  </a:solidFill>
                  <a:latin typeface="Arial"/>
                  <a:ea typeface="Arial"/>
                  <a:cs typeface="Arial"/>
                  <a:sym typeface="Arial"/>
                </a:rPr>
                <a:t>Thực nghiệm 6 CPU và 3 Spark</a:t>
              </a:r>
            </a:p>
          </p:txBody>
        </p:sp>
      </p:grpSp>
      <p:grpSp>
        <p:nvGrpSpPr>
          <p:cNvPr name="Group 22" id="22"/>
          <p:cNvGrpSpPr/>
          <p:nvPr/>
        </p:nvGrpSpPr>
        <p:grpSpPr>
          <a:xfrm rot="0">
            <a:off x="921544" y="6079331"/>
            <a:ext cx="9586912" cy="957262"/>
            <a:chOff x="0" y="0"/>
            <a:chExt cx="12782550" cy="1276350"/>
          </a:xfrm>
        </p:grpSpPr>
        <p:sp>
          <p:nvSpPr>
            <p:cNvPr name="Freeform 23" id="23"/>
            <p:cNvSpPr/>
            <p:nvPr/>
          </p:nvSpPr>
          <p:spPr>
            <a:xfrm flipH="false" flipV="false" rot="0">
              <a:off x="0" y="0"/>
              <a:ext cx="12782550" cy="1276350"/>
            </a:xfrm>
            <a:custGeom>
              <a:avLst/>
              <a:gdLst/>
              <a:ahLst/>
              <a:cxnLst/>
              <a:rect r="r" b="b" t="t" l="l"/>
              <a:pathLst>
                <a:path h="1276350" w="12782550">
                  <a:moveTo>
                    <a:pt x="0" y="0"/>
                  </a:moveTo>
                  <a:lnTo>
                    <a:pt x="12782550" y="0"/>
                  </a:lnTo>
                  <a:lnTo>
                    <a:pt x="12782550" y="1276350"/>
                  </a:lnTo>
                  <a:lnTo>
                    <a:pt x="0" y="1276350"/>
                  </a:lnTo>
                  <a:close/>
                </a:path>
              </a:pathLst>
            </a:custGeom>
            <a:solidFill>
              <a:srgbClr val="2072B7"/>
            </a:solidFill>
            <a:ln w="14288" cap="sq">
              <a:solidFill>
                <a:srgbClr val="2072B7"/>
              </a:solidFill>
              <a:prstDash val="solid"/>
              <a:miter/>
            </a:ln>
          </p:spPr>
        </p:sp>
        <p:sp>
          <p:nvSpPr>
            <p:cNvPr name="TextBox 24" id="24"/>
            <p:cNvSpPr txBox="true"/>
            <p:nvPr/>
          </p:nvSpPr>
          <p:spPr>
            <a:xfrm>
              <a:off x="0" y="-19050"/>
              <a:ext cx="12782550" cy="1295400"/>
            </a:xfrm>
            <a:prstGeom prst="rect">
              <a:avLst/>
            </a:prstGeom>
          </p:spPr>
          <p:txBody>
            <a:bodyPr anchor="ctr" rtlCol="false" tIns="50800" lIns="50800" bIns="50800" rIns="50800"/>
            <a:lstStyle/>
            <a:p>
              <a:pPr algn="ctr">
                <a:lnSpc>
                  <a:spcPts val="3240"/>
                </a:lnSpc>
              </a:pPr>
              <a:r>
                <a:rPr lang="en-US" sz="2700">
                  <a:solidFill>
                    <a:srgbClr val="FFFFFF"/>
                  </a:solidFill>
                  <a:latin typeface="Arial"/>
                  <a:ea typeface="Arial"/>
                  <a:cs typeface="Arial"/>
                  <a:sym typeface="Arial"/>
                </a:rPr>
                <a:t>Phục vụ dự đoán bằng Web_Air</a:t>
              </a:r>
            </a:p>
          </p:txBody>
        </p:sp>
      </p:grpSp>
      <p:sp>
        <p:nvSpPr>
          <p:cNvPr name="TextBox 25" id="25"/>
          <p:cNvSpPr txBox="true"/>
          <p:nvPr/>
        </p:nvSpPr>
        <p:spPr>
          <a:xfrm rot="0">
            <a:off x="11430000" y="3381375"/>
            <a:ext cx="6000750" cy="1376362"/>
          </a:xfrm>
          <a:prstGeom prst="rect">
            <a:avLst/>
          </a:prstGeom>
        </p:spPr>
        <p:txBody>
          <a:bodyPr anchor="t" rtlCol="false" tIns="0" lIns="0" bIns="0" rIns="0">
            <a:spAutoFit/>
          </a:bodyPr>
          <a:lstStyle/>
          <a:p>
            <a:pPr algn="l">
              <a:lnSpc>
                <a:spcPts val="3644"/>
              </a:lnSpc>
            </a:pPr>
            <a:r>
              <a:rPr lang="en-US" sz="3037">
                <a:solidFill>
                  <a:srgbClr val="202D39"/>
                </a:solidFill>
                <a:latin typeface="Arial"/>
                <a:ea typeface="Arial"/>
                <a:cs typeface="Arial"/>
                <a:sym typeface="Arial"/>
              </a:rPr>
              <a:t>Kết quả: CatBoost CPU Weighted F1 70,50%; RF Spark train 31,03 giây.</a:t>
            </a:r>
          </a:p>
        </p:txBody>
      </p:sp>
      <p:sp>
        <p:nvSpPr>
          <p:cNvPr name="TextBox 26" id="26"/>
          <p:cNvSpPr txBox="true"/>
          <p:nvPr/>
        </p:nvSpPr>
        <p:spPr>
          <a:xfrm rot="0">
            <a:off x="11430000" y="5153025"/>
            <a:ext cx="6000750" cy="1376362"/>
          </a:xfrm>
          <a:prstGeom prst="rect">
            <a:avLst/>
          </a:prstGeom>
        </p:spPr>
        <p:txBody>
          <a:bodyPr anchor="t" rtlCol="false" tIns="0" lIns="0" bIns="0" rIns="0">
            <a:spAutoFit/>
          </a:bodyPr>
          <a:lstStyle/>
          <a:p>
            <a:pPr algn="l">
              <a:lnSpc>
                <a:spcPts val="3644"/>
              </a:lnSpc>
            </a:pPr>
            <a:r>
              <a:rPr lang="en-US" sz="3037">
                <a:solidFill>
                  <a:srgbClr val="202D39"/>
                </a:solidFill>
                <a:latin typeface="Arial"/>
                <a:ea typeface="Arial"/>
                <a:cs typeface="Arial"/>
                <a:sym typeface="Arial"/>
              </a:rPr>
              <a:t>Hạn chế chính: lớp hiếm dự đoán kém và đối chứng chưa đầy đủ.</a:t>
            </a:r>
          </a:p>
        </p:txBody>
      </p:sp>
      <p:sp>
        <p:nvSpPr>
          <p:cNvPr name="TextBox 27" id="27"/>
          <p:cNvSpPr txBox="true"/>
          <p:nvPr/>
        </p:nvSpPr>
        <p:spPr>
          <a:xfrm rot="0">
            <a:off x="11430000" y="6924675"/>
            <a:ext cx="6000750" cy="1376362"/>
          </a:xfrm>
          <a:prstGeom prst="rect">
            <a:avLst/>
          </a:prstGeom>
        </p:spPr>
        <p:txBody>
          <a:bodyPr anchor="t" rtlCol="false" tIns="0" lIns="0" bIns="0" rIns="0">
            <a:spAutoFit/>
          </a:bodyPr>
          <a:lstStyle/>
          <a:p>
            <a:pPr algn="l">
              <a:lnSpc>
                <a:spcPts val="3644"/>
              </a:lnSpc>
            </a:pPr>
            <a:r>
              <a:rPr lang="en-US" sz="3037">
                <a:solidFill>
                  <a:srgbClr val="202D39"/>
                </a:solidFill>
                <a:latin typeface="Arial"/>
                <a:ea typeface="Arial"/>
                <a:cs typeface="Arial"/>
                <a:sym typeface="Arial"/>
              </a:rPr>
              <a:t>Tiếp theo: cân bằng lớp, test chung và lưu log, ma trận Spark.</a:t>
            </a:r>
          </a:p>
        </p:txBody>
      </p:sp>
      <p:sp>
        <p:nvSpPr>
          <p:cNvPr name="TextBox 28" id="2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33</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3043" r="0" b="-13043"/>
            </a:stretch>
          </a:blipFill>
        </p:spPr>
      </p:sp>
      <p:grpSp>
        <p:nvGrpSpPr>
          <p:cNvPr name="Group 3" id="3"/>
          <p:cNvGrpSpPr/>
          <p:nvPr/>
        </p:nvGrpSpPr>
        <p:grpSpPr>
          <a:xfrm rot="0">
            <a:off x="0" y="-12668"/>
            <a:ext cx="18288000" cy="1070038"/>
            <a:chOff x="0" y="0"/>
            <a:chExt cx="24384000" cy="1426718"/>
          </a:xfrm>
        </p:grpSpPr>
        <p:sp>
          <p:nvSpPr>
            <p:cNvPr name="Freeform 4" id="4"/>
            <p:cNvSpPr/>
            <p:nvPr/>
          </p:nvSpPr>
          <p:spPr>
            <a:xfrm flipH="false" flipV="false" rot="0">
              <a:off x="0" y="0"/>
              <a:ext cx="24384000" cy="1426718"/>
            </a:xfrm>
            <a:custGeom>
              <a:avLst/>
              <a:gdLst/>
              <a:ahLst/>
              <a:cxnLst/>
              <a:rect r="r" b="b" t="t" l="l"/>
              <a:pathLst>
                <a:path h="1426718" w="24384000">
                  <a:moveTo>
                    <a:pt x="0" y="0"/>
                  </a:moveTo>
                  <a:lnTo>
                    <a:pt x="24384000" y="0"/>
                  </a:lnTo>
                  <a:lnTo>
                    <a:pt x="24384000" y="1426718"/>
                  </a:lnTo>
                  <a:lnTo>
                    <a:pt x="0" y="1426718"/>
                  </a:lnTo>
                  <a:close/>
                </a:path>
              </a:pathLst>
            </a:custGeom>
            <a:solidFill>
              <a:srgbClr val="FFFFFF"/>
            </a:solidFill>
          </p:spPr>
        </p:sp>
      </p:grpSp>
      <p:grpSp>
        <p:nvGrpSpPr>
          <p:cNvPr name="Group 5" id="5"/>
          <p:cNvGrpSpPr/>
          <p:nvPr/>
        </p:nvGrpSpPr>
        <p:grpSpPr>
          <a:xfrm rot="0">
            <a:off x="477926" y="3334"/>
            <a:ext cx="4935598" cy="1027605"/>
            <a:chOff x="0" y="0"/>
            <a:chExt cx="6580797" cy="1370140"/>
          </a:xfrm>
        </p:grpSpPr>
        <p:sp>
          <p:nvSpPr>
            <p:cNvPr name="Freeform 6" id="6"/>
            <p:cNvSpPr/>
            <p:nvPr/>
          </p:nvSpPr>
          <p:spPr>
            <a:xfrm flipH="false" flipV="false" rot="0">
              <a:off x="0" y="0"/>
              <a:ext cx="6580759" cy="1370203"/>
            </a:xfrm>
            <a:custGeom>
              <a:avLst/>
              <a:gdLst/>
              <a:ahLst/>
              <a:cxnLst/>
              <a:rect r="r" b="b" t="t" l="l"/>
              <a:pathLst>
                <a:path h="1370203" w="6580759">
                  <a:moveTo>
                    <a:pt x="0" y="0"/>
                  </a:moveTo>
                  <a:lnTo>
                    <a:pt x="6580759" y="0"/>
                  </a:lnTo>
                  <a:lnTo>
                    <a:pt x="6580759" y="1370203"/>
                  </a:lnTo>
                  <a:lnTo>
                    <a:pt x="0" y="1370203"/>
                  </a:lnTo>
                  <a:lnTo>
                    <a:pt x="0" y="0"/>
                  </a:lnTo>
                  <a:close/>
                </a:path>
              </a:pathLst>
            </a:custGeom>
            <a:blipFill>
              <a:blip r:embed="rId3"/>
              <a:stretch>
                <a:fillRect l="0" t="0" r="-384" b="4"/>
              </a:stretch>
            </a:blipFill>
          </p:spPr>
        </p:sp>
      </p:grpSp>
      <p:grpSp>
        <p:nvGrpSpPr>
          <p:cNvPr name="Group 7" id="7"/>
          <p:cNvGrpSpPr/>
          <p:nvPr/>
        </p:nvGrpSpPr>
        <p:grpSpPr>
          <a:xfrm rot="0">
            <a:off x="2663190" y="10082212"/>
            <a:ext cx="15624810" cy="204845"/>
            <a:chOff x="0" y="0"/>
            <a:chExt cx="20833080" cy="273126"/>
          </a:xfrm>
        </p:grpSpPr>
        <p:sp>
          <p:nvSpPr>
            <p:cNvPr name="Freeform 8" id="8"/>
            <p:cNvSpPr/>
            <p:nvPr/>
          </p:nvSpPr>
          <p:spPr>
            <a:xfrm flipH="false" flipV="false" rot="0">
              <a:off x="0" y="0"/>
              <a:ext cx="20833080" cy="273177"/>
            </a:xfrm>
            <a:custGeom>
              <a:avLst/>
              <a:gdLst/>
              <a:ahLst/>
              <a:cxnLst/>
              <a:rect r="r" b="b" t="t" l="l"/>
              <a:pathLst>
                <a:path h="273177" w="20833080">
                  <a:moveTo>
                    <a:pt x="239522" y="0"/>
                  </a:moveTo>
                  <a:lnTo>
                    <a:pt x="20833080" y="0"/>
                  </a:lnTo>
                  <a:lnTo>
                    <a:pt x="20833080" y="266446"/>
                  </a:lnTo>
                  <a:lnTo>
                    <a:pt x="0" y="273177"/>
                  </a:lnTo>
                  <a:lnTo>
                    <a:pt x="239522" y="0"/>
                  </a:lnTo>
                  <a:close/>
                </a:path>
              </a:pathLst>
            </a:custGeom>
            <a:solidFill>
              <a:srgbClr val="FFFFFF"/>
            </a:solidFill>
          </p:spPr>
        </p:sp>
      </p:grpSp>
      <p:grpSp>
        <p:nvGrpSpPr>
          <p:cNvPr name="Group 9" id="9"/>
          <p:cNvGrpSpPr/>
          <p:nvPr/>
        </p:nvGrpSpPr>
        <p:grpSpPr>
          <a:xfrm rot="0">
            <a:off x="2743238" y="10108759"/>
            <a:ext cx="15544724" cy="152705"/>
            <a:chOff x="0" y="0"/>
            <a:chExt cx="20726298" cy="203606"/>
          </a:xfrm>
        </p:grpSpPr>
        <p:sp>
          <p:nvSpPr>
            <p:cNvPr name="Freeform 10" id="10"/>
            <p:cNvSpPr/>
            <p:nvPr/>
          </p:nvSpPr>
          <p:spPr>
            <a:xfrm flipH="false" flipV="false" rot="0">
              <a:off x="0" y="0"/>
              <a:ext cx="20726273" cy="203581"/>
            </a:xfrm>
            <a:custGeom>
              <a:avLst/>
              <a:gdLst/>
              <a:ahLst/>
              <a:cxnLst/>
              <a:rect r="r" b="b" t="t" l="l"/>
              <a:pathLst>
                <a:path h="203581" w="20726273">
                  <a:moveTo>
                    <a:pt x="0" y="0"/>
                  </a:moveTo>
                  <a:lnTo>
                    <a:pt x="20726273" y="0"/>
                  </a:lnTo>
                  <a:lnTo>
                    <a:pt x="20726273" y="203581"/>
                  </a:lnTo>
                  <a:lnTo>
                    <a:pt x="0" y="203581"/>
                  </a:lnTo>
                  <a:lnTo>
                    <a:pt x="0" y="0"/>
                  </a:lnTo>
                  <a:close/>
                </a:path>
              </a:pathLst>
            </a:custGeom>
            <a:blipFill>
              <a:blip r:embed="rId4"/>
              <a:stretch>
                <a:fillRect l="0" t="0" r="0" b="-35745"/>
              </a:stretch>
            </a:blipFill>
          </p:spPr>
        </p:sp>
      </p:grpSp>
      <p:sp>
        <p:nvSpPr>
          <p:cNvPr name="TextBox 11" id="11"/>
          <p:cNvSpPr txBox="true"/>
          <p:nvPr/>
        </p:nvSpPr>
        <p:spPr>
          <a:xfrm rot="0">
            <a:off x="302009" y="10040331"/>
            <a:ext cx="2254501" cy="228600"/>
          </a:xfrm>
          <a:prstGeom prst="rect">
            <a:avLst/>
          </a:prstGeom>
        </p:spPr>
        <p:txBody>
          <a:bodyPr anchor="t" rtlCol="false" tIns="0" lIns="0" bIns="0" rIns="0">
            <a:spAutoFit/>
          </a:bodyPr>
          <a:lstStyle/>
          <a:p>
            <a:pPr algn="l">
              <a:lnSpc>
                <a:spcPts val="1800"/>
              </a:lnSpc>
            </a:pPr>
            <a:r>
              <a:rPr lang="en-US" sz="1500">
                <a:solidFill>
                  <a:srgbClr val="FFFFFF"/>
                </a:solidFill>
                <a:latin typeface="Quicksand"/>
                <a:ea typeface="Quicksand"/>
                <a:cs typeface="Quicksand"/>
                <a:sym typeface="Quicksand"/>
              </a:rPr>
              <a:t>https://huit.edu.vn</a:t>
            </a:r>
          </a:p>
        </p:txBody>
      </p:sp>
      <p:sp>
        <p:nvSpPr>
          <p:cNvPr name="TextBox 12" id="1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Noto Sans"/>
                <a:ea typeface="Noto Sans"/>
                <a:cs typeface="Noto Sans"/>
                <a:sym typeface="Noto Sans"/>
              </a:rPr>
              <a:t>34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DAHXnpglcEs</dc:identifier>
  <dcterms:modified xsi:type="dcterms:W3CDTF">2011-08-01T06:04:30Z</dcterms:modified>
  <cp:revision>1</cp:revision>
  <dc:title>Big data</dc:title>
</cp:coreProperties>
</file>