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2.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3.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80eaddab7f4502" /><Relationship Type="http://schemas.openxmlformats.org/officeDocument/2006/relationships/extended-properties" Target="/docProps/app.xml" Id="R3a1c77eb1e9c4b37" /><Relationship Type="http://schemas.openxmlformats.org/officeDocument/2006/relationships/officeDocument" Target="/ppt/presentation.xml" Id="R2dc7f4719d91457c" /></Relationships>
</file>

<file path=ppt/presentation.xml><?xml version="1.0" encoding="utf-8"?>
<p:presentation xmlns:p="http://schemas.openxmlformats.org/presentationml/2006/main">
  <p:sldMasterIdLst>
    <p:sldMasterId xmlns:r="http://schemas.openxmlformats.org/officeDocument/2006/relationships" id="2147483648" r:id="R240b4e9892ed4b0a"/>
  </p:sldMasterIdLst>
  <p:notesMasterIdLst>
    <p:notesMasterId xmlns:r="http://schemas.openxmlformats.org/officeDocument/2006/relationships" r:id="R518db9ad01d940a0"/>
  </p:notesMasterIdLst>
  <p:sldIdLst>
    <p:sldId xmlns:r="http://schemas.openxmlformats.org/officeDocument/2006/relationships" id="256" r:id="Rf7973541909b464d"/>
    <p:sldId xmlns:r="http://schemas.openxmlformats.org/officeDocument/2006/relationships" id="257" r:id="Rb297d3e658f74ea2"/>
    <p:sldId xmlns:r="http://schemas.openxmlformats.org/officeDocument/2006/relationships" id="258" r:id="R4e3c4cd6b10f40a8"/>
    <p:sldId xmlns:r="http://schemas.openxmlformats.org/officeDocument/2006/relationships" id="259" r:id="Rac33255068764778"/>
    <p:sldId xmlns:r="http://schemas.openxmlformats.org/officeDocument/2006/relationships" id="260" r:id="Rb0f2c4edd1644ad7"/>
    <p:sldId xmlns:r="http://schemas.openxmlformats.org/officeDocument/2006/relationships" id="261" r:id="R92868ba63c9a4f8f"/>
    <p:sldId xmlns:r="http://schemas.openxmlformats.org/officeDocument/2006/relationships" id="262" r:id="Rf56db0332f2848e3"/>
    <p:sldId xmlns:r="http://schemas.openxmlformats.org/officeDocument/2006/relationships" id="263" r:id="R261971fa1f4f49a2"/>
    <p:sldId xmlns:r="http://schemas.openxmlformats.org/officeDocument/2006/relationships" id="264" r:id="Rb6eae5e033154cff"/>
    <p:sldId xmlns:r="http://schemas.openxmlformats.org/officeDocument/2006/relationships" id="265" r:id="Rac2b88159d024dc4"/>
    <p:sldId xmlns:r="http://schemas.openxmlformats.org/officeDocument/2006/relationships" id="266" r:id="R96fa35a7e3cf4876"/>
    <p:sldId xmlns:r="http://schemas.openxmlformats.org/officeDocument/2006/relationships" id="267" r:id="R5f78fcf292b34c95"/>
    <p:sldId xmlns:r="http://schemas.openxmlformats.org/officeDocument/2006/relationships" id="268" r:id="R3a5a71f0cd4a4a82"/>
    <p:sldId xmlns:r="http://schemas.openxmlformats.org/officeDocument/2006/relationships" id="269" r:id="Ra3d9b5dbc62a493c"/>
    <p:sldId xmlns:r="http://schemas.openxmlformats.org/officeDocument/2006/relationships" id="270" r:id="R25ed1b40a507408f"/>
    <p:sldId xmlns:r="http://schemas.openxmlformats.org/officeDocument/2006/relationships" id="271" r:id="Rca5cea2ac4b34bea"/>
    <p:sldId xmlns:r="http://schemas.openxmlformats.org/officeDocument/2006/relationships" id="272" r:id="R622f64d7a93b4f1c"/>
    <p:sldId xmlns:r="http://schemas.openxmlformats.org/officeDocument/2006/relationships" id="273" r:id="Rf8aabf4e19b54309"/>
    <p:sldId xmlns:r="http://schemas.openxmlformats.org/officeDocument/2006/relationships" id="274" r:id="Redb2701993f9428f"/>
    <p:sldId xmlns:r="http://schemas.openxmlformats.org/officeDocument/2006/relationships" id="275" r:id="Rd35f0a3edcc04eef"/>
    <p:sldId xmlns:r="http://schemas.openxmlformats.org/officeDocument/2006/relationships" id="276" r:id="Rfd4a448cd7f74507"/>
    <p:sldId xmlns:r="http://schemas.openxmlformats.org/officeDocument/2006/relationships" id="277" r:id="R6c4469d103cc4b01"/>
    <p:sldId xmlns:r="http://schemas.openxmlformats.org/officeDocument/2006/relationships" id="278" r:id="R8a79b8da16ef4e1b"/>
    <p:sldId xmlns:r="http://schemas.openxmlformats.org/officeDocument/2006/relationships" id="279" r:id="R43df1e9a02784dea"/>
    <p:sldId xmlns:r="http://schemas.openxmlformats.org/officeDocument/2006/relationships" id="280" r:id="R4214dab304984f55"/>
    <p:sldId xmlns:r="http://schemas.openxmlformats.org/officeDocument/2006/relationships" id="281" r:id="R21a7d0f85d374095"/>
    <p:sldId xmlns:r="http://schemas.openxmlformats.org/officeDocument/2006/relationships" id="282" r:id="R1b8219cfb4624823"/>
    <p:sldId xmlns:r="http://schemas.openxmlformats.org/officeDocument/2006/relationships" id="283" r:id="R634cb04954a04dc3"/>
    <p:sldId xmlns:r="http://schemas.openxmlformats.org/officeDocument/2006/relationships" id="284" r:id="Reca4821724544567"/>
    <p:sldId xmlns:r="http://schemas.openxmlformats.org/officeDocument/2006/relationships" id="285" r:id="R87741b14ec674ca8"/>
    <p:sldId xmlns:r="http://schemas.openxmlformats.org/officeDocument/2006/relationships" id="286" r:id="R2e88e5658de64177"/>
    <p:sldId xmlns:r="http://schemas.openxmlformats.org/officeDocument/2006/relationships" id="287" r:id="Re53880be45f2408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23397cf7cfb42cd" /><Relationship Type="http://schemas.openxmlformats.org/officeDocument/2006/relationships/slideMaster" Target="/ppt/slideMasters/slideMaster1.xml" Id="R240b4e9892ed4b0a" /><Relationship Type="http://schemas.openxmlformats.org/officeDocument/2006/relationships/notesMaster" Target="/ppt/notesMasters/notesMaster1.xml" Id="R518db9ad01d940a0" /><Relationship Type="http://schemas.openxmlformats.org/officeDocument/2006/relationships/presProps" Target="/ppt/presProps.xml" Id="Rfd30a6f1bd3a4044" /><Relationship Type="http://schemas.openxmlformats.org/officeDocument/2006/relationships/viewProps" Target="/ppt/viewProps.xml" Id="R5593da4b63db4fe1" /><Relationship Type="http://schemas.openxmlformats.org/officeDocument/2006/relationships/tableStyles" Target="/ppt/tableStyles.xml" Id="Rb06f0dfcee9548b0" /><Relationship Type="http://schemas.openxmlformats.org/officeDocument/2006/relationships/slide" Target="/ppt/slides/slide1.xml" Id="Rf7973541909b464d" /><Relationship Type="http://schemas.openxmlformats.org/officeDocument/2006/relationships/slide" Target="/ppt/slides/slide2.xml" Id="Rb297d3e658f74ea2" /><Relationship Type="http://schemas.openxmlformats.org/officeDocument/2006/relationships/slide" Target="/ppt/slides/slide3.xml" Id="R4e3c4cd6b10f40a8" /><Relationship Type="http://schemas.openxmlformats.org/officeDocument/2006/relationships/slide" Target="/ppt/slides/slide4.xml" Id="Rac33255068764778" /><Relationship Type="http://schemas.openxmlformats.org/officeDocument/2006/relationships/slide" Target="/ppt/slides/slide5.xml" Id="Rb0f2c4edd1644ad7" /><Relationship Type="http://schemas.openxmlformats.org/officeDocument/2006/relationships/slide" Target="/ppt/slides/slide6.xml" Id="R92868ba63c9a4f8f" /><Relationship Type="http://schemas.openxmlformats.org/officeDocument/2006/relationships/slide" Target="/ppt/slides/slide7.xml" Id="Rf56db0332f2848e3" /><Relationship Type="http://schemas.openxmlformats.org/officeDocument/2006/relationships/slide" Target="/ppt/slides/slide8.xml" Id="R261971fa1f4f49a2" /><Relationship Type="http://schemas.openxmlformats.org/officeDocument/2006/relationships/slide" Target="/ppt/slides/slide9.xml" Id="Rb6eae5e033154cff" /><Relationship Type="http://schemas.openxmlformats.org/officeDocument/2006/relationships/slide" Target="/ppt/slides/slide10.xml" Id="Rac2b88159d024dc4" /><Relationship Type="http://schemas.openxmlformats.org/officeDocument/2006/relationships/slide" Target="/ppt/slides/slide11.xml" Id="R96fa35a7e3cf4876" /><Relationship Type="http://schemas.openxmlformats.org/officeDocument/2006/relationships/slide" Target="/ppt/slides/slide12.xml" Id="R5f78fcf292b34c95" /><Relationship Type="http://schemas.openxmlformats.org/officeDocument/2006/relationships/slide" Target="/ppt/slides/slide13.xml" Id="R3a5a71f0cd4a4a82" /><Relationship Type="http://schemas.openxmlformats.org/officeDocument/2006/relationships/slide" Target="/ppt/slides/slide14.xml" Id="Ra3d9b5dbc62a493c" /><Relationship Type="http://schemas.openxmlformats.org/officeDocument/2006/relationships/slide" Target="/ppt/slides/slide15.xml" Id="R25ed1b40a507408f" /><Relationship Type="http://schemas.openxmlformats.org/officeDocument/2006/relationships/slide" Target="/ppt/slides/slide16.xml" Id="Rca5cea2ac4b34bea" /><Relationship Type="http://schemas.openxmlformats.org/officeDocument/2006/relationships/slide" Target="/ppt/slides/slide17.xml" Id="R622f64d7a93b4f1c" /><Relationship Type="http://schemas.openxmlformats.org/officeDocument/2006/relationships/slide" Target="/ppt/slides/slide18.xml" Id="Rf8aabf4e19b54309" /><Relationship Type="http://schemas.openxmlformats.org/officeDocument/2006/relationships/slide" Target="/ppt/slides/slide19.xml" Id="Redb2701993f9428f" /><Relationship Type="http://schemas.openxmlformats.org/officeDocument/2006/relationships/slide" Target="/ppt/slides/slide20.xml" Id="Rd35f0a3edcc04eef" /><Relationship Type="http://schemas.openxmlformats.org/officeDocument/2006/relationships/slide" Target="/ppt/slides/slide21.xml" Id="Rfd4a448cd7f74507" /><Relationship Type="http://schemas.openxmlformats.org/officeDocument/2006/relationships/slide" Target="/ppt/slides/slide22.xml" Id="R6c4469d103cc4b01" /><Relationship Type="http://schemas.openxmlformats.org/officeDocument/2006/relationships/slide" Target="/ppt/slides/slide23.xml" Id="R8a79b8da16ef4e1b" /><Relationship Type="http://schemas.openxmlformats.org/officeDocument/2006/relationships/slide" Target="/ppt/slides/slide24.xml" Id="R43df1e9a02784dea" /><Relationship Type="http://schemas.openxmlformats.org/officeDocument/2006/relationships/slide" Target="/ppt/slides/slide25.xml" Id="R4214dab304984f55" /><Relationship Type="http://schemas.openxmlformats.org/officeDocument/2006/relationships/slide" Target="/ppt/slides/slide26.xml" Id="R21a7d0f85d374095" /><Relationship Type="http://schemas.openxmlformats.org/officeDocument/2006/relationships/slide" Target="/ppt/slides/slide27.xml" Id="R1b8219cfb4624823" /><Relationship Type="http://schemas.openxmlformats.org/officeDocument/2006/relationships/slide" Target="/ppt/slides/slide28.xml" Id="R634cb04954a04dc3" /><Relationship Type="http://schemas.openxmlformats.org/officeDocument/2006/relationships/slide" Target="/ppt/slides/slide29.xml" Id="Reca4821724544567" /><Relationship Type="http://schemas.openxmlformats.org/officeDocument/2006/relationships/slide" Target="/ppt/slides/slide30.xml" Id="R87741b14ec674ca8" /><Relationship Type="http://schemas.openxmlformats.org/officeDocument/2006/relationships/slide" Target="/ppt/slides/slide31.xml" Id="R2e88e5658de64177" /><Relationship Type="http://schemas.openxmlformats.org/officeDocument/2006/relationships/slide" Target="/ppt/slides/slide32.xml" Id="Re53880be45f2408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bd00ea2ab648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U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af089a674f4c72" /><Relationship Type="http://schemas.openxmlformats.org/officeDocument/2006/relationships/notesMaster" Target="/ppt/notesMasters/notesMaster1.xml" Id="Recfbea4f2d9548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d717bb0d414e14" /><Relationship Type="http://schemas.openxmlformats.org/officeDocument/2006/relationships/notesMaster" Target="/ppt/notesMasters/notesMaster1.xml" Id="R05cb786afe5141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ea30738c8c46dd" /><Relationship Type="http://schemas.openxmlformats.org/officeDocument/2006/relationships/notesMaster" Target="/ppt/notesMasters/notesMaster1.xml" Id="R61fc87f8716346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bc7f86e9374bab" /><Relationship Type="http://schemas.openxmlformats.org/officeDocument/2006/relationships/notesMaster" Target="/ppt/notesMasters/notesMaster1.xml" Id="Ra683f18172e74124"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c0a7441f524711" /><Relationship Type="http://schemas.openxmlformats.org/officeDocument/2006/relationships/notesMaster" Target="/ppt/notesMasters/notesMaster1.xml" Id="R9c7269e41fa547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3d3ce9ebe2400c" /><Relationship Type="http://schemas.openxmlformats.org/officeDocument/2006/relationships/notesMaster" Target="/ppt/notesMasters/notesMaster1.xml" Id="Rc3ecf53f749f48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cfd11bffc04fec" /><Relationship Type="http://schemas.openxmlformats.org/officeDocument/2006/relationships/notesMaster" Target="/ppt/notesMasters/notesMaster1.xml" Id="Rb41b8b869dac4a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9f06e598a3e47da" /><Relationship Type="http://schemas.openxmlformats.org/officeDocument/2006/relationships/notesMaster" Target="/ppt/notesMasters/notesMaster1.xml" Id="Rc5d22eb56bbd47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2438ba17b945c3" /><Relationship Type="http://schemas.openxmlformats.org/officeDocument/2006/relationships/notesMaster" Target="/ppt/notesMasters/notesMaster1.xml" Id="R926f4b4e724541c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5c9ce43f5b5481d" /><Relationship Type="http://schemas.openxmlformats.org/officeDocument/2006/relationships/notesMaster" Target="/ppt/notesMasters/notesMaster1.xml" Id="R36af5802f6fa40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afbe51a1a934157" /><Relationship Type="http://schemas.openxmlformats.org/officeDocument/2006/relationships/notesMaster" Target="/ppt/notesMasters/notesMaster1.xml" Id="Rf8ebc73e6c754d0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af3ba12fe5d43d7" /><Relationship Type="http://schemas.openxmlformats.org/officeDocument/2006/relationships/notesMaster" Target="/ppt/notesMasters/notesMaster1.xml" Id="Rafe3a281baf84f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160c4b15f142a6" /><Relationship Type="http://schemas.openxmlformats.org/officeDocument/2006/relationships/notesMaster" Target="/ppt/notesMasters/notesMaster1.xml" Id="R1c7079c4cd7a44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a68dd494804bae" /><Relationship Type="http://schemas.openxmlformats.org/officeDocument/2006/relationships/notesMaster" Target="/ppt/notesMasters/notesMaster1.xml" Id="R4152db8ad69449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3343dc86ff47e0" /><Relationship Type="http://schemas.openxmlformats.org/officeDocument/2006/relationships/notesMaster" Target="/ppt/notesMasters/notesMaster1.xml" Id="R48f6fd3f044a47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fa27f6a6bb4236" /><Relationship Type="http://schemas.openxmlformats.org/officeDocument/2006/relationships/notesMaster" Target="/ppt/notesMasters/notesMaster1.xml" Id="R73152b78861c4d1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7a0d4c723fe4ecd" /><Relationship Type="http://schemas.openxmlformats.org/officeDocument/2006/relationships/notesMaster" Target="/ppt/notesMasters/notesMaster1.xml" Id="R3bccfe6408ef495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071f21e05b4c5b" /><Relationship Type="http://schemas.openxmlformats.org/officeDocument/2006/relationships/notesMaster" Target="/ppt/notesMasters/notesMaster1.xml" Id="R4b612c59c2624bd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5513d1a765e4486" /><Relationship Type="http://schemas.openxmlformats.org/officeDocument/2006/relationships/notesMaster" Target="/ppt/notesMasters/notesMaster1.xml" Id="Ra8a11cc545ac492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2f4b4db96e14326" /><Relationship Type="http://schemas.openxmlformats.org/officeDocument/2006/relationships/notesMaster" Target="/ppt/notesMasters/notesMaster1.xml" Id="R315b1f4e89c44f6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b6dd66acb114350" /><Relationship Type="http://schemas.openxmlformats.org/officeDocument/2006/relationships/notesMaster" Target="/ppt/notesMasters/notesMaster1.xml" Id="R4bb0250531a147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f11b22680147e0" /><Relationship Type="http://schemas.openxmlformats.org/officeDocument/2006/relationships/notesMaster" Target="/ppt/notesMasters/notesMaster1.xml" Id="Re768ec8504e24e3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e6122a6eba24262" /><Relationship Type="http://schemas.openxmlformats.org/officeDocument/2006/relationships/notesMaster" Target="/ppt/notesMasters/notesMaster1.xml" Id="R78f41cf0ca0f42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abbeebed3f340c6" /><Relationship Type="http://schemas.openxmlformats.org/officeDocument/2006/relationships/notesMaster" Target="/ppt/notesMasters/notesMaster1.xml" Id="R233764a99aca4dfa"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9b0b0d2afc14471" /><Relationship Type="http://schemas.openxmlformats.org/officeDocument/2006/relationships/notesMaster" Target="/ppt/notesMasters/notesMaster1.xml" Id="Rb2e1f3658615413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df5bad30b0e4c2e" /><Relationship Type="http://schemas.openxmlformats.org/officeDocument/2006/relationships/notesMaster" Target="/ppt/notesMasters/notesMaster1.xml" Id="R22a6248d958c4e0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19252dec0cb41ff" /><Relationship Type="http://schemas.openxmlformats.org/officeDocument/2006/relationships/notesMaster" Target="/ppt/notesMasters/notesMaster1.xml" Id="R5345f6e36f53464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b8bdf50274a4500" /><Relationship Type="http://schemas.openxmlformats.org/officeDocument/2006/relationships/notesMaster" Target="/ppt/notesMasters/notesMaster1.xml" Id="R644f46d6d28d42e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6b94d2082564c2e" /><Relationship Type="http://schemas.openxmlformats.org/officeDocument/2006/relationships/notesMaster" Target="/ppt/notesMasters/notesMaster1.xml" Id="R067f62fcbdf24f8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2fc4aa02b824cbb" /><Relationship Type="http://schemas.openxmlformats.org/officeDocument/2006/relationships/notesMaster" Target="/ppt/notesMasters/notesMaster1.xml" Id="R9cd90ee217cc4f7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0d6cd84c00b4bd9" /><Relationship Type="http://schemas.openxmlformats.org/officeDocument/2006/relationships/notesMaster" Target="/ppt/notesMasters/notesMaster1.xml" Id="Rc4b8f7717c91496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3b5b207fd2748f4" /><Relationship Type="http://schemas.openxmlformats.org/officeDocument/2006/relationships/notesMaster" Target="/ppt/notesMasters/notesMaster1.xml" Id="R52bfcf809b8047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BaoCao_DoAn_BigData_Nhom6_IEEE.docx bản biên tập; HUONG_DAN_CHO_GPT_WORK.txt. Số liệu thực nghiệm ngày 10/10/2026.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Phần lý thuyết dùng sơ đồ minh họa, không phải hình trích từ model thực. Sáu lớp là OnTime, Carrier, Weather, NAS, Security và LateAircraft. Phần code giải thích quy tắc triển khai. Các kết quả vẫn dùng bộ ngày 10/10. Không dùng tính năng hay cấu hình mới để khẳng định lượt cũ đã chạy như vậy.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Mô hình tuyến tính biến các đặc trưng thành điểm lớp. Xác suất giúp diễn giải việc chọn lớp. Các số 55%, 20% và 25% chỉ là ví dụ minh họa. CPU trong code dùng SGDClassifier với loss=log_loss, học theo one-vs-rest, và StandardScaler fit trên Train. Spark dùng LogisticRegression đa lớp family=multinomial. Các cấu hình trong snapshot chưa được log xác nhận cho lượt cũ. Nguồn: https://scikit-learn.org/stable/modules/generated/sklearn.linear_model.SGDClassifier.html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Cây chọn điều kiện để giảm mức trộn nhãn, rồi tiếp tục chia từng nhánh. Khi dự đoán, một chuyến bay đi từ gốc tới lá. Ngưỡng giờ đi 17 và khoảng cách 1.000, cùng nhãn ở lá, chỉ là minh họa. CPU snapshot đặt max_depth=12 và min_samples_split=50; Spark đặt maxDepth=6, maxBins=32. Không khẳng định đây là cấu hình đúng lúc lưu kết quả. Nguồn: https://scikit-learn.org/stable/modules/tree.html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Các cây học từ các mẫu bootstrap và tập con đặc trưng. Ví dụ Carrier/Carrier/NAS giải thích trực giác đa số phiếu. Bản scikit-learn thực tế chọn lớp có trung bình xác suất cao nhất, không phải luôn đếm nhãn cứng. Snapshot CPU đặt 50 cây, depth 10. Spark snapshot đặt cứng 10 cây, depth 6, dù CLI ghi mặc định 20/10. Số cây không tương ứng số máy. Nguồn: https://scikit-learn.org/stable/modules/generated/sklearn.ensemble.RandomForestClassifier.html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XGBoost thêm cây để cải thiện hàm mất mát của mô hình hiện tại. Cây mới học theo thông tin gradient và Hessian; cụm từ giảm sai số trên slide là cách giải thích đơn giản. Khi dự đoán, cộng đóng góp các cây rồi chọn lớp, không bỏ phiếu. CPU snapshot đặt device=cpu, tree_method=hist, 100 cây, depth 8 và learning_rate=0,08; Validation dùng early stopping. Đây là cấu hình trong code tham chiếu. Nguồn: https://xgboost.readthedocs.io/en/latest/tutorials/model.html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Histogram gom giá trị liên tục vào các bins và tích lũy thống kê gradient/Hessian. LightGBM chọn lá có mức giảm loss lớn nhất để phát triển tiếp, thay vì mở cả tầng đồng thời. Các cây vẫn được thêm theo gradient boosting. Lá A/B và các bins trên slide chỉ minh họa. CPU snapshot có 100 cây, depth 10, learning_rate=0,08 và early stopping 15 vòng. Nguồn: https://lightgbm.readthedocs.io/en/v4.2.0/Features.html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CatBoost hỗ trợ dữ liệu phân loại bằng các thống kê theo hoán vị. Ordered boosting là một lựa chọn, không tự khẳng định code đã dùng vì không đặt boosting_type. CPU của dự án đã dùng LabelEncoder, chuyển tất cả cột thành ma trận float32 và không truyền cat_features. Vì vậy, sơ đồ thể hiện năng lực nguyên lý, chưa phải cơ chế categorical mà cấu hình dự án đã kích hoạt. Snapshot đặt iterations=100, depth=8, task_type=CPU. Nguồn: https://catboost.ai/docs/en/concepts/algorithm-main-stages_cat-to-numberic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Nguồn: REQUIRED_COLUMNS trong run_end_to_end_spark.py và FEATURE_COLUMNS_NUM/CAT trong train_all_7m.py. ETL Spark yêu cầu 19 trường. Đầu vào train có 9 trường số: month, day_of_month, day_of_week, dep_hour, arr_hour, dep_min_of_day, arr_min_of_day, crs_elapsed_time, distance. Có 4 trường phân loại: op_unique_carrier, origin, dest, dep_time_of_day. arr_delay, dep_delay và năm cột nguyên nhân không nằm trong X. Dữ liệu tổng hợp generate_14m_enriched không dùng làm kết quả báo cáo.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Nguồn: clean_data.py và clean_spark_dataframe trong run_end_to_end_spark.py. CPU điền 0 cho năm nguyên nhân và dep_delay; lọc hai cờ bằng 0; bỏ arr_delay thiếu. CPU astype có thể báo lỗi nếu dữ liệu không chuyển được. Spark cast số trước, coalesce hai cờ và các cột delay về 0. Khi cờ bị thiếu, CPU có thể loại qua điều kiện ==0, còn Spark điền 0 rồi giữ nếu các điều kiện khác đạt. Code không loại trùng, không cân bằng lớp và không có bộ kiểm tra toàn diện mọi số âm hoặc giờ HHMM sai. Bước train CPU mới dùng to_numeric(errors=coerce).fillna(0) cho 9 trường số. Chưa có log để tách 113.814 bản ghi bị loại thành từng nhóm.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Nguồn: vectorized_determine_delay_cause và clean_spark_dataframe. Lớp 0 là OnTime_or_MinorDelay khi arr_delay&lt;15. Khi arr_delay&gt;=15, chọn cột nguyên nhân có số phút lớn nhất. np.argmax CPU chọn vị trí đầu; chuỗi when Spark dùng cùng thứ tự Carrier, Weather, NAS, Security, LateAircraft. Khi max&lt;=0, code gán Carrier. Đây là quy tắc nhãn dự phòng, không chứng minh nguyên nhân thật do hãng. is_delayed dùng ngưỡng &gt;=15; target train là delay_cause_code. Ví dụ trên slide hoàn toàn minh họa.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Nguồn: add_time_features và clean_spark_dataframe. HHMM tách giờ bằng chia nguyên 100, phút bằng phần dư 100. CPU giới hạn giờ 0–23 và phút trong ngày 0–1.439. Spark giới hạn cột giờ nhưng tính phút trong ngày từ giờ gốc, không clip phút. Nhóm Morning là [5,12), Afternoon [12,17), Evening [17,22), còn lại Night. CPU dựa giờ đã clip, Spark dựa giờ gốc. Với dữ liệu lỗi, hai cách có thể khác. Code không xác nhận phần phút HHMM luôn nằm 0–59. CPU ép lịch sang int8, phút int16, elapsed/distance/arr_delay float32; Spark dùng Integer/Float.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Nguồn: train_all_7m.py và execute_pure_spark_mllib. CPU dùng to_numeric(errors=coerce).fillna(0), LabelEncoder cho 4 cột phân loại, X float32. StandardScaler chỉ dùng cho mô hình tuyến tính và fit trên Train. Spark dùng StringIndexer(handleInvalid=keep), rồi cast origin_code/dest_code sang Double để bỏ metadata categorical, VectorAssembler tạo 13 chiều. Trong entrypoint này assembler không đặt skip giá trị lỗi. pipeline.py riêng có handleInvalid=skip và cấu hình RF khác, không được nhập chung. Hai nhánh mã hóa toàn dữ liệu trước split; cần lưu ý khi đối chứng. CPU CatBoost không truyền cat_features.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Nguồn: to_parquet.py, train_all_7m.py và run_end_to_end_spark.py. Parquet ghi Hive partition theo month. CPU mặc định đọc toàn CSV; --stream đọc từng khối 500.000 dòng. CPU tách 70/30 rồi chia phần 30 thành 15/15, stratify theo nhãn ở cả hai bước, random_state=42. Spark randomSplit([0.7,0.15,0.15],seed=42), cache và count; không stratify. CPU dùng Val cho early stopping các booster; MLlib trong snapshot không dùng Val để tuning. Không có ID bản ghi hoặc log đầy đủ để xác nhận cùng tập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Nguồn: train_all_7m.py và module visualize_results.py được import. CSV được xử lý trước bằng to_parquet.py. Nạp Parquet, LabelEncoder, split và StandardScaler ở ngoài đoạn đo train. t0=time.time đặt ngay trước clf.fit, train_time chốt ngay sau fit. Sau đó dự đoán 1.000 mẫu, đánh giá test, lưu joblib và vẽ hình. Đầu ra models/baseline gồm model, encoders, scaler và metadata. Chỉ số nằm results/metrics; hình nằm results/figures/individual và combined. Script CPU có dòng RF Spark 49,89 giây gán sẵn; đó không phải huấn luyện Spark trong script CPU, nên vẫn không đưa vào sáu dòng CPU thực đo.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Nguồn: run_end_to_end_spark.py. Ở cluster mode, Driver đọc CSV từng khối 1 triệu dòng, createDataFrame/repartition, Executor làm sạch; toPandas gom về Driver để PyArrow ghi Parquet. Trước train, Driver đọc toàn Parquet bằng PyArrow rồi tạo DataFrame Spark. Snapshot dùng 12 partitions; code hiện tại lấy số partitions từ cấu hình. StringIndexer, VectorAssembler, fit và đánh giá thực thi qua Spark. Như vậy I/O không hoàn toàn phân tán. ETL Spark riêng trong spark_etl.py và pipeline.py là entrypoint khác. Code hiện tại bỏ ETL mặc định, --run-etl bật lại; không lấy thay đổi này mô tả lượt cũ.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Sơ đồ vị trí vai trò theo xác nhận của người dùng trong yêu cầu v3: Máy 1 có Spark Master, Driver, Worker 1; Máy 2 Worker 2; Máy 3 Worker 3. Mỗi Worker được minh họa với Executor bên trong, không khẳng định số Executor thực tế. Master khác Driver. Báo cáo lưu master spark://100.65.205.113:7077; không có cấu hình CPU/RAM của từng máy. Đường nét đứt biểu diễn kết nối mạng Tailscale, không phải số đo truyền thông. V4: sơ đồ ba máy được giữ. start_master.bat và start_worker_luong.bat đặt Master/Worker cùng máy1 100.65.205.113; hai worker còn lại theo scriptsAn/TuanAnh. Driver được chạy bởi scriptPython từmáy1 theo xácnhậnuser. SparkMaster quản lýresource, khôngđiều phối DAGcủaứngdụngthayDriver. Không bổsungthôngsốphầncứng.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Sơ đồ mức khái niệm theo báo cáo, không phải log tác vụ của lượt chạy. Executor tổng hợp thống kê nhãn cho các điểm chia; Driver điều phối chọn chia. Quá trình lặp lại qua nhiều nút và cây. Số phân vùng không đồng nhất với số máy, số cây hoặc số Executor. Không ánh xạ máy 1/cây 1, máy 2/cây 2. Các cây dự đoán, sau đó nhãn có nhiều phiếu nhất được chọn. V4: nguyên lý phân tán theo báo cáo, không ánhxạ1cây/1máy. Sốphânvùng có thểkhácsốExecutor/máy/cây. SnapshotnumTreeshardcoded10,maxDepth6; không lấyCLIecho50trees làm cấu hìnhđãchạy.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CPU đo time.time quanh clf.fit; Spark đo perf_counter quanh estimator.fit. Đo toàn trình còn gồm Spark setup, đọc, ETL nếu bật, đặc trưng, chia tập, đánh giá và lưu model. CPU latency đo một batch 1.000 mẫu; Spark transform/cache/count toàn test rồi quy về ms/1.000 mẫu. Hai phạm vi suy luận khác nhau. Snapshot cũ có fallback pure=t_wall*0,42 khi không lấy stage timestamp, còn network=t_wall-pure; đây không phải đo mạng độc lập. Code hiện tại để pure/network=None và chỉ đo wall-clock.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Chạy lệnh từ thư mục gốc. CPU ETL: python src/etl/to_parquet.py --input "Flight Delay Dataset — 2024/flight_data_2024.csv" --output_dir "Flight Delay Dataset — 2024/cleaned_flight_data_2024.parquet". Sau đó run_single_machine_cpu.bat gọi venv Python và src/baseline/train_all_7m.py. Spark: start_master.bat trên máy 1; start_worker_luong.bat, start_worker_an.bat, start_worker_tuananh.bat trên máy tương ứng. run_spark_end_to_end.bat gọi Python entrypoint và --master. Code hiện tại cần đủ wrappers/JAR, có --check-dependencies. Lệnh trên slide là lệnh tương đương, không phải log chạy thành công. Đầu ra cũ: models/spark và results/spark/metrics/spark_end_to_end_metrics.json; hiện tại dùng spark_training_metrics.json khi bỏ ETL và lưu từng run riêng.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DOC_TRUOC_KHI_LAM_V4.txt; code_commit_10_10_dca2d78 và code_hien_tai. Commit dca2d78 được tạo ngày 10/10/2026 lúc 21:56:51 +0700, sau metrics Spark lúc 21:09:08. Đây là bản tham chiếu, chưa chứng minh đúng mã đã thực thi.</a:t>
            </a:r>
          </a:p>
          <a:p xmlns:a="http://schemas.openxmlformats.org/drawingml/2006/main">
            <a:r>
              <a:t/>
            </a:r>
          </a:p>
          <a:p xmlns:a="http://schemas.openxmlformats.org/drawingml/2006/main">
            <a:r>
              <a:t>Hướng dẫn gói xác nhận commit dca2d78 lúc 21:56:51 +0700, sau metrics lúc 21:09:08. So sánh file sau chuẩn hóa xuống dòng: các module CPU và ETL giống nhau; chỉ run_end_to_end_spark.py khác. Code hiện tại dùng năm mô hình: LR, DT, RF, XGBoost, LightGBM; không có CatBoost Spark. Khi lỗi, lưu failed/error thay vì số fallback; có ma trận và Macro F1 của lượt mới, không bù vào metrics cũ. RF hiện tại dùng CLI num_trees/max_depth. Snapshot RF đặt cứng 10/6, khác CLI mặc định 20/10 và BAT echo 50 cây. Không lấy echo hoặc code mới làm bằng chứng cấu hình 10/10.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F1 cân bằng precision và recall: 2PR/(P+R). Weighted F1 chịu ảnh hưởng mạnh của lớp đông; Macro F1 giúp xem khả năng trên lớp ít gặp. Tỷ lệ 70/15/15 là dự kiến theo Word, chưa xác nhận đúng các bản ghi train/test của CPU và Spark. Không có cấu hình numTrees, maxDepth, maxBins, seed, số phân vùng hoặc log phần cứng gắn lượt chạy cũ. Không lấy cấu hình code ngày 12/10 mô tả 10/10. Spark JSON timestamp 2026-10-10 21:09:08.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Sáu dòng CPU đối chiếu JSON và CSV khớp. RAM được giữ trong dữ liệu gốc: LR 1991.1, DT 1716.2, RF 1756.5, LightGBM 1803.6, XGBoost 2053.8, CatBoost 4069.4 MB. Không so RAM CPU mô hình với RAM ETL Spark. Tên Logistic Reg. viết gọn từ Logistic Regression.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Biểu đồ chỉ thể hiện Macro F1 để phục vụ nhận xét, tránh lặp toàn bộ bảng. Không bỏ gốc trục để phóng đại khác biệt. Weighted F1 cao nhất 70,50% vẫn bị lớp đông ảnh hưởng. Các ma trận CPU ở trang 15–16 giải thích cụ thể xu hướng dự đoán.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Nguồn Spark JSON 10/10 21:09:08, chỉ ba mô hình MLlib đầu được xác nhận huấn luyện thật. Không dùng Macro F1 gán sẵn 28,25% trong CSV cũ. XGBoost có barrier fallback; LightGBM và CatBoost chưa hoàn tất thư viện tích hợp hoặc có số thay thế. Dòng RF Spark ở baseline_summary_7m.json thuộc lượt khác. Kết quả từng lớp Spark chưa có ma trận nhầm lẫn trong gói; không suy từ ma trận 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Đối sánh cùng loại chỉ số: train wall-clock CPU từ JSON/CSV, Spark từ wall_clock_time_seconds. RF 85.18/31.03=2.745, làm tròn thông thường thành 2,75 lần; báo cáo ghi 2,74 do khác cách làm tròn. Latency 16.31/1.86=8.769 ~8,77. LR Spark 19,29 giây lớn hơn CPU 11,03 giây, nên không kết luận Spark luôn nhanh hơn. Tổng train sáu CPU 534,83 giây khác phạm vi toàn trình Spark 295,03 giây. Tổng ETL cộng sáu dòng model trong JSON=345,39 giây, có dòng thay thế; không dùng tổng đó xác nhận sáu model huấn luyện. pure/network là giá trị suy diễn, không số đo độc lập. Không quy toàn bộ chênh lệch cho phân tán khi siêu tham số, phần cứng và test chưa đối chứng.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Ma trận dựng lại từ các tỷ lệ hiển thị của cm_random_forest_cpu_7m.png ngày 10/10. Không có số đếm thô; không coi 0,0% là tuyệt đối không có mẫu nếu ảnh đã làm tròn. Cột OnTime hiển thị 100,0% ở cả sáu hàng. Hàng là nhãn thực, cột là dự đoán; ô chéo là recall lớp.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Dựng lại các số đã làm tròn từ cm_catboost_7m.png, không tính lại từ dự đoán thô. Một số hàng cộng thành 100,1% do làm tròn. Weather và Security hiển thị recall 0,0%. Không gán ma trận này cho CatBoost Spark hoặc Random Forest Spark.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Nguồn cpu_feature_importance_20261010.png và báo cáo. RF: month 0.2208, arr_min_of_day 0.1527, dep_min_of_day 0.1484. CatBoost: op_unique_carrier 24.8778, month 18.0367, day_of_month 9.7724. Chỉ so thứ hạng trong từng mô hình. Không dùng đặc trưng CPU thay cho kết quả Spark. Các top_features Spark trong JSON là 0,0, chưa đủ để phân tích tác động.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Gói không có ảnh Web_Air và log đầu vào–kết quả thật. Sơ đồ là luồng khái niệm theo báo cáo, không phải ảnh chụp ứng dụng. Cần người dùng bổ sung ảnh giao diện thật và một ví dụ chạy thực tế. Không tự tạo ví dụ với nhãn hoặc độ tin cậy để xem là kết quả thực đo. Latency ms/1.000 mẫu trong bảng mô hình khác độ trễ người dùng chờ một HTTP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Giữ ba ý kết luận: công việc đã làm, kết quả chính và giới hạn. Chưa kết luận mô hình dự đoán tốt mọi nguyên nhân trễ, chưa xác nhận lợi ích phân tán độc lập, chưa có kết quả thực đo cho sáu tích hợp Spark. Cần lưu cấu hình, seed, danh sách bản ghi test, dự đoán thô, log wall-clock và tài nguyên của mỗi máy.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BaoCao_DoAn_BigData_Nhom6_IEEE.docx (bản biên tập); HUONG_DAN_CHO_GPT_WORK.txt; baseline_summary_7m.json; grand_model_comparison_7m.csv; spark_end_to_end_metrics.json. Bộ thực nghiệm 10/10/2026. Nhóm xin cảm ơn giảng viên đã hướng dẫn và góp ý trong quá trình thực hiện đồ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4978dd41a34253" /><Relationship Type="http://schemas.openxmlformats.org/officeDocument/2006/relationships/image" Target="/ppt/media/image.png" Id="R4fc47012bfa04e83" /><Relationship Type="http://schemas.openxmlformats.org/officeDocument/2006/relationships/image" Target="/ppt/media/image2.png" Id="Rdc695ba78aba41dc" /><Relationship Type="http://schemas.openxmlformats.org/officeDocument/2006/relationships/image" Target="/ppt/media/image3.png" Id="Rc45fd312dff247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8e1dd65e861439d" /><Relationship Type="http://schemas.openxmlformats.org/officeDocument/2006/relationships/image" Target="/ppt/media/image4.png" Id="R6c4c0d0fa63942ff" /><Relationship Type="http://schemas.openxmlformats.org/officeDocument/2006/relationships/image" Target="/ppt/media/image.png" Id="R0c9fd6c8409845b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b717284714e48d0" /><Relationship Type="http://schemas.openxmlformats.org/officeDocument/2006/relationships/image" Target="/ppt/media/image.png" Id="R70ac83f5ea7a41a4" /><Relationship Type="http://schemas.openxmlformats.org/officeDocument/2006/relationships/image" Target="/ppt/media/image4.png" Id="R73d08c3f49054f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09d32ffb56c4cc2" /><Relationship Type="http://schemas.openxmlformats.org/officeDocument/2006/relationships/image" Target="/ppt/media/image.png" Id="R565877f7a68f4327" /><Relationship Type="http://schemas.openxmlformats.org/officeDocument/2006/relationships/image" Target="/ppt/media/image4.png" Id="Rc37d5216423e456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e7fc33b2f6244b8" /><Relationship Type="http://schemas.openxmlformats.org/officeDocument/2006/relationships/image" Target="/ppt/media/image.png" Id="R6ee7776182f54c23" /><Relationship Type="http://schemas.openxmlformats.org/officeDocument/2006/relationships/image" Target="/ppt/media/image4.png" Id="R3e2371ac54304e2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c65a46cc1b4966" /><Relationship Type="http://schemas.openxmlformats.org/officeDocument/2006/relationships/image" Target="/ppt/media/image.png" Id="R83bd2d87de264f50" /><Relationship Type="http://schemas.openxmlformats.org/officeDocument/2006/relationships/image" Target="/ppt/media/image4.png" Id="R21fe253260a74f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d0071cbd7f447f3" /><Relationship Type="http://schemas.openxmlformats.org/officeDocument/2006/relationships/image" Target="/ppt/media/image5.png" Id="Rb7d4ed4e17f846cb" /><Relationship Type="http://schemas.openxmlformats.org/officeDocument/2006/relationships/image" Target="/ppt/media/image.png" Id="Re9843d55cd134fc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05b1d39f71e416b" /><Relationship Type="http://schemas.openxmlformats.org/officeDocument/2006/relationships/image" Target="/ppt/media/image.png" Id="Rec810ea7bc8e416f" /><Relationship Type="http://schemas.openxmlformats.org/officeDocument/2006/relationships/image" Target="/ppt/media/image4.png" Id="Rbb534ffcb3b3450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e9acb43ace44d5f" /><Relationship Type="http://schemas.openxmlformats.org/officeDocument/2006/relationships/image" Target="/ppt/media/image.png" Id="R8dc52b688e8c47c1" /><Relationship Type="http://schemas.openxmlformats.org/officeDocument/2006/relationships/image" Target="/ppt/media/image4.png" Id="Ree034ae61ad9458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6f664b233b445d6" /><Relationship Type="http://schemas.openxmlformats.org/officeDocument/2006/relationships/image" Target="/ppt/media/image.png" Id="R64b462639c554da2" /><Relationship Type="http://schemas.openxmlformats.org/officeDocument/2006/relationships/image" Target="/ppt/media/image4.png" Id="Rdf29017003874879"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41FA5C7D-F076-ABAB-28ED-936E6476926A}"/>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12" name="Rectangle 11">
            <a:extLst xmlns:a="http://schemas.openxmlformats.org/drawingml/2006/main">
              <a:ext uri="{FF2B5EF4-FFF2-40B4-BE49-F238E27FC236}">
                <a16:creationId xmlns:a16="http://schemas.microsoft.com/office/drawing/2014/main" id="{76CBF138-DDAA-03AE-2BFD-F0E6E77D0894}"/>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7" name="Picture 16">
            <a:extLst xmlns:a="http://schemas.openxmlformats.org/drawingml/2006/main">
              <a:ext uri="{FF2B5EF4-FFF2-40B4-BE49-F238E27FC236}">
                <a16:creationId xmlns:a16="http://schemas.microsoft.com/office/drawing/2014/main" id="{E227FA91-29EB-4F26-8BD4-F4600B93BE25}"/>
              </a:ext>
            </a:extLst>
          </p:cNvPr>
          <p:cNvPicPr>
            <a:picLocks xmlns:a="http://schemas.openxmlformats.org/drawingml/2006/main" noChangeAspect="1"/>
          </p:cNvPicPr>
          <p:nvPr/>
        </p:nvPicPr>
        <p:blipFill>
          <a:blip xmlns:r="http://schemas.openxmlformats.org/officeDocument/2006/relationships" xmlns:a="http://schemas.openxmlformats.org/drawingml/2006/main" r:embed="R4fc47012bfa04e83"/>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6" name="Slide Number Placeholder 5">
            <a:extLst xmlns:a="http://schemas.openxmlformats.org/drawingml/2006/main">
              <a:ext uri="{FF2B5EF4-FFF2-40B4-BE49-F238E27FC236}">
                <a16:creationId xmlns:a16="http://schemas.microsoft.com/office/drawing/2014/main" id="{3D0F4D25-1F5F-4388-B72E-AE5CB0D02FE0}"/>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5" name="TextBox 14">
            <a:extLst xmlns:a="http://schemas.openxmlformats.org/drawingml/2006/main">
              <a:ext uri="{FF2B5EF4-FFF2-40B4-BE49-F238E27FC236}">
                <a16:creationId xmlns:a16="http://schemas.microsoft.com/office/drawing/2014/main" id="{EF8EE5A3-86BB-B40C-62D9-2E005424811B}"/>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20" name="Picture 19">
            <a:extLst xmlns:a="http://schemas.openxmlformats.org/drawingml/2006/main">
              <a:ext uri="{FF2B5EF4-FFF2-40B4-BE49-F238E27FC236}">
                <a16:creationId xmlns:a16="http://schemas.microsoft.com/office/drawing/2014/main" id="{57EC83D0-FBAC-4DAD-BBE5-C5F608173E1D}"/>
              </a:ext>
            </a:extLst>
          </p:cNvPr>
          <p:cNvPicPr>
            <a:picLocks xmlns:a="http://schemas.openxmlformats.org/drawingml/2006/main" noChangeAspect="1"/>
          </p:cNvPicPr>
          <p:nvPr/>
        </p:nvPicPr>
        <p:blipFill>
          <a:blip xmlns:r="http://schemas.openxmlformats.org/officeDocument/2006/relationships" xmlns:a="http://schemas.openxmlformats.org/drawingml/2006/main" r:embed="Rdc695ba78aba41dc"/>
          <a:stretch xmlns:a="http://schemas.openxmlformats.org/drawingml/2006/main">
            <a:fillRect l="0" t="0" r="0" b="0"/>
          </a:stretch>
        </p:blipFill>
        <p:spPr>
          <a:xfrm xmlns:a="http://schemas.openxmlformats.org/drawingml/2006/main">
            <a:off x="-10160" y="5045074"/>
            <a:ext cx="12202160" cy="1676400"/>
          </a:xfrm>
          <a:prstGeom xmlns:a="http://schemas.openxmlformats.org/drawingml/2006/main" prst="rect">
            <a:avLst/>
          </a:prstGeom>
        </p:spPr>
      </p:pic>
      <p:sp>
        <p:nvSpPr>
          <p:cNvPr id="21" name="TextBox 20">
            <a:extLst xmlns:a="http://schemas.openxmlformats.org/drawingml/2006/main">
              <a:ext uri="{FF2B5EF4-FFF2-40B4-BE49-F238E27FC236}">
                <a16:creationId xmlns:a16="http://schemas.microsoft.com/office/drawing/2014/main" id="{C088D834-70EE-F737-6AE1-030852F6AA55}"/>
              </a:ext>
            </a:extLst>
          </p:cNvPr>
          <p:cNvSpPr>
            <a:spLocks xmlns:a="http://schemas.openxmlformats.org/drawingml/2006/main" noGrp="1"/>
          </p:cNvSpPr>
          <p:nvPr/>
        </p:nvSpPr>
        <p:spPr>
          <a:xfrm xmlns:a="http://schemas.openxmlformats.org/drawingml/2006/main">
            <a:off x="2545718" y="32083"/>
            <a:ext cx="7090403" cy="646331"/>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ctr">
              <a:buNone/>
            </a:pPr>
            <a:r>
              <a:rPr sz="1800">
                <a:solidFill>
                  <a:schemeClr val="bg1"/>
                </a:solidFill>
                <a:latin typeface="Arial"/>
                <a:ea typeface="Arial"/>
                <a:cs typeface="Arial"/>
              </a:rPr>
              <a:t>BỘ CÔNG THƯƠNG</a:t>
            </a:r>
          </a:p>
          <a:p xmlns:a="http://schemas.openxmlformats.org/drawingml/2006/main">
            <a:pPr algn="ctr">
              <a:buNone/>
            </a:pPr>
            <a:r>
              <a:rPr sz="1800" b="1">
                <a:solidFill>
                  <a:schemeClr val="bg1"/>
                </a:solidFill>
                <a:latin typeface="Arial"/>
                <a:ea typeface="Arial"/>
                <a:cs typeface="Arial"/>
              </a:rPr>
              <a:t>TRƯỜNG ĐẠI HỌC CÔNG THƯƠNG THÀNH PHỐ HỒ CHÍ MINH</a:t>
            </a:r>
            <a:endParaRPr sz="1800" b="1">
              <a:solidFill>
                <a:schemeClr val="bg1"/>
              </a:solidFill>
              <a:latin typeface="Arial"/>
              <a:ea typeface="Arial"/>
              <a:cs typeface="Arial"/>
            </a:endParaRPr>
          </a:p>
        </p:txBody>
      </p:sp>
      <p:pic>
        <p:nvPicPr>
          <p:cNvPr id="23" name="Picture 22">
            <a:extLst xmlns:a="http://schemas.openxmlformats.org/drawingml/2006/main">
              <a:ext uri="{FF2B5EF4-FFF2-40B4-BE49-F238E27FC236}">
                <a16:creationId xmlns:a16="http://schemas.microsoft.com/office/drawing/2014/main" id="{E80404A2-88FB-4F91-B726-EC3B338D12D7}"/>
              </a:ext>
            </a:extLst>
          </p:cNvPr>
          <p:cNvPicPr>
            <a:picLocks xmlns:a="http://schemas.openxmlformats.org/drawingml/2006/main" noChangeAspect="1"/>
          </p:cNvPicPr>
          <p:nvPr/>
        </p:nvPicPr>
        <p:blipFill>
          <a:blip xmlns:r="http://schemas.openxmlformats.org/officeDocument/2006/relationships" xmlns:a="http://schemas.openxmlformats.org/drawingml/2006/main" r:embed="Rc45fd312dff247fc"/>
          <a:stretch xmlns:a="http://schemas.openxmlformats.org/drawingml/2006/main">
            <a:fillRect l="0" t="0" r="0" b="0"/>
          </a:stretch>
        </p:blipFill>
        <p:spPr>
          <a:xfrm xmlns:a="http://schemas.openxmlformats.org/drawingml/2006/main">
            <a:off x="356133" y="18061"/>
            <a:ext cx="666000" cy="666000"/>
          </a:xfrm>
          <a:prstGeom xmlns:a="http://schemas.openxmlformats.org/drawingml/2006/main" prst="rect">
            <a:avLst/>
          </a:prstGeom>
        </p:spPr>
      </p:pic>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7D56CA0-7F99-A73F-EC74-87E2C37C45F8}"/>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D318B6D4-70AC-4B65-B351-4641C1299010}"/>
              </a:ext>
            </a:extLst>
          </p:cNvPr>
          <p:cNvSpPr>
            <a:spLocks xmlns:a="http://schemas.openxmlformats.org/drawingml/2006/main" noGrp="1"/>
          </p:cNvSpPr>
          <p:nvPr>
            <p:ph type="title" idx="0"/>
          </p:nvPr>
        </p:nvSpPr>
        <p:spPr>
          <a:xfrm xmlns:a="http://schemas.openxmlformats.org/drawingml/2006/main">
            <a:off x="838200" y="884305"/>
            <a:ext cx="10515600" cy="806384"/>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3FF7012-AB55-4877-BB6F-7391544990D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pic>
        <p:nvPicPr>
          <p:cNvPr id="10" name="Picture 9">
            <a:extLst xmlns:a="http://schemas.openxmlformats.org/drawingml/2006/main">
              <a:ext uri="{FF2B5EF4-FFF2-40B4-BE49-F238E27FC236}">
                <a16:creationId xmlns:a16="http://schemas.microsoft.com/office/drawing/2014/main" id="{51F8CAC0-2AF0-4B17-870B-77B4FC996371}"/>
              </a:ext>
            </a:extLst>
          </p:cNvPr>
          <p:cNvPicPr>
            <a:picLocks xmlns:a="http://schemas.openxmlformats.org/drawingml/2006/main" noChangeAspect="1"/>
          </p:cNvPicPr>
          <p:nvPr/>
        </p:nvPicPr>
        <p:blipFill>
          <a:blip xmlns:r="http://schemas.openxmlformats.org/officeDocument/2006/relationships" xmlns:a="http://schemas.openxmlformats.org/drawingml/2006/main" r:embed="R6c4c0d0fa63942ff"/>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
        <p:nvSpPr>
          <p:cNvPr id="11" name="Rectangle 11">
            <a:extLst xmlns:a="http://schemas.openxmlformats.org/drawingml/2006/main">
              <a:ext uri="{FF2B5EF4-FFF2-40B4-BE49-F238E27FC236}">
                <a16:creationId xmlns:a16="http://schemas.microsoft.com/office/drawing/2014/main" id="{D433E92D-1893-9769-8444-34EEDD3F24BC}"/>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2" name="Picture 11">
            <a:extLst xmlns:a="http://schemas.openxmlformats.org/drawingml/2006/main">
              <a:ext uri="{FF2B5EF4-FFF2-40B4-BE49-F238E27FC236}">
                <a16:creationId xmlns:a16="http://schemas.microsoft.com/office/drawing/2014/main" id="{91DFC8DA-4CED-43E0-82C8-C66A549E0051}"/>
              </a:ext>
            </a:extLst>
          </p:cNvPr>
          <p:cNvPicPr>
            <a:picLocks xmlns:a="http://schemas.openxmlformats.org/drawingml/2006/main" noChangeAspect="1"/>
          </p:cNvPicPr>
          <p:nvPr/>
        </p:nvPicPr>
        <p:blipFill>
          <a:blip xmlns:r="http://schemas.openxmlformats.org/officeDocument/2006/relationships" xmlns:a="http://schemas.openxmlformats.org/drawingml/2006/main" r:embed="R0c9fd6c8409845b9"/>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3" name="Slide Number Placeholder 5">
            <a:extLst xmlns:a="http://schemas.openxmlformats.org/drawingml/2006/main">
              <a:ext uri="{FF2B5EF4-FFF2-40B4-BE49-F238E27FC236}">
                <a16:creationId xmlns:a16="http://schemas.microsoft.com/office/drawing/2014/main" id="{FB4E7459-A8A2-5081-F907-74BAE4176EAC}"/>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4" name="TextBox 13">
            <a:extLst xmlns:a="http://schemas.openxmlformats.org/drawingml/2006/main">
              <a:ext uri="{FF2B5EF4-FFF2-40B4-BE49-F238E27FC236}">
                <a16:creationId xmlns:a16="http://schemas.microsoft.com/office/drawing/2014/main" id="{920F50DE-1588-0A68-B2AE-03A7C3A9B079}"/>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0FA27D-1758-43AE-944D-C91614FAEC92}"/>
              </a:ext>
            </a:extLst>
          </p:cNvPr>
          <p:cNvSpPr>
            <a:spLocks xmlns:a="http://schemas.openxmlformats.org/drawingml/2006/main" noGrp="1"/>
          </p:cNvSpPr>
          <p:nvPr>
            <p:ph type="title" idx="0"/>
          </p:nvPr>
        </p:nvSpPr>
        <p:spPr>
          <a:xfrm xmlns:a="http://schemas.openxmlformats.org/drawingml/2006/main">
            <a:off x="831851" y="1709740"/>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2F17F988-F5F3-49C9-AAC4-C61FDB5D58CE}"/>
              </a:ext>
            </a:extLst>
          </p:cNvPr>
          <p:cNvSpPr>
            <a:spLocks xmlns:a="http://schemas.openxmlformats.org/drawingml/2006/main" noGrp="1"/>
          </p:cNvSpPr>
          <p:nvPr>
            <p:ph type="body" idx="1"/>
          </p:nvPr>
        </p:nvSpPr>
        <p:spPr>
          <a:xfrm xmlns:a="http://schemas.openxmlformats.org/drawingml/2006/main">
            <a:off x="831851" y="4589465"/>
            <a:ext cx="10515600" cy="1500187"/>
          </a:xfrm>
        </p:spPr>
        <p:txBody>
          <a:bodyPr xmlns:a="http://schemas.openxmlformats.org/drawingml/2006/main"/>
          <a:lstStyle xmlns:a="http://schemas.openxmlformats.org/drawingml/2006/main">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7" name="Rectangle 6">
            <a:extLst xmlns:a="http://schemas.openxmlformats.org/drawingml/2006/main">
              <a:ext uri="{FF2B5EF4-FFF2-40B4-BE49-F238E27FC236}">
                <a16:creationId xmlns:a16="http://schemas.microsoft.com/office/drawing/2014/main" id="{BFDCC048-85E1-D9DE-466A-D5EAB21DAFC6}"/>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9" name="Rectangle 11">
            <a:extLst xmlns:a="http://schemas.openxmlformats.org/drawingml/2006/main">
              <a:ext uri="{FF2B5EF4-FFF2-40B4-BE49-F238E27FC236}">
                <a16:creationId xmlns:a16="http://schemas.microsoft.com/office/drawing/2014/main" id="{0547C463-86A8-9ADB-B42F-6F8F911146A4}"/>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0" name="Picture 9">
            <a:extLst xmlns:a="http://schemas.openxmlformats.org/drawingml/2006/main">
              <a:ext uri="{FF2B5EF4-FFF2-40B4-BE49-F238E27FC236}">
                <a16:creationId xmlns:a16="http://schemas.microsoft.com/office/drawing/2014/main" id="{30BF93A3-8508-4F3A-A089-1D55CA1F5624}"/>
              </a:ext>
            </a:extLst>
          </p:cNvPr>
          <p:cNvPicPr>
            <a:picLocks xmlns:a="http://schemas.openxmlformats.org/drawingml/2006/main" noChangeAspect="1"/>
          </p:cNvPicPr>
          <p:nvPr/>
        </p:nvPicPr>
        <p:blipFill>
          <a:blip xmlns:r="http://schemas.openxmlformats.org/officeDocument/2006/relationships" xmlns:a="http://schemas.openxmlformats.org/drawingml/2006/main" r:embed="R70ac83f5ea7a41a4"/>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1" name="Slide Number Placeholder 5">
            <a:extLst xmlns:a="http://schemas.openxmlformats.org/drawingml/2006/main">
              <a:ext uri="{FF2B5EF4-FFF2-40B4-BE49-F238E27FC236}">
                <a16:creationId xmlns:a16="http://schemas.microsoft.com/office/drawing/2014/main" id="{A9473FA4-C6C6-7E97-AACE-A35CFDAB768B}"/>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2" name="TextBox 11">
            <a:extLst xmlns:a="http://schemas.openxmlformats.org/drawingml/2006/main">
              <a:ext uri="{FF2B5EF4-FFF2-40B4-BE49-F238E27FC236}">
                <a16:creationId xmlns:a16="http://schemas.microsoft.com/office/drawing/2014/main" id="{5C851853-8430-FC7D-0C05-EA3095D410B2}"/>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6" name="Picture 5">
            <a:extLst xmlns:a="http://schemas.openxmlformats.org/drawingml/2006/main">
              <a:ext uri="{FF2B5EF4-FFF2-40B4-BE49-F238E27FC236}">
                <a16:creationId xmlns:a16="http://schemas.microsoft.com/office/drawing/2014/main" id="{58C4542A-3C04-489A-8754-05CC362DF686}"/>
              </a:ext>
            </a:extLst>
          </p:cNvPr>
          <p:cNvPicPr>
            <a:picLocks xmlns:a="http://schemas.openxmlformats.org/drawingml/2006/main" noChangeAspect="1"/>
          </p:cNvPicPr>
          <p:nvPr/>
        </p:nvPicPr>
        <p:blipFill>
          <a:blip xmlns:r="http://schemas.openxmlformats.org/officeDocument/2006/relationships" xmlns:a="http://schemas.openxmlformats.org/drawingml/2006/main" r:embed="R73d08c3f49054f9c"/>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1CD2CB1-0029-4E7A-B27B-BD54C7040F2E}"/>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D1A35A0-142D-419C-82AB-FF7D66B5CF14}"/>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Rectangle 7">
            <a:extLst xmlns:a="http://schemas.openxmlformats.org/drawingml/2006/main">
              <a:ext uri="{FF2B5EF4-FFF2-40B4-BE49-F238E27FC236}">
                <a16:creationId xmlns:a16="http://schemas.microsoft.com/office/drawing/2014/main" id="{77EE82EC-C435-7D46-EFDD-D5C6A244EEA6}"/>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0B176358-D3A0-438D-96FD-2147F80AE2C2}"/>
              </a:ext>
            </a:extLst>
          </p:cNvPr>
          <p:cNvSpPr>
            <a:spLocks xmlns:a="http://schemas.openxmlformats.org/drawingml/2006/main" noGrp="1"/>
          </p:cNvSpPr>
          <p:nvPr>
            <p:ph type="title" idx="0"/>
          </p:nvPr>
        </p:nvSpPr>
        <p:spPr>
          <a:xfrm xmlns:a="http://schemas.openxmlformats.org/drawingml/2006/main">
            <a:off x="838200" y="977329"/>
            <a:ext cx="10515600" cy="713361"/>
          </a:xfrm>
        </p:spPr>
        <p:txBody>
          <a:bodyPr xmlns:a="http://schemas.openxmlformats.org/drawingml/2006/main"/>
          <a:lstStyle xmlns:a="http://schemas.openxmlformats.org/drawingml/2006/main"/>
          <a:p xmlns:a="http://schemas.openxmlformats.org/drawingml/2006/main">
            <a:r>
              <a:t>Click to edit Master title style</a:t>
            </a:r>
          </a:p>
        </p:txBody>
      </p:sp>
      <p:sp>
        <p:nvSpPr>
          <p:cNvPr id="10" name="Rectangle 11">
            <a:extLst xmlns:a="http://schemas.openxmlformats.org/drawingml/2006/main">
              <a:ext uri="{FF2B5EF4-FFF2-40B4-BE49-F238E27FC236}">
                <a16:creationId xmlns:a16="http://schemas.microsoft.com/office/drawing/2014/main" id="{CE50E531-FF89-E7A1-EC42-5664726867C2}"/>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1" name="Picture 10">
            <a:extLst xmlns:a="http://schemas.openxmlformats.org/drawingml/2006/main">
              <a:ext uri="{FF2B5EF4-FFF2-40B4-BE49-F238E27FC236}">
                <a16:creationId xmlns:a16="http://schemas.microsoft.com/office/drawing/2014/main" id="{582DDCE1-E928-4B5C-932D-43DC2415A4E7}"/>
              </a:ext>
            </a:extLst>
          </p:cNvPr>
          <p:cNvPicPr>
            <a:picLocks xmlns:a="http://schemas.openxmlformats.org/drawingml/2006/main" noChangeAspect="1"/>
          </p:cNvPicPr>
          <p:nvPr/>
        </p:nvPicPr>
        <p:blipFill>
          <a:blip xmlns:r="http://schemas.openxmlformats.org/officeDocument/2006/relationships" xmlns:a="http://schemas.openxmlformats.org/drawingml/2006/main" r:embed="R565877f7a68f4327"/>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2" name="Slide Number Placeholder 5">
            <a:extLst xmlns:a="http://schemas.openxmlformats.org/drawingml/2006/main">
              <a:ext uri="{FF2B5EF4-FFF2-40B4-BE49-F238E27FC236}">
                <a16:creationId xmlns:a16="http://schemas.microsoft.com/office/drawing/2014/main" id="{41F0268C-2917-2762-4664-C6ACF3587D3B}"/>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3" name="TextBox 12">
            <a:extLst xmlns:a="http://schemas.openxmlformats.org/drawingml/2006/main">
              <a:ext uri="{FF2B5EF4-FFF2-40B4-BE49-F238E27FC236}">
                <a16:creationId xmlns:a16="http://schemas.microsoft.com/office/drawing/2014/main" id="{FC7AE9E0-DBEB-84FF-4DC2-C53AC3C7993F}"/>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5" name="Picture 4">
            <a:extLst xmlns:a="http://schemas.openxmlformats.org/drawingml/2006/main">
              <a:ext uri="{FF2B5EF4-FFF2-40B4-BE49-F238E27FC236}">
                <a16:creationId xmlns:a16="http://schemas.microsoft.com/office/drawing/2014/main" id="{28875B45-E78A-4D6D-907E-A81AB9EA1CF8}"/>
              </a:ext>
            </a:extLst>
          </p:cNvPr>
          <p:cNvPicPr>
            <a:picLocks xmlns:a="http://schemas.openxmlformats.org/drawingml/2006/main" noChangeAspect="1"/>
          </p:cNvPicPr>
          <p:nvPr/>
        </p:nvPicPr>
        <p:blipFill>
          <a:blip xmlns:r="http://schemas.openxmlformats.org/officeDocument/2006/relationships" xmlns:a="http://schemas.openxmlformats.org/drawingml/2006/main" r:embed="Rc37d5216423e4564"/>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3" name="Text Placeholder 2">
            <a:extLst xmlns:a="http://schemas.openxmlformats.org/drawingml/2006/main">
              <a:ext uri="{FF2B5EF4-FFF2-40B4-BE49-F238E27FC236}">
                <a16:creationId xmlns:a16="http://schemas.microsoft.com/office/drawing/2014/main" id="{92FFE41E-4F54-4753-B1AF-78AC8FAE7BBA}"/>
              </a:ext>
            </a:extLst>
          </p:cNvPr>
          <p:cNvSpPr>
            <a:spLocks xmlns:a="http://schemas.openxmlformats.org/drawingml/2006/main" noGrp="1"/>
          </p:cNvSpPr>
          <p:nvPr>
            <p:ph type="body" idx="1"/>
          </p:nvPr>
        </p:nvSpPr>
        <p:spPr>
          <a:xfrm xmlns:a="http://schemas.openxmlformats.org/drawingml/2006/main">
            <a:off x="839789"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F66FEF3A-5FAC-49AE-84B8-BDCBC18F0FF0}"/>
              </a:ext>
            </a:extLst>
          </p:cNvPr>
          <p:cNvSpPr>
            <a:spLocks xmlns:a="http://schemas.openxmlformats.org/drawingml/2006/main" noGrp="1"/>
          </p:cNvSpPr>
          <p:nvPr>
            <p:ph idx="2"/>
          </p:nvPr>
        </p:nvSpPr>
        <p:spPr>
          <a:xfrm xmlns:a="http://schemas.openxmlformats.org/drawingml/2006/main">
            <a:off x="839789"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FCB36267-4889-4202-B482-6F951DFA13F7}"/>
              </a:ext>
            </a:extLst>
          </p:cNvPr>
          <p:cNvSpPr>
            <a:spLocks xmlns:a="http://schemas.openxmlformats.org/drawingml/2006/main" noGrp="1"/>
          </p:cNvSpPr>
          <p:nvPr>
            <p:ph type="body" idx="3"/>
          </p:nvPr>
        </p:nvSpPr>
        <p:spPr>
          <a:xfrm xmlns:a="http://schemas.openxmlformats.org/drawingml/2006/main">
            <a:off x="6172201"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C948B84B-3D65-47FB-8BBD-D37EBC508810}"/>
              </a:ext>
            </a:extLst>
          </p:cNvPr>
          <p:cNvSpPr>
            <a:spLocks xmlns:a="http://schemas.openxmlformats.org/drawingml/2006/main" noGrp="1"/>
          </p:cNvSpPr>
          <p:nvPr>
            <p:ph idx="4"/>
          </p:nvPr>
        </p:nvSpPr>
        <p:spPr>
          <a:xfrm xmlns:a="http://schemas.openxmlformats.org/drawingml/2006/main">
            <a:off x="6172201"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Rectangle 9">
            <a:extLst xmlns:a="http://schemas.openxmlformats.org/drawingml/2006/main">
              <a:ext uri="{FF2B5EF4-FFF2-40B4-BE49-F238E27FC236}">
                <a16:creationId xmlns:a16="http://schemas.microsoft.com/office/drawing/2014/main" id="{6BA13BF4-06A1-B98B-FD59-CA5020C120FA}"/>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E951293A-77C0-410C-A53F-7750086E01CD}"/>
              </a:ext>
            </a:extLst>
          </p:cNvPr>
          <p:cNvSpPr>
            <a:spLocks xmlns:a="http://schemas.openxmlformats.org/drawingml/2006/main" noGrp="1"/>
          </p:cNvSpPr>
          <p:nvPr>
            <p:ph type="title" idx="0"/>
          </p:nvPr>
        </p:nvSpPr>
        <p:spPr>
          <a:xfrm xmlns:a="http://schemas.openxmlformats.org/drawingml/2006/main">
            <a:off x="839788" y="866777"/>
            <a:ext cx="10515600" cy="823912"/>
          </a:xfrm>
        </p:spPr>
        <p:txBody>
          <a:bodyPr xmlns:a="http://schemas.openxmlformats.org/drawingml/2006/main"/>
          <a:lstStyle xmlns:a="http://schemas.openxmlformats.org/drawingml/2006/main"/>
          <a:p xmlns:a="http://schemas.openxmlformats.org/drawingml/2006/main">
            <a:r>
              <a:t>Click to edit Master title style</a:t>
            </a:r>
          </a:p>
        </p:txBody>
      </p:sp>
      <p:sp>
        <p:nvSpPr>
          <p:cNvPr id="12" name="Rectangle 11">
            <a:extLst xmlns:a="http://schemas.openxmlformats.org/drawingml/2006/main">
              <a:ext uri="{FF2B5EF4-FFF2-40B4-BE49-F238E27FC236}">
                <a16:creationId xmlns:a16="http://schemas.microsoft.com/office/drawing/2014/main" id="{228D1E83-C000-B443-17A1-67E172C1C81A}"/>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3" name="Picture 12">
            <a:extLst xmlns:a="http://schemas.openxmlformats.org/drawingml/2006/main">
              <a:ext uri="{FF2B5EF4-FFF2-40B4-BE49-F238E27FC236}">
                <a16:creationId xmlns:a16="http://schemas.microsoft.com/office/drawing/2014/main" id="{D001CE01-A875-4215-9B06-37739164BCE6}"/>
              </a:ext>
            </a:extLst>
          </p:cNvPr>
          <p:cNvPicPr>
            <a:picLocks xmlns:a="http://schemas.openxmlformats.org/drawingml/2006/main" noChangeAspect="1"/>
          </p:cNvPicPr>
          <p:nvPr/>
        </p:nvPicPr>
        <p:blipFill>
          <a:blip xmlns:r="http://schemas.openxmlformats.org/officeDocument/2006/relationships" xmlns:a="http://schemas.openxmlformats.org/drawingml/2006/main" r:embed="R6ee7776182f54c23"/>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4" name="Slide Number Placeholder 5">
            <a:extLst xmlns:a="http://schemas.openxmlformats.org/drawingml/2006/main">
              <a:ext uri="{FF2B5EF4-FFF2-40B4-BE49-F238E27FC236}">
                <a16:creationId xmlns:a16="http://schemas.microsoft.com/office/drawing/2014/main" id="{9D622E35-ED11-3E1D-3267-FB7969EBB673}"/>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5" name="TextBox 14">
            <a:extLst xmlns:a="http://schemas.openxmlformats.org/drawingml/2006/main">
              <a:ext uri="{FF2B5EF4-FFF2-40B4-BE49-F238E27FC236}">
                <a16:creationId xmlns:a16="http://schemas.microsoft.com/office/drawing/2014/main" id="{E95FADBA-93BC-7FCB-D7C6-2138FE10BECE}"/>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7" name="Picture 6">
            <a:extLst xmlns:a="http://schemas.openxmlformats.org/drawingml/2006/main">
              <a:ext uri="{FF2B5EF4-FFF2-40B4-BE49-F238E27FC236}">
                <a16:creationId xmlns:a16="http://schemas.microsoft.com/office/drawing/2014/main" id="{A2EDA6A9-30BB-4EE6-8812-B5587C9463CA}"/>
              </a:ext>
            </a:extLst>
          </p:cNvPr>
          <p:cNvPicPr>
            <a:picLocks xmlns:a="http://schemas.openxmlformats.org/drawingml/2006/main" noChangeAspect="1"/>
          </p:cNvPicPr>
          <p:nvPr/>
        </p:nvPicPr>
        <p:blipFill>
          <a:blip xmlns:r="http://schemas.openxmlformats.org/officeDocument/2006/relationships" xmlns:a="http://schemas.openxmlformats.org/drawingml/2006/main" r:embed="R3e2371ac54304e20"/>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AA521EA7-200B-F8EF-FA1A-AF68F6EAFB52}"/>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673D52EB-7900-4B2F-80A8-1891D7A5C2D1}"/>
              </a:ext>
            </a:extLst>
          </p:cNvPr>
          <p:cNvSpPr>
            <a:spLocks xmlns:a="http://schemas.openxmlformats.org/drawingml/2006/main" noGrp="1"/>
          </p:cNvSpPr>
          <p:nvPr>
            <p:ph type="title" idx="0"/>
          </p:nvPr>
        </p:nvSpPr>
        <p:spPr>
          <a:xfrm xmlns:a="http://schemas.openxmlformats.org/drawingml/2006/main">
            <a:off x="838200" y="874059"/>
            <a:ext cx="10515600" cy="816630"/>
          </a:xfrm>
        </p:spPr>
        <p:txBody>
          <a:bodyPr xmlns:a="http://schemas.openxmlformats.org/drawingml/2006/main"/>
          <a:lstStyle xmlns:a="http://schemas.openxmlformats.org/drawingml/2006/main"/>
          <a:p xmlns:a="http://schemas.openxmlformats.org/drawingml/2006/main">
            <a:r>
              <a:t>Click to edit Master title style</a:t>
            </a:r>
          </a:p>
        </p:txBody>
      </p:sp>
      <p:sp>
        <p:nvSpPr>
          <p:cNvPr id="8" name="Rectangle 11">
            <a:extLst xmlns:a="http://schemas.openxmlformats.org/drawingml/2006/main">
              <a:ext uri="{FF2B5EF4-FFF2-40B4-BE49-F238E27FC236}">
                <a16:creationId xmlns:a16="http://schemas.microsoft.com/office/drawing/2014/main" id="{C62A9323-B343-0333-2A84-AB84726F1555}"/>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9" name="Picture 8">
            <a:extLst xmlns:a="http://schemas.openxmlformats.org/drawingml/2006/main">
              <a:ext uri="{FF2B5EF4-FFF2-40B4-BE49-F238E27FC236}">
                <a16:creationId xmlns:a16="http://schemas.microsoft.com/office/drawing/2014/main" id="{50A83A41-1A0E-4039-BB95-6989AC7C4369}"/>
              </a:ext>
            </a:extLst>
          </p:cNvPr>
          <p:cNvPicPr>
            <a:picLocks xmlns:a="http://schemas.openxmlformats.org/drawingml/2006/main" noChangeAspect="1"/>
          </p:cNvPicPr>
          <p:nvPr/>
        </p:nvPicPr>
        <p:blipFill>
          <a:blip xmlns:r="http://schemas.openxmlformats.org/officeDocument/2006/relationships" xmlns:a="http://schemas.openxmlformats.org/drawingml/2006/main" r:embed="R83bd2d87de264f50"/>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0" name="Slide Number Placeholder 5">
            <a:extLst xmlns:a="http://schemas.openxmlformats.org/drawingml/2006/main">
              <a:ext uri="{FF2B5EF4-FFF2-40B4-BE49-F238E27FC236}">
                <a16:creationId xmlns:a16="http://schemas.microsoft.com/office/drawing/2014/main" id="{50B28936-A209-8496-713D-69F064437D73}"/>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1" name="TextBox 10">
            <a:extLst xmlns:a="http://schemas.openxmlformats.org/drawingml/2006/main">
              <a:ext uri="{FF2B5EF4-FFF2-40B4-BE49-F238E27FC236}">
                <a16:creationId xmlns:a16="http://schemas.microsoft.com/office/drawing/2014/main" id="{6E1FC07C-FFBA-6E41-FC9E-B8C545CCA2CA}"/>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3" name="Picture 2">
            <a:extLst xmlns:a="http://schemas.openxmlformats.org/drawingml/2006/main">
              <a:ext uri="{FF2B5EF4-FFF2-40B4-BE49-F238E27FC236}">
                <a16:creationId xmlns:a16="http://schemas.microsoft.com/office/drawing/2014/main" id="{357BCA64-E6B0-4B8D-BC87-F94C971F618C}"/>
              </a:ext>
            </a:extLst>
          </p:cNvPr>
          <p:cNvPicPr>
            <a:picLocks xmlns:a="http://schemas.openxmlformats.org/drawingml/2006/main" noChangeAspect="1"/>
          </p:cNvPicPr>
          <p:nvPr/>
        </p:nvPicPr>
        <p:blipFill>
          <a:blip xmlns:r="http://schemas.openxmlformats.org/officeDocument/2006/relationships" xmlns:a="http://schemas.openxmlformats.org/drawingml/2006/main" r:embed="R21fe253260a74f70"/>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7.xml><?xml version="1.0" encoding="utf-8"?>
<p:sldLayout xmlns:p="http://schemas.openxmlformats.org/presentationml/2006/main" type="blank" preserve="1">
  <p:cSld name="Blank">
    <p:bg>
      <p:bgPr>
        <a:solidFill xmlns:a="http://schemas.openxmlformats.org/drawingml/2006/main">
          <a:srgbClr val="1F72B6"/>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C5A64684-422C-D171-0292-6610A91BE81D}"/>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pic>
        <p:nvPicPr>
          <p:cNvPr id="6" name="Picture 5">
            <a:extLst xmlns:a="http://schemas.openxmlformats.org/drawingml/2006/main">
              <a:ext uri="{FF2B5EF4-FFF2-40B4-BE49-F238E27FC236}">
                <a16:creationId xmlns:a16="http://schemas.microsoft.com/office/drawing/2014/main" id="{D4CE04DC-C87B-48B7-9529-E5C089E5D5D5}"/>
              </a:ext>
            </a:extLst>
          </p:cNvPr>
          <p:cNvPicPr>
            <a:picLocks xmlns:a="http://schemas.openxmlformats.org/drawingml/2006/main" noChangeAspect="1"/>
          </p:cNvPicPr>
          <p:nvPr/>
        </p:nvPicPr>
        <p:blipFill>
          <a:blip xmlns:r="http://schemas.openxmlformats.org/officeDocument/2006/relationships" xmlns:a="http://schemas.openxmlformats.org/drawingml/2006/main" r:embed="Rb7d4ed4e17f846cb"/>
          <a:srcRect xmlns:a="http://schemas.openxmlformats.org/drawingml/2006/main" l="0" t="0" r="0" b="0"/>
          <a:stretch xmlns:a="http://schemas.openxmlformats.org/drawingml/2006/main"/>
        </p:blipFill>
        <p:spPr>
          <a:xfrm xmlns:a="http://schemas.openxmlformats.org/drawingml/2006/main">
            <a:off x="318618" y="2224"/>
            <a:ext cx="3290400" cy="685072"/>
          </a:xfrm>
          <a:prstGeom xmlns:a="http://schemas.openxmlformats.org/drawingml/2006/main" prst="rect">
            <a:avLst/>
          </a:prstGeom>
        </p:spPr>
      </p:pic>
      <p:sp>
        <p:nvSpPr>
          <p:cNvPr id="8" name="Rectangle 11">
            <a:extLst xmlns:a="http://schemas.openxmlformats.org/drawingml/2006/main">
              <a:ext uri="{FF2B5EF4-FFF2-40B4-BE49-F238E27FC236}">
                <a16:creationId xmlns:a16="http://schemas.microsoft.com/office/drawing/2014/main" id="{181386B9-1456-137E-66EE-45A4447494C5}"/>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bg1"/>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9" name="Picture 8">
            <a:extLst xmlns:a="http://schemas.openxmlformats.org/drawingml/2006/main">
              <a:ext uri="{FF2B5EF4-FFF2-40B4-BE49-F238E27FC236}">
                <a16:creationId xmlns:a16="http://schemas.microsoft.com/office/drawing/2014/main" id="{0A874CB9-17D9-4ED2-B25F-1F8670F0FB92}"/>
              </a:ext>
            </a:extLst>
          </p:cNvPr>
          <p:cNvPicPr>
            <a:picLocks xmlns:a="http://schemas.openxmlformats.org/drawingml/2006/main" noChangeAspect="1"/>
          </p:cNvPicPr>
          <p:nvPr/>
        </p:nvPicPr>
        <p:blipFill>
          <a:blip xmlns:r="http://schemas.openxmlformats.org/officeDocument/2006/relationships" xmlns:a="http://schemas.openxmlformats.org/drawingml/2006/main" r:embed="Re9843d55cd134fc0"/>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0" name="Slide Number Placeholder 5">
            <a:extLst xmlns:a="http://schemas.openxmlformats.org/drawingml/2006/main">
              <a:ext uri="{FF2B5EF4-FFF2-40B4-BE49-F238E27FC236}">
                <a16:creationId xmlns:a16="http://schemas.microsoft.com/office/drawing/2014/main" id="{7855B251-549F-CC81-82C4-1791D4DC0F9C}"/>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1" name="TextBox 10">
            <a:extLst xmlns:a="http://schemas.openxmlformats.org/drawingml/2006/main">
              <a:ext uri="{FF2B5EF4-FFF2-40B4-BE49-F238E27FC236}">
                <a16:creationId xmlns:a16="http://schemas.microsoft.com/office/drawing/2014/main" id="{2C95FE02-F81D-DAA0-4384-0E62C5A8FC54}"/>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chemeClr val="bg1"/>
                </a:solidFill>
              </a:rPr>
              <a:t>https://huit.edu.vn</a:t>
            </a:r>
            <a:endParaRPr sz="1000">
              <a:solidFill>
                <a:schemeClr val="bg1"/>
              </a:solidFill>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16DADA63-8732-4454-A583-E0DE069BFEE6}"/>
              </a:ext>
            </a:extLst>
          </p:cNvPr>
          <p:cNvSpPr>
            <a:spLocks xmlns:a="http://schemas.openxmlformats.org/drawingml/2006/main" noGrp="1"/>
          </p:cNvSpPr>
          <p:nvPr>
            <p:ph idx="1"/>
          </p:nvPr>
        </p:nvSpPr>
        <p:spPr>
          <a:xfrm xmlns:a="http://schemas.openxmlformats.org/drawingml/2006/main">
            <a:off x="5183188" y="987426"/>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2E7B0685-1322-4C52-91F4-BB9C0188A728}"/>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8" name="Rectangle 7">
            <a:extLst xmlns:a="http://schemas.openxmlformats.org/drawingml/2006/main">
              <a:ext uri="{FF2B5EF4-FFF2-40B4-BE49-F238E27FC236}">
                <a16:creationId xmlns:a16="http://schemas.microsoft.com/office/drawing/2014/main" id="{57654E7B-7E2F-A597-CEAB-D64DA25FBCEB}"/>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E10DF972-76AE-407E-A9E5-63981E881BE3}"/>
              </a:ext>
            </a:extLst>
          </p:cNvPr>
          <p:cNvSpPr>
            <a:spLocks xmlns:a="http://schemas.openxmlformats.org/drawingml/2006/main" noGrp="1"/>
          </p:cNvSpPr>
          <p:nvPr>
            <p:ph type="title" idx="0"/>
          </p:nvPr>
        </p:nvSpPr>
        <p:spPr>
          <a:xfrm xmlns:a="http://schemas.openxmlformats.org/drawingml/2006/main">
            <a:off x="839788" y="987426"/>
            <a:ext cx="3932237" cy="1069974"/>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10" name="Rectangle 11">
            <a:extLst xmlns:a="http://schemas.openxmlformats.org/drawingml/2006/main">
              <a:ext uri="{FF2B5EF4-FFF2-40B4-BE49-F238E27FC236}">
                <a16:creationId xmlns:a16="http://schemas.microsoft.com/office/drawing/2014/main" id="{EA9AB12A-F2B6-4320-39F1-67F3778EE5DF}"/>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1" name="Picture 10">
            <a:extLst xmlns:a="http://schemas.openxmlformats.org/drawingml/2006/main">
              <a:ext uri="{FF2B5EF4-FFF2-40B4-BE49-F238E27FC236}">
                <a16:creationId xmlns:a16="http://schemas.microsoft.com/office/drawing/2014/main" id="{93D5C031-FCD5-4E99-9B5B-14B9797C70B5}"/>
              </a:ext>
            </a:extLst>
          </p:cNvPr>
          <p:cNvPicPr>
            <a:picLocks xmlns:a="http://schemas.openxmlformats.org/drawingml/2006/main" noChangeAspect="1"/>
          </p:cNvPicPr>
          <p:nvPr/>
        </p:nvPicPr>
        <p:blipFill>
          <a:blip xmlns:r="http://schemas.openxmlformats.org/officeDocument/2006/relationships" xmlns:a="http://schemas.openxmlformats.org/drawingml/2006/main" r:embed="Rec810ea7bc8e416f"/>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2" name="Slide Number Placeholder 5">
            <a:extLst xmlns:a="http://schemas.openxmlformats.org/drawingml/2006/main">
              <a:ext uri="{FF2B5EF4-FFF2-40B4-BE49-F238E27FC236}">
                <a16:creationId xmlns:a16="http://schemas.microsoft.com/office/drawing/2014/main" id="{C8C1A7AF-70A0-C0E9-B2F5-1490BE6C7ADB}"/>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3" name="TextBox 12">
            <a:extLst xmlns:a="http://schemas.openxmlformats.org/drawingml/2006/main">
              <a:ext uri="{FF2B5EF4-FFF2-40B4-BE49-F238E27FC236}">
                <a16:creationId xmlns:a16="http://schemas.microsoft.com/office/drawing/2014/main" id="{CC216FF7-3AE9-85FA-D18A-9862C6DB59AE}"/>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5" name="Picture 4">
            <a:extLst xmlns:a="http://schemas.openxmlformats.org/drawingml/2006/main">
              <a:ext uri="{FF2B5EF4-FFF2-40B4-BE49-F238E27FC236}">
                <a16:creationId xmlns:a16="http://schemas.microsoft.com/office/drawing/2014/main" id="{C574500F-8999-422C-8D48-35D9014513BD}"/>
              </a:ext>
            </a:extLst>
          </p:cNvPr>
          <p:cNvPicPr>
            <a:picLocks xmlns:a="http://schemas.openxmlformats.org/drawingml/2006/main" noChangeAspect="1"/>
          </p:cNvPicPr>
          <p:nvPr/>
        </p:nvPicPr>
        <p:blipFill>
          <a:blip xmlns:r="http://schemas.openxmlformats.org/officeDocument/2006/relationships" xmlns:a="http://schemas.openxmlformats.org/drawingml/2006/main" r:embed="Rbb534ffcb3b34508"/>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3" name="Picture Placeholder 2">
            <a:extLst xmlns:a="http://schemas.openxmlformats.org/drawingml/2006/main">
              <a:ext uri="{FF2B5EF4-FFF2-40B4-BE49-F238E27FC236}">
                <a16:creationId xmlns:a16="http://schemas.microsoft.com/office/drawing/2014/main" id="{34C61657-C052-4666-8650-0CFB917038D9}"/>
              </a:ext>
            </a:extLst>
          </p:cNvPr>
          <p:cNvSpPr>
            <a:spLocks xmlns:a="http://schemas.openxmlformats.org/drawingml/2006/main" noGrp="1"/>
          </p:cNvSpPr>
          <p:nvPr>
            <p:ph type="pic" idx="1"/>
          </p:nvPr>
        </p:nvSpPr>
        <p:spPr>
          <a:xfrm xmlns:a="http://schemas.openxmlformats.org/drawingml/2006/main">
            <a:off x="5183188" y="987426"/>
            <a:ext cx="6172200" cy="4873625"/>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Click icon to add picture</a:t>
            </a:r>
          </a:p>
        </p:txBody>
      </p:sp>
      <p:sp>
        <p:nvSpPr>
          <p:cNvPr id="4" name="Text Placeholder 3">
            <a:extLst xmlns:a="http://schemas.openxmlformats.org/drawingml/2006/main">
              <a:ext uri="{FF2B5EF4-FFF2-40B4-BE49-F238E27FC236}">
                <a16:creationId xmlns:a16="http://schemas.microsoft.com/office/drawing/2014/main" id="{6AF8F07F-678D-4CE4-9A05-7179531271EA}"/>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8" name="Rectangle 7">
            <a:extLst xmlns:a="http://schemas.openxmlformats.org/drawingml/2006/main">
              <a:ext uri="{FF2B5EF4-FFF2-40B4-BE49-F238E27FC236}">
                <a16:creationId xmlns:a16="http://schemas.microsoft.com/office/drawing/2014/main" id="{4B2A7AA7-CA5F-D2FA-2E5E-C3E10A53D359}"/>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245F86DB-3237-4707-B1E3-ECD2F351A1C0}"/>
              </a:ext>
            </a:extLst>
          </p:cNvPr>
          <p:cNvSpPr>
            <a:spLocks xmlns:a="http://schemas.openxmlformats.org/drawingml/2006/main" noGrp="1"/>
          </p:cNvSpPr>
          <p:nvPr>
            <p:ph type="title" idx="0"/>
          </p:nvPr>
        </p:nvSpPr>
        <p:spPr>
          <a:xfrm xmlns:a="http://schemas.openxmlformats.org/drawingml/2006/main">
            <a:off x="839788" y="987426"/>
            <a:ext cx="3932237" cy="1069974"/>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p>
        </p:txBody>
      </p:sp>
      <p:sp>
        <p:nvSpPr>
          <p:cNvPr id="10" name="Rectangle 11">
            <a:extLst xmlns:a="http://schemas.openxmlformats.org/drawingml/2006/main">
              <a:ext uri="{FF2B5EF4-FFF2-40B4-BE49-F238E27FC236}">
                <a16:creationId xmlns:a16="http://schemas.microsoft.com/office/drawing/2014/main" id="{1EDE2594-98FA-EBCE-C733-A51E9F54ED18}"/>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1" name="Picture 10">
            <a:extLst xmlns:a="http://schemas.openxmlformats.org/drawingml/2006/main">
              <a:ext uri="{FF2B5EF4-FFF2-40B4-BE49-F238E27FC236}">
                <a16:creationId xmlns:a16="http://schemas.microsoft.com/office/drawing/2014/main" id="{608D7ED5-AF72-4632-97FB-F1D2A0564164}"/>
              </a:ext>
            </a:extLst>
          </p:cNvPr>
          <p:cNvPicPr>
            <a:picLocks xmlns:a="http://schemas.openxmlformats.org/drawingml/2006/main" noChangeAspect="1"/>
          </p:cNvPicPr>
          <p:nvPr/>
        </p:nvPicPr>
        <p:blipFill>
          <a:blip xmlns:r="http://schemas.openxmlformats.org/officeDocument/2006/relationships" xmlns:a="http://schemas.openxmlformats.org/drawingml/2006/main" r:embed="R8dc52b688e8c47c1"/>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2" name="Slide Number Placeholder 5">
            <a:extLst xmlns:a="http://schemas.openxmlformats.org/drawingml/2006/main">
              <a:ext uri="{FF2B5EF4-FFF2-40B4-BE49-F238E27FC236}">
                <a16:creationId xmlns:a16="http://schemas.microsoft.com/office/drawing/2014/main" id="{ACB5785D-C6E0-0BB4-B792-5DF6906E162F}"/>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3" name="TextBox 12">
            <a:extLst xmlns:a="http://schemas.openxmlformats.org/drawingml/2006/main">
              <a:ext uri="{FF2B5EF4-FFF2-40B4-BE49-F238E27FC236}">
                <a16:creationId xmlns:a16="http://schemas.microsoft.com/office/drawing/2014/main" id="{DDC76ABB-19BA-0D81-2004-CA8C1BFA3211}"/>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5" name="Picture 4">
            <a:extLst xmlns:a="http://schemas.openxmlformats.org/drawingml/2006/main">
              <a:ext uri="{FF2B5EF4-FFF2-40B4-BE49-F238E27FC236}">
                <a16:creationId xmlns:a16="http://schemas.microsoft.com/office/drawing/2014/main" id="{55907C90-FFE5-474E-858C-BB3AC7D3B260}"/>
              </a:ext>
            </a:extLst>
          </p:cNvPr>
          <p:cNvPicPr>
            <a:picLocks xmlns:a="http://schemas.openxmlformats.org/drawingml/2006/main" noChangeAspect="1"/>
          </p:cNvPicPr>
          <p:nvPr/>
        </p:nvPicPr>
        <p:blipFill>
          <a:blip xmlns:r="http://schemas.openxmlformats.org/officeDocument/2006/relationships" xmlns:a="http://schemas.openxmlformats.org/drawingml/2006/main" r:embed="Ree034ae61ad94581"/>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3" name="Vertical Text Placeholder 2">
            <a:extLst xmlns:a="http://schemas.openxmlformats.org/drawingml/2006/main">
              <a:ext uri="{FF2B5EF4-FFF2-40B4-BE49-F238E27FC236}">
                <a16:creationId xmlns:a16="http://schemas.microsoft.com/office/drawing/2014/main" id="{859EBB1B-5BF7-476E-92EC-9921C1FC899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Rectangle 6">
            <a:extLst xmlns:a="http://schemas.openxmlformats.org/drawingml/2006/main">
              <a:ext uri="{FF2B5EF4-FFF2-40B4-BE49-F238E27FC236}">
                <a16:creationId xmlns:a16="http://schemas.microsoft.com/office/drawing/2014/main" id="{B4B8236F-F572-6350-D20A-0FCE1F380099}"/>
              </a:ext>
            </a:extLst>
          </p:cNvPr>
          <p:cNvSpPr>
            <a:spLocks xmlns:a="http://schemas.openxmlformats.org/drawingml/2006/main" noGrp="1"/>
          </p:cNvSpPr>
          <p:nvPr/>
        </p:nvSpPr>
        <p:spPr>
          <a:xfrm xmlns:a="http://schemas.openxmlformats.org/drawingml/2006/main">
            <a:off x="0" y="-8444"/>
            <a:ext cx="12192000" cy="713361"/>
          </a:xfrm>
          <a:prstGeom xmlns:a="http://schemas.openxmlformats.org/drawingml/2006/main" prst="rect">
            <a:avLst/>
          </a:pr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800"/>
          </a:p>
        </p:txBody>
      </p:sp>
      <p:sp>
        <p:nvSpPr>
          <p:cNvPr id="2" name="Title 1">
            <a:extLst xmlns:a="http://schemas.openxmlformats.org/drawingml/2006/main">
              <a:ext uri="{FF2B5EF4-FFF2-40B4-BE49-F238E27FC236}">
                <a16:creationId xmlns:a16="http://schemas.microsoft.com/office/drawing/2014/main" id="{E5D07ABC-CEDA-4720-B358-4C34256B60AE}"/>
              </a:ext>
            </a:extLst>
          </p:cNvPr>
          <p:cNvSpPr>
            <a:spLocks xmlns:a="http://schemas.openxmlformats.org/drawingml/2006/main" noGrp="1"/>
          </p:cNvSpPr>
          <p:nvPr>
            <p:ph type="title" idx="0"/>
          </p:nvPr>
        </p:nvSpPr>
        <p:spPr>
          <a:xfrm xmlns:a="http://schemas.openxmlformats.org/drawingml/2006/main">
            <a:off x="838200" y="884304"/>
            <a:ext cx="10515600" cy="806385"/>
          </a:xfrm>
        </p:spPr>
        <p:txBody>
          <a:bodyPr xmlns:a="http://schemas.openxmlformats.org/drawingml/2006/main"/>
          <a:lstStyle xmlns:a="http://schemas.openxmlformats.org/drawingml/2006/main"/>
          <a:p xmlns:a="http://schemas.openxmlformats.org/drawingml/2006/main">
            <a:r>
              <a:t>Click to edit Master title style</a:t>
            </a:r>
          </a:p>
        </p:txBody>
      </p:sp>
      <p:sp>
        <p:nvSpPr>
          <p:cNvPr id="9" name="Rectangle 11">
            <a:extLst xmlns:a="http://schemas.openxmlformats.org/drawingml/2006/main">
              <a:ext uri="{FF2B5EF4-FFF2-40B4-BE49-F238E27FC236}">
                <a16:creationId xmlns:a16="http://schemas.microsoft.com/office/drawing/2014/main" id="{9C659F1E-1F51-522D-AC8E-BE6E140A9E7D}"/>
              </a:ext>
            </a:extLst>
          </p:cNvPr>
          <p:cNvSpPr>
            <a:spLocks xmlns:a="http://schemas.openxmlformats.org/drawingml/2006/main" noGrp="1"/>
          </p:cNvSpPr>
          <p:nvPr/>
        </p:nvSpPr>
        <p:spPr>
          <a:xfrm xmlns:a="http://schemas.openxmlformats.org/drawingml/2006/main">
            <a:off x="1775458" y="6721474"/>
            <a:ext cx="10416543" cy="136562"/>
          </a:xfrm>
          <a:custGeom xmlns:a="http://schemas.openxmlformats.org/drawingml/2006/main">
            <a:gdLst>
              <a:gd name="connsiteX0" fmla="*/ 0 w 8093413"/>
              <a:gd name="connsiteY0" fmla="*/ 0 h 133200"/>
              <a:gd name="connsiteX1" fmla="*/ 8093413 w 8093413"/>
              <a:gd name="connsiteY1" fmla="*/ 0 h 133200"/>
              <a:gd name="connsiteX2" fmla="*/ 8093413 w 8093413"/>
              <a:gd name="connsiteY2" fmla="*/ 133200 h 133200"/>
              <a:gd name="connsiteX3" fmla="*/ 0 w 8093413"/>
              <a:gd name="connsiteY3" fmla="*/ 133200 h 133200"/>
              <a:gd name="connsiteX4" fmla="*/ 0 w 8093413"/>
              <a:gd name="connsiteY4" fmla="*/ 0 h 133200"/>
              <a:gd name="connsiteX0" fmla="*/ 94130 w 8187543"/>
              <a:gd name="connsiteY0" fmla="*/ 0 h 136562"/>
              <a:gd name="connsiteX1" fmla="*/ 8187543 w 8187543"/>
              <a:gd name="connsiteY1" fmla="*/ 0 h 136562"/>
              <a:gd name="connsiteX2" fmla="*/ 8187543 w 8187543"/>
              <a:gd name="connsiteY2" fmla="*/ 133200 h 136562"/>
              <a:gd name="connsiteX3" fmla="*/ 0 w 8187543"/>
              <a:gd name="connsiteY3" fmla="*/ 136562 h 136562"/>
              <a:gd name="connsiteX4" fmla="*/ 94130 w 8187543"/>
              <a:gd name="connsiteY4" fmla="*/ 0 h 136562"/>
            </a:gdLst>
            <a:rect l="l" t="t" r="r" b="b"/>
            <a:pathLst>
              <a:path w="8187543" h="136562">
                <a:moveTo>
                  <a:pt x="94130" y="0"/>
                </a:moveTo>
                <a:lnTo>
                  <a:pt x="8187543" y="0"/>
                </a:lnTo>
                <a:lnTo>
                  <a:pt x="8187543" y="133200"/>
                </a:lnTo>
                <a:lnTo>
                  <a:pt x="0" y="136562"/>
                </a:lnTo>
                <a:lnTo>
                  <a:pt x="94130" y="0"/>
                </a:lnTo>
                <a:close/>
              </a:path>
            </a:pathLst>
          </a:custGeom>
          <a:solidFill xmlns:a="http://schemas.openxmlformats.org/drawingml/2006/main">
            <a:schemeClr val="accent2"/>
          </a:soli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800"/>
              <a:t> </a:t>
            </a:r>
          </a:p>
        </p:txBody>
      </p:sp>
      <p:pic>
        <p:nvPicPr>
          <p:cNvPr id="10" name="Picture 9">
            <a:extLst xmlns:a="http://schemas.openxmlformats.org/drawingml/2006/main">
              <a:ext uri="{FF2B5EF4-FFF2-40B4-BE49-F238E27FC236}">
                <a16:creationId xmlns:a16="http://schemas.microsoft.com/office/drawing/2014/main" id="{FC2C6C7A-4AC5-44CF-9F71-4CB8D4154964}"/>
              </a:ext>
            </a:extLst>
          </p:cNvPr>
          <p:cNvPicPr>
            <a:picLocks xmlns:a="http://schemas.openxmlformats.org/drawingml/2006/main" noChangeAspect="1"/>
          </p:cNvPicPr>
          <p:nvPr/>
        </p:nvPicPr>
        <p:blipFill>
          <a:blip xmlns:r="http://schemas.openxmlformats.org/officeDocument/2006/relationships" xmlns:a="http://schemas.openxmlformats.org/drawingml/2006/main" r:embed="R64b462639c554da2"/>
          <a:srcRect xmlns:a="http://schemas.openxmlformats.org/drawingml/2006/main" l="0" t="0" r="0" b="0"/>
          <a:stretch xmlns:a="http://schemas.openxmlformats.org/drawingml/2006/main"/>
        </p:blipFill>
        <p:spPr>
          <a:xfrm xmlns:a="http://schemas.openxmlformats.org/drawingml/2006/main">
            <a:off x="1828826" y="6739175"/>
            <a:ext cx="10363148" cy="101806"/>
          </a:xfrm>
          <a:prstGeom xmlns:a="http://schemas.openxmlformats.org/drawingml/2006/main" prst="rect">
            <a:avLst/>
          </a:prstGeom>
        </p:spPr>
      </p:pic>
      <p:sp>
        <p:nvSpPr>
          <p:cNvPr id="11" name="Slide Number Placeholder 5">
            <a:extLst xmlns:a="http://schemas.openxmlformats.org/drawingml/2006/main">
              <a:ext uri="{FF2B5EF4-FFF2-40B4-BE49-F238E27FC236}">
                <a16:creationId xmlns:a16="http://schemas.microsoft.com/office/drawing/2014/main" id="{2B8E042D-2BAA-2A3F-EC27-380C92DBE4B0}"/>
              </a:ext>
            </a:extLst>
          </p:cNvPr>
          <p:cNvSpPr>
            <a:spLocks xmlns:a="http://schemas.openxmlformats.org/drawingml/2006/main" noGrp="1"/>
          </p:cNvSpPr>
          <p:nvPr>
            <p:ph type="sldNum" idx="12"/>
          </p:nvPr>
        </p:nvSpPr>
        <p:spPr>
          <a:xfrm xmlns:a="http://schemas.openxmlformats.org/drawingml/2006/main">
            <a:off x="11676283" y="6599573"/>
            <a:ext cx="505557" cy="365125"/>
          </a:xfrm>
        </p:spPr>
        <p:txBody>
          <a:bodyPr xmlns:a="http://schemas.openxmlformats.org/drawingml/2006/main"/>
          <a:lstStyle xmlns:a="http://schemas.openxmlformats.org/drawingml/2006/main">
            <a:lvl1pPr>
              <a:buNone/>
              <a:defRPr sz="1000">
                <a:solidFill>
                  <a:schemeClr val="bg1"/>
                </a:solidFill>
              </a:defRPr>
            </a:lvl1pPr>
          </a:lstStyle>
          <a:p xmlns:a="http://schemas.openxmlformats.org/drawingml/2006/main">
            <a:fld id="{D379440A-2DED-3643-ADED-9B5C83E7D828}" type="slidenum">
              <a:t>‹#›</a:t>
            </a:fld>
            <a:endParaRPr/>
          </a:p>
        </p:txBody>
      </p:sp>
      <p:sp>
        <p:nvSpPr>
          <p:cNvPr id="12" name="TextBox 11">
            <a:extLst xmlns:a="http://schemas.openxmlformats.org/drawingml/2006/main">
              <a:ext uri="{FF2B5EF4-FFF2-40B4-BE49-F238E27FC236}">
                <a16:creationId xmlns:a16="http://schemas.microsoft.com/office/drawing/2014/main" id="{00CD5B80-37F9-BE16-90B3-B1958D8A8755}"/>
              </a:ext>
            </a:extLst>
          </p:cNvPr>
          <p:cNvSpPr>
            <a:spLocks xmlns:a="http://schemas.openxmlformats.org/drawingml/2006/main" noGrp="1"/>
          </p:cNvSpPr>
          <p:nvPr/>
        </p:nvSpPr>
        <p:spPr>
          <a:xfrm xmlns:a="http://schemas.openxmlformats.org/drawingml/2006/main">
            <a:off x="140379" y="6663076"/>
            <a:ext cx="1624919" cy="25391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1000">
                <a:solidFill>
                  <a:srgbClr val="0070C0"/>
                </a:solidFill>
              </a:rPr>
              <a:t>https://huit.edu.vn</a:t>
            </a:r>
            <a:endParaRPr sz="1000">
              <a:solidFill>
                <a:srgbClr val="0070C0"/>
              </a:solidFill>
            </a:endParaRPr>
          </a:p>
        </p:txBody>
      </p:sp>
      <p:pic>
        <p:nvPicPr>
          <p:cNvPr id="4" name="Picture 3">
            <a:extLst xmlns:a="http://schemas.openxmlformats.org/drawingml/2006/main">
              <a:ext uri="{FF2B5EF4-FFF2-40B4-BE49-F238E27FC236}">
                <a16:creationId xmlns:a16="http://schemas.microsoft.com/office/drawing/2014/main" id="{93216963-FA83-45B2-9F2C-F0D399468936}"/>
              </a:ext>
            </a:extLst>
          </p:cNvPr>
          <p:cNvPicPr>
            <a:picLocks xmlns:a="http://schemas.openxmlformats.org/drawingml/2006/main" noChangeAspect="1"/>
          </p:cNvPicPr>
          <p:nvPr/>
        </p:nvPicPr>
        <p:blipFill>
          <a:blip xmlns:r="http://schemas.openxmlformats.org/officeDocument/2006/relationships" xmlns:a="http://schemas.openxmlformats.org/drawingml/2006/main" r:embed="Rdf29017003874879"/>
          <a:stretch xmlns:a="http://schemas.openxmlformats.org/drawingml/2006/main">
            <a:fillRect l="0" t="0" r="0" b="0"/>
          </a:stretch>
        </p:blipFill>
        <p:spPr>
          <a:xfrm xmlns:a="http://schemas.openxmlformats.org/drawingml/2006/main">
            <a:off x="318618" y="2224"/>
            <a:ext cx="3290400" cy="68507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7b9083bd134869" /><Relationship Type="http://schemas.openxmlformats.org/officeDocument/2006/relationships/slideLayout" Target="/ppt/slideLayouts/slideLayout1.xml" Id="Re4a82ca1d02841a3" /><Relationship Type="http://schemas.openxmlformats.org/officeDocument/2006/relationships/slideLayout" Target="/ppt/slideLayouts/slideLayout2.xml" Id="R730ad8259e5049e3" /><Relationship Type="http://schemas.openxmlformats.org/officeDocument/2006/relationships/slideLayout" Target="/ppt/slideLayouts/slideLayout3.xml" Id="Rfd4895bcc3bc48bc" /><Relationship Type="http://schemas.openxmlformats.org/officeDocument/2006/relationships/slideLayout" Target="/ppt/slideLayouts/slideLayout4.xml" Id="R076793679d2e41bf" /><Relationship Type="http://schemas.openxmlformats.org/officeDocument/2006/relationships/slideLayout" Target="/ppt/slideLayouts/slideLayout5.xml" Id="R031085c5d26e42ff" /><Relationship Type="http://schemas.openxmlformats.org/officeDocument/2006/relationships/slideLayout" Target="/ppt/slideLayouts/slideLayout6.xml" Id="Rc648894eeb0f4577" /><Relationship Type="http://schemas.openxmlformats.org/officeDocument/2006/relationships/slideLayout" Target="/ppt/slideLayouts/slideLayout7.xml" Id="Rf22ee4ef98494484" /><Relationship Type="http://schemas.openxmlformats.org/officeDocument/2006/relationships/slideLayout" Target="/ppt/slideLayouts/slideLayout8.xml" Id="R3aec31af2e3b4da0" /><Relationship Type="http://schemas.openxmlformats.org/officeDocument/2006/relationships/slideLayout" Target="/ppt/slideLayouts/slideLayout9.xml" Id="R40e93c8cf9bd4f3a" /><Relationship Type="http://schemas.openxmlformats.org/officeDocument/2006/relationships/slideLayout" Target="/ppt/slideLayouts/slideLayout10.xml" Id="R0f88089540f54659"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714251E-71D8-47B2-B99F-7A2C4F1DC2F1}"/>
              </a:ext>
            </a:extLst>
          </p:cNvPr>
          <p:cNvSpPr>
            <a:spLocks xmlns:a="http://schemas.openxmlformats.org/drawingml/2006/main" noGrp="1"/>
          </p:cNvSpPr>
          <p:nvPr>
            <p:ph type="title" idx="0"/>
          </p:nvPr>
        </p:nvSpPr>
        <p:spPr>
          <a:xfrm xmlns:a="http://schemas.openxmlformats.org/drawingml/2006/main">
            <a:off x="838200" y="365126"/>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887F1232-4362-4A03-82F6-18F0A86D485E}"/>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8DAC458-D8FA-40E8-913F-30EEB76C3E97}"/>
              </a:ext>
            </a:extLst>
          </p:cNvPr>
          <p:cNvSpPr>
            <a:spLocks xmlns:a="http://schemas.openxmlformats.org/drawingml/2006/main" noGrp="1"/>
          </p:cNvSpPr>
          <p:nvPr>
            <p:ph type="dt" idx="2"/>
          </p:nvPr>
        </p:nvSpPr>
        <p:spPr>
          <a:xfrm xmlns:a="http://schemas.openxmlformats.org/drawingml/2006/main">
            <a:off x="838200" y="6356352"/>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7802366D-8698-B649-944B-CF1A6B166FF8}" type="datetimeFigureOut">
              <a:t>06/11/2023</a:t>
            </a:fld>
            <a:endParaRPr/>
          </a:p>
        </p:txBody>
      </p:sp>
      <p:sp>
        <p:nvSpPr>
          <p:cNvPr id="5" name="Footer Placeholder 4">
            <a:extLst xmlns:a="http://schemas.openxmlformats.org/drawingml/2006/main">
              <a:ext uri="{FF2B5EF4-FFF2-40B4-BE49-F238E27FC236}">
                <a16:creationId xmlns:a16="http://schemas.microsoft.com/office/drawing/2014/main" id="{D98C2665-0B61-4BDB-8DD7-3F8560F564FC}"/>
              </a:ext>
            </a:extLst>
          </p:cNvPr>
          <p:cNvSpPr>
            <a:spLocks xmlns:a="http://schemas.openxmlformats.org/drawingml/2006/main" noGrp="1"/>
          </p:cNvSpPr>
          <p:nvPr>
            <p:ph type="ftr" idx="3"/>
          </p:nvPr>
        </p:nvSpPr>
        <p:spPr>
          <a:xfrm xmlns:a="http://schemas.openxmlformats.org/drawingml/2006/main">
            <a:off x="4038600" y="6356352"/>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4FE0436-149A-40F1-8C9F-BFBD90CA1582}"/>
              </a:ext>
            </a:extLst>
          </p:cNvPr>
          <p:cNvSpPr>
            <a:spLocks xmlns:a="http://schemas.openxmlformats.org/drawingml/2006/main" noGrp="1"/>
          </p:cNvSpPr>
          <p:nvPr>
            <p:ph type="sldNum" idx="4"/>
          </p:nvPr>
        </p:nvSpPr>
        <p:spPr>
          <a:xfrm xmlns:a="http://schemas.openxmlformats.org/drawingml/2006/main">
            <a:off x="8610600" y="6356352"/>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D379440A-2DED-3643-ADED-9B5C83E7D82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4a82ca1d02841a3"/>
    <p:sldLayoutId xmlns:r="http://schemas.openxmlformats.org/officeDocument/2006/relationships" id="2147483650" r:id="R730ad8259e5049e3"/>
    <p:sldLayoutId xmlns:r="http://schemas.openxmlformats.org/officeDocument/2006/relationships" id="2147483651" r:id="Rfd4895bcc3bc48bc"/>
    <p:sldLayoutId xmlns:r="http://schemas.openxmlformats.org/officeDocument/2006/relationships" id="2147483652" r:id="R076793679d2e41bf"/>
    <p:sldLayoutId xmlns:r="http://schemas.openxmlformats.org/officeDocument/2006/relationships" id="2147483653" r:id="R031085c5d26e42ff"/>
    <p:sldLayoutId xmlns:r="http://schemas.openxmlformats.org/officeDocument/2006/relationships" id="2147483654" r:id="Rc648894eeb0f4577"/>
    <p:sldLayoutId xmlns:r="http://schemas.openxmlformats.org/officeDocument/2006/relationships" id="2147483655" r:id="Rf22ee4ef98494484"/>
    <p:sldLayoutId xmlns:r="http://schemas.openxmlformats.org/officeDocument/2006/relationships" id="2147483656" r:id="R3aec31af2e3b4da0"/>
    <p:sldLayoutId xmlns:r="http://schemas.openxmlformats.org/officeDocument/2006/relationships" id="2147483657" r:id="R40e93c8cf9bd4f3a"/>
    <p:sldLayoutId xmlns:r="http://schemas.openxmlformats.org/officeDocument/2006/relationships" id="2147483658" r:id="R0f88089540f54659"/>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U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13521f90e764d3c" /><Relationship Type="http://schemas.openxmlformats.org/officeDocument/2006/relationships/notesSlide" Target="/ppt/notesSlides/notesSlide1.xml" Id="R40625414f68b4b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1985f3ccf2b485e" /><Relationship Type="http://schemas.openxmlformats.org/officeDocument/2006/relationships/notesSlide" Target="/ppt/notesSlides/notesSlide2.xml" Id="Rcc74ba6ad2ef4e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70e1a08aca046bc" /><Relationship Type="http://schemas.openxmlformats.org/officeDocument/2006/relationships/notesSlide" Target="/ppt/notesSlides/notesSlide3.xml" Id="Raf5f0faecd2543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0ea6776ed5248d5" /><Relationship Type="http://schemas.openxmlformats.org/officeDocument/2006/relationships/notesSlide" Target="/ppt/notesSlides/notesSlide4.xml" Id="Rdbddf25cee754d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8f243fc98ad04c33" /><Relationship Type="http://schemas.openxmlformats.org/officeDocument/2006/relationships/notesSlide" Target="/ppt/notesSlides/notesSlide5.xml" Id="R991fdabca791407a"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f151618a12be4ce5" /><Relationship Type="http://schemas.openxmlformats.org/officeDocument/2006/relationships/notesSlide" Target="/ppt/notesSlides/notesSlide6.xml" Id="R5fb6154bf13c49d9"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bf52778e6804045" /><Relationship Type="http://schemas.openxmlformats.org/officeDocument/2006/relationships/notesSlide" Target="/ppt/notesSlides/notesSlide7.xml" Id="R468cbaa59f1345d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a5213a17b229412e" /><Relationship Type="http://schemas.openxmlformats.org/officeDocument/2006/relationships/notesSlide" Target="/ppt/notesSlides/notesSlide8.xml" Id="R5da9a718abca4f14"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d51c167945204958" /><Relationship Type="http://schemas.openxmlformats.org/officeDocument/2006/relationships/notesSlide" Target="/ppt/notesSlides/notesSlide9.xml" Id="R4400cc4a64cf45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e73fb8aa72904f14" /><Relationship Type="http://schemas.openxmlformats.org/officeDocument/2006/relationships/notesSlide" Target="/ppt/notesSlides/notesSlide10.xml" Id="R908dbc01de784ca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adf93c2966244a47" /><Relationship Type="http://schemas.openxmlformats.org/officeDocument/2006/relationships/notesSlide" Target="/ppt/notesSlides/notesSlide11.xml" Id="R475f2d7a389949a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a6540d3be0a94bfc" /><Relationship Type="http://schemas.openxmlformats.org/officeDocument/2006/relationships/notesSlide" Target="/ppt/notesSlides/notesSlide12.xml" Id="R98795d6fa8aa47e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4b3d22bb45743a6" /><Relationship Type="http://schemas.openxmlformats.org/officeDocument/2006/relationships/notesSlide" Target="/ppt/notesSlides/notesSlide13.xml" Id="R30c937c755e64d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94517224792e4a78" /><Relationship Type="http://schemas.openxmlformats.org/officeDocument/2006/relationships/notesSlide" Target="/ppt/notesSlides/notesSlide14.xml" Id="Rbaa550583daf46f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d90d9b170c6a49f7" /><Relationship Type="http://schemas.openxmlformats.org/officeDocument/2006/relationships/notesSlide" Target="/ppt/notesSlides/notesSlide15.xml" Id="Rd2680de73e5349b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db9b4a720d564022" /><Relationship Type="http://schemas.openxmlformats.org/officeDocument/2006/relationships/notesSlide" Target="/ppt/notesSlides/notesSlide16.xml" Id="Rdbb9051af1ba49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4570f2ed57174cac" /><Relationship Type="http://schemas.openxmlformats.org/officeDocument/2006/relationships/notesSlide" Target="/ppt/notesSlides/notesSlide17.xml" Id="Rf031fb81d748491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ba28840bf5f430c" /><Relationship Type="http://schemas.openxmlformats.org/officeDocument/2006/relationships/notesSlide" Target="/ppt/notesSlides/notesSlide18.xml" Id="R33860745de1640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eb0af2c6050647c9" /><Relationship Type="http://schemas.openxmlformats.org/officeDocument/2006/relationships/notesSlide" Target="/ppt/notesSlides/notesSlide19.xml" Id="R97e665adb761437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fc4b7d03b844575" /><Relationship Type="http://schemas.openxmlformats.org/officeDocument/2006/relationships/notesSlide" Target="/ppt/notesSlides/notesSlide20.xml" Id="R6c59e6bd9f5a4e5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50d5a0d954214bbe" /><Relationship Type="http://schemas.openxmlformats.org/officeDocument/2006/relationships/notesSlide" Target="/ppt/notesSlides/notesSlide21.xml" Id="R5f5c53840f42450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8771750067114da4" /><Relationship Type="http://schemas.openxmlformats.org/officeDocument/2006/relationships/notesSlide" Target="/ppt/notesSlides/notesSlide22.xml" Id="R5303c7285d1545c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9016ae5adc1b4fae" /><Relationship Type="http://schemas.openxmlformats.org/officeDocument/2006/relationships/notesSlide" Target="/ppt/notesSlides/notesSlide23.xml" Id="R2d2434fce08e44c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619324048ad344b7" /><Relationship Type="http://schemas.openxmlformats.org/officeDocument/2006/relationships/chart" Target="/ppt/slides/charts/chart1.xml" Id="R332c94a0ece94b30" /><Relationship Type="http://schemas.openxmlformats.org/officeDocument/2006/relationships/notesSlide" Target="/ppt/notesSlides/notesSlide24.xml" Id="Re891728ff855445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6781c509b5f4328" /><Relationship Type="http://schemas.openxmlformats.org/officeDocument/2006/relationships/notesSlide" Target="/ppt/notesSlides/notesSlide25.xml" Id="R8e9f1d03ff5047f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03af033cb0524e79" /><Relationship Type="http://schemas.openxmlformats.org/officeDocument/2006/relationships/chart" Target="/ppt/slides/charts/chart2.xml" Id="R723155ae26b84256" /><Relationship Type="http://schemas.openxmlformats.org/officeDocument/2006/relationships/notesSlide" Target="/ppt/notesSlides/notesSlide26.xml" Id="R8531a8d3fb754a9d"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5dbbdfb2d3684057" /><Relationship Type="http://schemas.openxmlformats.org/officeDocument/2006/relationships/notesSlide" Target="/ppt/notesSlides/notesSlide27.xml" Id="R55f9355d48e84d5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60fa48b58c2244ee" /><Relationship Type="http://schemas.openxmlformats.org/officeDocument/2006/relationships/notesSlide" Target="/ppt/notesSlides/notesSlide28.xml" Id="Rd77512e4ee91455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71c0551d1ebe4451" /><Relationship Type="http://schemas.openxmlformats.org/officeDocument/2006/relationships/chart" Target="/ppt/slides/charts/chart3.xml" Id="R802663768a614929" /><Relationship Type="http://schemas.openxmlformats.org/officeDocument/2006/relationships/notesSlide" Target="/ppt/notesSlides/notesSlide29.xml" Id="Re59eefb757a04b0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9bed6e2c72e0480d" /><Relationship Type="http://schemas.openxmlformats.org/officeDocument/2006/relationships/notesSlide" Target="/ppt/notesSlides/notesSlide30.xml" Id="R6f7b596fd4914b9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c6dc218f30a44a14" /><Relationship Type="http://schemas.openxmlformats.org/officeDocument/2006/relationships/notesSlide" Target="/ppt/notesSlides/notesSlide31.xml" Id="Rcfa39c50912b4c2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b100cd9048ed4617" /><Relationship Type="http://schemas.openxmlformats.org/officeDocument/2006/relationships/notesSlide" Target="/ppt/notesSlides/notesSlide32.xml" Id="R4dae2f69a29f49af"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D39"/>
                </a:solidFill>
                <a:latin typeface="Arial"/>
                <a:ea typeface="Arial"/>
                <a:cs typeface="Arial"/>
              </a:rPr>
              <a:t>Macro F1 của sáu mô hình CPU</a:t>
            </a:r>
          </a:p>
        </c:rich>
      </c:tx>
      <c:overlay val="0"/>
      <c:txPr>
        <a:bodyPr xmlns:a="http://schemas.openxmlformats.org/drawingml/2006/main" anchorCtr="1"/>
        <a:lstStyle xmlns:a="http://schemas.openxmlformats.org/drawingml/2006/main"/>
        <a:p xmlns:a="http://schemas.openxmlformats.org/drawingml/2006/main">
          <a:pPr>
            <a:defRPr sz="1725" b="1">
              <a:solidFill>
                <a:srgbClr val="202D39"/>
              </a:solidFill>
              <a:latin typeface="Arial"/>
              <a:ea typeface="Arial"/>
              <a:cs typeface="Arial"/>
            </a:defRPr>
          </a:pPr>
        </a:p>
      </c:txPr>
    </c:title>
    <c:plotArea>
      <c:barChart>
        <c:barDir val="bar"/>
        <c:grouping val="clustered"/>
        <c:varyColors val="0"/>
        <c:ser>
          <c:idx val="0"/>
          <c:order val="0"/>
          <c:tx>
            <c:v>Macro F1</c:v>
          </c:tx>
          <c:spPr>
            <a:solidFill xmlns:a="http://schemas.openxmlformats.org/drawingml/2006/main">
              <a:srgbClr val="2072B7"/>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14,73%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15,56%</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14,73%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650">
                        <a:solidFill>
                          <a:srgbClr val="202D39"/>
                        </a:solidFill>
                      </a:rPr>
                      <a:t>15,87%</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650">
                        <a:solidFill>
                          <a:srgbClr val="202D39"/>
                        </a:solidFill>
                      </a:rPr>
                      <a:t>15,50%</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650">
                        <a:solidFill>
                          <a:srgbClr val="202D39"/>
                        </a:solidFill>
                      </a:rPr>
                      <a:t>15,77%</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showLegendKey val="0"/>
            <c:showVal val="0"/>
            <c:showCatName val="0"/>
            <c:showSerName val="0"/>
            <c:showPercent val="0"/>
            <c:showBubbleSize val="0"/>
            <c:showLeaderLines val="0"/>
          </c:dLbls>
          <c:cat>
            <c:strLit>
              <c:ptCount val="6"/>
              <c:pt idx="0">
                <c:v>Logistic Reg.</c:v>
              </c:pt>
              <c:pt idx="1">
                <c:v>Decision Tree</c:v>
              </c:pt>
              <c:pt idx="2">
                <c:v>Random Forest</c:v>
              </c:pt>
              <c:pt idx="3">
                <c:v>LightGBM</c:v>
              </c:pt>
              <c:pt idx="4">
                <c:v>XGBoost</c:v>
              </c:pt>
              <c:pt idx="5">
                <c:v>CatBoost</c:v>
              </c:pt>
            </c:strLit>
          </c:cat>
          <c:val>
            <c:numLit>
              <c:formatCode>0.00</c:formatCode>
              <c:ptCount val="6"/>
              <c:pt idx="0">
                <c:v>14.73</c:v>
              </c:pt>
              <c:pt idx="1">
                <c:v>15.56</c:v>
              </c:pt>
              <c:pt idx="2">
                <c:v>14.73</c:v>
              </c:pt>
              <c:pt idx="3">
                <c:v>15.87</c:v>
              </c:pt>
              <c:pt idx="4">
                <c:v>15.5</c:v>
              </c:pt>
              <c:pt idx="5">
                <c:v>15.77</c:v>
              </c:pt>
            </c:numLit>
          </c:val>
        </c:ser>
        <c:dLbls>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A5B9CA"/>
            </a:solidFill>
          </a:ln>
        </c:spPr>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crossAx val="48672768"/>
      </c:catAx>
      <c:valAx>
        <c:axId val="48672768"/>
        <c:scaling>
          <c:orientation val="minMax"/>
          <c:max val="20"/>
          <c:min val="0"/>
        </c:scaling>
        <c:delete val="0"/>
        <c:axPos val="b"/>
        <c:majorGridlines>
          <c:spPr>
            <a:ln xmlns:a="http://schemas.openxmlformats.org/drawingml/2006/main" w="9525">
              <a:solidFill>
                <a:srgbClr val="DDE7EE"/>
              </a:solidFill>
            </a:ln>
          </c:spPr>
        </c:majorGridlines>
        <c:title>
          <c:tx>
            <c:rich>
              <a:bodyPr xmlns:a="http://schemas.openxmlformats.org/drawingml/2006/main"/>
              <a:lstStyle xmlns:a="http://schemas.openxmlformats.org/drawingml/2006/main"/>
              <a:p xmlns:a="http://schemas.openxmlformats.org/drawingml/2006/main">
                <a:r>
                  <a:rPr sz="1500">
                    <a:solidFill>
                      <a:srgbClr val="586675"/>
                    </a:solidFill>
                    <a:latin typeface="Arial"/>
                    <a:ea typeface="Arial"/>
                    <a:cs typeface="Arial"/>
                  </a:rPr>
                  <a:t>Macro F1 %</a:t>
                </a:r>
              </a:p>
            </c:rich>
          </c:tx>
          <c:overlay val="0"/>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D39"/>
                </a:solidFill>
                <a:latin typeface="Arial"/>
                <a:ea typeface="Arial"/>
                <a:cs typeface="Arial"/>
              </a:rPr>
              <a:t>Train wall-clock của ba mô hình</a:t>
            </a:r>
          </a:p>
        </c:rich>
      </c:tx>
      <c:overlay val="0"/>
      <c:txPr>
        <a:bodyPr xmlns:a="http://schemas.openxmlformats.org/drawingml/2006/main" anchorCtr="1"/>
        <a:lstStyle xmlns:a="http://schemas.openxmlformats.org/drawingml/2006/main"/>
        <a:p xmlns:a="http://schemas.openxmlformats.org/drawingml/2006/main">
          <a:pPr>
            <a:defRPr sz="1725" b="1">
              <a:solidFill>
                <a:srgbClr val="202D39"/>
              </a:solidFill>
              <a:latin typeface="Arial"/>
              <a:ea typeface="Arial"/>
              <a:cs typeface="Arial"/>
            </a:defRPr>
          </a:pPr>
        </a:p>
      </c:txPr>
    </c:title>
    <c:plotArea>
      <c:barChart>
        <c:barDir val="bar"/>
        <c:grouping val="clustered"/>
        <c:varyColors val="0"/>
        <c:ser>
          <c:idx val="0"/>
          <c:order val="0"/>
          <c:tx>
            <c:v>CPU</c:v>
          </c:tx>
          <c:spPr>
            <a:solidFill xmlns:a="http://schemas.openxmlformats.org/drawingml/2006/main">
              <a:srgbClr val="2072B7"/>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11,03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28,96</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85,18</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showLegendKey val="0"/>
            <c:showVal val="0"/>
            <c:showCatName val="0"/>
            <c:showSerName val="0"/>
            <c:showPercent val="0"/>
            <c:showBubbleSize val="0"/>
            <c:showLeaderLines val="0"/>
          </c:dLbls>
          <c:cat>
            <c:strLit>
              <c:ptCount val="3"/>
              <c:pt idx="0">
                <c:v>Logistic Reg.</c:v>
              </c:pt>
              <c:pt idx="1">
                <c:v>Decision Tree</c:v>
              </c:pt>
              <c:pt idx="2">
                <c:v>Random Forest</c:v>
              </c:pt>
            </c:strLit>
          </c:cat>
          <c:val>
            <c:numLit>
              <c:formatCode>0.00</c:formatCode>
              <c:ptCount val="3"/>
              <c:pt idx="0">
                <c:v>11.03</c:v>
              </c:pt>
              <c:pt idx="1">
                <c:v>28.96</c:v>
              </c:pt>
              <c:pt idx="2">
                <c:v>85.18</c:v>
              </c:pt>
            </c:numLit>
          </c:val>
        </c:ser>
        <c:ser>
          <c:idx val="1"/>
          <c:order val="1"/>
          <c:tx>
            <c:v>Spark</c:v>
          </c:tx>
          <c:spPr>
            <a:solidFill xmlns:a="http://schemas.openxmlformats.org/drawingml/2006/main">
              <a:srgbClr val="E5A82D"/>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19,29</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23,13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31,03</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showLegendKey val="0"/>
            <c:showVal val="0"/>
            <c:showCatName val="0"/>
            <c:showSerName val="0"/>
            <c:showPercent val="0"/>
            <c:showBubbleSize val="0"/>
            <c:showLeaderLines val="0"/>
          </c:dLbls>
          <c:cat>
            <c:strLit>
              <c:ptCount val="3"/>
              <c:pt idx="0">
                <c:v>Logistic Reg.</c:v>
              </c:pt>
              <c:pt idx="1">
                <c:v>Decision Tree</c:v>
              </c:pt>
              <c:pt idx="2">
                <c:v>Random Forest</c:v>
              </c:pt>
            </c:strLit>
          </c:cat>
          <c:val>
            <c:numLit>
              <c:formatCode>0.00</c:formatCode>
              <c:ptCount val="3"/>
              <c:pt idx="0">
                <c:v>19.29</c:v>
              </c:pt>
              <c:pt idx="1">
                <c:v>23.13</c:v>
              </c:pt>
              <c:pt idx="2">
                <c:v>31.03</c:v>
              </c:pt>
            </c:numLit>
          </c:val>
        </c:ser>
        <c:dLbls>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A5B9CA"/>
            </a:solidFill>
          </a:ln>
        </c:spPr>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crossAx val="48672768"/>
      </c:catAx>
      <c:valAx>
        <c:axId val="48672768"/>
        <c:scaling>
          <c:orientation val="minMax"/>
          <c:max val="110"/>
          <c:min val="0"/>
        </c:scaling>
        <c:delete val="0"/>
        <c:axPos val="b"/>
        <c:majorGridlines>
          <c:spPr>
            <a:ln xmlns:a="http://schemas.openxmlformats.org/drawingml/2006/main" w="9525">
              <a:solidFill>
                <a:srgbClr val="DDE7EE"/>
              </a:solidFill>
            </a:ln>
          </c:spPr>
        </c:majorGridlines>
        <c:title>
          <c:tx>
            <c:rich>
              <a:bodyPr xmlns:a="http://schemas.openxmlformats.org/drawingml/2006/main"/>
              <a:lstStyle xmlns:a="http://schemas.openxmlformats.org/drawingml/2006/main"/>
              <a:p xmlns:a="http://schemas.openxmlformats.org/drawingml/2006/main">
                <a:r>
                  <a:rPr sz="1500">
                    <a:solidFill>
                      <a:srgbClr val="586675"/>
                    </a:solidFill>
                    <a:latin typeface="Arial"/>
                    <a:ea typeface="Arial"/>
                    <a:cs typeface="Arial"/>
                  </a:rPr>
                  <a:t>Giây</a:t>
                </a:r>
              </a:p>
            </c:rich>
          </c:tx>
          <c:overlay val="0"/>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202D39"/>
              </a:solidFill>
              <a:latin typeface="Arial"/>
              <a:ea typeface="Arial"/>
              <a:cs typeface="Arial"/>
            </a:defRPr>
          </a:pPr>
        </a:p>
      </c:txPr>
    </c:legend>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725" b="1">
                <a:solidFill>
                  <a:srgbClr val="202D39"/>
                </a:solidFill>
                <a:latin typeface="Arial"/>
                <a:ea typeface="Arial"/>
                <a:cs typeface="Arial"/>
              </a:rPr>
              <a:t>Random Forest CPU: ba đặc trưng cao nhất</a:t>
            </a:r>
          </a:p>
        </c:rich>
      </c:tx>
      <c:overlay val="0"/>
      <c:txPr>
        <a:bodyPr xmlns:a="http://schemas.openxmlformats.org/drawingml/2006/main" anchorCtr="1"/>
        <a:lstStyle xmlns:a="http://schemas.openxmlformats.org/drawingml/2006/main"/>
        <a:p xmlns:a="http://schemas.openxmlformats.org/drawingml/2006/main">
          <a:pPr>
            <a:defRPr sz="1725" b="1">
              <a:solidFill>
                <a:srgbClr val="202D39"/>
              </a:solidFill>
              <a:latin typeface="Arial"/>
              <a:ea typeface="Arial"/>
              <a:cs typeface="Arial"/>
            </a:defRPr>
          </a:pPr>
        </a:p>
      </c:txPr>
    </c:title>
    <c:plotArea>
      <c:barChart>
        <c:barDir val="bar"/>
        <c:grouping val="clustered"/>
        <c:varyColors val="0"/>
        <c:ser>
          <c:idx val="0"/>
          <c:order val="0"/>
          <c:tx>
            <c:v>Trọng số RF</c:v>
          </c:tx>
          <c:spPr>
            <a:solidFill xmlns:a="http://schemas.openxmlformats.org/drawingml/2006/main">
              <a:srgbClr val="2072B7"/>
            </a:solidFill>
          </c:spPr>
          <c:dLbls>
            <c:dLbl>
              <c:idx val="0"/>
              <c:tx>
                <c:rich>
                  <a:bodyPr xmlns:a="http://schemas.openxmlformats.org/drawingml/2006/main"/>
                  <a:lstStyle xmlns:a="http://schemas.openxmlformats.org/drawingml/2006/main"/>
                  <a:p xmlns:a="http://schemas.openxmlformats.org/drawingml/2006/main">
                    <a:r>
                      <a:rPr sz="1650">
                        <a:solidFill>
                          <a:srgbClr val="202D39"/>
                        </a:solidFill>
                      </a:rPr>
                      <a:t>22,08%</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650">
                        <a:solidFill>
                          <a:srgbClr val="202D39"/>
                        </a:solidFill>
                      </a:rPr>
                      <a:t>15,27%</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650">
                        <a:solidFill>
                          <a:srgbClr val="202D39"/>
                        </a:solidFill>
                      </a:rPr>
                      <a:t>14,84%</a:t>
                    </a:r>
                  </a:p>
                </c:rich>
              </c:tx>
              <c:txPr>
                <a:bodyPr xmlns:a="http://schemas.openxmlformats.org/drawingml/2006/main" anchorCtr="1"/>
                <a:lstStyle xmlns:a="http://schemas.openxmlformats.org/drawingml/2006/main"/>
                <a:p xmlns:a="http://schemas.openxmlformats.org/drawingml/2006/main">
                  <a:pPr>
                    <a:defRPr sz="1650">
                      <a:solidFill>
                        <a:srgbClr val="202D39"/>
                      </a:solidFill>
                    </a:defRPr>
                  </a:pPr>
                </a:p>
              </c:txPr>
              <c:dLblPos val="outEnd"/>
              <c:showVal val="0"/>
            </c:dLbl>
            <c:showLegendKey val="0"/>
            <c:showVal val="0"/>
            <c:showCatName val="0"/>
            <c:showSerName val="0"/>
            <c:showPercent val="0"/>
            <c:showBubbleSize val="0"/>
            <c:showLeaderLines val="0"/>
          </c:dLbls>
          <c:cat>
            <c:strLit>
              <c:ptCount val="3"/>
              <c:pt idx="0">
                <c:v>Tháng</c:v>
              </c:pt>
              <c:pt idx="1">
                <c:v>Phút đến trong ngày</c:v>
              </c:pt>
              <c:pt idx="2">
                <c:v>Phút đi trong ngày</c:v>
              </c:pt>
            </c:strLit>
          </c:cat>
          <c:val>
            <c:numLit>
              <c:formatCode>0.00</c:formatCode>
              <c:ptCount val="3"/>
              <c:pt idx="0">
                <c:v>22.08</c:v>
              </c:pt>
              <c:pt idx="1">
                <c:v>15.27</c:v>
              </c:pt>
              <c:pt idx="2">
                <c:v>14.84</c:v>
              </c:pt>
            </c:numLit>
          </c:val>
        </c:ser>
        <c:dLbls>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A5B9CA"/>
            </a:solidFill>
          </a:ln>
        </c:spPr>
        <c:txPr>
          <a:bodyPr xmlns:a="http://schemas.openxmlformats.org/drawingml/2006/main" anchorCtr="1"/>
          <a:lstStyle xmlns:a="http://schemas.openxmlformats.org/drawingml/2006/main"/>
          <a:p xmlns:a="http://schemas.openxmlformats.org/drawingml/2006/main">
            <a:pPr>
              <a:defRPr sz="1650">
                <a:solidFill>
                  <a:srgbClr val="202D39"/>
                </a:solidFill>
                <a:latin typeface="Arial"/>
                <a:ea typeface="Arial"/>
                <a:cs typeface="Arial"/>
              </a:defRPr>
            </a:pPr>
          </a:p>
        </c:txPr>
        <c:crossAx val="48672768"/>
      </c:catAx>
      <c:valAx>
        <c:axId val="48672768"/>
        <c:scaling>
          <c:orientation val="minMax"/>
          <c:max val="30"/>
          <c:min val="0"/>
        </c:scaling>
        <c:delete val="0"/>
        <c:axPos val="b"/>
        <c:majorGridlines>
          <c:spPr>
            <a:ln xmlns:a="http://schemas.openxmlformats.org/drawingml/2006/main" w="9525">
              <a:solidFill>
                <a:srgbClr val="DDE7EE"/>
              </a:solidFill>
            </a:ln>
          </c:spPr>
        </c:majorGridlines>
        <c:title>
          <c:tx>
            <c:rich>
              <a:bodyPr xmlns:a="http://schemas.openxmlformats.org/drawingml/2006/main"/>
              <a:lstStyle xmlns:a="http://schemas.openxmlformats.org/drawingml/2006/main"/>
              <a:p xmlns:a="http://schemas.openxmlformats.org/drawingml/2006/main">
                <a:r>
                  <a:rPr sz="1500">
                    <a:solidFill>
                      <a:srgbClr val="586675"/>
                    </a:solidFill>
                    <a:latin typeface="Arial"/>
                    <a:ea typeface="Arial"/>
                    <a:cs typeface="Arial"/>
                  </a:rPr>
                  <a:t>Trọng số RF %</a:t>
                </a:r>
              </a:p>
            </c:rich>
          </c:tx>
          <c:overlay val="0"/>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675"/>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2967C67-A8BE-4154-A830-5EC91D9F1A05}"/>
              </a:ext>
            </a:extLst>
          </p:cNvPr>
          <p:cNvSpPr>
            <a:spLocks xmlns:a="http://schemas.openxmlformats.org/drawingml/2006/main" noGrp="1"/>
          </p:cNvSpPr>
          <p:nvPr/>
        </p:nvSpPr>
        <p:spPr>
          <a:xfrm xmlns:a="http://schemas.openxmlformats.org/drawingml/2006/main">
            <a:off x="1381125" y="876300"/>
            <a:ext cx="942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2B7"/>
                </a:solidFill>
              </a:defRPr>
            </a:defPPr>
          </a:lstStyle>
          <a:p xmlns:a="http://schemas.openxmlformats.org/drawingml/2006/main">
            <a:pPr>
              <a:buNone/>
              <a:defRPr sz="2025" b="1">
                <a:solidFill>
                  <a:srgbClr val="2072B7"/>
                </a:solidFill>
              </a:defRPr>
            </a:pPr>
            <a:r>
              <a:rPr sz="2025" b="1">
                <a:solidFill>
                  <a:srgbClr val="2072B7"/>
                </a:solidFill>
              </a:rPr>
              <a:t>ĐỒ ÁN NHÓM 6</a:t>
            </a:r>
          </a:p>
        </p:txBody>
      </p:sp>
      <p:sp>
        <p:nvSpPr>
          <p:cNvPr id="2" name="">
            <a:extLst xmlns:a="http://schemas.openxmlformats.org/drawingml/2006/main">
              <a:ext uri="{FF2B5EF4-FFF2-40B4-BE49-F238E27FC236}">
                <a16:creationId xmlns:a16="http://schemas.microsoft.com/office/drawing/2014/main" id="{95F93975-F97B-4492-BBE5-0E67D7AA6A6A}"/>
              </a:ext>
            </a:extLst>
          </p:cNvPr>
          <p:cNvSpPr>
            <a:spLocks xmlns:a="http://schemas.openxmlformats.org/drawingml/2006/main" noGrp="1"/>
          </p:cNvSpPr>
          <p:nvPr/>
        </p:nvSpPr>
        <p:spPr>
          <a:xfrm xmlns:a="http://schemas.openxmlformats.org/drawingml/2006/main">
            <a:off x="952500" y="146685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925" b="1">
                <a:solidFill>
                  <a:srgbClr val="2072B7"/>
                </a:solidFill>
              </a:defRPr>
            </a:defPPr>
          </a:lstStyle>
          <a:p xmlns:a="http://schemas.openxmlformats.org/drawingml/2006/main">
            <a:pPr>
              <a:buNone/>
              <a:defRPr sz="2925" b="1">
                <a:solidFill>
                  <a:srgbClr val="2072B7"/>
                </a:solidFill>
              </a:defRPr>
            </a:pPr>
            <a:r>
              <a:rPr sz="2925" b="1">
                <a:solidFill>
                  <a:srgbClr val="2072B7"/>
                </a:solidFill>
              </a:rPr>
              <a:t>ỨNG DỤNG RANDOM FOREST PHÂN TÁN</a:t>
            </a:r>
          </a:p>
        </p:txBody>
      </p:sp>
      <p:sp>
        <p:nvSpPr>
          <p:cNvPr id="3" name="">
            <a:extLst xmlns:a="http://schemas.openxmlformats.org/drawingml/2006/main">
              <a:ext uri="{FF2B5EF4-FFF2-40B4-BE49-F238E27FC236}">
                <a16:creationId xmlns:a16="http://schemas.microsoft.com/office/drawing/2014/main" id="{BC37B968-38A6-4DA5-A509-CF9C50AB9D4D}"/>
              </a:ext>
            </a:extLst>
          </p:cNvPr>
          <p:cNvSpPr>
            <a:spLocks xmlns:a="http://schemas.openxmlformats.org/drawingml/2006/main" noGrp="1"/>
          </p:cNvSpPr>
          <p:nvPr/>
        </p:nvSpPr>
        <p:spPr>
          <a:xfrm xmlns:a="http://schemas.openxmlformats.org/drawingml/2006/main">
            <a:off x="1285875" y="2095500"/>
            <a:ext cx="9810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1">
                <a:solidFill>
                  <a:srgbClr val="222222"/>
                </a:solidFill>
              </a:defRPr>
            </a:defPPr>
          </a:lstStyle>
          <a:p xmlns:a="http://schemas.openxmlformats.org/drawingml/2006/main">
            <a:pPr>
              <a:buNone/>
              <a:defRPr sz="2625" b="1">
                <a:solidFill>
                  <a:srgbClr val="222222"/>
                </a:solidFill>
              </a:defRPr>
            </a:pPr>
            <a:r>
              <a:rPr sz="2625" b="1">
                <a:solidFill>
                  <a:srgbClr val="222222"/>
                </a:solidFill>
              </a:rPr>
              <a:t>Dự đoán nguyên nhân trễ chuyến bay</a:t>
            </a:r>
          </a:p>
          <a:p xmlns:a="http://schemas.openxmlformats.org/drawingml/2006/main">
            <a:pPr>
              <a:buNone/>
              <a:defRPr sz="2625" b="1">
                <a:solidFill>
                  <a:srgbClr val="222222"/>
                </a:solidFill>
              </a:defRPr>
            </a:pPr>
            <a:r>
              <a:rPr sz="2625" b="1">
                <a:solidFill>
                  <a:srgbClr val="222222"/>
                </a:solidFill>
              </a:rPr>
              <a:t>thương mại Hoa Kỳ năm 2024</a:t>
            </a:r>
          </a:p>
        </p:txBody>
      </p:sp>
      <p:sp>
        <p:nvSpPr>
          <p:cNvPr id="4" name="">
            <a:extLst xmlns:a="http://schemas.openxmlformats.org/drawingml/2006/main">
              <a:ext uri="{FF2B5EF4-FFF2-40B4-BE49-F238E27FC236}">
                <a16:creationId xmlns:a16="http://schemas.microsoft.com/office/drawing/2014/main" id="{AAA1915F-29CE-4DBF-AC8F-F1C0CE06EDEF}"/>
              </a:ext>
            </a:extLst>
          </p:cNvPr>
          <p:cNvSpPr>
            <a:spLocks xmlns:a="http://schemas.openxmlformats.org/drawingml/2006/main" noGrp="1"/>
          </p:cNvSpPr>
          <p:nvPr/>
        </p:nvSpPr>
        <p:spPr>
          <a:xfrm xmlns:a="http://schemas.openxmlformats.org/drawingml/2006/main">
            <a:off x="1809750" y="3190875"/>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2B7"/>
                </a:solidFill>
              </a:defRPr>
            </a:defPPr>
          </a:lstStyle>
          <a:p xmlns:a="http://schemas.openxmlformats.org/drawingml/2006/main">
            <a:pPr>
              <a:buNone/>
              <a:defRPr sz="1875" b="1">
                <a:solidFill>
                  <a:srgbClr val="2072B7"/>
                </a:solidFill>
              </a:defRPr>
            </a:pPr>
            <a:r>
              <a:rPr sz="1875" b="1">
                <a:solidFill>
                  <a:srgbClr val="2072B7"/>
                </a:solidFill>
              </a:rPr>
              <a:t>Giảng viên hướng dẫn: TS. Phan Hồ Viết Trường</a:t>
            </a:r>
          </a:p>
        </p:txBody>
      </p:sp>
      <p:sp>
        <p:nvSpPr>
          <p:cNvPr id="5" name="">
            <a:extLst xmlns:a="http://schemas.openxmlformats.org/drawingml/2006/main">
              <a:ext uri="{FF2B5EF4-FFF2-40B4-BE49-F238E27FC236}">
                <a16:creationId xmlns:a16="http://schemas.microsoft.com/office/drawing/2014/main" id="{5D3B8A43-C0BF-44D0-8779-C94B779FF1E0}"/>
              </a:ext>
            </a:extLst>
          </p:cNvPr>
          <p:cNvSpPr>
            <a:spLocks xmlns:a="http://schemas.openxmlformats.org/drawingml/2006/main" noGrp="1"/>
          </p:cNvSpPr>
          <p:nvPr/>
        </p:nvSpPr>
        <p:spPr>
          <a:xfrm xmlns:a="http://schemas.openxmlformats.org/drawingml/2006/main">
            <a:off x="3810000" y="3667125"/>
            <a:ext cx="5524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222222"/>
                </a:solidFill>
              </a:defRPr>
            </a:defPPr>
          </a:lstStyle>
          <a:p xmlns:a="http://schemas.openxmlformats.org/drawingml/2006/main">
            <a:pPr>
              <a:buNone/>
              <a:defRPr sz="1800" b="0">
                <a:solidFill>
                  <a:srgbClr val="222222"/>
                </a:solidFill>
              </a:defRPr>
            </a:pPr>
            <a:r>
              <a:rPr sz="1800" b="0">
                <a:solidFill>
                  <a:srgbClr val="222222"/>
                </a:solidFill>
              </a:rPr>
              <a:t>Sinh viên thực hiện</a:t>
            </a:r>
          </a:p>
          <a:p xmlns:a="http://schemas.openxmlformats.org/drawingml/2006/main">
            <a:pPr>
              <a:buNone/>
              <a:defRPr sz="1800" b="0">
                <a:solidFill>
                  <a:srgbClr val="222222"/>
                </a:solidFill>
              </a:defRPr>
            </a:pPr>
            <a:r>
              <a:rPr sz="1800" b="0">
                <a:solidFill>
                  <a:srgbClr val="222222"/>
                </a:solidFill>
              </a:rPr>
              <a:t>Cù Văn Vĩ An</a:t>
            </a:r>
          </a:p>
          <a:p xmlns:a="http://schemas.openxmlformats.org/drawingml/2006/main">
            <a:pPr>
              <a:buNone/>
              <a:defRPr sz="1800" b="0">
                <a:solidFill>
                  <a:srgbClr val="222222"/>
                </a:solidFill>
              </a:defRPr>
            </a:pPr>
            <a:r>
              <a:rPr sz="1800" b="0">
                <a:solidFill>
                  <a:srgbClr val="222222"/>
                </a:solidFill>
              </a:rPr>
              <a:t>Lê Đức Lương</a:t>
            </a:r>
          </a:p>
          <a:p xmlns:a="http://schemas.openxmlformats.org/drawingml/2006/main">
            <a:pPr>
              <a:buNone/>
              <a:defRPr sz="1800" b="0">
                <a:solidFill>
                  <a:srgbClr val="222222"/>
                </a:solidFill>
              </a:defRPr>
            </a:pPr>
            <a:r>
              <a:rPr sz="1800" b="0">
                <a:solidFill>
                  <a:srgbClr val="222222"/>
                </a:solidFill>
              </a:rPr>
              <a:t>Trần Huỳnh Tuấn Anh</a:t>
            </a:r>
          </a:p>
        </p:txBody>
      </p:sp>
    </p:spTree>
    <p:extLst>
      <p:ext uri="{BB962C8B-B14F-4D97-AF65-F5344CB8AC3E}">
        <p14:creationId xmlns:p14="http://schemas.microsoft.com/office/powerpoint/2010/main" val="16424425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B52EA24-FD81-4BFC-A4C6-9166D87864F1}"/>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Nội dung trình bày</a:t>
            </a:r>
          </a:p>
        </p:txBody>
      </p:sp>
      <p:sp>
        <p:nvSpPr>
          <p:cNvPr id="2" name="">
            <a:extLst xmlns:a="http://schemas.openxmlformats.org/drawingml/2006/main">
              <a:ext uri="{FF2B5EF4-FFF2-40B4-BE49-F238E27FC236}">
                <a16:creationId xmlns:a16="http://schemas.microsoft.com/office/drawing/2014/main" id="{E49AFCFB-BB69-4D0C-B07B-2A9FDA4134F2}"/>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Lý thuyết mô hình, quy trình xử lý và kết quả thực nghiệm</a:t>
            </a:r>
          </a:p>
        </p:txBody>
      </p:sp>
      <p:sp>
        <p:nvSpPr>
          <p:cNvPr id="3" name="">
            <a:extLst xmlns:a="http://schemas.openxmlformats.org/drawingml/2006/main">
              <a:ext uri="{FF2B5EF4-FFF2-40B4-BE49-F238E27FC236}">
                <a16:creationId xmlns:a16="http://schemas.microsoft.com/office/drawing/2014/main" id="{F2524E59-61CA-4424-B178-AD79660367B5}"/>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23566392-22D4-466E-AD99-62999D918469}"/>
              </a:ext>
            </a:extLst>
          </p:cNvPr>
          <p:cNvSpPr>
            <a:spLocks xmlns:a="http://schemas.openxmlformats.org/drawingml/2006/main" noGrp="1"/>
          </p:cNvSpPr>
          <p:nvPr/>
        </p:nvSpPr>
        <p:spPr>
          <a:xfrm xmlns:a="http://schemas.openxmlformats.org/drawingml/2006/main">
            <a:off x="571500" y="22669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Sáu mô hình cùng dự đoán nhãn đúng giờ hoặc nguyên nhân trễ.</a:t>
            </a:r>
          </a:p>
        </p:txBody>
      </p:sp>
      <p:sp>
        <p:nvSpPr>
          <p:cNvPr id="5" name="">
            <a:extLst xmlns:a="http://schemas.openxmlformats.org/drawingml/2006/main">
              <a:ext uri="{FF2B5EF4-FFF2-40B4-BE49-F238E27FC236}">
                <a16:creationId xmlns:a16="http://schemas.microsoft.com/office/drawing/2014/main" id="{DECDCA24-1E13-4E0D-AE44-400AF6728698}"/>
              </a:ext>
            </a:extLst>
          </p:cNvPr>
          <p:cNvSpPr>
            <a:spLocks xmlns:a="http://schemas.openxmlformats.org/drawingml/2006/main" noGrp="1"/>
          </p:cNvSpPr>
          <p:nvPr/>
        </p:nvSpPr>
        <p:spPr>
          <a:xfrm xmlns:a="http://schemas.openxmlformats.org/drawingml/2006/main">
            <a:off x="571500" y="33147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Code giúp giải thích cách xử lý và tổ chức tính toán.</a:t>
            </a:r>
          </a:p>
        </p:txBody>
      </p:sp>
      <p:sp>
        <p:nvSpPr>
          <p:cNvPr id="6" name="">
            <a:extLst xmlns:a="http://schemas.openxmlformats.org/drawingml/2006/main">
              <a:ext uri="{FF2B5EF4-FFF2-40B4-BE49-F238E27FC236}">
                <a16:creationId xmlns:a16="http://schemas.microsoft.com/office/drawing/2014/main" id="{5F13EDDB-2F31-44DF-B94D-D3043339F225}"/>
              </a:ext>
            </a:extLst>
          </p:cNvPr>
          <p:cNvSpPr>
            <a:spLocks xmlns:a="http://schemas.openxmlformats.org/drawingml/2006/main" noGrp="1"/>
          </p:cNvSpPr>
          <p:nvPr/>
        </p:nvSpPr>
        <p:spPr>
          <a:xfrm xmlns:a="http://schemas.openxmlformats.org/drawingml/2006/main">
            <a:off x="571500" y="43624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Kết quả giữ bộ ngày 10/10. Code hiện tại được phân biệt riêng.</a:t>
            </a:r>
          </a:p>
        </p:txBody>
      </p:sp>
      <p:sp>
        <p:nvSpPr>
          <p:cNvPr id="7" name="">
            <a:extLst xmlns:a="http://schemas.openxmlformats.org/drawingml/2006/main">
              <a:ext uri="{FF2B5EF4-FFF2-40B4-BE49-F238E27FC236}">
                <a16:creationId xmlns:a16="http://schemas.microsoft.com/office/drawing/2014/main" id="{FDDBED25-FB13-4439-8D4C-A7584FC11F05}"/>
              </a:ext>
            </a:extLst>
          </p:cNvPr>
          <p:cNvSpPr>
            <a:spLocks xmlns:a="http://schemas.openxmlformats.org/drawingml/2006/main" noGrp="1"/>
          </p:cNvSpPr>
          <p:nvPr/>
        </p:nvSpPr>
        <p:spPr>
          <a:xfrm xmlns:a="http://schemas.openxmlformats.org/drawingml/2006/main">
            <a:off x="5286375" y="21907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Lý thuyết sáu mô hình</a:t>
            </a:r>
          </a:p>
        </p:txBody>
      </p:sp>
      <p:sp>
        <p:nvSpPr>
          <p:cNvPr id="8" name="">
            <a:extLst xmlns:a="http://schemas.openxmlformats.org/drawingml/2006/main">
              <a:ext uri="{FF2B5EF4-FFF2-40B4-BE49-F238E27FC236}">
                <a16:creationId xmlns:a16="http://schemas.microsoft.com/office/drawing/2014/main" id="{AD160C3A-3447-43E1-8AFC-D1926D5249F5}"/>
              </a:ext>
            </a:extLst>
          </p:cNvPr>
          <p:cNvSpPr>
            <a:spLocks xmlns:a="http://schemas.openxmlformats.org/drawingml/2006/main" noGrp="1"/>
          </p:cNvSpPr>
          <p:nvPr/>
        </p:nvSpPr>
        <p:spPr>
          <a:xfrm xmlns:a="http://schemas.openxmlformats.org/drawingml/2006/main">
            <a:off x="10763250" y="21907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03–08</a:t>
            </a:r>
          </a:p>
        </p:txBody>
      </p:sp>
      <p:sp>
        <p:nvSpPr>
          <p:cNvPr id="9" name="">
            <a:extLst xmlns:a="http://schemas.openxmlformats.org/drawingml/2006/main">
              <a:ext uri="{FF2B5EF4-FFF2-40B4-BE49-F238E27FC236}">
                <a16:creationId xmlns:a16="http://schemas.microsoft.com/office/drawing/2014/main" id="{E5441C15-1EDC-4BE5-82B7-689B9B5ECDCF}"/>
              </a:ext>
            </a:extLst>
          </p:cNvPr>
          <p:cNvSpPr>
            <a:spLocks xmlns:a="http://schemas.openxmlformats.org/drawingml/2006/main" noGrp="1"/>
          </p:cNvSpPr>
          <p:nvPr/>
        </p:nvSpPr>
        <p:spPr>
          <a:xfrm xmlns:a="http://schemas.openxmlformats.org/drawingml/2006/main">
            <a:off x="5286375" y="28003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Dữ liệu và tiền xử lý</a:t>
            </a:r>
          </a:p>
        </p:txBody>
      </p:sp>
      <p:sp>
        <p:nvSpPr>
          <p:cNvPr id="10" name="">
            <a:extLst xmlns:a="http://schemas.openxmlformats.org/drawingml/2006/main">
              <a:ext uri="{FF2B5EF4-FFF2-40B4-BE49-F238E27FC236}">
                <a16:creationId xmlns:a16="http://schemas.microsoft.com/office/drawing/2014/main" id="{EE1B9EE5-B255-4DB3-9F74-567D555627C7}"/>
              </a:ext>
            </a:extLst>
          </p:cNvPr>
          <p:cNvSpPr>
            <a:spLocks xmlns:a="http://schemas.openxmlformats.org/drawingml/2006/main" noGrp="1"/>
          </p:cNvSpPr>
          <p:nvPr/>
        </p:nvSpPr>
        <p:spPr>
          <a:xfrm xmlns:a="http://schemas.openxmlformats.org/drawingml/2006/main">
            <a:off x="10763250" y="28003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09–14</a:t>
            </a:r>
          </a:p>
        </p:txBody>
      </p:sp>
      <p:sp>
        <p:nvSpPr>
          <p:cNvPr id="11" name="">
            <a:extLst xmlns:a="http://schemas.openxmlformats.org/drawingml/2006/main">
              <a:ext uri="{FF2B5EF4-FFF2-40B4-BE49-F238E27FC236}">
                <a16:creationId xmlns:a16="http://schemas.microsoft.com/office/drawing/2014/main" id="{69C636B4-3531-4F1D-A518-40511FE01B5D}"/>
              </a:ext>
            </a:extLst>
          </p:cNvPr>
          <p:cNvSpPr>
            <a:spLocks xmlns:a="http://schemas.openxmlformats.org/drawingml/2006/main" noGrp="1"/>
          </p:cNvSpPr>
          <p:nvPr/>
        </p:nvSpPr>
        <p:spPr>
          <a:xfrm xmlns:a="http://schemas.openxmlformats.org/drawingml/2006/main">
            <a:off x="5286375" y="3409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Cách chạy CPU và Spark</a:t>
            </a:r>
          </a:p>
        </p:txBody>
      </p:sp>
      <p:sp>
        <p:nvSpPr>
          <p:cNvPr id="12" name="">
            <a:extLst xmlns:a="http://schemas.openxmlformats.org/drawingml/2006/main">
              <a:ext uri="{FF2B5EF4-FFF2-40B4-BE49-F238E27FC236}">
                <a16:creationId xmlns:a16="http://schemas.microsoft.com/office/drawing/2014/main" id="{CBE68243-8343-49EB-B0FF-B99DDDA7CD79}"/>
              </a:ext>
            </a:extLst>
          </p:cNvPr>
          <p:cNvSpPr>
            <a:spLocks xmlns:a="http://schemas.openxmlformats.org/drawingml/2006/main" noGrp="1"/>
          </p:cNvSpPr>
          <p:nvPr/>
        </p:nvSpPr>
        <p:spPr>
          <a:xfrm xmlns:a="http://schemas.openxmlformats.org/drawingml/2006/main">
            <a:off x="10763250" y="34099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15–21</a:t>
            </a:r>
          </a:p>
        </p:txBody>
      </p:sp>
      <p:sp>
        <p:nvSpPr>
          <p:cNvPr id="13" name="">
            <a:extLst xmlns:a="http://schemas.openxmlformats.org/drawingml/2006/main">
              <a:ext uri="{FF2B5EF4-FFF2-40B4-BE49-F238E27FC236}">
                <a16:creationId xmlns:a16="http://schemas.microsoft.com/office/drawing/2014/main" id="{3D3E2349-773E-4181-9F98-AF9C93ED30BD}"/>
              </a:ext>
            </a:extLst>
          </p:cNvPr>
          <p:cNvSpPr>
            <a:spLocks xmlns:a="http://schemas.openxmlformats.org/drawingml/2006/main" noGrp="1"/>
          </p:cNvSpPr>
          <p:nvPr/>
        </p:nvSpPr>
        <p:spPr>
          <a:xfrm xmlns:a="http://schemas.openxmlformats.org/drawingml/2006/main">
            <a:off x="5286375" y="4019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Thực nghiệm và kết quả</a:t>
            </a:r>
          </a:p>
        </p:txBody>
      </p:sp>
      <p:sp>
        <p:nvSpPr>
          <p:cNvPr id="14" name="">
            <a:extLst xmlns:a="http://schemas.openxmlformats.org/drawingml/2006/main">
              <a:ext uri="{FF2B5EF4-FFF2-40B4-BE49-F238E27FC236}">
                <a16:creationId xmlns:a16="http://schemas.microsoft.com/office/drawing/2014/main" id="{0965DE34-451B-4306-BB4B-00A08242A2CC}"/>
              </a:ext>
            </a:extLst>
          </p:cNvPr>
          <p:cNvSpPr>
            <a:spLocks xmlns:a="http://schemas.openxmlformats.org/drawingml/2006/main" noGrp="1"/>
          </p:cNvSpPr>
          <p:nvPr/>
        </p:nvSpPr>
        <p:spPr>
          <a:xfrm xmlns:a="http://schemas.openxmlformats.org/drawingml/2006/main">
            <a:off x="10763250" y="40195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22–29</a:t>
            </a:r>
          </a:p>
        </p:txBody>
      </p:sp>
      <p:sp>
        <p:nvSpPr>
          <p:cNvPr id="15" name="">
            <a:extLst xmlns:a="http://schemas.openxmlformats.org/drawingml/2006/main">
              <a:ext uri="{FF2B5EF4-FFF2-40B4-BE49-F238E27FC236}">
                <a16:creationId xmlns:a16="http://schemas.microsoft.com/office/drawing/2014/main" id="{EF43B716-21A0-4E6D-9931-C86E10508323}"/>
              </a:ext>
            </a:extLst>
          </p:cNvPr>
          <p:cNvSpPr>
            <a:spLocks xmlns:a="http://schemas.openxmlformats.org/drawingml/2006/main" noGrp="1"/>
          </p:cNvSpPr>
          <p:nvPr/>
        </p:nvSpPr>
        <p:spPr>
          <a:xfrm xmlns:a="http://schemas.openxmlformats.org/drawingml/2006/main">
            <a:off x="5286375" y="46291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Demo Web_Air</a:t>
            </a:r>
          </a:p>
        </p:txBody>
      </p:sp>
      <p:sp>
        <p:nvSpPr>
          <p:cNvPr id="16" name="">
            <a:extLst xmlns:a="http://schemas.openxmlformats.org/drawingml/2006/main">
              <a:ext uri="{FF2B5EF4-FFF2-40B4-BE49-F238E27FC236}">
                <a16:creationId xmlns:a16="http://schemas.microsoft.com/office/drawing/2014/main" id="{951E29A7-48B6-42F2-81FB-3C65A0686A8F}"/>
              </a:ext>
            </a:extLst>
          </p:cNvPr>
          <p:cNvSpPr>
            <a:spLocks xmlns:a="http://schemas.openxmlformats.org/drawingml/2006/main" noGrp="1"/>
          </p:cNvSpPr>
          <p:nvPr/>
        </p:nvSpPr>
        <p:spPr>
          <a:xfrm xmlns:a="http://schemas.openxmlformats.org/drawingml/2006/main">
            <a:off x="10763250" y="46291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30</a:t>
            </a:r>
          </a:p>
        </p:txBody>
      </p:sp>
      <p:sp>
        <p:nvSpPr>
          <p:cNvPr id="17" name="">
            <a:extLst xmlns:a="http://schemas.openxmlformats.org/drawingml/2006/main">
              <a:ext uri="{FF2B5EF4-FFF2-40B4-BE49-F238E27FC236}">
                <a16:creationId xmlns:a16="http://schemas.microsoft.com/office/drawing/2014/main" id="{C824B0E5-C9BA-4759-846A-E6E72E50F627}"/>
              </a:ext>
            </a:extLst>
          </p:cNvPr>
          <p:cNvSpPr>
            <a:spLocks xmlns:a="http://schemas.openxmlformats.org/drawingml/2006/main" noGrp="1"/>
          </p:cNvSpPr>
          <p:nvPr/>
        </p:nvSpPr>
        <p:spPr>
          <a:xfrm xmlns:a="http://schemas.openxmlformats.org/drawingml/2006/main">
            <a:off x="5286375" y="52387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defRPr sz="2025" b="0">
                <a:solidFill>
                  <a:srgbClr val="202D39"/>
                </a:solidFill>
                <a:latin typeface="Arial"/>
                <a:ea typeface="Arial"/>
                <a:cs typeface="Arial"/>
              </a:defRPr>
            </a:pPr>
            <a:r>
              <a:rPr sz="2025" b="0">
                <a:solidFill>
                  <a:srgbClr val="202D39"/>
                </a:solidFill>
                <a:latin typeface="Arial"/>
                <a:ea typeface="Arial"/>
                <a:cs typeface="Arial"/>
              </a:rPr>
              <a:t>Kết luận và hỏi đáp</a:t>
            </a:r>
          </a:p>
        </p:txBody>
      </p:sp>
      <p:sp>
        <p:nvSpPr>
          <p:cNvPr id="18" name="">
            <a:extLst xmlns:a="http://schemas.openxmlformats.org/drawingml/2006/main">
              <a:ext uri="{FF2B5EF4-FFF2-40B4-BE49-F238E27FC236}">
                <a16:creationId xmlns:a16="http://schemas.microsoft.com/office/drawing/2014/main" id="{7B3E1538-570D-46DE-94A6-4783F8D04BCD}"/>
              </a:ext>
            </a:extLst>
          </p:cNvPr>
          <p:cNvSpPr>
            <a:spLocks xmlns:a="http://schemas.openxmlformats.org/drawingml/2006/main" noGrp="1"/>
          </p:cNvSpPr>
          <p:nvPr/>
        </p:nvSpPr>
        <p:spPr>
          <a:xfrm xmlns:a="http://schemas.openxmlformats.org/drawingml/2006/main">
            <a:off x="10763250" y="5238750"/>
            <a:ext cx="904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1">
                <a:solidFill>
                  <a:srgbClr val="2072B7"/>
                </a:solidFill>
                <a:latin typeface="Arial"/>
                <a:ea typeface="Arial"/>
                <a:cs typeface="Arial"/>
              </a:defRPr>
            </a:defPPr>
          </a:lstStyle>
          <a:p xmlns:a="http://schemas.openxmlformats.org/drawingml/2006/main">
            <a:pPr>
              <a:defRPr sz="1950" b="1">
                <a:solidFill>
                  <a:srgbClr val="2072B7"/>
                </a:solidFill>
                <a:latin typeface="Arial"/>
                <a:ea typeface="Arial"/>
                <a:cs typeface="Arial"/>
              </a:defRPr>
            </a:pPr>
            <a:r>
              <a:rPr sz="1950" b="1">
                <a:solidFill>
                  <a:srgbClr val="2072B7"/>
                </a:solidFill>
                <a:latin typeface="Arial"/>
                <a:ea typeface="Arial"/>
                <a:cs typeface="Arial"/>
              </a:rPr>
              <a:t>31–32</a:t>
            </a:r>
          </a:p>
        </p:txBody>
      </p:sp>
    </p:spTree>
    <p:extLst>
      <p:ext uri="{BB962C8B-B14F-4D97-AF65-F5344CB8AC3E}">
        <p14:creationId xmlns:p14="http://schemas.microsoft.com/office/powerpoint/2010/main" val="11222309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2CE150A7-04BF-41E3-AEE6-DAAFC667B35A}"/>
              </a:ext>
            </a:extLst>
          </p:cNvPr>
          <p:cNvCxnSpPr>
            <a:stCxn xmlns:a="http://schemas.openxmlformats.org/drawingml/2006/main" id="8" idx="2"/>
            <a:endCxn xmlns:a="http://schemas.openxmlformats.org/drawingml/2006/main" id="10" idx="0"/>
          </p:cNvCxnSpPr>
          <p:nvPr/>
        </p:nvCxnSpPr>
        <p:spPr>
          <a:xfrm xmlns:a="http://schemas.openxmlformats.org/drawingml/2006/main">
            <a:off x="3810000" y="3790950"/>
            <a:ext cx="0" cy="29527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9" name="">
            <a:extLst xmlns:a="http://schemas.openxmlformats.org/drawingml/2006/main">
              <a:ext uri="{FF2B5EF4-FFF2-40B4-BE49-F238E27FC236}">
                <a16:creationId xmlns:a16="http://schemas.microsoft.com/office/drawing/2014/main" id="{A0B05D62-62F8-44B6-B28D-DA314D99A7ED}"/>
              </a:ext>
            </a:extLst>
          </p:cNvPr>
          <p:cNvCxnSpPr>
            <a:stCxn xmlns:a="http://schemas.openxmlformats.org/drawingml/2006/main" id="7" idx="2"/>
            <a:endCxn xmlns:a="http://schemas.openxmlformats.org/drawingml/2006/main" id="8" idx="0"/>
          </p:cNvCxnSpPr>
          <p:nvPr/>
        </p:nvCxnSpPr>
        <p:spPr>
          <a:xfrm xmlns:a="http://schemas.openxmlformats.org/drawingml/2006/main">
            <a:off x="3810000" y="2876550"/>
            <a:ext cx="0" cy="29527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4" name="">
            <a:extLst xmlns:a="http://schemas.openxmlformats.org/drawingml/2006/main">
              <a:ext uri="{FF2B5EF4-FFF2-40B4-BE49-F238E27FC236}">
                <a16:creationId xmlns:a16="http://schemas.microsoft.com/office/drawing/2014/main" id="{6F31D19A-B491-4D7C-962D-396D9658BB2E}"/>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Logistic Regression</a:t>
            </a:r>
          </a:p>
        </p:txBody>
      </p:sp>
      <p:sp>
        <p:nvSpPr>
          <p:cNvPr id="2" name="">
            <a:extLst xmlns:a="http://schemas.openxmlformats.org/drawingml/2006/main">
              <a:ext uri="{FF2B5EF4-FFF2-40B4-BE49-F238E27FC236}">
                <a16:creationId xmlns:a16="http://schemas.microsoft.com/office/drawing/2014/main" id="{DA48B330-A54D-40AD-B054-48F0849E1AD9}"/>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Chuyển đặc trưng chuyến bay thành điểm và xác suất cho các lớp</a:t>
            </a:r>
          </a:p>
        </p:txBody>
      </p:sp>
      <p:sp>
        <p:nvSpPr>
          <p:cNvPr id="3" name="">
            <a:extLst xmlns:a="http://schemas.openxmlformats.org/drawingml/2006/main">
              <a:ext uri="{FF2B5EF4-FFF2-40B4-BE49-F238E27FC236}">
                <a16:creationId xmlns:a16="http://schemas.microsoft.com/office/drawing/2014/main" id="{F0A69D38-1097-48E1-BCCA-6A6B02B192DC}"/>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A0ADA197-A33E-464D-B1B4-CB7624EACB26}"/>
              </a:ext>
            </a:extLst>
          </p:cNvPr>
          <p:cNvSpPr>
            <a:spLocks xmlns:a="http://schemas.openxmlformats.org/drawingml/2006/main" noGrp="1"/>
          </p:cNvSpPr>
          <p:nvPr/>
        </p:nvSpPr>
        <p:spPr>
          <a:xfrm xmlns:a="http://schemas.openxmlformats.org/drawingml/2006/main">
            <a:off x="7620000" y="22193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vào: lịch bay, giờ bay, hãng và sân bay.</a:t>
            </a:r>
          </a:p>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ra: một trong sáu nhãn.</a:t>
            </a:r>
          </a:p>
        </p:txBody>
      </p:sp>
      <p:sp>
        <p:nvSpPr>
          <p:cNvPr id="5" name="">
            <a:extLst xmlns:a="http://schemas.openxmlformats.org/drawingml/2006/main">
              <a:ext uri="{FF2B5EF4-FFF2-40B4-BE49-F238E27FC236}">
                <a16:creationId xmlns:a16="http://schemas.microsoft.com/office/drawing/2014/main" id="{B579570F-A044-44DC-951B-DA96DBBC1147}"/>
              </a:ext>
            </a:extLst>
          </p:cNvPr>
          <p:cNvSpPr>
            <a:spLocks xmlns:a="http://schemas.openxmlformats.org/drawingml/2006/main" noGrp="1"/>
          </p:cNvSpPr>
          <p:nvPr/>
        </p:nvSpPr>
        <p:spPr>
          <a:xfrm xmlns:a="http://schemas.openxmlformats.org/drawingml/2006/main">
            <a:off x="7620000" y="33051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Ưu điểm: nhẹ, tạo được mốc so sánh nhanh.</a:t>
            </a:r>
          </a:p>
        </p:txBody>
      </p:sp>
      <p:sp>
        <p:nvSpPr>
          <p:cNvPr id="6" name="">
            <a:extLst xmlns:a="http://schemas.openxmlformats.org/drawingml/2006/main">
              <a:ext uri="{FF2B5EF4-FFF2-40B4-BE49-F238E27FC236}">
                <a16:creationId xmlns:a16="http://schemas.microsoft.com/office/drawing/2014/main" id="{ECD3C33E-DE2B-487A-B549-FDABEC3B292A}"/>
              </a:ext>
            </a:extLst>
          </p:cNvPr>
          <p:cNvSpPr>
            <a:spLocks xmlns:a="http://schemas.openxmlformats.org/drawingml/2006/main" noGrp="1"/>
          </p:cNvSpPr>
          <p:nvPr/>
        </p:nvSpPr>
        <p:spPr>
          <a:xfrm xmlns:a="http://schemas.openxmlformats.org/drawingml/2006/main">
            <a:off x="7620000" y="4391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Hạn chế: ranh giới tuyến tính khó nắm các tương tác phức tạp.</a:t>
            </a:r>
          </a:p>
        </p:txBody>
      </p:sp>
      <p:sp>
        <p:nvSpPr>
          <p:cNvPr id="7" name="">
            <a:extLst xmlns:a="http://schemas.openxmlformats.org/drawingml/2006/main">
              <a:ext uri="{FF2B5EF4-FFF2-40B4-BE49-F238E27FC236}">
                <a16:creationId xmlns:a16="http://schemas.microsoft.com/office/drawing/2014/main" id="{C3F51F67-718A-4CCF-A537-267FF628200B}"/>
              </a:ext>
            </a:extLst>
          </p:cNvPr>
          <p:cNvSpPr>
            <a:spLocks xmlns:a="http://schemas.openxmlformats.org/drawingml/2006/main" noGrp="1"/>
          </p:cNvSpPr>
          <p:nvPr/>
        </p:nvSpPr>
        <p:spPr>
          <a:xfrm xmlns:a="http://schemas.openxmlformats.org/drawingml/2006/main">
            <a:off x="619125" y="2257425"/>
            <a:ext cx="6381750"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Đặc trưng chuyến bay đã mã hóa</a:t>
            </a:r>
          </a:p>
        </p:txBody>
      </p:sp>
      <p:sp>
        <p:nvSpPr>
          <p:cNvPr id="8" name="">
            <a:extLst xmlns:a="http://schemas.openxmlformats.org/drawingml/2006/main">
              <a:ext uri="{FF2B5EF4-FFF2-40B4-BE49-F238E27FC236}">
                <a16:creationId xmlns:a16="http://schemas.microsoft.com/office/drawing/2014/main" id="{B8A0A000-F622-40B0-B5F1-680A20DA0267}"/>
              </a:ext>
            </a:extLst>
          </p:cNvPr>
          <p:cNvSpPr>
            <a:spLocks xmlns:a="http://schemas.openxmlformats.org/drawingml/2006/main" noGrp="1"/>
          </p:cNvSpPr>
          <p:nvPr/>
        </p:nvSpPr>
        <p:spPr>
          <a:xfrm xmlns:a="http://schemas.openxmlformats.org/drawingml/2006/main">
            <a:off x="619125" y="3171825"/>
            <a:ext cx="6381750"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Tính điểm và xác suất 6 lớp</a:t>
            </a:r>
          </a:p>
        </p:txBody>
      </p:sp>
      <p:sp>
        <p:nvSpPr>
          <p:cNvPr id="10" name="">
            <a:extLst xmlns:a="http://schemas.openxmlformats.org/drawingml/2006/main">
              <a:ext uri="{FF2B5EF4-FFF2-40B4-BE49-F238E27FC236}">
                <a16:creationId xmlns:a16="http://schemas.microsoft.com/office/drawing/2014/main" id="{7166B409-A00B-4107-A09A-78B503EE8D90}"/>
              </a:ext>
            </a:extLst>
          </p:cNvPr>
          <p:cNvSpPr>
            <a:spLocks xmlns:a="http://schemas.openxmlformats.org/drawingml/2006/main" noGrp="1"/>
          </p:cNvSpPr>
          <p:nvPr/>
        </p:nvSpPr>
        <p:spPr>
          <a:xfrm xmlns:a="http://schemas.openxmlformats.org/drawingml/2006/main">
            <a:off x="619125" y="4086225"/>
            <a:ext cx="6381750"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Chọn lớp có xác suất cao nhất</a:t>
            </a:r>
          </a:p>
        </p:txBody>
      </p:sp>
      <p:sp>
        <p:nvSpPr>
          <p:cNvPr id="12" name="">
            <a:extLst xmlns:a="http://schemas.openxmlformats.org/drawingml/2006/main">
              <a:ext uri="{FF2B5EF4-FFF2-40B4-BE49-F238E27FC236}">
                <a16:creationId xmlns:a16="http://schemas.microsoft.com/office/drawing/2014/main" id="{B7B28754-14CE-4DAC-B85B-AE6619050A5E}"/>
              </a:ext>
            </a:extLst>
          </p:cNvPr>
          <p:cNvSpPr>
            <a:spLocks xmlns:a="http://schemas.openxmlformats.org/drawingml/2006/main" noGrp="1"/>
          </p:cNvSpPr>
          <p:nvPr/>
        </p:nvSpPr>
        <p:spPr>
          <a:xfrm xmlns:a="http://schemas.openxmlformats.org/drawingml/2006/main">
            <a:off x="619125" y="5153025"/>
            <a:ext cx="638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2B7"/>
                </a:solidFill>
                <a:latin typeface="Arial"/>
                <a:ea typeface="Arial"/>
                <a:cs typeface="Arial"/>
              </a:defRPr>
            </a:defPPr>
          </a:lstStyle>
          <a:p xmlns:a="http://schemas.openxmlformats.org/drawingml/2006/main">
            <a:pPr>
              <a:defRPr sz="1875" b="1">
                <a:solidFill>
                  <a:srgbClr val="2072B7"/>
                </a:solidFill>
                <a:latin typeface="Arial"/>
                <a:ea typeface="Arial"/>
                <a:cs typeface="Arial"/>
              </a:defRPr>
            </a:pPr>
            <a:r>
              <a:rPr sz="1875" b="1">
                <a:solidFill>
                  <a:srgbClr val="2072B7"/>
                </a:solidFill>
                <a:latin typeface="Arial"/>
                <a:ea typeface="Arial"/>
                <a:cs typeface="Arial"/>
              </a:rPr>
              <a:t>Minh họa: OnTime 55%, Carrier 20%, các lớp khác 25%.</a:t>
            </a:r>
          </a:p>
          <a:p xmlns:a="http://schemas.openxmlformats.org/drawingml/2006/main">
            <a:pPr>
              <a:defRPr sz="1875" b="1">
                <a:solidFill>
                  <a:srgbClr val="2072B7"/>
                </a:solidFill>
                <a:latin typeface="Arial"/>
                <a:ea typeface="Arial"/>
                <a:cs typeface="Arial"/>
              </a:defRPr>
            </a:pPr>
            <a:r>
              <a:rPr sz="1875" b="1">
                <a:solidFill>
                  <a:srgbClr val="2072B7"/>
                </a:solidFill>
                <a:latin typeface="Arial"/>
                <a:ea typeface="Arial"/>
                <a:cs typeface="Arial"/>
              </a:rPr>
              <a:t>Dự đoán minh họa: OnTime.</a:t>
            </a:r>
          </a:p>
        </p:txBody>
      </p:sp>
      <p:sp>
        <p:nvSpPr>
          <p:cNvPr id="13" name="">
            <a:extLst xmlns:a="http://schemas.openxmlformats.org/drawingml/2006/main">
              <a:ext uri="{FF2B5EF4-FFF2-40B4-BE49-F238E27FC236}">
                <a16:creationId xmlns:a16="http://schemas.microsoft.com/office/drawing/2014/main" id="{62BE9AB8-1E6A-46EF-A27D-047A30D3B5B8}"/>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Nguyên lý minh họa. CPU trong code dùng SGDClassifier với loss="log_loss".</a:t>
            </a:r>
          </a:p>
        </p:txBody>
      </p:sp>
    </p:spTree>
    <p:extLst>
      <p:ext uri="{BB962C8B-B14F-4D97-AF65-F5344CB8AC3E}">
        <p14:creationId xmlns:p14="http://schemas.microsoft.com/office/powerpoint/2010/main" val="18885877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DDFDEFA5-192B-4FFC-A40F-8F553383662D}"/>
              </a:ext>
            </a:extLst>
          </p:cNvPr>
          <p:cNvCxnSpPr>
            <a:stCxn xmlns:a="http://schemas.openxmlformats.org/drawingml/2006/main" id="8" idx="2"/>
            <a:endCxn xmlns:a="http://schemas.openxmlformats.org/drawingml/2006/main" id="15" idx="0"/>
          </p:cNvCxnSpPr>
          <p:nvPr/>
        </p:nvCxnSpPr>
        <p:spPr>
          <a:xfrm xmlns:a="http://schemas.openxmlformats.org/drawingml/2006/main">
            <a:off x="6667500" y="4019550"/>
            <a:ext cx="1666875" cy="771525"/>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6" name="">
            <a:extLst xmlns:a="http://schemas.openxmlformats.org/drawingml/2006/main">
              <a:ext uri="{FF2B5EF4-FFF2-40B4-BE49-F238E27FC236}">
                <a16:creationId xmlns:a16="http://schemas.microsoft.com/office/drawing/2014/main" id="{1E1712A3-7537-40A7-A9C8-C38900B35CB1}"/>
              </a:ext>
            </a:extLst>
          </p:cNvPr>
          <p:cNvCxnSpPr>
            <a:stCxn xmlns:a="http://schemas.openxmlformats.org/drawingml/2006/main" id="8" idx="2"/>
            <a:endCxn xmlns:a="http://schemas.openxmlformats.org/drawingml/2006/main" id="14" idx="0"/>
          </p:cNvCxnSpPr>
          <p:nvPr/>
        </p:nvCxnSpPr>
        <p:spPr>
          <a:xfrm xmlns:a="http://schemas.openxmlformats.org/drawingml/2006/main" flipH="1">
            <a:off x="6024563" y="4019550"/>
            <a:ext cx="642938" cy="771525"/>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D81AD619-6DDD-4570-9EA2-0F4EEA1B5295}"/>
              </a:ext>
            </a:extLst>
          </p:cNvPr>
          <p:cNvCxnSpPr>
            <a:stCxn xmlns:a="http://schemas.openxmlformats.org/drawingml/2006/main" id="7" idx="2"/>
            <a:endCxn xmlns:a="http://schemas.openxmlformats.org/drawingml/2006/main" id="9" idx="0"/>
          </p:cNvCxnSpPr>
          <p:nvPr/>
        </p:nvCxnSpPr>
        <p:spPr>
          <a:xfrm xmlns:a="http://schemas.openxmlformats.org/drawingml/2006/main">
            <a:off x="8239125" y="2819400"/>
            <a:ext cx="2047875" cy="657225"/>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0" name="">
            <a:extLst xmlns:a="http://schemas.openxmlformats.org/drawingml/2006/main">
              <a:ext uri="{FF2B5EF4-FFF2-40B4-BE49-F238E27FC236}">
                <a16:creationId xmlns:a16="http://schemas.microsoft.com/office/drawing/2014/main" id="{568C8225-3861-438A-8B65-161A7EF5BB02}"/>
              </a:ext>
            </a:extLst>
          </p:cNvPr>
          <p:cNvCxnSpPr>
            <a:stCxn xmlns:a="http://schemas.openxmlformats.org/drawingml/2006/main" id="7" idx="2"/>
            <a:endCxn xmlns:a="http://schemas.openxmlformats.org/drawingml/2006/main" id="8" idx="0"/>
          </p:cNvCxnSpPr>
          <p:nvPr/>
        </p:nvCxnSpPr>
        <p:spPr>
          <a:xfrm xmlns:a="http://schemas.openxmlformats.org/drawingml/2006/main" flipH="1">
            <a:off x="6667500" y="2819400"/>
            <a:ext cx="1571625" cy="60960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sp>
        <p:nvSpPr>
          <p:cNvPr id="21" name="">
            <a:extLst xmlns:a="http://schemas.openxmlformats.org/drawingml/2006/main">
              <a:ext uri="{FF2B5EF4-FFF2-40B4-BE49-F238E27FC236}">
                <a16:creationId xmlns:a16="http://schemas.microsoft.com/office/drawing/2014/main" id="{83510CA3-94E7-4F84-89B0-A7EE1D9EAD02}"/>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Decision Tree</a:t>
            </a:r>
          </a:p>
        </p:txBody>
      </p:sp>
      <p:sp>
        <p:nvSpPr>
          <p:cNvPr id="2" name="">
            <a:extLst xmlns:a="http://schemas.openxmlformats.org/drawingml/2006/main">
              <a:ext uri="{FF2B5EF4-FFF2-40B4-BE49-F238E27FC236}">
                <a16:creationId xmlns:a16="http://schemas.microsoft.com/office/drawing/2014/main" id="{0A9275BF-CFD5-4423-823D-CC8EBDA71AB7}"/>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Đi qua các câu hỏi điều kiện để tới nhãn ở nút lá</a:t>
            </a:r>
          </a:p>
        </p:txBody>
      </p:sp>
      <p:sp>
        <p:nvSpPr>
          <p:cNvPr id="3" name="">
            <a:extLst xmlns:a="http://schemas.openxmlformats.org/drawingml/2006/main">
              <a:ext uri="{FF2B5EF4-FFF2-40B4-BE49-F238E27FC236}">
                <a16:creationId xmlns:a16="http://schemas.microsoft.com/office/drawing/2014/main" id="{EB349EE1-25C2-4078-A95A-96C438C663CE}"/>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02618B4-19A4-45AB-BA24-92898182B42D}"/>
              </a:ext>
            </a:extLst>
          </p:cNvPr>
          <p:cNvSpPr>
            <a:spLocks xmlns:a="http://schemas.openxmlformats.org/drawingml/2006/main" noGrp="1"/>
          </p:cNvSpPr>
          <p:nvPr/>
        </p:nvSpPr>
        <p:spPr>
          <a:xfrm xmlns:a="http://schemas.openxmlformats.org/drawingml/2006/main">
            <a:off x="571500" y="22193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vào: lịch bay, giờ bay, hãng và sân bay.</a:t>
            </a:r>
          </a:p>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ra: một trong sáu nhãn.</a:t>
            </a:r>
          </a:p>
        </p:txBody>
      </p:sp>
      <p:sp>
        <p:nvSpPr>
          <p:cNvPr id="5" name="">
            <a:extLst xmlns:a="http://schemas.openxmlformats.org/drawingml/2006/main">
              <a:ext uri="{FF2B5EF4-FFF2-40B4-BE49-F238E27FC236}">
                <a16:creationId xmlns:a16="http://schemas.microsoft.com/office/drawing/2014/main" id="{655112C2-ED8C-4C87-ABE4-4842FEF1C00C}"/>
              </a:ext>
            </a:extLst>
          </p:cNvPr>
          <p:cNvSpPr>
            <a:spLocks xmlns:a="http://schemas.openxmlformats.org/drawingml/2006/main" noGrp="1"/>
          </p:cNvSpPr>
          <p:nvPr/>
        </p:nvSpPr>
        <p:spPr>
          <a:xfrm xmlns:a="http://schemas.openxmlformats.org/drawingml/2006/main">
            <a:off x="571500" y="33051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Ưu điểm: đường đi dễ giải thích cho người xem.</a:t>
            </a:r>
          </a:p>
        </p:txBody>
      </p:sp>
      <p:sp>
        <p:nvSpPr>
          <p:cNvPr id="6" name="">
            <a:extLst xmlns:a="http://schemas.openxmlformats.org/drawingml/2006/main">
              <a:ext uri="{FF2B5EF4-FFF2-40B4-BE49-F238E27FC236}">
                <a16:creationId xmlns:a16="http://schemas.microsoft.com/office/drawing/2014/main" id="{DFC590A5-6175-44C7-8198-67118D83AE73}"/>
              </a:ext>
            </a:extLst>
          </p:cNvPr>
          <p:cNvSpPr>
            <a:spLocks xmlns:a="http://schemas.openxmlformats.org/drawingml/2006/main" noGrp="1"/>
          </p:cNvSpPr>
          <p:nvPr/>
        </p:nvSpPr>
        <p:spPr>
          <a:xfrm xmlns:a="http://schemas.openxmlformats.org/drawingml/2006/main">
            <a:off x="571500" y="43910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Hạn chế: một cây dễ học lệch về lớp đông hoặc quá khớp.</a:t>
            </a:r>
          </a:p>
        </p:txBody>
      </p:sp>
      <p:sp>
        <p:nvSpPr>
          <p:cNvPr id="7" name="">
            <a:extLst xmlns:a="http://schemas.openxmlformats.org/drawingml/2006/main">
              <a:ext uri="{FF2B5EF4-FFF2-40B4-BE49-F238E27FC236}">
                <a16:creationId xmlns:a16="http://schemas.microsoft.com/office/drawing/2014/main" id="{FF9A8B58-4A20-4F94-ADAD-A0177BCE1A1D}"/>
              </a:ext>
            </a:extLst>
          </p:cNvPr>
          <p:cNvSpPr>
            <a:spLocks xmlns:a="http://schemas.openxmlformats.org/drawingml/2006/main" noGrp="1"/>
          </p:cNvSpPr>
          <p:nvPr/>
        </p:nvSpPr>
        <p:spPr>
          <a:xfrm xmlns:a="http://schemas.openxmlformats.org/drawingml/2006/main">
            <a:off x="6858000" y="2228850"/>
            <a:ext cx="2762250" cy="5905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Giờ đi ≥ 17?</a:t>
            </a:r>
          </a:p>
        </p:txBody>
      </p:sp>
      <p:sp>
        <p:nvSpPr>
          <p:cNvPr id="8" name="">
            <a:extLst xmlns:a="http://schemas.openxmlformats.org/drawingml/2006/main">
              <a:ext uri="{FF2B5EF4-FFF2-40B4-BE49-F238E27FC236}">
                <a16:creationId xmlns:a16="http://schemas.microsoft.com/office/drawing/2014/main" id="{6F4CDD19-A635-411E-9767-296804648F14}"/>
              </a:ext>
            </a:extLst>
          </p:cNvPr>
          <p:cNvSpPr>
            <a:spLocks xmlns:a="http://schemas.openxmlformats.org/drawingml/2006/main" noGrp="1"/>
          </p:cNvSpPr>
          <p:nvPr/>
        </p:nvSpPr>
        <p:spPr>
          <a:xfrm xmlns:a="http://schemas.openxmlformats.org/drawingml/2006/main">
            <a:off x="5238750" y="3429000"/>
            <a:ext cx="2857500" cy="59055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76200" tIns="47625" rIns="76200" bIns="47625" anchor="ctr"/>
          <a:lstStyle xmlns:a="http://schemas.openxmlformats.org/drawingml/2006/main">
            <a:defPPr algn="ctr">
              <a:defRPr sz="1725">
                <a:solidFill>
                  <a:srgbClr val="202D39"/>
                </a:solidFill>
                <a:latin typeface="Arial"/>
                <a:ea typeface="Arial"/>
                <a:cs typeface="Arial"/>
              </a:defRPr>
            </a:defPPr>
          </a:lstStyle>
          <a:p xmlns:a="http://schemas.openxmlformats.org/drawingml/2006/main">
            <a:pPr algn="ctr">
              <a:defRPr sz="1725">
                <a:solidFill>
                  <a:srgbClr val="202D39"/>
                </a:solidFill>
                <a:latin typeface="Arial"/>
                <a:ea typeface="Arial"/>
                <a:cs typeface="Arial"/>
              </a:defRPr>
            </a:pPr>
            <a:r>
              <a:rPr sz="1725">
                <a:solidFill>
                  <a:srgbClr val="202D39"/>
                </a:solidFill>
                <a:latin typeface="Arial"/>
                <a:ea typeface="Arial"/>
                <a:cs typeface="Arial"/>
              </a:rPr>
              <a:t>Khoảng cách &gt; 1.000?</a:t>
            </a:r>
          </a:p>
        </p:txBody>
      </p:sp>
      <p:sp>
        <p:nvSpPr>
          <p:cNvPr id="9" name="">
            <a:extLst xmlns:a="http://schemas.openxmlformats.org/drawingml/2006/main">
              <a:ext uri="{FF2B5EF4-FFF2-40B4-BE49-F238E27FC236}">
                <a16:creationId xmlns:a16="http://schemas.microsoft.com/office/drawing/2014/main" id="{F84EA907-A5C0-4F09-9129-FBA3319E78B5}"/>
              </a:ext>
            </a:extLst>
          </p:cNvPr>
          <p:cNvSpPr>
            <a:spLocks xmlns:a="http://schemas.openxmlformats.org/drawingml/2006/main" noGrp="1"/>
          </p:cNvSpPr>
          <p:nvPr/>
        </p:nvSpPr>
        <p:spPr>
          <a:xfrm xmlns:a="http://schemas.openxmlformats.org/drawingml/2006/main">
            <a:off x="9144000" y="3476625"/>
            <a:ext cx="2286000" cy="5905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Lá: Carrier</a:t>
            </a:r>
          </a:p>
        </p:txBody>
      </p:sp>
      <p:sp>
        <p:nvSpPr>
          <p:cNvPr id="12" name="">
            <a:extLst xmlns:a="http://schemas.openxmlformats.org/drawingml/2006/main">
              <a:ext uri="{FF2B5EF4-FFF2-40B4-BE49-F238E27FC236}">
                <a16:creationId xmlns:a16="http://schemas.microsoft.com/office/drawing/2014/main" id="{13FBE05E-5BD6-420E-91E1-AC89BB795AF5}"/>
              </a:ext>
            </a:extLst>
          </p:cNvPr>
          <p:cNvSpPr>
            <a:spLocks xmlns:a="http://schemas.openxmlformats.org/drawingml/2006/main" noGrp="1"/>
          </p:cNvSpPr>
          <p:nvPr/>
        </p:nvSpPr>
        <p:spPr>
          <a:xfrm xmlns:a="http://schemas.openxmlformats.org/drawingml/2006/main">
            <a:off x="6581775" y="291465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2B7"/>
                </a:solidFill>
                <a:latin typeface="Arial"/>
                <a:ea typeface="Arial"/>
                <a:cs typeface="Arial"/>
              </a:defRPr>
            </a:defPPr>
          </a:lstStyle>
          <a:p xmlns:a="http://schemas.openxmlformats.org/drawingml/2006/main">
            <a:pPr>
              <a:defRPr sz="1650" b="1">
                <a:solidFill>
                  <a:srgbClr val="2072B7"/>
                </a:solidFill>
                <a:latin typeface="Arial"/>
                <a:ea typeface="Arial"/>
                <a:cs typeface="Arial"/>
              </a:defRPr>
            </a:pPr>
            <a:r>
              <a:rPr sz="1650" b="1">
                <a:solidFill>
                  <a:srgbClr val="2072B7"/>
                </a:solidFill>
                <a:latin typeface="Arial"/>
                <a:ea typeface="Arial"/>
                <a:cs typeface="Arial"/>
              </a:rPr>
              <a:t>Có</a:t>
            </a:r>
          </a:p>
        </p:txBody>
      </p:sp>
      <p:sp>
        <p:nvSpPr>
          <p:cNvPr id="13" name="">
            <a:extLst xmlns:a="http://schemas.openxmlformats.org/drawingml/2006/main">
              <a:ext uri="{FF2B5EF4-FFF2-40B4-BE49-F238E27FC236}">
                <a16:creationId xmlns:a16="http://schemas.microsoft.com/office/drawing/2014/main" id="{71CA3A90-4610-4BD9-88BB-8C4930A44D5C}"/>
              </a:ext>
            </a:extLst>
          </p:cNvPr>
          <p:cNvSpPr>
            <a:spLocks xmlns:a="http://schemas.openxmlformats.org/drawingml/2006/main" noGrp="1"/>
          </p:cNvSpPr>
          <p:nvPr/>
        </p:nvSpPr>
        <p:spPr>
          <a:xfrm xmlns:a="http://schemas.openxmlformats.org/drawingml/2006/main">
            <a:off x="9810750" y="2924175"/>
            <a:ext cx="904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2B7"/>
                </a:solidFill>
                <a:latin typeface="Arial"/>
                <a:ea typeface="Arial"/>
                <a:cs typeface="Arial"/>
              </a:defRPr>
            </a:defPPr>
          </a:lstStyle>
          <a:p xmlns:a="http://schemas.openxmlformats.org/drawingml/2006/main">
            <a:pPr>
              <a:defRPr sz="1650" b="1">
                <a:solidFill>
                  <a:srgbClr val="2072B7"/>
                </a:solidFill>
                <a:latin typeface="Arial"/>
                <a:ea typeface="Arial"/>
                <a:cs typeface="Arial"/>
              </a:defRPr>
            </a:pPr>
            <a:r>
              <a:rPr sz="1650" b="1">
                <a:solidFill>
                  <a:srgbClr val="2072B7"/>
                </a:solidFill>
                <a:latin typeface="Arial"/>
                <a:ea typeface="Arial"/>
                <a:cs typeface="Arial"/>
              </a:rPr>
              <a:t>Không</a:t>
            </a:r>
          </a:p>
        </p:txBody>
      </p:sp>
      <p:sp>
        <p:nvSpPr>
          <p:cNvPr id="14" name="">
            <a:extLst xmlns:a="http://schemas.openxmlformats.org/drawingml/2006/main">
              <a:ext uri="{FF2B5EF4-FFF2-40B4-BE49-F238E27FC236}">
                <a16:creationId xmlns:a16="http://schemas.microsoft.com/office/drawing/2014/main" id="{64AA12F0-8D6E-483E-9340-965BF2F467A0}"/>
              </a:ext>
            </a:extLst>
          </p:cNvPr>
          <p:cNvSpPr>
            <a:spLocks xmlns:a="http://schemas.openxmlformats.org/drawingml/2006/main" noGrp="1"/>
          </p:cNvSpPr>
          <p:nvPr/>
        </p:nvSpPr>
        <p:spPr>
          <a:xfrm xmlns:a="http://schemas.openxmlformats.org/drawingml/2006/main">
            <a:off x="5143500" y="4791075"/>
            <a:ext cx="1762125" cy="5905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Lá: NAS</a:t>
            </a:r>
          </a:p>
        </p:txBody>
      </p:sp>
      <p:sp>
        <p:nvSpPr>
          <p:cNvPr id="15" name="">
            <a:extLst xmlns:a="http://schemas.openxmlformats.org/drawingml/2006/main">
              <a:ext uri="{FF2B5EF4-FFF2-40B4-BE49-F238E27FC236}">
                <a16:creationId xmlns:a16="http://schemas.microsoft.com/office/drawing/2014/main" id="{5D037660-FCC7-4550-8B72-D296030791A2}"/>
              </a:ext>
            </a:extLst>
          </p:cNvPr>
          <p:cNvSpPr>
            <a:spLocks xmlns:a="http://schemas.openxmlformats.org/drawingml/2006/main" noGrp="1"/>
          </p:cNvSpPr>
          <p:nvPr/>
        </p:nvSpPr>
        <p:spPr>
          <a:xfrm xmlns:a="http://schemas.openxmlformats.org/drawingml/2006/main">
            <a:off x="7429500" y="4791075"/>
            <a:ext cx="1809750" cy="5905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Lá: OnTime</a:t>
            </a:r>
          </a:p>
        </p:txBody>
      </p:sp>
      <p:sp>
        <p:nvSpPr>
          <p:cNvPr id="18" name="">
            <a:extLst xmlns:a="http://schemas.openxmlformats.org/drawingml/2006/main">
              <a:ext uri="{FF2B5EF4-FFF2-40B4-BE49-F238E27FC236}">
                <a16:creationId xmlns:a16="http://schemas.microsoft.com/office/drawing/2014/main" id="{99DCADA7-2F21-465F-9F53-1168C296D238}"/>
              </a:ext>
            </a:extLst>
          </p:cNvPr>
          <p:cNvSpPr>
            <a:spLocks xmlns:a="http://schemas.openxmlformats.org/drawingml/2006/main" noGrp="1"/>
          </p:cNvSpPr>
          <p:nvPr/>
        </p:nvSpPr>
        <p:spPr>
          <a:xfrm xmlns:a="http://schemas.openxmlformats.org/drawingml/2006/main">
            <a:off x="5286375" y="4314825"/>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2B7"/>
                </a:solidFill>
                <a:latin typeface="Arial"/>
                <a:ea typeface="Arial"/>
                <a:cs typeface="Arial"/>
              </a:defRPr>
            </a:defPPr>
          </a:lstStyle>
          <a:p xmlns:a="http://schemas.openxmlformats.org/drawingml/2006/main">
            <a:pPr>
              <a:defRPr sz="1650" b="1">
                <a:solidFill>
                  <a:srgbClr val="2072B7"/>
                </a:solidFill>
                <a:latin typeface="Arial"/>
                <a:ea typeface="Arial"/>
                <a:cs typeface="Arial"/>
              </a:defRPr>
            </a:pPr>
            <a:r>
              <a:rPr sz="1650" b="1">
                <a:solidFill>
                  <a:srgbClr val="2072B7"/>
                </a:solidFill>
                <a:latin typeface="Arial"/>
                <a:ea typeface="Arial"/>
                <a:cs typeface="Arial"/>
              </a:rPr>
              <a:t>Có</a:t>
            </a:r>
          </a:p>
        </p:txBody>
      </p:sp>
      <p:sp>
        <p:nvSpPr>
          <p:cNvPr id="19" name="">
            <a:extLst xmlns:a="http://schemas.openxmlformats.org/drawingml/2006/main">
              <a:ext uri="{FF2B5EF4-FFF2-40B4-BE49-F238E27FC236}">
                <a16:creationId xmlns:a16="http://schemas.microsoft.com/office/drawing/2014/main" id="{38F10649-D087-4776-9DBC-E6CB1CBFF5C7}"/>
              </a:ext>
            </a:extLst>
          </p:cNvPr>
          <p:cNvSpPr>
            <a:spLocks xmlns:a="http://schemas.openxmlformats.org/drawingml/2006/main" noGrp="1"/>
          </p:cNvSpPr>
          <p:nvPr/>
        </p:nvSpPr>
        <p:spPr>
          <a:xfrm xmlns:a="http://schemas.openxmlformats.org/drawingml/2006/main">
            <a:off x="8010525" y="43148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2B7"/>
                </a:solidFill>
                <a:latin typeface="Arial"/>
                <a:ea typeface="Arial"/>
                <a:cs typeface="Arial"/>
              </a:defRPr>
            </a:defPPr>
          </a:lstStyle>
          <a:p xmlns:a="http://schemas.openxmlformats.org/drawingml/2006/main">
            <a:pPr>
              <a:defRPr sz="1650" b="1">
                <a:solidFill>
                  <a:srgbClr val="2072B7"/>
                </a:solidFill>
                <a:latin typeface="Arial"/>
                <a:ea typeface="Arial"/>
                <a:cs typeface="Arial"/>
              </a:defRPr>
            </a:pPr>
            <a:r>
              <a:rPr sz="1650" b="1">
                <a:solidFill>
                  <a:srgbClr val="2072B7"/>
                </a:solidFill>
                <a:latin typeface="Arial"/>
                <a:ea typeface="Arial"/>
                <a:cs typeface="Arial"/>
              </a:rPr>
              <a:t>Không</a:t>
            </a:r>
          </a:p>
        </p:txBody>
      </p:sp>
      <p:sp>
        <p:nvSpPr>
          <p:cNvPr id="20" name="">
            <a:extLst xmlns:a="http://schemas.openxmlformats.org/drawingml/2006/main">
              <a:ext uri="{FF2B5EF4-FFF2-40B4-BE49-F238E27FC236}">
                <a16:creationId xmlns:a16="http://schemas.microsoft.com/office/drawing/2014/main" id="{8C9862CE-2D13-44CE-A372-854C1A0ADE9D}"/>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Các ngưỡng và nhãn lá chỉ là minh họa, không lấy từ cây đã huấn luyện.</a:t>
            </a:r>
          </a:p>
        </p:txBody>
      </p:sp>
    </p:spTree>
    <p:extLst>
      <p:ext uri="{BB962C8B-B14F-4D97-AF65-F5344CB8AC3E}">
        <p14:creationId xmlns:p14="http://schemas.microsoft.com/office/powerpoint/2010/main" val="7893333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7D524D95-71DE-43EC-B551-661F2ACF05B2}"/>
              </a:ext>
            </a:extLst>
          </p:cNvPr>
          <p:cNvCxnSpPr>
            <a:stCxn xmlns:a="http://schemas.openxmlformats.org/drawingml/2006/main" id="10" idx="2"/>
            <a:endCxn xmlns:a="http://schemas.openxmlformats.org/drawingml/2006/main" id="14" idx="0"/>
          </p:cNvCxnSpPr>
          <p:nvPr/>
        </p:nvCxnSpPr>
        <p:spPr>
          <a:xfrm xmlns:a="http://schemas.openxmlformats.org/drawingml/2006/main" flipH="1">
            <a:off x="3810000" y="4305300"/>
            <a:ext cx="2190750" cy="7429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6" name="">
            <a:extLst xmlns:a="http://schemas.openxmlformats.org/drawingml/2006/main">
              <a:ext uri="{FF2B5EF4-FFF2-40B4-BE49-F238E27FC236}">
                <a16:creationId xmlns:a16="http://schemas.microsoft.com/office/drawing/2014/main" id="{E24C30EB-D542-44FE-9D7A-AE4972D27F02}"/>
              </a:ext>
            </a:extLst>
          </p:cNvPr>
          <p:cNvCxnSpPr>
            <a:stCxn xmlns:a="http://schemas.openxmlformats.org/drawingml/2006/main" id="9" idx="2"/>
            <a:endCxn xmlns:a="http://schemas.openxmlformats.org/drawingml/2006/main" id="14" idx="0"/>
          </p:cNvCxnSpPr>
          <p:nvPr/>
        </p:nvCxnSpPr>
        <p:spPr>
          <a:xfrm xmlns:a="http://schemas.openxmlformats.org/drawingml/2006/main">
            <a:off x="3810000" y="4305300"/>
            <a:ext cx="0" cy="74295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5" name="">
            <a:extLst xmlns:a="http://schemas.openxmlformats.org/drawingml/2006/main">
              <a:ext uri="{FF2B5EF4-FFF2-40B4-BE49-F238E27FC236}">
                <a16:creationId xmlns:a16="http://schemas.microsoft.com/office/drawing/2014/main" id="{69D3276D-A78F-42AF-9016-A65FAB25DFAB}"/>
              </a:ext>
            </a:extLst>
          </p:cNvPr>
          <p:cNvCxnSpPr>
            <a:stCxn xmlns:a="http://schemas.openxmlformats.org/drawingml/2006/main" id="8" idx="2"/>
            <a:endCxn xmlns:a="http://schemas.openxmlformats.org/drawingml/2006/main" id="14" idx="0"/>
          </p:cNvCxnSpPr>
          <p:nvPr/>
        </p:nvCxnSpPr>
        <p:spPr>
          <a:xfrm xmlns:a="http://schemas.openxmlformats.org/drawingml/2006/main">
            <a:off x="1619250" y="4305300"/>
            <a:ext cx="2190750" cy="7429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3" name="">
            <a:extLst xmlns:a="http://schemas.openxmlformats.org/drawingml/2006/main">
              <a:ext uri="{FF2B5EF4-FFF2-40B4-BE49-F238E27FC236}">
                <a16:creationId xmlns:a16="http://schemas.microsoft.com/office/drawing/2014/main" id="{7EA09E52-3B80-45A1-9791-1463139E4854}"/>
              </a:ext>
            </a:extLst>
          </p:cNvPr>
          <p:cNvCxnSpPr>
            <a:stCxn xmlns:a="http://schemas.openxmlformats.org/drawingml/2006/main" id="7" idx="2"/>
            <a:endCxn xmlns:a="http://schemas.openxmlformats.org/drawingml/2006/main" id="10" idx="0"/>
          </p:cNvCxnSpPr>
          <p:nvPr/>
        </p:nvCxnSpPr>
        <p:spPr>
          <a:xfrm xmlns:a="http://schemas.openxmlformats.org/drawingml/2006/main">
            <a:off x="3810000" y="2790825"/>
            <a:ext cx="2190750" cy="695325"/>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409E7FC1-A890-4A98-BA4F-709ED0F4CC65}"/>
              </a:ext>
            </a:extLst>
          </p:cNvPr>
          <p:cNvCxnSpPr>
            <a:stCxn xmlns:a="http://schemas.openxmlformats.org/drawingml/2006/main" id="7" idx="2"/>
            <a:endCxn xmlns:a="http://schemas.openxmlformats.org/drawingml/2006/main" id="9" idx="0"/>
          </p:cNvCxnSpPr>
          <p:nvPr/>
        </p:nvCxnSpPr>
        <p:spPr>
          <a:xfrm xmlns:a="http://schemas.openxmlformats.org/drawingml/2006/main">
            <a:off x="3810000" y="2790825"/>
            <a:ext cx="0" cy="6953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72B56956-0D67-46A8-85B1-12721811F6BE}"/>
              </a:ext>
            </a:extLst>
          </p:cNvPr>
          <p:cNvCxnSpPr>
            <a:stCxn xmlns:a="http://schemas.openxmlformats.org/drawingml/2006/main" id="7" idx="2"/>
            <a:endCxn xmlns:a="http://schemas.openxmlformats.org/drawingml/2006/main" id="8" idx="0"/>
          </p:cNvCxnSpPr>
          <p:nvPr/>
        </p:nvCxnSpPr>
        <p:spPr>
          <a:xfrm xmlns:a="http://schemas.openxmlformats.org/drawingml/2006/main" flipH="1">
            <a:off x="1619250" y="2790825"/>
            <a:ext cx="2190750" cy="695325"/>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sp>
        <p:nvSpPr>
          <p:cNvPr id="19" name="">
            <a:extLst xmlns:a="http://schemas.openxmlformats.org/drawingml/2006/main">
              <a:ext uri="{FF2B5EF4-FFF2-40B4-BE49-F238E27FC236}">
                <a16:creationId xmlns:a16="http://schemas.microsoft.com/office/drawing/2014/main" id="{E79699A7-B728-45F0-80E1-A72A0ED71832}"/>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Random Forest</a:t>
            </a:r>
          </a:p>
        </p:txBody>
      </p:sp>
      <p:sp>
        <p:nvSpPr>
          <p:cNvPr id="2" name="">
            <a:extLst xmlns:a="http://schemas.openxmlformats.org/drawingml/2006/main">
              <a:ext uri="{FF2B5EF4-FFF2-40B4-BE49-F238E27FC236}">
                <a16:creationId xmlns:a16="http://schemas.microsoft.com/office/drawing/2014/main" id="{B1B3A656-225D-4EED-B218-0775BD5F2C31}"/>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Nhiều cây tạo dự đoán, rồi rừng tổng hợp thành nhãn cuối</a:t>
            </a:r>
          </a:p>
        </p:txBody>
      </p:sp>
      <p:sp>
        <p:nvSpPr>
          <p:cNvPr id="3" name="">
            <a:extLst xmlns:a="http://schemas.openxmlformats.org/drawingml/2006/main">
              <a:ext uri="{FF2B5EF4-FFF2-40B4-BE49-F238E27FC236}">
                <a16:creationId xmlns:a16="http://schemas.microsoft.com/office/drawing/2014/main" id="{C902D337-0B1C-4DEF-A363-10D0C0E774A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651EACF4-735A-4365-BC79-E4D5B33542C8}"/>
              </a:ext>
            </a:extLst>
          </p:cNvPr>
          <p:cNvSpPr>
            <a:spLocks xmlns:a="http://schemas.openxmlformats.org/drawingml/2006/main" noGrp="1"/>
          </p:cNvSpPr>
          <p:nvPr/>
        </p:nvSpPr>
        <p:spPr>
          <a:xfrm xmlns:a="http://schemas.openxmlformats.org/drawingml/2006/main">
            <a:off x="7620000" y="22193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vào: lịch bay, giờ bay, hãng và sân bay.</a:t>
            </a:r>
          </a:p>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ra: một trong sáu nhãn.</a:t>
            </a:r>
          </a:p>
        </p:txBody>
      </p:sp>
      <p:sp>
        <p:nvSpPr>
          <p:cNvPr id="5" name="">
            <a:extLst xmlns:a="http://schemas.openxmlformats.org/drawingml/2006/main">
              <a:ext uri="{FF2B5EF4-FFF2-40B4-BE49-F238E27FC236}">
                <a16:creationId xmlns:a16="http://schemas.microsoft.com/office/drawing/2014/main" id="{9A4B5688-5708-4850-BCCC-8BE8D022701B}"/>
              </a:ext>
            </a:extLst>
          </p:cNvPr>
          <p:cNvSpPr>
            <a:spLocks xmlns:a="http://schemas.openxmlformats.org/drawingml/2006/main" noGrp="1"/>
          </p:cNvSpPr>
          <p:nvPr/>
        </p:nvSpPr>
        <p:spPr>
          <a:xfrm xmlns:a="http://schemas.openxmlformats.org/drawingml/2006/main">
            <a:off x="7620000" y="33051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Ưu điểm: ổn định hơn một cây nhờ kết hợp nhiều cây.</a:t>
            </a:r>
          </a:p>
        </p:txBody>
      </p:sp>
      <p:sp>
        <p:nvSpPr>
          <p:cNvPr id="6" name="">
            <a:extLst xmlns:a="http://schemas.openxmlformats.org/drawingml/2006/main">
              <a:ext uri="{FF2B5EF4-FFF2-40B4-BE49-F238E27FC236}">
                <a16:creationId xmlns:a16="http://schemas.microsoft.com/office/drawing/2014/main" id="{97C1DCD9-957E-4857-BCA0-99A01D35D1E4}"/>
              </a:ext>
            </a:extLst>
          </p:cNvPr>
          <p:cNvSpPr>
            <a:spLocks xmlns:a="http://schemas.openxmlformats.org/drawingml/2006/main" noGrp="1"/>
          </p:cNvSpPr>
          <p:nvPr/>
        </p:nvSpPr>
        <p:spPr>
          <a:xfrm xmlns:a="http://schemas.openxmlformats.org/drawingml/2006/main">
            <a:off x="7620000" y="4391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Hạn chế: tốn tài nguyên hơn, vẫn có thể nghiêng về OnTime.</a:t>
            </a:r>
          </a:p>
        </p:txBody>
      </p:sp>
      <p:sp>
        <p:nvSpPr>
          <p:cNvPr id="7" name="">
            <a:extLst xmlns:a="http://schemas.openxmlformats.org/drawingml/2006/main">
              <a:ext uri="{FF2B5EF4-FFF2-40B4-BE49-F238E27FC236}">
                <a16:creationId xmlns:a16="http://schemas.microsoft.com/office/drawing/2014/main" id="{15D425BC-B27B-4D40-9EBD-18184B933FF5}"/>
              </a:ext>
            </a:extLst>
          </p:cNvPr>
          <p:cNvSpPr>
            <a:spLocks xmlns:a="http://schemas.openxmlformats.org/drawingml/2006/main" noGrp="1"/>
          </p:cNvSpPr>
          <p:nvPr/>
        </p:nvSpPr>
        <p:spPr>
          <a:xfrm xmlns:a="http://schemas.openxmlformats.org/drawingml/2006/main">
            <a:off x="619125" y="2219325"/>
            <a:ext cx="6381750" cy="5715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Cùng một chuyến bay</a:t>
            </a:r>
          </a:p>
        </p:txBody>
      </p:sp>
      <p:sp>
        <p:nvSpPr>
          <p:cNvPr id="8" name="">
            <a:extLst xmlns:a="http://schemas.openxmlformats.org/drawingml/2006/main">
              <a:ext uri="{FF2B5EF4-FFF2-40B4-BE49-F238E27FC236}">
                <a16:creationId xmlns:a16="http://schemas.microsoft.com/office/drawing/2014/main" id="{E7AEAD1F-0F34-4F12-812E-976FC606C951}"/>
              </a:ext>
            </a:extLst>
          </p:cNvPr>
          <p:cNvSpPr>
            <a:spLocks xmlns:a="http://schemas.openxmlformats.org/drawingml/2006/main" noGrp="1"/>
          </p:cNvSpPr>
          <p:nvPr/>
        </p:nvSpPr>
        <p:spPr>
          <a:xfrm xmlns:a="http://schemas.openxmlformats.org/drawingml/2006/main">
            <a:off x="619125" y="3486150"/>
            <a:ext cx="2000250" cy="8191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Cây 1</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Carrier</a:t>
            </a:r>
          </a:p>
        </p:txBody>
      </p:sp>
      <p:sp>
        <p:nvSpPr>
          <p:cNvPr id="9" name="">
            <a:extLst xmlns:a="http://schemas.openxmlformats.org/drawingml/2006/main">
              <a:ext uri="{FF2B5EF4-FFF2-40B4-BE49-F238E27FC236}">
                <a16:creationId xmlns:a16="http://schemas.microsoft.com/office/drawing/2014/main" id="{7690FDC6-3B6B-4895-BAD9-F6B1F9028A25}"/>
              </a:ext>
            </a:extLst>
          </p:cNvPr>
          <p:cNvSpPr>
            <a:spLocks xmlns:a="http://schemas.openxmlformats.org/drawingml/2006/main" noGrp="1"/>
          </p:cNvSpPr>
          <p:nvPr/>
        </p:nvSpPr>
        <p:spPr>
          <a:xfrm xmlns:a="http://schemas.openxmlformats.org/drawingml/2006/main">
            <a:off x="2809875" y="3486150"/>
            <a:ext cx="2000250" cy="8191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Cây 2</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Carrier</a:t>
            </a:r>
          </a:p>
        </p:txBody>
      </p:sp>
      <p:sp>
        <p:nvSpPr>
          <p:cNvPr id="10" name="">
            <a:extLst xmlns:a="http://schemas.openxmlformats.org/drawingml/2006/main">
              <a:ext uri="{FF2B5EF4-FFF2-40B4-BE49-F238E27FC236}">
                <a16:creationId xmlns:a16="http://schemas.microsoft.com/office/drawing/2014/main" id="{D25A83F8-E017-481D-A96F-7E5568B34D4B}"/>
              </a:ext>
            </a:extLst>
          </p:cNvPr>
          <p:cNvSpPr>
            <a:spLocks xmlns:a="http://schemas.openxmlformats.org/drawingml/2006/main" noGrp="1"/>
          </p:cNvSpPr>
          <p:nvPr/>
        </p:nvSpPr>
        <p:spPr>
          <a:xfrm xmlns:a="http://schemas.openxmlformats.org/drawingml/2006/main">
            <a:off x="5000625" y="3486150"/>
            <a:ext cx="2000250" cy="8191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Cây 3</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NAS</a:t>
            </a:r>
          </a:p>
        </p:txBody>
      </p:sp>
      <p:sp>
        <p:nvSpPr>
          <p:cNvPr id="14" name="">
            <a:extLst xmlns:a="http://schemas.openxmlformats.org/drawingml/2006/main">
              <a:ext uri="{FF2B5EF4-FFF2-40B4-BE49-F238E27FC236}">
                <a16:creationId xmlns:a16="http://schemas.microsoft.com/office/drawing/2014/main" id="{3123D749-6A9F-4C4E-A34A-9117A807D642}"/>
              </a:ext>
            </a:extLst>
          </p:cNvPr>
          <p:cNvSpPr>
            <a:spLocks xmlns:a="http://schemas.openxmlformats.org/drawingml/2006/main" noGrp="1"/>
          </p:cNvSpPr>
          <p:nvPr/>
        </p:nvSpPr>
        <p:spPr>
          <a:xfrm xmlns:a="http://schemas.openxmlformats.org/drawingml/2006/main">
            <a:off x="619125" y="5048250"/>
            <a:ext cx="6381750"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Bỏ phiếu minh họa: Carrier có 2/3 phiếu</a:t>
            </a:r>
          </a:p>
        </p:txBody>
      </p:sp>
      <p:sp>
        <p:nvSpPr>
          <p:cNvPr id="18" name="">
            <a:extLst xmlns:a="http://schemas.openxmlformats.org/drawingml/2006/main">
              <a:ext uri="{FF2B5EF4-FFF2-40B4-BE49-F238E27FC236}">
                <a16:creationId xmlns:a16="http://schemas.microsoft.com/office/drawing/2014/main" id="{1E620782-4115-4F64-B607-C27857FEE6B3}"/>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Minh họa đa số phiếu. Scikit-learn thực tế tổng hợp xác suất từ các cây.</a:t>
            </a:r>
          </a:p>
        </p:txBody>
      </p:sp>
    </p:spTree>
    <p:extLst>
      <p:ext uri="{BB962C8B-B14F-4D97-AF65-F5344CB8AC3E}">
        <p14:creationId xmlns:p14="http://schemas.microsoft.com/office/powerpoint/2010/main" val="185819478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6C82BAB5-4FB7-48D2-99B3-9587746F362F}"/>
              </a:ext>
            </a:extLst>
          </p:cNvPr>
          <p:cNvCxnSpPr>
            <a:stCxn xmlns:a="http://schemas.openxmlformats.org/drawingml/2006/main" id="10" idx="2"/>
            <a:endCxn xmlns:a="http://schemas.openxmlformats.org/drawingml/2006/main" id="12" idx="0"/>
          </p:cNvCxnSpPr>
          <p:nvPr/>
        </p:nvCxnSpPr>
        <p:spPr>
          <a:xfrm xmlns:a="http://schemas.openxmlformats.org/drawingml/2006/main">
            <a:off x="8358188" y="452437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2371DAC9-17C1-4905-89FF-95844178D8FB}"/>
              </a:ext>
            </a:extLst>
          </p:cNvPr>
          <p:cNvCxnSpPr>
            <a:stCxn xmlns:a="http://schemas.openxmlformats.org/drawingml/2006/main" id="8" idx="2"/>
            <a:endCxn xmlns:a="http://schemas.openxmlformats.org/drawingml/2006/main" id="10" idx="0"/>
          </p:cNvCxnSpPr>
          <p:nvPr/>
        </p:nvCxnSpPr>
        <p:spPr>
          <a:xfrm xmlns:a="http://schemas.openxmlformats.org/drawingml/2006/main">
            <a:off x="8358188" y="364807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9" name="">
            <a:extLst xmlns:a="http://schemas.openxmlformats.org/drawingml/2006/main">
              <a:ext uri="{FF2B5EF4-FFF2-40B4-BE49-F238E27FC236}">
                <a16:creationId xmlns:a16="http://schemas.microsoft.com/office/drawing/2014/main" id="{6230BF47-E155-4A38-AD4E-0089549E270C}"/>
              </a:ext>
            </a:extLst>
          </p:cNvPr>
          <p:cNvCxnSpPr>
            <a:stCxn xmlns:a="http://schemas.openxmlformats.org/drawingml/2006/main" id="7" idx="2"/>
            <a:endCxn xmlns:a="http://schemas.openxmlformats.org/drawingml/2006/main" id="8" idx="0"/>
          </p:cNvCxnSpPr>
          <p:nvPr/>
        </p:nvCxnSpPr>
        <p:spPr>
          <a:xfrm xmlns:a="http://schemas.openxmlformats.org/drawingml/2006/main">
            <a:off x="8358188" y="277177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5" name="">
            <a:extLst xmlns:a="http://schemas.openxmlformats.org/drawingml/2006/main">
              <a:ext uri="{FF2B5EF4-FFF2-40B4-BE49-F238E27FC236}">
                <a16:creationId xmlns:a16="http://schemas.microsoft.com/office/drawing/2014/main" id="{04AA3622-0277-43AC-B2C2-079069F33402}"/>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XGBoost</a:t>
            </a:r>
          </a:p>
        </p:txBody>
      </p:sp>
      <p:sp>
        <p:nvSpPr>
          <p:cNvPr id="2" name="">
            <a:extLst xmlns:a="http://schemas.openxmlformats.org/drawingml/2006/main">
              <a:ext uri="{FF2B5EF4-FFF2-40B4-BE49-F238E27FC236}">
                <a16:creationId xmlns:a16="http://schemas.microsoft.com/office/drawing/2014/main" id="{CB645B40-8DE3-4E8E-8574-FE478674B4AD}"/>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Thêm cây nối tiếp để cải thiện mô hình hiện tại</a:t>
            </a:r>
          </a:p>
        </p:txBody>
      </p:sp>
      <p:sp>
        <p:nvSpPr>
          <p:cNvPr id="3" name="">
            <a:extLst xmlns:a="http://schemas.openxmlformats.org/drawingml/2006/main">
              <a:ext uri="{FF2B5EF4-FFF2-40B4-BE49-F238E27FC236}">
                <a16:creationId xmlns:a16="http://schemas.microsoft.com/office/drawing/2014/main" id="{A35DCDF5-C7AF-4E67-B4AB-AEA35ACB54EA}"/>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7C293356-7DCE-4F35-85EA-F3FE1B8C3F89}"/>
              </a:ext>
            </a:extLst>
          </p:cNvPr>
          <p:cNvSpPr>
            <a:spLocks xmlns:a="http://schemas.openxmlformats.org/drawingml/2006/main" noGrp="1"/>
          </p:cNvSpPr>
          <p:nvPr/>
        </p:nvSpPr>
        <p:spPr>
          <a:xfrm xmlns:a="http://schemas.openxmlformats.org/drawingml/2006/main">
            <a:off x="571500" y="22193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vào: lịch bay, giờ bay, hãng và sân bay.</a:t>
            </a:r>
          </a:p>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ra: một trong sáu nhãn.</a:t>
            </a:r>
          </a:p>
        </p:txBody>
      </p:sp>
      <p:sp>
        <p:nvSpPr>
          <p:cNvPr id="5" name="">
            <a:extLst xmlns:a="http://schemas.openxmlformats.org/drawingml/2006/main">
              <a:ext uri="{FF2B5EF4-FFF2-40B4-BE49-F238E27FC236}">
                <a16:creationId xmlns:a16="http://schemas.microsoft.com/office/drawing/2014/main" id="{E0503E7E-38DA-46A0-9D3F-324C2523BC50}"/>
              </a:ext>
            </a:extLst>
          </p:cNvPr>
          <p:cNvSpPr>
            <a:spLocks xmlns:a="http://schemas.openxmlformats.org/drawingml/2006/main" noGrp="1"/>
          </p:cNvSpPr>
          <p:nvPr/>
        </p:nvSpPr>
        <p:spPr>
          <a:xfrm xmlns:a="http://schemas.openxmlformats.org/drawingml/2006/main">
            <a:off x="571500" y="33051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Ưu điểm: học được tương tác phi tuyến giữa các đặc trưng.</a:t>
            </a:r>
          </a:p>
        </p:txBody>
      </p:sp>
      <p:sp>
        <p:nvSpPr>
          <p:cNvPr id="6" name="">
            <a:extLst xmlns:a="http://schemas.openxmlformats.org/drawingml/2006/main">
              <a:ext uri="{FF2B5EF4-FFF2-40B4-BE49-F238E27FC236}">
                <a16:creationId xmlns:a16="http://schemas.microsoft.com/office/drawing/2014/main" id="{8134BA2B-F478-497D-8966-A12627B7A05C}"/>
              </a:ext>
            </a:extLst>
          </p:cNvPr>
          <p:cNvSpPr>
            <a:spLocks xmlns:a="http://schemas.openxmlformats.org/drawingml/2006/main" noGrp="1"/>
          </p:cNvSpPr>
          <p:nvPr/>
        </p:nvSpPr>
        <p:spPr>
          <a:xfrm xmlns:a="http://schemas.openxmlformats.org/drawingml/2006/main">
            <a:off x="571500" y="43910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Hạn chế: cần kiểm soát độ sâu và số vòng để tránh quá khớp.</a:t>
            </a:r>
          </a:p>
        </p:txBody>
      </p:sp>
      <p:sp>
        <p:nvSpPr>
          <p:cNvPr id="7" name="">
            <a:extLst xmlns:a="http://schemas.openxmlformats.org/drawingml/2006/main">
              <a:ext uri="{FF2B5EF4-FFF2-40B4-BE49-F238E27FC236}">
                <a16:creationId xmlns:a16="http://schemas.microsoft.com/office/drawing/2014/main" id="{B432F0EA-EAEB-408F-86E5-822E8D33870D}"/>
              </a:ext>
            </a:extLst>
          </p:cNvPr>
          <p:cNvSpPr>
            <a:spLocks xmlns:a="http://schemas.openxmlformats.org/drawingml/2006/main" noGrp="1"/>
          </p:cNvSpPr>
          <p:nvPr/>
        </p:nvSpPr>
        <p:spPr>
          <a:xfrm xmlns:a="http://schemas.openxmlformats.org/drawingml/2006/main">
            <a:off x="5191125" y="2171700"/>
            <a:ext cx="6334125" cy="6000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Mô hình hiện tại dự đoán điểm lớp</a:t>
            </a:r>
          </a:p>
        </p:txBody>
      </p:sp>
      <p:sp>
        <p:nvSpPr>
          <p:cNvPr id="8" name="">
            <a:extLst xmlns:a="http://schemas.openxmlformats.org/drawingml/2006/main">
              <a:ext uri="{FF2B5EF4-FFF2-40B4-BE49-F238E27FC236}">
                <a16:creationId xmlns:a16="http://schemas.microsoft.com/office/drawing/2014/main" id="{CF539FF4-1A30-40D3-A9B2-5BC860B63892}"/>
              </a:ext>
            </a:extLst>
          </p:cNvPr>
          <p:cNvSpPr>
            <a:spLocks xmlns:a="http://schemas.openxmlformats.org/drawingml/2006/main" noGrp="1"/>
          </p:cNvSpPr>
          <p:nvPr/>
        </p:nvSpPr>
        <p:spPr>
          <a:xfrm xmlns:a="http://schemas.openxmlformats.org/drawingml/2006/main">
            <a:off x="5191125" y="3048000"/>
            <a:ext cx="6334125" cy="6000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Tính sai số so với nhãn thật</a:t>
            </a:r>
          </a:p>
        </p:txBody>
      </p:sp>
      <p:sp>
        <p:nvSpPr>
          <p:cNvPr id="10" name="">
            <a:extLst xmlns:a="http://schemas.openxmlformats.org/drawingml/2006/main">
              <a:ext uri="{FF2B5EF4-FFF2-40B4-BE49-F238E27FC236}">
                <a16:creationId xmlns:a16="http://schemas.microsoft.com/office/drawing/2014/main" id="{7278B15E-5DC8-4F7A-A41C-11F341D9CEF7}"/>
              </a:ext>
            </a:extLst>
          </p:cNvPr>
          <p:cNvSpPr>
            <a:spLocks xmlns:a="http://schemas.openxmlformats.org/drawingml/2006/main" noGrp="1"/>
          </p:cNvSpPr>
          <p:nvPr/>
        </p:nvSpPr>
        <p:spPr>
          <a:xfrm xmlns:a="http://schemas.openxmlformats.org/drawingml/2006/main">
            <a:off x="5191125" y="3924300"/>
            <a:ext cx="6334125" cy="6000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Cây mới học hướng giảm sai số</a:t>
            </a:r>
          </a:p>
        </p:txBody>
      </p:sp>
      <p:sp>
        <p:nvSpPr>
          <p:cNvPr id="12" name="">
            <a:extLst xmlns:a="http://schemas.openxmlformats.org/drawingml/2006/main">
              <a:ext uri="{FF2B5EF4-FFF2-40B4-BE49-F238E27FC236}">
                <a16:creationId xmlns:a16="http://schemas.microsoft.com/office/drawing/2014/main" id="{3D0D458E-D8BE-4C9D-98B7-B183FAC94AB8}"/>
              </a:ext>
            </a:extLst>
          </p:cNvPr>
          <p:cNvSpPr>
            <a:spLocks xmlns:a="http://schemas.openxmlformats.org/drawingml/2006/main" noGrp="1"/>
          </p:cNvSpPr>
          <p:nvPr/>
        </p:nvSpPr>
        <p:spPr>
          <a:xfrm xmlns:a="http://schemas.openxmlformats.org/drawingml/2006/main">
            <a:off x="5191125" y="4800600"/>
            <a:ext cx="6334125" cy="6000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Cộng điểm cây mới và cập nhật mô hình</a:t>
            </a:r>
          </a:p>
        </p:txBody>
      </p:sp>
      <p:sp>
        <p:nvSpPr>
          <p:cNvPr id="14" name="">
            <a:extLst xmlns:a="http://schemas.openxmlformats.org/drawingml/2006/main">
              <a:ext uri="{FF2B5EF4-FFF2-40B4-BE49-F238E27FC236}">
                <a16:creationId xmlns:a16="http://schemas.microsoft.com/office/drawing/2014/main" id="{070D569C-B729-458D-8C4A-0579BDFDB947}"/>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Minh họa gradient boosting. Các cây cộng điểm, không bỏ phiếu như Random Forest.</a:t>
            </a:r>
          </a:p>
        </p:txBody>
      </p:sp>
    </p:spTree>
    <p:extLst>
      <p:ext uri="{BB962C8B-B14F-4D97-AF65-F5344CB8AC3E}">
        <p14:creationId xmlns:p14="http://schemas.microsoft.com/office/powerpoint/2010/main" val="209633317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940C48C1-CDCE-4D50-8EF7-8C8C5858A6CC}"/>
              </a:ext>
            </a:extLst>
          </p:cNvPr>
          <p:cNvCxnSpPr>
            <a:stCxn xmlns:a="http://schemas.openxmlformats.org/drawingml/2006/main" id="11" idx="2"/>
            <a:endCxn xmlns:a="http://schemas.openxmlformats.org/drawingml/2006/main" id="14" idx="0"/>
          </p:cNvCxnSpPr>
          <p:nvPr/>
        </p:nvCxnSpPr>
        <p:spPr>
          <a:xfrm xmlns:a="http://schemas.openxmlformats.org/drawingml/2006/main">
            <a:off x="5048250" y="5448300"/>
            <a:ext cx="71438" cy="571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3" name="">
            <a:extLst xmlns:a="http://schemas.openxmlformats.org/drawingml/2006/main">
              <a:ext uri="{FF2B5EF4-FFF2-40B4-BE49-F238E27FC236}">
                <a16:creationId xmlns:a16="http://schemas.microsoft.com/office/drawing/2014/main" id="{1338A65E-EA25-48F5-8886-D436F9EE187C}"/>
              </a:ext>
            </a:extLst>
          </p:cNvPr>
          <p:cNvCxnSpPr>
            <a:stCxn xmlns:a="http://schemas.openxmlformats.org/drawingml/2006/main" id="9" idx="2"/>
            <a:endCxn xmlns:a="http://schemas.openxmlformats.org/drawingml/2006/main" id="11" idx="0"/>
          </p:cNvCxnSpPr>
          <p:nvPr/>
        </p:nvCxnSpPr>
        <p:spPr>
          <a:xfrm xmlns:a="http://schemas.openxmlformats.org/drawingml/2006/main">
            <a:off x="3714750" y="4438650"/>
            <a:ext cx="1333500" cy="3238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9CFCA787-0DF3-4772-96B3-161C577AA30A}"/>
              </a:ext>
            </a:extLst>
          </p:cNvPr>
          <p:cNvCxnSpPr>
            <a:stCxn xmlns:a="http://schemas.openxmlformats.org/drawingml/2006/main" id="9" idx="2"/>
            <a:endCxn xmlns:a="http://schemas.openxmlformats.org/drawingml/2006/main" id="10" idx="0"/>
          </p:cNvCxnSpPr>
          <p:nvPr/>
        </p:nvCxnSpPr>
        <p:spPr>
          <a:xfrm xmlns:a="http://schemas.openxmlformats.org/drawingml/2006/main" flipH="1">
            <a:off x="1666875" y="4438650"/>
            <a:ext cx="2047875" cy="4000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sp>
        <p:nvSpPr>
          <p:cNvPr id="17" name="">
            <a:extLst xmlns:a="http://schemas.openxmlformats.org/drawingml/2006/main">
              <a:ext uri="{FF2B5EF4-FFF2-40B4-BE49-F238E27FC236}">
                <a16:creationId xmlns:a16="http://schemas.microsoft.com/office/drawing/2014/main" id="{972719F0-B3D6-4CA3-8C1D-D10A7211C1CB}"/>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LightGBM</a:t>
            </a:r>
          </a:p>
        </p:txBody>
      </p:sp>
      <p:sp>
        <p:nvSpPr>
          <p:cNvPr id="2" name="">
            <a:extLst xmlns:a="http://schemas.openxmlformats.org/drawingml/2006/main">
              <a:ext uri="{FF2B5EF4-FFF2-40B4-BE49-F238E27FC236}">
                <a16:creationId xmlns:a16="http://schemas.microsoft.com/office/drawing/2014/main" id="{FFF0F045-E2E6-4D87-BC65-BB1C4323C2BD}"/>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Gom giá trị vào histogram, rồi mở rộng lá giúp giảm sai số nhiều nhất</a:t>
            </a:r>
          </a:p>
        </p:txBody>
      </p:sp>
      <p:sp>
        <p:nvSpPr>
          <p:cNvPr id="3" name="">
            <a:extLst xmlns:a="http://schemas.openxmlformats.org/drawingml/2006/main">
              <a:ext uri="{FF2B5EF4-FFF2-40B4-BE49-F238E27FC236}">
                <a16:creationId xmlns:a16="http://schemas.microsoft.com/office/drawing/2014/main" id="{496D0976-949D-4B92-B52F-B08921A1FEFF}"/>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577B494-50B6-451F-8042-C9C613CF553B}"/>
              </a:ext>
            </a:extLst>
          </p:cNvPr>
          <p:cNvSpPr>
            <a:spLocks xmlns:a="http://schemas.openxmlformats.org/drawingml/2006/main" noGrp="1"/>
          </p:cNvSpPr>
          <p:nvPr/>
        </p:nvSpPr>
        <p:spPr>
          <a:xfrm xmlns:a="http://schemas.openxmlformats.org/drawingml/2006/main">
            <a:off x="7620000" y="22193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vào: lịch bay, giờ bay, hãng và sân bay.</a:t>
            </a:r>
          </a:p>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ra: một trong sáu nhãn.</a:t>
            </a:r>
          </a:p>
        </p:txBody>
      </p:sp>
      <p:sp>
        <p:nvSpPr>
          <p:cNvPr id="5" name="">
            <a:extLst xmlns:a="http://schemas.openxmlformats.org/drawingml/2006/main">
              <a:ext uri="{FF2B5EF4-FFF2-40B4-BE49-F238E27FC236}">
                <a16:creationId xmlns:a16="http://schemas.microsoft.com/office/drawing/2014/main" id="{C641A813-4118-48F0-B91A-7F2B8F7172DD}"/>
              </a:ext>
            </a:extLst>
          </p:cNvPr>
          <p:cNvSpPr>
            <a:spLocks xmlns:a="http://schemas.openxmlformats.org/drawingml/2006/main" noGrp="1"/>
          </p:cNvSpPr>
          <p:nvPr/>
        </p:nvSpPr>
        <p:spPr>
          <a:xfrm xmlns:a="http://schemas.openxmlformats.org/drawingml/2006/main">
            <a:off x="7620000" y="33051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Ưu điểm: histogram giúp tìm điểm chia hiệu quả trên dữ liệu lớn.</a:t>
            </a:r>
          </a:p>
        </p:txBody>
      </p:sp>
      <p:sp>
        <p:nvSpPr>
          <p:cNvPr id="6" name="">
            <a:extLst xmlns:a="http://schemas.openxmlformats.org/drawingml/2006/main">
              <a:ext uri="{FF2B5EF4-FFF2-40B4-BE49-F238E27FC236}">
                <a16:creationId xmlns:a16="http://schemas.microsoft.com/office/drawing/2014/main" id="{420DA27B-8687-44A6-9AD7-9E094443BB97}"/>
              </a:ext>
            </a:extLst>
          </p:cNvPr>
          <p:cNvSpPr>
            <a:spLocks xmlns:a="http://schemas.openxmlformats.org/drawingml/2006/main" noGrp="1"/>
          </p:cNvSpPr>
          <p:nvPr/>
        </p:nvSpPr>
        <p:spPr>
          <a:xfrm xmlns:a="http://schemas.openxmlformats.org/drawingml/2006/main">
            <a:off x="7620000" y="43910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Hạn chế: phát triển theo lá dễ tạo nhánh sâu nếu không giới hạn.</a:t>
            </a:r>
          </a:p>
        </p:txBody>
      </p:sp>
      <p:sp>
        <p:nvSpPr>
          <p:cNvPr id="7" name="">
            <a:extLst xmlns:a="http://schemas.openxmlformats.org/drawingml/2006/main">
              <a:ext uri="{FF2B5EF4-FFF2-40B4-BE49-F238E27FC236}">
                <a16:creationId xmlns:a16="http://schemas.microsoft.com/office/drawing/2014/main" id="{1D07206D-E01A-49B1-8592-7855FB0F5E79}"/>
              </a:ext>
            </a:extLst>
          </p:cNvPr>
          <p:cNvSpPr>
            <a:spLocks xmlns:a="http://schemas.openxmlformats.org/drawingml/2006/main" noGrp="1"/>
          </p:cNvSpPr>
          <p:nvPr/>
        </p:nvSpPr>
        <p:spPr>
          <a:xfrm xmlns:a="http://schemas.openxmlformats.org/drawingml/2006/main">
            <a:off x="619125" y="2209800"/>
            <a:ext cx="6381750" cy="5238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Đặc trưng số → các nhóm giá trị</a:t>
            </a:r>
          </a:p>
        </p:txBody>
      </p:sp>
      <p:graphicFrame>
        <p:nvGraphicFramePr>
          <p:cNvPr id="8" name="">
            <a:extLst xmlns:a="http://schemas.openxmlformats.org/drawingml/2006/main">
              <a:ext uri="{FF2B5EF4-FFF2-40B4-BE49-F238E27FC236}">
                <a16:creationId xmlns:a16="http://schemas.microsoft.com/office/drawing/2014/main" id="{30AAB99E-DC64-416C-875C-026FB475EA05}"/>
              </a:ext>
            </a:extLst>
          </p:cNvPr>
          <p:cNvGraphicFramePr/>
          <p:nvPr/>
        </p:nvGraphicFramePr>
        <p:xfrm>
          <a:off xmlns:a="http://schemas.openxmlformats.org/drawingml/2006/main" x="619125" y="2876550"/>
          <a:ext xmlns:a="http://schemas.openxmlformats.org/drawingml/2006/main" cx="6381750" cy="809625"/>
        </p:xfrm>
        <a:graphic xmlns:a="http://schemas.openxmlformats.org/drawingml/2006/main">
          <a:graphicData uri="http://schemas.openxmlformats.org/drawingml/2006/table">
            <a:tbl>
              <a:tblPr/>
              <a:tblGrid>
                <a:gridCol w="2124075"/>
                <a:gridCol w="2124075"/>
                <a:gridCol w="2133600"/>
              </a:tblGrid>
              <a:tr h="404813">
                <a:tc>
                  <a:txBody>
                    <a:bodyPr/>
                    <a:lstStyle/>
                    <a:p>
                      <a:r>
                        <a:rPr sz="1650" b="1">
                          <a:solidFill>
                            <a:srgbClr val="FFFFFF"/>
                          </a:solidFill>
                          <a:latin typeface="Arial"/>
                          <a:ea typeface="Arial"/>
                          <a:cs typeface="Arial"/>
                        </a:rPr>
                        <a:t>Nhóm 1</a:t>
                      </a:r>
                    </a:p>
                  </a:txBody>
                  <a:tcPr marL="57150" marR="57150" marT="57150" marB="57150">
                    <a:lnL w="9525">
                      <a:solidFill>
                        <a:srgbClr val="C3D5E4"/>
                      </a:solidFill>
                    </a:lnL>
                    <a:lnR w="9525">
                      <a:solidFill>
                        <a:srgbClr val="C3D5E4"/>
                      </a:solidFill>
                    </a:lnR>
                    <a:lnT w="9525">
                      <a:solidFill>
                        <a:srgbClr val="C3D5E4"/>
                      </a:solidFill>
                    </a:lnT>
                    <a:lnB w="9525">
                      <a:solidFill>
                        <a:srgbClr val="C3D5E4"/>
                      </a:solidFill>
                    </a:lnB>
                    <a:solidFill>
                      <a:srgbClr val="2072B7"/>
                    </a:solidFill>
                  </a:tcPr>
                </a:tc>
                <a:tc>
                  <a:txBody>
                    <a:bodyPr/>
                    <a:lstStyle/>
                    <a:p>
                      <a:r>
                        <a:rPr sz="1650" b="1">
                          <a:solidFill>
                            <a:srgbClr val="FFFFFF"/>
                          </a:solidFill>
                          <a:latin typeface="Arial"/>
                          <a:ea typeface="Arial"/>
                          <a:cs typeface="Arial"/>
                        </a:rPr>
                        <a:t>Nhóm 2</a:t>
                      </a:r>
                    </a:p>
                  </a:txBody>
                  <a:tcPr marL="57150" marR="57150" marT="57150" marB="57150">
                    <a:lnR w="9525">
                      <a:solidFill>
                        <a:srgbClr val="C3D5E4"/>
                      </a:solidFill>
                    </a:lnR>
                    <a:lnT w="9525">
                      <a:solidFill>
                        <a:srgbClr val="C3D5E4"/>
                      </a:solidFill>
                    </a:lnT>
                    <a:lnB w="9525">
                      <a:solidFill>
                        <a:srgbClr val="C3D5E4"/>
                      </a:solidFill>
                    </a:lnB>
                    <a:solidFill>
                      <a:srgbClr val="2072B7"/>
                    </a:solidFill>
                  </a:tcPr>
                </a:tc>
                <a:tc>
                  <a:txBody>
                    <a:bodyPr/>
                    <a:lstStyle/>
                    <a:p>
                      <a:r>
                        <a:rPr sz="1650" b="1">
                          <a:solidFill>
                            <a:srgbClr val="FFFFFF"/>
                          </a:solidFill>
                          <a:latin typeface="Arial"/>
                          <a:ea typeface="Arial"/>
                          <a:cs typeface="Arial"/>
                        </a:rPr>
                        <a:t>Nhóm 3</a:t>
                      </a:r>
                    </a:p>
                  </a:txBody>
                  <a:tcPr marL="57150" marR="57150" marT="57150" marB="57150">
                    <a:lnR w="9525">
                      <a:solidFill>
                        <a:srgbClr val="C3D5E4"/>
                      </a:solidFill>
                    </a:lnR>
                    <a:lnT w="9525">
                      <a:solidFill>
                        <a:srgbClr val="C3D5E4"/>
                      </a:solidFill>
                    </a:lnT>
                    <a:lnB w="9525">
                      <a:solidFill>
                        <a:srgbClr val="C3D5E4"/>
                      </a:solidFill>
                    </a:lnB>
                    <a:solidFill>
                      <a:srgbClr val="2072B7"/>
                    </a:solidFill>
                  </a:tcPr>
                </a:tc>
              </a:tr>
              <a:tr h="404813">
                <a:tc>
                  <a:txBody>
                    <a:bodyPr/>
                    <a:lstStyle/>
                    <a:p>
                      <a:r>
                        <a:rPr sz="1650" b="0">
                          <a:solidFill>
                            <a:srgbClr val="202D39"/>
                          </a:solidFill>
                          <a:latin typeface="Arial"/>
                          <a:ea typeface="Arial"/>
                          <a:cs typeface="Arial"/>
                        </a:rPr>
                        <a:t>Thống kê</a:t>
                      </a:r>
                    </a:p>
                    <a:p>
                      <a:r>
                        <a:rPr sz="1650" b="0">
                          <a:solidFill>
                            <a:srgbClr val="202D39"/>
                          </a:solidFill>
                          <a:latin typeface="Arial"/>
                          <a:ea typeface="Arial"/>
                          <a:cs typeface="Arial"/>
                        </a:rPr>
                        <a:t>gradient</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Thống kê</a:t>
                      </a:r>
                    </a:p>
                    <a:p>
                      <a:r>
                        <a:rPr sz="1650" b="0">
                          <a:solidFill>
                            <a:srgbClr val="202D39"/>
                          </a:solidFill>
                          <a:latin typeface="Arial"/>
                          <a:ea typeface="Arial"/>
                          <a:cs typeface="Arial"/>
                        </a:rPr>
                        <a:t>gradient</a:t>
                      </a:r>
                    </a:p>
                  </a:txBody>
                  <a:tcPr marL="57150" marR="57150" marT="57150" marB="57150">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Thống kê</a:t>
                      </a:r>
                    </a:p>
                    <a:p>
                      <a:r>
                        <a:rPr sz="1650" b="0">
                          <a:solidFill>
                            <a:srgbClr val="202D39"/>
                          </a:solidFill>
                          <a:latin typeface="Arial"/>
                          <a:ea typeface="Arial"/>
                          <a:cs typeface="Arial"/>
                        </a:rPr>
                        <a:t>gradient</a:t>
                      </a:r>
                    </a:p>
                  </a:txBody>
                  <a:tcPr marL="57150" marR="57150" marT="57150" marB="57150">
                    <a:lnR w="9525">
                      <a:solidFill>
                        <a:srgbClr val="C3D5E4"/>
                      </a:solidFill>
                    </a:lnR>
                    <a:lnB w="9525">
                      <a:solidFill>
                        <a:srgbClr val="C3D5E4"/>
                      </a:solidFill>
                    </a:lnB>
                    <a:solidFill>
                      <a:srgbClr val="EDF5FB"/>
                    </a:solidFill>
                  </a:tcPr>
                </a:tc>
              </a:tr>
            </a:tbl>
          </a:graphicData>
        </a:graphic>
      </p:graphicFrame>
      <p:sp>
        <p:nvSpPr>
          <p:cNvPr id="9" name="">
            <a:extLst xmlns:a="http://schemas.openxmlformats.org/drawingml/2006/main">
              <a:ext uri="{FF2B5EF4-FFF2-40B4-BE49-F238E27FC236}">
                <a16:creationId xmlns:a16="http://schemas.microsoft.com/office/drawing/2014/main" id="{4559818A-588A-4561-B5A2-E5426BCF0BD1}"/>
              </a:ext>
            </a:extLst>
          </p:cNvPr>
          <p:cNvSpPr>
            <a:spLocks xmlns:a="http://schemas.openxmlformats.org/drawingml/2006/main" noGrp="1"/>
          </p:cNvSpPr>
          <p:nvPr/>
        </p:nvSpPr>
        <p:spPr>
          <a:xfrm xmlns:a="http://schemas.openxmlformats.org/drawingml/2006/main">
            <a:off x="2381250" y="3943350"/>
            <a:ext cx="2667000" cy="4953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Chọn điểm chia</a:t>
            </a:r>
          </a:p>
        </p:txBody>
      </p:sp>
      <p:sp>
        <p:nvSpPr>
          <p:cNvPr id="10" name="">
            <a:extLst xmlns:a="http://schemas.openxmlformats.org/drawingml/2006/main">
              <a:ext uri="{FF2B5EF4-FFF2-40B4-BE49-F238E27FC236}">
                <a16:creationId xmlns:a16="http://schemas.microsoft.com/office/drawing/2014/main" id="{BBB4E37D-11FA-4483-AB23-2802E21D9774}"/>
              </a:ext>
            </a:extLst>
          </p:cNvPr>
          <p:cNvSpPr>
            <a:spLocks xmlns:a="http://schemas.openxmlformats.org/drawingml/2006/main" noGrp="1"/>
          </p:cNvSpPr>
          <p:nvPr/>
        </p:nvSpPr>
        <p:spPr>
          <a:xfrm xmlns:a="http://schemas.openxmlformats.org/drawingml/2006/main">
            <a:off x="857250" y="4838700"/>
            <a:ext cx="1619250" cy="49530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76200" tIns="47625" rIns="76200" bIns="47625" anchor="ctr"/>
          <a:lstStyle xmlns:a="http://schemas.openxmlformats.org/drawingml/2006/main">
            <a:defPPr algn="ctr">
              <a:defRPr sz="1800">
                <a:solidFill>
                  <a:srgbClr val="202D39"/>
                </a:solidFill>
                <a:latin typeface="Arial"/>
                <a:ea typeface="Arial"/>
                <a:cs typeface="Arial"/>
              </a:defRPr>
            </a:defPPr>
          </a:lstStyle>
          <a:p xmlns:a="http://schemas.openxmlformats.org/drawingml/2006/main">
            <a:pPr algn="ctr">
              <a:defRPr sz="1800">
                <a:solidFill>
                  <a:srgbClr val="202D39"/>
                </a:solidFill>
                <a:latin typeface="Arial"/>
                <a:ea typeface="Arial"/>
                <a:cs typeface="Arial"/>
              </a:defRPr>
            </a:pPr>
            <a:r>
              <a:rPr sz="1800">
                <a:solidFill>
                  <a:srgbClr val="202D39"/>
                </a:solidFill>
                <a:latin typeface="Arial"/>
                <a:ea typeface="Arial"/>
                <a:cs typeface="Arial"/>
              </a:rPr>
              <a:t>Lá A</a:t>
            </a:r>
          </a:p>
        </p:txBody>
      </p:sp>
      <p:sp>
        <p:nvSpPr>
          <p:cNvPr id="11" name="">
            <a:extLst xmlns:a="http://schemas.openxmlformats.org/drawingml/2006/main">
              <a:ext uri="{FF2B5EF4-FFF2-40B4-BE49-F238E27FC236}">
                <a16:creationId xmlns:a16="http://schemas.microsoft.com/office/drawing/2014/main" id="{45706D3A-2E49-463E-B1CE-644422FB2337}"/>
              </a:ext>
            </a:extLst>
          </p:cNvPr>
          <p:cNvSpPr>
            <a:spLocks xmlns:a="http://schemas.openxmlformats.org/drawingml/2006/main" noGrp="1"/>
          </p:cNvSpPr>
          <p:nvPr/>
        </p:nvSpPr>
        <p:spPr>
          <a:xfrm xmlns:a="http://schemas.openxmlformats.org/drawingml/2006/main">
            <a:off x="3810000" y="4762500"/>
            <a:ext cx="2476500" cy="6858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Lá B</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Giảm lỗi lớn hơn</a:t>
            </a:r>
          </a:p>
        </p:txBody>
      </p:sp>
      <p:sp>
        <p:nvSpPr>
          <p:cNvPr id="14" name="">
            <a:extLst xmlns:a="http://schemas.openxmlformats.org/drawingml/2006/main">
              <a:ext uri="{FF2B5EF4-FFF2-40B4-BE49-F238E27FC236}">
                <a16:creationId xmlns:a16="http://schemas.microsoft.com/office/drawing/2014/main" id="{80CED9EC-666F-4F4E-8A06-F917583F28D9}"/>
              </a:ext>
            </a:extLst>
          </p:cNvPr>
          <p:cNvSpPr>
            <a:spLocks xmlns:a="http://schemas.openxmlformats.org/drawingml/2006/main" noGrp="1"/>
          </p:cNvSpPr>
          <p:nvPr/>
        </p:nvSpPr>
        <p:spPr>
          <a:xfrm xmlns:a="http://schemas.openxmlformats.org/drawingml/2006/main">
            <a:off x="3952875" y="5505450"/>
            <a:ext cx="2333625" cy="38100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76200" tIns="47625" rIns="7620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Tiếp tục chia lá B</a:t>
            </a:r>
          </a:p>
        </p:txBody>
      </p:sp>
      <p:sp>
        <p:nvSpPr>
          <p:cNvPr id="16" name="">
            <a:extLst xmlns:a="http://schemas.openxmlformats.org/drawingml/2006/main">
              <a:ext uri="{FF2B5EF4-FFF2-40B4-BE49-F238E27FC236}">
                <a16:creationId xmlns:a16="http://schemas.microsoft.com/office/drawing/2014/main" id="{5ED0CF39-7674-4AE4-9CDF-F766C7272423}"/>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Sơ đồ nguyên lý. Các nhóm giá trị và lựa chọn lá chỉ là minh họa.</a:t>
            </a:r>
          </a:p>
        </p:txBody>
      </p:sp>
    </p:spTree>
    <p:extLst>
      <p:ext uri="{BB962C8B-B14F-4D97-AF65-F5344CB8AC3E}">
        <p14:creationId xmlns:p14="http://schemas.microsoft.com/office/powerpoint/2010/main" val="7740342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FA612D9-3019-4F6A-AA03-B216E93DDBAF}"/>
              </a:ext>
            </a:extLst>
          </p:cNvPr>
          <p:cNvCxnSpPr>
            <a:stCxn xmlns:a="http://schemas.openxmlformats.org/drawingml/2006/main" id="10" idx="2"/>
            <a:endCxn xmlns:a="http://schemas.openxmlformats.org/drawingml/2006/main" id="12" idx="0"/>
          </p:cNvCxnSpPr>
          <p:nvPr/>
        </p:nvCxnSpPr>
        <p:spPr>
          <a:xfrm xmlns:a="http://schemas.openxmlformats.org/drawingml/2006/main">
            <a:off x="8358188" y="452437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3E32E308-AC95-48C0-A619-42B80111F882}"/>
              </a:ext>
            </a:extLst>
          </p:cNvPr>
          <p:cNvCxnSpPr>
            <a:stCxn xmlns:a="http://schemas.openxmlformats.org/drawingml/2006/main" id="8" idx="2"/>
            <a:endCxn xmlns:a="http://schemas.openxmlformats.org/drawingml/2006/main" id="10" idx="0"/>
          </p:cNvCxnSpPr>
          <p:nvPr/>
        </p:nvCxnSpPr>
        <p:spPr>
          <a:xfrm xmlns:a="http://schemas.openxmlformats.org/drawingml/2006/main">
            <a:off x="8358188" y="364807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9" name="">
            <a:extLst xmlns:a="http://schemas.openxmlformats.org/drawingml/2006/main">
              <a:ext uri="{FF2B5EF4-FFF2-40B4-BE49-F238E27FC236}">
                <a16:creationId xmlns:a16="http://schemas.microsoft.com/office/drawing/2014/main" id="{C6B9A952-3976-4D22-A5FA-E91868B4EA92}"/>
              </a:ext>
            </a:extLst>
          </p:cNvPr>
          <p:cNvCxnSpPr>
            <a:stCxn xmlns:a="http://schemas.openxmlformats.org/drawingml/2006/main" id="7" idx="2"/>
            <a:endCxn xmlns:a="http://schemas.openxmlformats.org/drawingml/2006/main" id="8" idx="0"/>
          </p:cNvCxnSpPr>
          <p:nvPr/>
        </p:nvCxnSpPr>
        <p:spPr>
          <a:xfrm xmlns:a="http://schemas.openxmlformats.org/drawingml/2006/main">
            <a:off x="8358188" y="277177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5" name="">
            <a:extLst xmlns:a="http://schemas.openxmlformats.org/drawingml/2006/main">
              <a:ext uri="{FF2B5EF4-FFF2-40B4-BE49-F238E27FC236}">
                <a16:creationId xmlns:a16="http://schemas.microsoft.com/office/drawing/2014/main" id="{2F208585-D838-4FF5-81AB-3A12F45771CD}"/>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CatBoost</a:t>
            </a:r>
          </a:p>
        </p:txBody>
      </p:sp>
      <p:sp>
        <p:nvSpPr>
          <p:cNvPr id="2" name="">
            <a:extLst xmlns:a="http://schemas.openxmlformats.org/drawingml/2006/main">
              <a:ext uri="{FF2B5EF4-FFF2-40B4-BE49-F238E27FC236}">
                <a16:creationId xmlns:a16="http://schemas.microsoft.com/office/drawing/2014/main" id="{9527871F-BBC0-4147-9F5D-F0BEE6588E62}"/>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Gradient boosting có cơ chế hỗ trợ đặc trưng phân loại như hãng và sân bay</a:t>
            </a:r>
          </a:p>
        </p:txBody>
      </p:sp>
      <p:sp>
        <p:nvSpPr>
          <p:cNvPr id="3" name="">
            <a:extLst xmlns:a="http://schemas.openxmlformats.org/drawingml/2006/main">
              <a:ext uri="{FF2B5EF4-FFF2-40B4-BE49-F238E27FC236}">
                <a16:creationId xmlns:a16="http://schemas.microsoft.com/office/drawing/2014/main" id="{A4DC28F2-AACF-4886-BA83-61042DE731F3}"/>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25CB830D-5AF7-49C8-B54D-AB0A96480530}"/>
              </a:ext>
            </a:extLst>
          </p:cNvPr>
          <p:cNvSpPr>
            <a:spLocks xmlns:a="http://schemas.openxmlformats.org/drawingml/2006/main" noGrp="1"/>
          </p:cNvSpPr>
          <p:nvPr/>
        </p:nvSpPr>
        <p:spPr>
          <a:xfrm xmlns:a="http://schemas.openxmlformats.org/drawingml/2006/main">
            <a:off x="571500" y="22193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vào: lịch bay, giờ bay, hãng và sân bay.</a:t>
            </a:r>
          </a:p>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Đầu ra: một trong sáu nhãn.</a:t>
            </a:r>
          </a:p>
        </p:txBody>
      </p:sp>
      <p:sp>
        <p:nvSpPr>
          <p:cNvPr id="5" name="">
            <a:extLst xmlns:a="http://schemas.openxmlformats.org/drawingml/2006/main">
              <a:ext uri="{FF2B5EF4-FFF2-40B4-BE49-F238E27FC236}">
                <a16:creationId xmlns:a16="http://schemas.microsoft.com/office/drawing/2014/main" id="{7AD8B0A8-DA6E-464E-B42F-066F43DF5A9C}"/>
              </a:ext>
            </a:extLst>
          </p:cNvPr>
          <p:cNvSpPr>
            <a:spLocks xmlns:a="http://schemas.openxmlformats.org/drawingml/2006/main" noGrp="1"/>
          </p:cNvSpPr>
          <p:nvPr/>
        </p:nvSpPr>
        <p:spPr>
          <a:xfrm xmlns:a="http://schemas.openxmlformats.org/drawingml/2006/main">
            <a:off x="571500" y="33051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Ưu điểm: có khả năng xử lý dữ liệu phân loại nhiều giá trị.</a:t>
            </a:r>
          </a:p>
        </p:txBody>
      </p:sp>
      <p:sp>
        <p:nvSpPr>
          <p:cNvPr id="6" name="">
            <a:extLst xmlns:a="http://schemas.openxmlformats.org/drawingml/2006/main">
              <a:ext uri="{FF2B5EF4-FFF2-40B4-BE49-F238E27FC236}">
                <a16:creationId xmlns:a16="http://schemas.microsoft.com/office/drawing/2014/main" id="{91014891-C08F-4EAE-9B80-26B22F1D2D22}"/>
              </a:ext>
            </a:extLst>
          </p:cNvPr>
          <p:cNvSpPr>
            <a:spLocks xmlns:a="http://schemas.openxmlformats.org/drawingml/2006/main" noGrp="1"/>
          </p:cNvSpPr>
          <p:nvPr/>
        </p:nvSpPr>
        <p:spPr>
          <a:xfrm xmlns:a="http://schemas.openxmlformats.org/drawingml/2006/main">
            <a:off x="571500" y="43910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Hạn chế: cần thời gian huấn luyện và cấu hình đầu vào phù hợp.</a:t>
            </a:r>
          </a:p>
        </p:txBody>
      </p:sp>
      <p:sp>
        <p:nvSpPr>
          <p:cNvPr id="7" name="">
            <a:extLst xmlns:a="http://schemas.openxmlformats.org/drawingml/2006/main">
              <a:ext uri="{FF2B5EF4-FFF2-40B4-BE49-F238E27FC236}">
                <a16:creationId xmlns:a16="http://schemas.microsoft.com/office/drawing/2014/main" id="{F539A050-A42E-49B8-9A83-2A5967EEA68D}"/>
              </a:ext>
            </a:extLst>
          </p:cNvPr>
          <p:cNvSpPr>
            <a:spLocks xmlns:a="http://schemas.openxmlformats.org/drawingml/2006/main" noGrp="1"/>
          </p:cNvSpPr>
          <p:nvPr/>
        </p:nvSpPr>
        <p:spPr>
          <a:xfrm xmlns:a="http://schemas.openxmlformats.org/drawingml/2006/main">
            <a:off x="5191125" y="2171700"/>
            <a:ext cx="6334125" cy="6000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Hãng bay, sân bay dạng phân loại</a:t>
            </a:r>
          </a:p>
        </p:txBody>
      </p:sp>
      <p:sp>
        <p:nvSpPr>
          <p:cNvPr id="8" name="">
            <a:extLst xmlns:a="http://schemas.openxmlformats.org/drawingml/2006/main">
              <a:ext uri="{FF2B5EF4-FFF2-40B4-BE49-F238E27FC236}">
                <a16:creationId xmlns:a16="http://schemas.microsoft.com/office/drawing/2014/main" id="{69A087A9-FED4-450B-8067-C58803EEF8C4}"/>
              </a:ext>
            </a:extLst>
          </p:cNvPr>
          <p:cNvSpPr>
            <a:spLocks xmlns:a="http://schemas.openxmlformats.org/drawingml/2006/main" noGrp="1"/>
          </p:cNvSpPr>
          <p:nvPr/>
        </p:nvSpPr>
        <p:spPr>
          <a:xfrm xmlns:a="http://schemas.openxmlformats.org/drawingml/2006/main">
            <a:off x="5191125" y="3048000"/>
            <a:ext cx="6334125" cy="6000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Mã hóa/thống kê phân loại theo cơ chế CatBoost</a:t>
            </a:r>
          </a:p>
        </p:txBody>
      </p:sp>
      <p:sp>
        <p:nvSpPr>
          <p:cNvPr id="10" name="">
            <a:extLst xmlns:a="http://schemas.openxmlformats.org/drawingml/2006/main">
              <a:ext uri="{FF2B5EF4-FFF2-40B4-BE49-F238E27FC236}">
                <a16:creationId xmlns:a16="http://schemas.microsoft.com/office/drawing/2014/main" id="{D894BA53-6396-4621-A080-E6507E7626BC}"/>
              </a:ext>
            </a:extLst>
          </p:cNvPr>
          <p:cNvSpPr>
            <a:spLocks xmlns:a="http://schemas.openxmlformats.org/drawingml/2006/main" noGrp="1"/>
          </p:cNvSpPr>
          <p:nvPr/>
        </p:nvSpPr>
        <p:spPr>
          <a:xfrm xmlns:a="http://schemas.openxmlformats.org/drawingml/2006/main">
            <a:off x="5191125" y="3924300"/>
            <a:ext cx="6334125" cy="6000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Cây nối tiếp học giảm sai số</a:t>
            </a:r>
          </a:p>
        </p:txBody>
      </p:sp>
      <p:sp>
        <p:nvSpPr>
          <p:cNvPr id="12" name="">
            <a:extLst xmlns:a="http://schemas.openxmlformats.org/drawingml/2006/main">
              <a:ext uri="{FF2B5EF4-FFF2-40B4-BE49-F238E27FC236}">
                <a16:creationId xmlns:a16="http://schemas.microsoft.com/office/drawing/2014/main" id="{35CFF402-733C-4BED-93C8-0A09D6D33402}"/>
              </a:ext>
            </a:extLst>
          </p:cNvPr>
          <p:cNvSpPr>
            <a:spLocks xmlns:a="http://schemas.openxmlformats.org/drawingml/2006/main" noGrp="1"/>
          </p:cNvSpPr>
          <p:nvPr/>
        </p:nvSpPr>
        <p:spPr>
          <a:xfrm xmlns:a="http://schemas.openxmlformats.org/drawingml/2006/main">
            <a:off x="5191125" y="4800600"/>
            <a:ext cx="6334125" cy="6000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Cộng điểm các cây → nhãn cuối</a:t>
            </a:r>
          </a:p>
        </p:txBody>
      </p:sp>
      <p:sp>
        <p:nvSpPr>
          <p:cNvPr id="14" name="">
            <a:extLst xmlns:a="http://schemas.openxmlformats.org/drawingml/2006/main">
              <a:ext uri="{FF2B5EF4-FFF2-40B4-BE49-F238E27FC236}">
                <a16:creationId xmlns:a16="http://schemas.microsoft.com/office/drawing/2014/main" id="{241B70B5-885D-4209-A893-5EEF008C0CC3}"/>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Nguyên lý CatBoost. Code CPU đã LabelEncoder và không truyền cat_features.</a:t>
            </a:r>
          </a:p>
        </p:txBody>
      </p:sp>
    </p:spTree>
    <p:extLst>
      <p:ext uri="{BB962C8B-B14F-4D97-AF65-F5344CB8AC3E}">
        <p14:creationId xmlns:p14="http://schemas.microsoft.com/office/powerpoint/2010/main" val="6078891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5BB796-28AB-4C71-AB75-7786166F86F5}"/>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Dữ liệu đầu vào và trường sử dụng</a:t>
            </a:r>
          </a:p>
        </p:txBody>
      </p:sp>
      <p:sp>
        <p:nvSpPr>
          <p:cNvPr id="2" name="">
            <a:extLst xmlns:a="http://schemas.openxmlformats.org/drawingml/2006/main">
              <a:ext uri="{FF2B5EF4-FFF2-40B4-BE49-F238E27FC236}">
                <a16:creationId xmlns:a16="http://schemas.microsoft.com/office/drawing/2014/main" id="{E119FF05-CD1F-4C2A-ACC0-F0B816006AD1}"/>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Tách trường để tạo nhãn khỏi trường đưa vào mô hình dự đoán</a:t>
            </a:r>
          </a:p>
        </p:txBody>
      </p:sp>
      <p:sp>
        <p:nvSpPr>
          <p:cNvPr id="3" name="">
            <a:extLst xmlns:a="http://schemas.openxmlformats.org/drawingml/2006/main">
              <a:ext uri="{FF2B5EF4-FFF2-40B4-BE49-F238E27FC236}">
                <a16:creationId xmlns:a16="http://schemas.microsoft.com/office/drawing/2014/main" id="{E180DB03-D11A-4B5E-A454-854ABF7F3871}"/>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962F822E-9FA3-48B3-8848-71A5789F7BEE}"/>
              </a:ext>
            </a:extLst>
          </p:cNvPr>
          <p:cNvSpPr>
            <a:spLocks xmlns:a="http://schemas.openxmlformats.org/drawingml/2006/main" noGrp="1"/>
          </p:cNvSpPr>
          <p:nvPr/>
        </p:nvSpPr>
        <p:spPr>
          <a:xfrm xmlns:a="http://schemas.openxmlformats.org/drawingml/2006/main">
            <a:off x="7620000" y="22669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Dữ liệu gốc: chuyến bay Hoa Kỳ năm 2024.</a:t>
            </a:r>
          </a:p>
        </p:txBody>
      </p:sp>
      <p:sp>
        <p:nvSpPr>
          <p:cNvPr id="5" name="">
            <a:extLst xmlns:a="http://schemas.openxmlformats.org/drawingml/2006/main">
              <a:ext uri="{FF2B5EF4-FFF2-40B4-BE49-F238E27FC236}">
                <a16:creationId xmlns:a16="http://schemas.microsoft.com/office/drawing/2014/main" id="{146FBC4E-204E-4498-9BA8-4D48F9F5F64D}"/>
              </a:ext>
            </a:extLst>
          </p:cNvPr>
          <p:cNvSpPr>
            <a:spLocks xmlns:a="http://schemas.openxmlformats.org/drawingml/2006/main" noGrp="1"/>
          </p:cNvSpPr>
          <p:nvPr/>
        </p:nvSpPr>
        <p:spPr>
          <a:xfrm xmlns:a="http://schemas.openxmlformats.org/drawingml/2006/main">
            <a:off x="7620000" y="33623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arr_delay và năm cột nguyên nhân dùng tạo nhãn.</a:t>
            </a:r>
          </a:p>
        </p:txBody>
      </p:sp>
      <p:sp>
        <p:nvSpPr>
          <p:cNvPr id="6" name="">
            <a:extLst xmlns:a="http://schemas.openxmlformats.org/drawingml/2006/main">
              <a:ext uri="{FF2B5EF4-FFF2-40B4-BE49-F238E27FC236}">
                <a16:creationId xmlns:a16="http://schemas.microsoft.com/office/drawing/2014/main" id="{4BE22E64-D82F-45A2-8F17-2D1143A6DC70}"/>
              </a:ext>
            </a:extLst>
          </p:cNvPr>
          <p:cNvSpPr>
            <a:spLocks xmlns:a="http://schemas.openxmlformats.org/drawingml/2006/main" noGrp="1"/>
          </p:cNvSpPr>
          <p:nvPr/>
        </p:nvSpPr>
        <p:spPr>
          <a:xfrm xmlns:a="http://schemas.openxmlformats.org/drawingml/2006/main">
            <a:off x="7620000" y="44577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Mô hình dùng lịch, giờ kế hoạch, hãng, sân bay, khoảng cách và thời lượng.</a:t>
            </a:r>
          </a:p>
        </p:txBody>
      </p:sp>
      <p:graphicFrame>
        <p:nvGraphicFramePr>
          <p:cNvPr id="7" name="">
            <a:extLst xmlns:a="http://schemas.openxmlformats.org/drawingml/2006/main">
              <a:ext uri="{FF2B5EF4-FFF2-40B4-BE49-F238E27FC236}">
                <a16:creationId xmlns:a16="http://schemas.microsoft.com/office/drawing/2014/main" id="{91E6311F-EBA0-4D23-A353-359687501A73}"/>
              </a:ext>
            </a:extLst>
          </p:cNvPr>
          <p:cNvGraphicFramePr/>
          <p:nvPr/>
        </p:nvGraphicFramePr>
        <p:xfrm>
          <a:off xmlns:a="http://schemas.openxmlformats.org/drawingml/2006/main" x="523875" y="2238375"/>
          <a:ext xmlns:a="http://schemas.openxmlformats.org/drawingml/2006/main" cx="6572250" cy="3238500"/>
        </p:xfrm>
        <a:graphic xmlns:a="http://schemas.openxmlformats.org/drawingml/2006/main">
          <a:graphicData uri="http://schemas.openxmlformats.org/drawingml/2006/table">
            <a:tbl>
              <a:tblPr/>
              <a:tblGrid>
                <a:gridCol w="2000250"/>
                <a:gridCol w="4572000"/>
              </a:tblGrid>
              <a:tr h="809625">
                <a:tc>
                  <a:txBody>
                    <a:bodyPr/>
                    <a:lstStyle/>
                    <a:p>
                      <a:r>
                        <a:rPr sz="1650" b="1">
                          <a:solidFill>
                            <a:srgbClr val="FFFFFF"/>
                          </a:solidFill>
                          <a:latin typeface="Arial"/>
                          <a:ea typeface="Arial"/>
                          <a:cs typeface="Arial"/>
                        </a:rPr>
                        <a:t>Vai trò</a:t>
                      </a:r>
                    </a:p>
                  </a:txBody>
                  <a:tcPr marL="57150" marR="57150" marT="57150" marB="57150">
                    <a:lnL w="9525">
                      <a:solidFill>
                        <a:srgbClr val="C3D5E4"/>
                      </a:solidFill>
                    </a:lnL>
                    <a:lnR w="9525">
                      <a:solidFill>
                        <a:srgbClr val="C3D5E4"/>
                      </a:solidFill>
                    </a:lnR>
                    <a:lnT w="9525">
                      <a:solidFill>
                        <a:srgbClr val="C3D5E4"/>
                      </a:solidFill>
                    </a:lnT>
                    <a:lnB w="9525">
                      <a:solidFill>
                        <a:srgbClr val="C3D5E4"/>
                      </a:solidFill>
                    </a:lnB>
                    <a:solidFill>
                      <a:srgbClr val="2072B7"/>
                    </a:solidFill>
                  </a:tcPr>
                </a:tc>
                <a:tc>
                  <a:txBody>
                    <a:bodyPr/>
                    <a:lstStyle/>
                    <a:p>
                      <a:r>
                        <a:rPr sz="1650" b="1">
                          <a:solidFill>
                            <a:srgbClr val="FFFFFF"/>
                          </a:solidFill>
                          <a:latin typeface="Arial"/>
                          <a:ea typeface="Arial"/>
                          <a:cs typeface="Arial"/>
                        </a:rPr>
                        <a:t>Các trường chính</a:t>
                      </a:r>
                    </a:p>
                  </a:txBody>
                  <a:tcPr marL="57150" marR="57150" marT="57150" marB="57150">
                    <a:lnR w="9525">
                      <a:solidFill>
                        <a:srgbClr val="C3D5E4"/>
                      </a:solidFill>
                    </a:lnR>
                    <a:lnT w="9525">
                      <a:solidFill>
                        <a:srgbClr val="C3D5E4"/>
                      </a:solidFill>
                    </a:lnT>
                    <a:lnB w="9525">
                      <a:solidFill>
                        <a:srgbClr val="C3D5E4"/>
                      </a:solidFill>
                    </a:lnB>
                    <a:solidFill>
                      <a:srgbClr val="2072B7"/>
                    </a:solidFill>
                  </a:tcPr>
                </a:tc>
              </a:tr>
              <a:tr h="809625">
                <a:tc>
                  <a:txBody>
                    <a:bodyPr/>
                    <a:lstStyle/>
                    <a:p>
                      <a:r>
                        <a:rPr sz="1650" b="0">
                          <a:solidFill>
                            <a:srgbClr val="202D39"/>
                          </a:solidFill>
                          <a:latin typeface="Arial"/>
                          <a:ea typeface="Arial"/>
                          <a:cs typeface="Arial"/>
                        </a:rPr>
                        <a:t>Lọc và gán nhãn</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cancelled, diverted, arr_delay</a:t>
                      </a:r>
                    </a:p>
                    <a:p>
                      <a:r>
                        <a:rPr sz="1650" b="0">
                          <a:solidFill>
                            <a:srgbClr val="202D39"/>
                          </a:solidFill>
                          <a:latin typeface="Arial"/>
                          <a:ea typeface="Arial"/>
                          <a:cs typeface="Arial"/>
                        </a:rPr>
                        <a:t>carrier/weather/nas/security/</a:t>
                      </a:r>
                    </a:p>
                    <a:p>
                      <a:r>
                        <a:rPr sz="1650" b="0">
                          <a:solidFill>
                            <a:srgbClr val="202D39"/>
                          </a:solidFill>
                          <a:latin typeface="Arial"/>
                          <a:ea typeface="Arial"/>
                          <a:cs typeface="Arial"/>
                        </a:rPr>
                        <a:t>late_aircraft_delay</a:t>
                      </a:r>
                    </a:p>
                  </a:txBody>
                  <a:tcPr marL="57150" marR="57150" marT="57150" marB="57150">
                    <a:lnR w="9525">
                      <a:solidFill>
                        <a:srgbClr val="C3D5E4"/>
                      </a:solidFill>
                    </a:lnR>
                    <a:lnB w="9525">
                      <a:solidFill>
                        <a:srgbClr val="C3D5E4"/>
                      </a:solidFill>
                    </a:lnB>
                    <a:solidFill>
                      <a:srgbClr val="EDF5FB"/>
                    </a:solidFill>
                  </a:tcPr>
                </a:tc>
              </a:tr>
              <a:tr h="809625">
                <a:tc>
                  <a:txBody>
                    <a:bodyPr/>
                    <a:lstStyle/>
                    <a:p>
                      <a:r>
                        <a:rPr sz="1650" b="0">
                          <a:solidFill>
                            <a:srgbClr val="202D39"/>
                          </a:solidFill>
                          <a:latin typeface="Arial"/>
                          <a:ea typeface="Arial"/>
                          <a:cs typeface="Arial"/>
                        </a:rPr>
                        <a:t>Lịch và giờ kế hoạch</a:t>
                      </a:r>
                    </a:p>
                  </a:txBody>
                  <a:tcPr marL="57150" marR="57150" marT="57150" marB="57150">
                    <a:lnL w="9525">
                      <a:solidFill>
                        <a:srgbClr val="C3D5E4"/>
                      </a:solidFill>
                    </a:lnL>
                    <a:lnR w="9525">
                      <a:solidFill>
                        <a:srgbClr val="C3D5E4"/>
                      </a:solidFill>
                    </a:lnR>
                    <a:lnB w="9525">
                      <a:solidFill>
                        <a:srgbClr val="C3D5E4"/>
                      </a:solidFill>
                    </a:lnB>
                    <a:solidFill>
                      <a:srgbClr val="FFFFFF"/>
                    </a:solidFill>
                  </a:tcPr>
                </a:tc>
                <a:tc>
                  <a:txBody>
                    <a:bodyPr/>
                    <a:lstStyle/>
                    <a:p>
                      <a:r>
                        <a:rPr sz="1650" b="0">
                          <a:solidFill>
                            <a:srgbClr val="202D39"/>
                          </a:solidFill>
                          <a:latin typeface="Arial"/>
                          <a:ea typeface="Arial"/>
                          <a:cs typeface="Arial"/>
                        </a:rPr>
                        <a:t>month, day_of_month, day_of_week</a:t>
                      </a:r>
                    </a:p>
                    <a:p>
                      <a:r>
                        <a:rPr sz="1650" b="0">
                          <a:solidFill>
                            <a:srgbClr val="202D39"/>
                          </a:solidFill>
                          <a:latin typeface="Arial"/>
                          <a:ea typeface="Arial"/>
                          <a:cs typeface="Arial"/>
                        </a:rPr>
                        <a:t>crs_dep_time, crs_arr_time</a:t>
                      </a:r>
                    </a:p>
                  </a:txBody>
                  <a:tcPr marL="57150" marR="57150" marT="57150" marB="57150">
                    <a:lnR w="9525">
                      <a:solidFill>
                        <a:srgbClr val="C3D5E4"/>
                      </a:solidFill>
                    </a:lnR>
                    <a:lnB w="9525">
                      <a:solidFill>
                        <a:srgbClr val="C3D5E4"/>
                      </a:solidFill>
                    </a:lnB>
                    <a:solidFill>
                      <a:srgbClr val="FFFFFF"/>
                    </a:solidFill>
                  </a:tcPr>
                </a:tc>
              </a:tr>
              <a:tr h="809625">
                <a:tc>
                  <a:txBody>
                    <a:bodyPr/>
                    <a:lstStyle/>
                    <a:p>
                      <a:r>
                        <a:rPr sz="1650" b="0">
                          <a:solidFill>
                            <a:srgbClr val="202D39"/>
                          </a:solidFill>
                          <a:latin typeface="Arial"/>
                          <a:ea typeface="Arial"/>
                          <a:cs typeface="Arial"/>
                        </a:rPr>
                        <a:t>Đặc trưng còn lại</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op_unique_carrier, origin, dest</a:t>
                      </a:r>
                    </a:p>
                    <a:p>
                      <a:r>
                        <a:rPr sz="1650" b="0">
                          <a:solidFill>
                            <a:srgbClr val="202D39"/>
                          </a:solidFill>
                          <a:latin typeface="Arial"/>
                          <a:ea typeface="Arial"/>
                          <a:cs typeface="Arial"/>
                        </a:rPr>
                        <a:t>crs_elapsed_time, distance</a:t>
                      </a:r>
                    </a:p>
                  </a:txBody>
                  <a:tcPr marL="57150" marR="57150" marT="57150" marB="57150">
                    <a:lnR w="9525">
                      <a:solidFill>
                        <a:srgbClr val="C3D5E4"/>
                      </a:solidFill>
                    </a:lnR>
                    <a:lnB w="9525">
                      <a:solidFill>
                        <a:srgbClr val="C3D5E4"/>
                      </a:solidFill>
                    </a:lnB>
                    <a:solidFill>
                      <a:srgbClr val="EDF5FB"/>
                    </a:solidFill>
                  </a:tcPr>
                </a:tc>
              </a:tr>
            </a:tbl>
          </a:graphicData>
        </a:graphic>
      </p:graphicFrame>
      <p:sp>
        <p:nvSpPr>
          <p:cNvPr id="8" name="">
            <a:extLst xmlns:a="http://schemas.openxmlformats.org/drawingml/2006/main">
              <a:ext uri="{FF2B5EF4-FFF2-40B4-BE49-F238E27FC236}">
                <a16:creationId xmlns:a16="http://schemas.microsoft.com/office/drawing/2014/main" id="{DEC96F27-A6F1-40D9-BDF5-DFBB7100B00D}"/>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Code đọc thêm dep_delay để điền thiếu; trường này không nằm trong 13 đặc trưng train.</a:t>
            </a:r>
          </a:p>
        </p:txBody>
      </p:sp>
    </p:spTree>
    <p:extLst>
      <p:ext uri="{BB962C8B-B14F-4D97-AF65-F5344CB8AC3E}">
        <p14:creationId xmlns:p14="http://schemas.microsoft.com/office/powerpoint/2010/main" val="13673870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C36B13-454B-4EC5-B1B5-1E281031FF7B}"/>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Quy tắc làm sạch thực sự trong code</a:t>
            </a:r>
          </a:p>
        </p:txBody>
      </p:sp>
      <p:sp>
        <p:nvSpPr>
          <p:cNvPr id="2" name="">
            <a:extLst xmlns:a="http://schemas.openxmlformats.org/drawingml/2006/main">
              <a:ext uri="{FF2B5EF4-FFF2-40B4-BE49-F238E27FC236}">
                <a16:creationId xmlns:a16="http://schemas.microsoft.com/office/drawing/2014/main" id="{6B8187F2-82AA-4D09-BAE0-067D96CA99A7}"/>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Loại chuyến hủy, chuyển hướng hoặc không có arr_delay để gán nhãn</a:t>
            </a:r>
          </a:p>
        </p:txBody>
      </p:sp>
      <p:sp>
        <p:nvSpPr>
          <p:cNvPr id="3" name="">
            <a:extLst xmlns:a="http://schemas.openxmlformats.org/drawingml/2006/main">
              <a:ext uri="{FF2B5EF4-FFF2-40B4-BE49-F238E27FC236}">
                <a16:creationId xmlns:a16="http://schemas.microsoft.com/office/drawing/2014/main" id="{9D9A0700-CC2D-4955-80C6-ADC6590A91AA}"/>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0970330D-2198-41C8-8009-582D60DFE73F}"/>
              </a:ext>
            </a:extLst>
          </p:cNvPr>
          <p:cNvSpPr>
            <a:spLocks xmlns:a="http://schemas.openxmlformats.org/drawingml/2006/main" noGrp="1"/>
          </p:cNvSpPr>
          <p:nvPr/>
        </p:nvSpPr>
        <p:spPr>
          <a:xfrm xmlns:a="http://schemas.openxmlformats.org/drawingml/2006/main">
            <a:off x="571500" y="22288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Giữ cancelled = 0, diverted = 0 và arr_delay có giá trị.</a:t>
            </a:r>
          </a:p>
        </p:txBody>
      </p:sp>
      <p:sp>
        <p:nvSpPr>
          <p:cNvPr id="5" name="">
            <a:extLst xmlns:a="http://schemas.openxmlformats.org/drawingml/2006/main">
              <a:ext uri="{FF2B5EF4-FFF2-40B4-BE49-F238E27FC236}">
                <a16:creationId xmlns:a16="http://schemas.microsoft.com/office/drawing/2014/main" id="{AE8FC9C3-0E04-44F4-9B94-C711C1316427}"/>
              </a:ext>
            </a:extLst>
          </p:cNvPr>
          <p:cNvSpPr>
            <a:spLocks xmlns:a="http://schemas.openxmlformats.org/drawingml/2006/main" noGrp="1"/>
          </p:cNvSpPr>
          <p:nvPr/>
        </p:nvSpPr>
        <p:spPr>
          <a:xfrm xmlns:a="http://schemas.openxmlformats.org/drawingml/2006/main">
            <a:off x="571500" y="33432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Năm cột nguyên nhân và dep_delay thiếu được điền 0.</a:t>
            </a:r>
          </a:p>
        </p:txBody>
      </p:sp>
      <p:sp>
        <p:nvSpPr>
          <p:cNvPr id="6" name="">
            <a:extLst xmlns:a="http://schemas.openxmlformats.org/drawingml/2006/main">
              <a:ext uri="{FF2B5EF4-FFF2-40B4-BE49-F238E27FC236}">
                <a16:creationId xmlns:a16="http://schemas.microsoft.com/office/drawing/2014/main" id="{FDA7D980-4CAE-49B2-AE67-DD5F19A02505}"/>
              </a:ext>
            </a:extLst>
          </p:cNvPr>
          <p:cNvSpPr>
            <a:spLocks xmlns:a="http://schemas.openxmlformats.org/drawingml/2006/main" noGrp="1"/>
          </p:cNvSpPr>
          <p:nvPr/>
        </p:nvSpPr>
        <p:spPr>
          <a:xfrm xmlns:a="http://schemas.openxmlformats.org/drawingml/2006/main">
            <a:off x="571500" y="44577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Spark ép kiểu trước lọc. CPU còn xử lý số lỗi khi chuẩn bị X.</a:t>
            </a:r>
          </a:p>
        </p:txBody>
      </p:sp>
      <p:graphicFrame>
        <p:nvGraphicFramePr>
          <p:cNvPr id="7" name="">
            <a:extLst xmlns:a="http://schemas.openxmlformats.org/drawingml/2006/main">
              <a:ext uri="{FF2B5EF4-FFF2-40B4-BE49-F238E27FC236}">
                <a16:creationId xmlns:a16="http://schemas.microsoft.com/office/drawing/2014/main" id="{98681FD8-1BDC-454B-A045-5017AD2CB894}"/>
              </a:ext>
            </a:extLst>
          </p:cNvPr>
          <p:cNvGraphicFramePr/>
          <p:nvPr/>
        </p:nvGraphicFramePr>
        <p:xfrm>
          <a:off xmlns:a="http://schemas.openxmlformats.org/drawingml/2006/main" x="5095875" y="2228850"/>
          <a:ext xmlns:a="http://schemas.openxmlformats.org/drawingml/2006/main" cx="6524625" cy="2905125"/>
        </p:xfrm>
        <a:graphic xmlns:a="http://schemas.openxmlformats.org/drawingml/2006/main">
          <a:graphicData uri="http://schemas.openxmlformats.org/drawingml/2006/table">
            <a:tbl>
              <a:tblPr/>
              <a:tblGrid>
                <a:gridCol w="3762375"/>
                <a:gridCol w="2762250"/>
              </a:tblGrid>
              <a:tr h="581025">
                <a:tc>
                  <a:txBody>
                    <a:bodyPr/>
                    <a:lstStyle/>
                    <a:p>
                      <a:r>
                        <a:rPr sz="1800" b="1">
                          <a:solidFill>
                            <a:srgbClr val="FFFFFF"/>
                          </a:solidFill>
                          <a:latin typeface="Arial"/>
                          <a:ea typeface="Arial"/>
                          <a:cs typeface="Arial"/>
                        </a:rPr>
                        <a:t>Dữ liệu minh họa</a:t>
                      </a:r>
                    </a:p>
                  </a:txBody>
                  <a:tcPr marL="57150" marR="57150" marT="57150" marB="57150">
                    <a:lnL w="9525">
                      <a:solidFill>
                        <a:srgbClr val="C3D5E4"/>
                      </a:solidFill>
                    </a:lnL>
                    <a:lnR w="9525">
                      <a:solidFill>
                        <a:srgbClr val="C3D5E4"/>
                      </a:solidFill>
                    </a:lnR>
                    <a:lnT w="9525">
                      <a:solidFill>
                        <a:srgbClr val="C3D5E4"/>
                      </a:solidFill>
                    </a:lnT>
                    <a:lnB w="9525">
                      <a:solidFill>
                        <a:srgbClr val="C3D5E4"/>
                      </a:solidFill>
                    </a:lnB>
                    <a:solidFill>
                      <a:srgbClr val="2072B7"/>
                    </a:solidFill>
                  </a:tcPr>
                </a:tc>
                <a:tc>
                  <a:txBody>
                    <a:bodyPr/>
                    <a:lstStyle/>
                    <a:p>
                      <a:r>
                        <a:rPr sz="1800" b="1">
                          <a:solidFill>
                            <a:srgbClr val="FFFFFF"/>
                          </a:solidFill>
                          <a:latin typeface="Arial"/>
                          <a:ea typeface="Arial"/>
                          <a:cs typeface="Arial"/>
                        </a:rPr>
                        <a:t>Sau xử lý</a:t>
                      </a:r>
                    </a:p>
                  </a:txBody>
                  <a:tcPr marL="57150" marR="57150" marT="57150" marB="57150">
                    <a:lnR w="9525">
                      <a:solidFill>
                        <a:srgbClr val="C3D5E4"/>
                      </a:solidFill>
                    </a:lnR>
                    <a:lnT w="9525">
                      <a:solidFill>
                        <a:srgbClr val="C3D5E4"/>
                      </a:solidFill>
                    </a:lnT>
                    <a:lnB w="9525">
                      <a:solidFill>
                        <a:srgbClr val="C3D5E4"/>
                      </a:solidFill>
                    </a:lnB>
                    <a:solidFill>
                      <a:srgbClr val="2072B7"/>
                    </a:solidFill>
                  </a:tcPr>
                </a:tc>
              </a:tr>
              <a:tr h="581025">
                <a:tc>
                  <a:txBody>
                    <a:bodyPr/>
                    <a:lstStyle/>
                    <a:p>
                      <a:r>
                        <a:rPr sz="1800" b="0">
                          <a:solidFill>
                            <a:srgbClr val="202D39"/>
                          </a:solidFill>
                          <a:latin typeface="Arial"/>
                          <a:ea typeface="Arial"/>
                          <a:cs typeface="Arial"/>
                        </a:rPr>
                        <a:t>cancelled = 1</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800" b="0">
                          <a:solidFill>
                            <a:srgbClr val="202D39"/>
                          </a:solidFill>
                          <a:latin typeface="Arial"/>
                          <a:ea typeface="Arial"/>
                          <a:cs typeface="Arial"/>
                        </a:rPr>
                        <a:t>Loại bản ghi</a:t>
                      </a:r>
                    </a:p>
                  </a:txBody>
                  <a:tcPr marL="57150" marR="57150" marT="57150" marB="57150">
                    <a:lnR w="9525">
                      <a:solidFill>
                        <a:srgbClr val="C3D5E4"/>
                      </a:solidFill>
                    </a:lnR>
                    <a:lnB w="9525">
                      <a:solidFill>
                        <a:srgbClr val="C3D5E4"/>
                      </a:solidFill>
                    </a:lnB>
                    <a:solidFill>
                      <a:srgbClr val="EDF5FB"/>
                    </a:solidFill>
                  </a:tcPr>
                </a:tc>
              </a:tr>
              <a:tr h="581025">
                <a:tc>
                  <a:txBody>
                    <a:bodyPr/>
                    <a:lstStyle/>
                    <a:p>
                      <a:r>
                        <a:rPr sz="1800" b="0">
                          <a:solidFill>
                            <a:srgbClr val="202D39"/>
                          </a:solidFill>
                          <a:latin typeface="Arial"/>
                          <a:ea typeface="Arial"/>
                          <a:cs typeface="Arial"/>
                        </a:rPr>
                        <a:t>arr_delay = thiếu</a:t>
                      </a:r>
                    </a:p>
                  </a:txBody>
                  <a:tcPr marL="57150" marR="57150" marT="57150" marB="57150">
                    <a:lnL w="9525">
                      <a:solidFill>
                        <a:srgbClr val="C3D5E4"/>
                      </a:solidFill>
                    </a:lnL>
                    <a:lnR w="9525">
                      <a:solidFill>
                        <a:srgbClr val="C3D5E4"/>
                      </a:solidFill>
                    </a:lnR>
                    <a:lnB w="9525">
                      <a:solidFill>
                        <a:srgbClr val="C3D5E4"/>
                      </a:solidFill>
                    </a:lnB>
                    <a:solidFill>
                      <a:srgbClr val="FFFFFF"/>
                    </a:solidFill>
                  </a:tcPr>
                </a:tc>
                <a:tc>
                  <a:txBody>
                    <a:bodyPr/>
                    <a:lstStyle/>
                    <a:p>
                      <a:r>
                        <a:rPr sz="1800" b="0">
                          <a:solidFill>
                            <a:srgbClr val="202D39"/>
                          </a:solidFill>
                          <a:latin typeface="Arial"/>
                          <a:ea typeface="Arial"/>
                          <a:cs typeface="Arial"/>
                        </a:rPr>
                        <a:t>Loại bản ghi</a:t>
                      </a:r>
                    </a:p>
                  </a:txBody>
                  <a:tcPr marL="57150" marR="57150" marT="57150" marB="57150">
                    <a:lnR w="9525">
                      <a:solidFill>
                        <a:srgbClr val="C3D5E4"/>
                      </a:solidFill>
                    </a:lnR>
                    <a:lnB w="9525">
                      <a:solidFill>
                        <a:srgbClr val="C3D5E4"/>
                      </a:solidFill>
                    </a:lnB>
                    <a:solidFill>
                      <a:srgbClr val="FFFFFF"/>
                    </a:solidFill>
                  </a:tcPr>
                </a:tc>
              </a:tr>
              <a:tr h="581025">
                <a:tc>
                  <a:txBody>
                    <a:bodyPr/>
                    <a:lstStyle/>
                    <a:p>
                      <a:r>
                        <a:rPr sz="1800" b="0">
                          <a:solidFill>
                            <a:srgbClr val="202D39"/>
                          </a:solidFill>
                          <a:latin typeface="Arial"/>
                          <a:ea typeface="Arial"/>
                          <a:cs typeface="Arial"/>
                        </a:rPr>
                        <a:t>weather_delay = thiếu</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800" b="0">
                          <a:solidFill>
                            <a:srgbClr val="202D39"/>
                          </a:solidFill>
                          <a:latin typeface="Arial"/>
                          <a:ea typeface="Arial"/>
                          <a:cs typeface="Arial"/>
                        </a:rPr>
                        <a:t>Điền 0</a:t>
                      </a:r>
                    </a:p>
                  </a:txBody>
                  <a:tcPr marL="57150" marR="57150" marT="57150" marB="57150">
                    <a:lnR w="9525">
                      <a:solidFill>
                        <a:srgbClr val="C3D5E4"/>
                      </a:solidFill>
                    </a:lnR>
                    <a:lnB w="9525">
                      <a:solidFill>
                        <a:srgbClr val="C3D5E4"/>
                      </a:solidFill>
                    </a:lnB>
                    <a:solidFill>
                      <a:srgbClr val="EDF5FB"/>
                    </a:solidFill>
                  </a:tcPr>
                </a:tc>
              </a:tr>
              <a:tr h="581025">
                <a:tc>
                  <a:txBody>
                    <a:bodyPr/>
                    <a:lstStyle/>
                    <a:p>
                      <a:r>
                        <a:rPr sz="1800" b="0">
                          <a:solidFill>
                            <a:srgbClr val="202D39"/>
                          </a:solidFill>
                          <a:latin typeface="Arial"/>
                          <a:ea typeface="Arial"/>
                          <a:cs typeface="Arial"/>
                        </a:rPr>
                        <a:t>dep_delay = thiếu</a:t>
                      </a:r>
                    </a:p>
                  </a:txBody>
                  <a:tcPr marL="57150" marR="57150" marT="57150" marB="57150">
                    <a:lnL w="9525">
                      <a:solidFill>
                        <a:srgbClr val="C3D5E4"/>
                      </a:solidFill>
                    </a:lnL>
                    <a:lnR w="9525">
                      <a:solidFill>
                        <a:srgbClr val="C3D5E4"/>
                      </a:solidFill>
                    </a:lnR>
                    <a:lnB w="9525">
                      <a:solidFill>
                        <a:srgbClr val="C3D5E4"/>
                      </a:solidFill>
                    </a:lnB>
                    <a:solidFill>
                      <a:srgbClr val="FFFFFF"/>
                    </a:solidFill>
                  </a:tcPr>
                </a:tc>
                <a:tc>
                  <a:txBody>
                    <a:bodyPr/>
                    <a:lstStyle/>
                    <a:p>
                      <a:r>
                        <a:rPr sz="1800" b="0">
                          <a:solidFill>
                            <a:srgbClr val="202D39"/>
                          </a:solidFill>
                          <a:latin typeface="Arial"/>
                          <a:ea typeface="Arial"/>
                          <a:cs typeface="Arial"/>
                        </a:rPr>
                        <a:t>Điền 0</a:t>
                      </a:r>
                    </a:p>
                  </a:txBody>
                  <a:tcPr marL="57150" marR="57150" marT="57150" marB="57150">
                    <a:lnR w="9525">
                      <a:solidFill>
                        <a:srgbClr val="C3D5E4"/>
                      </a:solidFill>
                    </a:lnR>
                    <a:lnB w="9525">
                      <a:solidFill>
                        <a:srgbClr val="C3D5E4"/>
                      </a:solidFill>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009251CF-0B0D-4868-996E-E456A30D35E3}"/>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Ví dụ minh họa quy tắc code. Không có bước loại trùng hoặc cân bằng lớp trong luồng này.</a:t>
            </a:r>
          </a:p>
        </p:txBody>
      </p:sp>
    </p:spTree>
    <p:extLst>
      <p:ext uri="{BB962C8B-B14F-4D97-AF65-F5344CB8AC3E}">
        <p14:creationId xmlns:p14="http://schemas.microsoft.com/office/powerpoint/2010/main" val="8239842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C19D9E70-CC79-4469-A41C-B0ABB6B937CA}"/>
              </a:ext>
            </a:extLst>
          </p:cNvPr>
          <p:cNvCxnSpPr>
            <a:stCxn xmlns:a="http://schemas.openxmlformats.org/drawingml/2006/main" id="6" idx="2"/>
            <a:endCxn xmlns:a="http://schemas.openxmlformats.org/drawingml/2006/main" id="9" idx="0"/>
          </p:cNvCxnSpPr>
          <p:nvPr/>
        </p:nvCxnSpPr>
        <p:spPr>
          <a:xfrm xmlns:a="http://schemas.openxmlformats.org/drawingml/2006/main" flipH="1">
            <a:off x="4929188" y="4048125"/>
            <a:ext cx="95250" cy="695325"/>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8" name="">
            <a:extLst xmlns:a="http://schemas.openxmlformats.org/drawingml/2006/main">
              <a:ext uri="{FF2B5EF4-FFF2-40B4-BE49-F238E27FC236}">
                <a16:creationId xmlns:a16="http://schemas.microsoft.com/office/drawing/2014/main" id="{F2E0DA0C-3A63-42D9-8E42-5D1A7A510711}"/>
              </a:ext>
            </a:extLst>
          </p:cNvPr>
          <p:cNvCxnSpPr>
            <a:stCxn xmlns:a="http://schemas.openxmlformats.org/drawingml/2006/main" id="4" idx="2"/>
            <a:endCxn xmlns:a="http://schemas.openxmlformats.org/drawingml/2006/main" id="6" idx="0"/>
          </p:cNvCxnSpPr>
          <p:nvPr/>
        </p:nvCxnSpPr>
        <p:spPr>
          <a:xfrm xmlns:a="http://schemas.openxmlformats.org/drawingml/2006/main">
            <a:off x="3762375" y="2724150"/>
            <a:ext cx="1262063" cy="60960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7" name="">
            <a:extLst xmlns:a="http://schemas.openxmlformats.org/drawingml/2006/main">
              <a:ext uri="{FF2B5EF4-FFF2-40B4-BE49-F238E27FC236}">
                <a16:creationId xmlns:a16="http://schemas.microsoft.com/office/drawing/2014/main" id="{05914300-20C6-4E47-B339-1AA7E8A75670}"/>
              </a:ext>
            </a:extLst>
          </p:cNvPr>
          <p:cNvCxnSpPr>
            <a:stCxn xmlns:a="http://schemas.openxmlformats.org/drawingml/2006/main" id="4" idx="2"/>
            <a:endCxn xmlns:a="http://schemas.openxmlformats.org/drawingml/2006/main" id="5" idx="0"/>
          </p:cNvCxnSpPr>
          <p:nvPr/>
        </p:nvCxnSpPr>
        <p:spPr>
          <a:xfrm xmlns:a="http://schemas.openxmlformats.org/drawingml/2006/main" flipH="1">
            <a:off x="1595438" y="2724150"/>
            <a:ext cx="2166938" cy="64770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sp>
        <p:nvSpPr>
          <p:cNvPr id="15" name="">
            <a:extLst xmlns:a="http://schemas.openxmlformats.org/drawingml/2006/main">
              <a:ext uri="{FF2B5EF4-FFF2-40B4-BE49-F238E27FC236}">
                <a16:creationId xmlns:a16="http://schemas.microsoft.com/office/drawing/2014/main" id="{CA09E6BA-1C90-4DF4-B046-255D3BC88C98}"/>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Tạo nhãn nguyên nhân trễ chi phối</a:t>
            </a:r>
          </a:p>
        </p:txBody>
      </p:sp>
      <p:sp>
        <p:nvSpPr>
          <p:cNvPr id="2" name="">
            <a:extLst xmlns:a="http://schemas.openxmlformats.org/drawingml/2006/main">
              <a:ext uri="{FF2B5EF4-FFF2-40B4-BE49-F238E27FC236}">
                <a16:creationId xmlns:a16="http://schemas.microsoft.com/office/drawing/2014/main" id="{1A5DBE9C-E5CC-464E-9107-66DF24B215F5}"/>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OnTime khi arr_delay &lt; 15; chuyến trễ lấy nguyên nhân có số phút lớn nhất</a:t>
            </a:r>
          </a:p>
        </p:txBody>
      </p:sp>
      <p:sp>
        <p:nvSpPr>
          <p:cNvPr id="3" name="">
            <a:extLst xmlns:a="http://schemas.openxmlformats.org/drawingml/2006/main">
              <a:ext uri="{FF2B5EF4-FFF2-40B4-BE49-F238E27FC236}">
                <a16:creationId xmlns:a16="http://schemas.microsoft.com/office/drawing/2014/main" id="{F1AC4220-B965-46C4-AE72-C85A0A63C231}"/>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D93CB5F-F218-457E-80E1-C70299B2D212}"/>
              </a:ext>
            </a:extLst>
          </p:cNvPr>
          <p:cNvSpPr>
            <a:spLocks xmlns:a="http://schemas.openxmlformats.org/drawingml/2006/main" noGrp="1"/>
          </p:cNvSpPr>
          <p:nvPr/>
        </p:nvSpPr>
        <p:spPr>
          <a:xfrm xmlns:a="http://schemas.openxmlformats.org/drawingml/2006/main">
            <a:off x="1762125" y="2181225"/>
            <a:ext cx="4000500" cy="5429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arr_delay &lt; 15?</a:t>
            </a:r>
          </a:p>
        </p:txBody>
      </p:sp>
      <p:sp>
        <p:nvSpPr>
          <p:cNvPr id="5" name="">
            <a:extLst xmlns:a="http://schemas.openxmlformats.org/drawingml/2006/main">
              <a:ext uri="{FF2B5EF4-FFF2-40B4-BE49-F238E27FC236}">
                <a16:creationId xmlns:a16="http://schemas.microsoft.com/office/drawing/2014/main" id="{63CC3155-5555-4A2D-A397-A6996F399227}"/>
              </a:ext>
            </a:extLst>
          </p:cNvPr>
          <p:cNvSpPr>
            <a:spLocks xmlns:a="http://schemas.openxmlformats.org/drawingml/2006/main" noGrp="1"/>
          </p:cNvSpPr>
          <p:nvPr/>
        </p:nvSpPr>
        <p:spPr>
          <a:xfrm xmlns:a="http://schemas.openxmlformats.org/drawingml/2006/main">
            <a:off x="619125" y="3371850"/>
            <a:ext cx="1952625" cy="7143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Có: OnTime</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Mã 0</a:t>
            </a:r>
          </a:p>
        </p:txBody>
      </p:sp>
      <p:sp>
        <p:nvSpPr>
          <p:cNvPr id="6" name="">
            <a:extLst xmlns:a="http://schemas.openxmlformats.org/drawingml/2006/main">
              <a:ext uri="{FF2B5EF4-FFF2-40B4-BE49-F238E27FC236}">
                <a16:creationId xmlns:a16="http://schemas.microsoft.com/office/drawing/2014/main" id="{FB15B6F0-15F2-469D-B3A4-493E47E97158}"/>
              </a:ext>
            </a:extLst>
          </p:cNvPr>
          <p:cNvSpPr>
            <a:spLocks xmlns:a="http://schemas.openxmlformats.org/drawingml/2006/main" noGrp="1"/>
          </p:cNvSpPr>
          <p:nvPr/>
        </p:nvSpPr>
        <p:spPr>
          <a:xfrm xmlns:a="http://schemas.openxmlformats.org/drawingml/2006/main">
            <a:off x="3095625" y="3333750"/>
            <a:ext cx="3857625" cy="7143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Không: lấy max</a:t>
            </a:r>
          </a:p>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5 cột nguyên nhân</a:t>
            </a:r>
          </a:p>
        </p:txBody>
      </p:sp>
      <p:sp>
        <p:nvSpPr>
          <p:cNvPr id="9" name="">
            <a:extLst xmlns:a="http://schemas.openxmlformats.org/drawingml/2006/main">
              <a:ext uri="{FF2B5EF4-FFF2-40B4-BE49-F238E27FC236}">
                <a16:creationId xmlns:a16="http://schemas.microsoft.com/office/drawing/2014/main" id="{3F35CDAA-94EE-446F-B2AF-F4A3D4C3E88C}"/>
              </a:ext>
            </a:extLst>
          </p:cNvPr>
          <p:cNvSpPr>
            <a:spLocks xmlns:a="http://schemas.openxmlformats.org/drawingml/2006/main" noGrp="1"/>
          </p:cNvSpPr>
          <p:nvPr/>
        </p:nvSpPr>
        <p:spPr>
          <a:xfrm xmlns:a="http://schemas.openxmlformats.org/drawingml/2006/main">
            <a:off x="2905125" y="4743450"/>
            <a:ext cx="4048125" cy="81915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76200" tIns="47625" rIns="76200" bIns="47625" anchor="ctr"/>
          <a:lstStyle xmlns:a="http://schemas.openxmlformats.org/drawingml/2006/main">
            <a:defPPr algn="ctr">
              <a:defRPr sz="1725">
                <a:solidFill>
                  <a:srgbClr val="202D39"/>
                </a:solidFill>
                <a:latin typeface="Arial"/>
                <a:ea typeface="Arial"/>
                <a:cs typeface="Arial"/>
              </a:defRPr>
            </a:defPPr>
          </a:lstStyle>
          <a:p xmlns:a="http://schemas.openxmlformats.org/drawingml/2006/main">
            <a:pPr algn="ctr">
              <a:defRPr sz="1725">
                <a:solidFill>
                  <a:srgbClr val="202D39"/>
                </a:solidFill>
                <a:latin typeface="Arial"/>
                <a:ea typeface="Arial"/>
                <a:cs typeface="Arial"/>
              </a:defRPr>
            </a:pPr>
            <a:r>
              <a:rPr sz="1725">
                <a:solidFill>
                  <a:srgbClr val="202D39"/>
                </a:solidFill>
                <a:latin typeface="Arial"/>
                <a:ea typeface="Arial"/>
                <a:cs typeface="Arial"/>
              </a:rPr>
              <a:t>max &gt; 0: chọn nguyên nhân đầu tiên đạt max</a:t>
            </a:r>
          </a:p>
          <a:p xmlns:a="http://schemas.openxmlformats.org/drawingml/2006/main">
            <a:pPr algn="ctr">
              <a:defRPr sz="1725">
                <a:solidFill>
                  <a:srgbClr val="202D39"/>
                </a:solidFill>
                <a:latin typeface="Arial"/>
                <a:ea typeface="Arial"/>
                <a:cs typeface="Arial"/>
              </a:defRPr>
            </a:pPr>
            <a:r>
              <a:rPr sz="1725">
                <a:solidFill>
                  <a:srgbClr val="202D39"/>
                </a:solidFill>
                <a:latin typeface="Arial"/>
                <a:ea typeface="Arial"/>
                <a:cs typeface="Arial"/>
              </a:rPr>
              <a:t>max ≤ 0: Carrier</a:t>
            </a:r>
          </a:p>
        </p:txBody>
      </p:sp>
      <p:sp>
        <p:nvSpPr>
          <p:cNvPr id="11" name="">
            <a:extLst xmlns:a="http://schemas.openxmlformats.org/drawingml/2006/main">
              <a:ext uri="{FF2B5EF4-FFF2-40B4-BE49-F238E27FC236}">
                <a16:creationId xmlns:a16="http://schemas.microsoft.com/office/drawing/2014/main" id="{D1584E26-1738-4C6A-941A-0360B2B21CBD}"/>
              </a:ext>
            </a:extLst>
          </p:cNvPr>
          <p:cNvSpPr>
            <a:spLocks xmlns:a="http://schemas.openxmlformats.org/drawingml/2006/main" noGrp="1"/>
          </p:cNvSpPr>
          <p:nvPr/>
        </p:nvSpPr>
        <p:spPr>
          <a:xfrm xmlns:a="http://schemas.openxmlformats.org/drawingml/2006/main">
            <a:off x="7620000" y="22669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Nếu bằng nhau, ưu tiên theo thứ tự cố định của code.</a:t>
            </a:r>
          </a:p>
        </p:txBody>
      </p:sp>
      <p:sp>
        <p:nvSpPr>
          <p:cNvPr id="12" name="">
            <a:extLst xmlns:a="http://schemas.openxmlformats.org/drawingml/2006/main">
              <a:ext uri="{FF2B5EF4-FFF2-40B4-BE49-F238E27FC236}">
                <a16:creationId xmlns:a16="http://schemas.microsoft.com/office/drawing/2014/main" id="{D8C2ECAE-1167-4499-8C54-B545838996B2}"/>
              </a:ext>
            </a:extLst>
          </p:cNvPr>
          <p:cNvSpPr>
            <a:spLocks xmlns:a="http://schemas.openxmlformats.org/drawingml/2006/main" noGrp="1"/>
          </p:cNvSpPr>
          <p:nvPr/>
        </p:nvSpPr>
        <p:spPr>
          <a:xfrm xmlns:a="http://schemas.openxmlformats.org/drawingml/2006/main">
            <a:off x="7620000" y="33718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Carrier → Weather → NAS → Security → LateAircraft.</a:t>
            </a:r>
          </a:p>
        </p:txBody>
      </p:sp>
      <p:sp>
        <p:nvSpPr>
          <p:cNvPr id="13" name="">
            <a:extLst xmlns:a="http://schemas.openxmlformats.org/drawingml/2006/main">
              <a:ext uri="{FF2B5EF4-FFF2-40B4-BE49-F238E27FC236}">
                <a16:creationId xmlns:a16="http://schemas.microsoft.com/office/drawing/2014/main" id="{3B804FCD-CB05-4216-A15D-4BE09A7B8FB2}"/>
              </a:ext>
            </a:extLst>
          </p:cNvPr>
          <p:cNvSpPr>
            <a:spLocks xmlns:a="http://schemas.openxmlformats.org/drawingml/2006/main" noGrp="1"/>
          </p:cNvSpPr>
          <p:nvPr/>
        </p:nvSpPr>
        <p:spPr>
          <a:xfrm xmlns:a="http://schemas.openxmlformats.org/drawingml/2006/main">
            <a:off x="7620000" y="44767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Ví dụ: Carrier = Weather = 20 phút, arr_delay = 40 → Carrier.</a:t>
            </a:r>
          </a:p>
        </p:txBody>
      </p:sp>
      <p:sp>
        <p:nvSpPr>
          <p:cNvPr id="14" name="">
            <a:extLst xmlns:a="http://schemas.openxmlformats.org/drawingml/2006/main">
              <a:ext uri="{FF2B5EF4-FFF2-40B4-BE49-F238E27FC236}">
                <a16:creationId xmlns:a16="http://schemas.microsoft.com/office/drawing/2014/main" id="{55861876-DEF6-4021-8043-45CA35B9E4BA}"/>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Ví dụ chỉ minh họa cách tạo nhãn. Mã 1–5 lần lượt là năm nguyên nhân.</a:t>
            </a:r>
          </a:p>
        </p:txBody>
      </p:sp>
    </p:spTree>
    <p:extLst>
      <p:ext uri="{BB962C8B-B14F-4D97-AF65-F5344CB8AC3E}">
        <p14:creationId xmlns:p14="http://schemas.microsoft.com/office/powerpoint/2010/main" val="144749578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BABCB74B-5F66-468C-B543-09CAAE8E969E}"/>
              </a:ext>
            </a:extLst>
          </p:cNvPr>
          <p:cNvCxnSpPr>
            <a:stCxn xmlns:a="http://schemas.openxmlformats.org/drawingml/2006/main" id="8" idx="2"/>
            <a:endCxn xmlns:a="http://schemas.openxmlformats.org/drawingml/2006/main" id="10" idx="0"/>
          </p:cNvCxnSpPr>
          <p:nvPr/>
        </p:nvCxnSpPr>
        <p:spPr>
          <a:xfrm xmlns:a="http://schemas.openxmlformats.org/drawingml/2006/main">
            <a:off x="8358188" y="3790950"/>
            <a:ext cx="0" cy="29527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9" name="">
            <a:extLst xmlns:a="http://schemas.openxmlformats.org/drawingml/2006/main">
              <a:ext uri="{FF2B5EF4-FFF2-40B4-BE49-F238E27FC236}">
                <a16:creationId xmlns:a16="http://schemas.microsoft.com/office/drawing/2014/main" id="{33499B02-2A58-4A5A-9D31-1CAF0069AB48}"/>
              </a:ext>
            </a:extLst>
          </p:cNvPr>
          <p:cNvCxnSpPr>
            <a:stCxn xmlns:a="http://schemas.openxmlformats.org/drawingml/2006/main" id="7" idx="2"/>
            <a:endCxn xmlns:a="http://schemas.openxmlformats.org/drawingml/2006/main" id="8" idx="0"/>
          </p:cNvCxnSpPr>
          <p:nvPr/>
        </p:nvCxnSpPr>
        <p:spPr>
          <a:xfrm xmlns:a="http://schemas.openxmlformats.org/drawingml/2006/main">
            <a:off x="8358188" y="2876550"/>
            <a:ext cx="0" cy="29527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4" name="">
            <a:extLst xmlns:a="http://schemas.openxmlformats.org/drawingml/2006/main">
              <a:ext uri="{FF2B5EF4-FFF2-40B4-BE49-F238E27FC236}">
                <a16:creationId xmlns:a16="http://schemas.microsoft.com/office/drawing/2014/main" id="{7768B637-5FE8-4C10-847F-937F764D4B85}"/>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Tạo đặc trưng thời gian</a:t>
            </a:r>
          </a:p>
        </p:txBody>
      </p:sp>
      <p:sp>
        <p:nvSpPr>
          <p:cNvPr id="2" name="">
            <a:extLst xmlns:a="http://schemas.openxmlformats.org/drawingml/2006/main">
              <a:ext uri="{FF2B5EF4-FFF2-40B4-BE49-F238E27FC236}">
                <a16:creationId xmlns:a16="http://schemas.microsoft.com/office/drawing/2014/main" id="{9DFA77C4-A032-4617-95FC-B3A1507B5964}"/>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Giờ kế hoạch được chuyển thành giờ, phút trong ngày và nhóm thời điểm</a:t>
            </a:r>
          </a:p>
        </p:txBody>
      </p:sp>
      <p:sp>
        <p:nvSpPr>
          <p:cNvPr id="3" name="">
            <a:extLst xmlns:a="http://schemas.openxmlformats.org/drawingml/2006/main">
              <a:ext uri="{FF2B5EF4-FFF2-40B4-BE49-F238E27FC236}">
                <a16:creationId xmlns:a16="http://schemas.microsoft.com/office/drawing/2014/main" id="{45C2DAE4-7E8A-4229-A1FD-73B07EBDC6AD}"/>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3E0A730C-A248-451D-B788-B8568AC22438}"/>
              </a:ext>
            </a:extLst>
          </p:cNvPr>
          <p:cNvSpPr>
            <a:spLocks xmlns:a="http://schemas.openxmlformats.org/drawingml/2006/main" noGrp="1"/>
          </p:cNvSpPr>
          <p:nvPr/>
        </p:nvSpPr>
        <p:spPr>
          <a:xfrm xmlns:a="http://schemas.openxmlformats.org/drawingml/2006/main">
            <a:off x="571500" y="22669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HHMM được tách bằng chia 100 và phần dư.</a:t>
            </a:r>
          </a:p>
        </p:txBody>
      </p:sp>
      <p:sp>
        <p:nvSpPr>
          <p:cNvPr id="5" name="">
            <a:extLst xmlns:a="http://schemas.openxmlformats.org/drawingml/2006/main">
              <a:ext uri="{FF2B5EF4-FFF2-40B4-BE49-F238E27FC236}">
                <a16:creationId xmlns:a16="http://schemas.microsoft.com/office/drawing/2014/main" id="{FF687EBA-BC0C-4E59-AF15-739B71E4E641}"/>
              </a:ext>
            </a:extLst>
          </p:cNvPr>
          <p:cNvSpPr>
            <a:spLocks xmlns:a="http://schemas.openxmlformats.org/drawingml/2006/main" noGrp="1"/>
          </p:cNvSpPr>
          <p:nvPr/>
        </p:nvSpPr>
        <p:spPr>
          <a:xfrm xmlns:a="http://schemas.openxmlformats.org/drawingml/2006/main">
            <a:off x="571500" y="33337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Giờ đi/đến giới hạn trong 0–23.</a:t>
            </a:r>
          </a:p>
        </p:txBody>
      </p:sp>
      <p:sp>
        <p:nvSpPr>
          <p:cNvPr id="6" name="">
            <a:extLst xmlns:a="http://schemas.openxmlformats.org/drawingml/2006/main">
              <a:ext uri="{FF2B5EF4-FFF2-40B4-BE49-F238E27FC236}">
                <a16:creationId xmlns:a16="http://schemas.microsoft.com/office/drawing/2014/main" id="{1343D7BF-FDE1-455B-B3BF-CF92ECF6823D}"/>
              </a:ext>
            </a:extLst>
          </p:cNvPr>
          <p:cNvSpPr>
            <a:spLocks xmlns:a="http://schemas.openxmlformats.org/drawingml/2006/main" noGrp="1"/>
          </p:cNvSpPr>
          <p:nvPr/>
        </p:nvSpPr>
        <p:spPr>
          <a:xfrm xmlns:a="http://schemas.openxmlformats.org/drawingml/2006/main">
            <a:off x="571500" y="44005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CPU giới hạn phút trong ngày 0–1.439; Spark không có bước clip tương ứng.</a:t>
            </a:r>
          </a:p>
        </p:txBody>
      </p:sp>
      <p:sp>
        <p:nvSpPr>
          <p:cNvPr id="7" name="">
            <a:extLst xmlns:a="http://schemas.openxmlformats.org/drawingml/2006/main">
              <a:ext uri="{FF2B5EF4-FFF2-40B4-BE49-F238E27FC236}">
                <a16:creationId xmlns:a16="http://schemas.microsoft.com/office/drawing/2014/main" id="{230203C7-E0D9-4103-816D-98E4E9D2333B}"/>
              </a:ext>
            </a:extLst>
          </p:cNvPr>
          <p:cNvSpPr>
            <a:spLocks xmlns:a="http://schemas.openxmlformats.org/drawingml/2006/main" noGrp="1"/>
          </p:cNvSpPr>
          <p:nvPr/>
        </p:nvSpPr>
        <p:spPr>
          <a:xfrm xmlns:a="http://schemas.openxmlformats.org/drawingml/2006/main">
            <a:off x="5191125" y="2257425"/>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Ví dụ crs_dep_time = 1730</a:t>
            </a:r>
          </a:p>
        </p:txBody>
      </p:sp>
      <p:sp>
        <p:nvSpPr>
          <p:cNvPr id="8" name="">
            <a:extLst xmlns:a="http://schemas.openxmlformats.org/drawingml/2006/main">
              <a:ext uri="{FF2B5EF4-FFF2-40B4-BE49-F238E27FC236}">
                <a16:creationId xmlns:a16="http://schemas.microsoft.com/office/drawing/2014/main" id="{8A3BEEDE-6355-4C71-8970-49090CC64C9E}"/>
              </a:ext>
            </a:extLst>
          </p:cNvPr>
          <p:cNvSpPr>
            <a:spLocks xmlns:a="http://schemas.openxmlformats.org/drawingml/2006/main" noGrp="1"/>
          </p:cNvSpPr>
          <p:nvPr/>
        </p:nvSpPr>
        <p:spPr>
          <a:xfrm xmlns:a="http://schemas.openxmlformats.org/drawingml/2006/main">
            <a:off x="5191125" y="3171825"/>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dep_hour = 17, dep_min_of_day = 1.050</a:t>
            </a:r>
          </a:p>
        </p:txBody>
      </p:sp>
      <p:sp>
        <p:nvSpPr>
          <p:cNvPr id="10" name="">
            <a:extLst xmlns:a="http://schemas.openxmlformats.org/drawingml/2006/main">
              <a:ext uri="{FF2B5EF4-FFF2-40B4-BE49-F238E27FC236}">
                <a16:creationId xmlns:a16="http://schemas.microsoft.com/office/drawing/2014/main" id="{E2EC8833-A609-4AF3-8AC7-70A32A0BF13C}"/>
              </a:ext>
            </a:extLst>
          </p:cNvPr>
          <p:cNvSpPr>
            <a:spLocks xmlns:a="http://schemas.openxmlformats.org/drawingml/2006/main" noGrp="1"/>
          </p:cNvSpPr>
          <p:nvPr/>
        </p:nvSpPr>
        <p:spPr>
          <a:xfrm xmlns:a="http://schemas.openxmlformats.org/drawingml/2006/main">
            <a:off x="5191125" y="4086225"/>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dep_time_of_day = Evening</a:t>
            </a:r>
          </a:p>
        </p:txBody>
      </p:sp>
      <p:sp>
        <p:nvSpPr>
          <p:cNvPr id="12" name="">
            <a:extLst xmlns:a="http://schemas.openxmlformats.org/drawingml/2006/main">
              <a:ext uri="{FF2B5EF4-FFF2-40B4-BE49-F238E27FC236}">
                <a16:creationId xmlns:a16="http://schemas.microsoft.com/office/drawing/2014/main" id="{34D69250-EFAF-4F49-82B8-6D71F70A41FD}"/>
              </a:ext>
            </a:extLst>
          </p:cNvPr>
          <p:cNvSpPr>
            <a:spLocks xmlns:a="http://schemas.openxmlformats.org/drawingml/2006/main" noGrp="1"/>
          </p:cNvSpPr>
          <p:nvPr/>
        </p:nvSpPr>
        <p:spPr>
          <a:xfrm xmlns:a="http://schemas.openxmlformats.org/drawingml/2006/main">
            <a:off x="5191125" y="5248275"/>
            <a:ext cx="628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2B7"/>
                </a:solidFill>
                <a:latin typeface="Arial"/>
                <a:ea typeface="Arial"/>
                <a:cs typeface="Arial"/>
              </a:defRPr>
            </a:defPPr>
          </a:lstStyle>
          <a:p xmlns:a="http://schemas.openxmlformats.org/drawingml/2006/main">
            <a:pPr>
              <a:defRPr sz="1875" b="1">
                <a:solidFill>
                  <a:srgbClr val="2072B7"/>
                </a:solidFill>
                <a:latin typeface="Arial"/>
                <a:ea typeface="Arial"/>
                <a:cs typeface="Arial"/>
              </a:defRPr>
            </a:pPr>
            <a:r>
              <a:rPr sz="1875" b="1">
                <a:solidFill>
                  <a:srgbClr val="2072B7"/>
                </a:solidFill>
                <a:latin typeface="Arial"/>
                <a:ea typeface="Arial"/>
                <a:cs typeface="Arial"/>
              </a:rPr>
              <a:t>Morning 05–11h   Afternoon 12–16h</a:t>
            </a:r>
          </a:p>
          <a:p xmlns:a="http://schemas.openxmlformats.org/drawingml/2006/main">
            <a:pPr>
              <a:defRPr sz="1875" b="1">
                <a:solidFill>
                  <a:srgbClr val="2072B7"/>
                </a:solidFill>
                <a:latin typeface="Arial"/>
                <a:ea typeface="Arial"/>
                <a:cs typeface="Arial"/>
              </a:defRPr>
            </a:pPr>
            <a:r>
              <a:rPr sz="1875" b="1">
                <a:solidFill>
                  <a:srgbClr val="2072B7"/>
                </a:solidFill>
                <a:latin typeface="Arial"/>
                <a:ea typeface="Arial"/>
                <a:cs typeface="Arial"/>
              </a:rPr>
              <a:t>Evening 17–21h   Night: còn lại</a:t>
            </a:r>
          </a:p>
        </p:txBody>
      </p:sp>
      <p:sp>
        <p:nvSpPr>
          <p:cNvPr id="13" name="">
            <a:extLst xmlns:a="http://schemas.openxmlformats.org/drawingml/2006/main">
              <a:ext uri="{FF2B5EF4-FFF2-40B4-BE49-F238E27FC236}">
                <a16:creationId xmlns:a16="http://schemas.microsoft.com/office/drawing/2014/main" id="{7571D535-7C9A-4BF5-93A5-41D71FE941FF}"/>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Ví dụ minh họa. Clip giới hạn số, không kiểm tra toàn diện tính hợp lệ HHMM.</a:t>
            </a:r>
          </a:p>
        </p:txBody>
      </p:sp>
    </p:spTree>
    <p:extLst>
      <p:ext uri="{BB962C8B-B14F-4D97-AF65-F5344CB8AC3E}">
        <p14:creationId xmlns:p14="http://schemas.microsoft.com/office/powerpoint/2010/main" val="115078995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77BAA44-C94E-4C77-89C8-B2C670F84CC9}"/>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Chuẩn bị đặc trưng khi huấn luyện</a:t>
            </a:r>
          </a:p>
        </p:txBody>
      </p:sp>
      <p:sp>
        <p:nvSpPr>
          <p:cNvPr id="2" name="">
            <a:extLst xmlns:a="http://schemas.openxmlformats.org/drawingml/2006/main">
              <a:ext uri="{FF2B5EF4-FFF2-40B4-BE49-F238E27FC236}">
                <a16:creationId xmlns:a16="http://schemas.microsoft.com/office/drawing/2014/main" id="{1ACD29EE-4274-4D78-8B73-542BBEEB5CC6}"/>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Làm sạch tạo dữ liệu và nhãn; chuẩn bị đặc trưng tạo đầu vào X/features</a:t>
            </a:r>
          </a:p>
        </p:txBody>
      </p:sp>
      <p:sp>
        <p:nvSpPr>
          <p:cNvPr id="3" name="">
            <a:extLst xmlns:a="http://schemas.openxmlformats.org/drawingml/2006/main">
              <a:ext uri="{FF2B5EF4-FFF2-40B4-BE49-F238E27FC236}">
                <a16:creationId xmlns:a16="http://schemas.microsoft.com/office/drawing/2014/main" id="{D6DDCF2A-D502-4482-B03E-4F8977392C44}"/>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A37F9CE9-30DE-4570-8411-39B5338D41E1}"/>
              </a:ext>
            </a:extLst>
          </p:cNvPr>
          <p:cNvSpPr>
            <a:spLocks xmlns:a="http://schemas.openxmlformats.org/drawingml/2006/main" noGrp="1"/>
          </p:cNvSpPr>
          <p:nvPr/>
        </p:nvSpPr>
        <p:spPr>
          <a:xfrm xmlns:a="http://schemas.openxmlformats.org/drawingml/2006/main">
            <a:off x="7620000" y="22669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CPU: 9 trường số và 4 trường phân loại tạo ma trận X.</a:t>
            </a:r>
          </a:p>
        </p:txBody>
      </p:sp>
      <p:sp>
        <p:nvSpPr>
          <p:cNvPr id="5" name="">
            <a:extLst xmlns:a="http://schemas.openxmlformats.org/drawingml/2006/main">
              <a:ext uri="{FF2B5EF4-FFF2-40B4-BE49-F238E27FC236}">
                <a16:creationId xmlns:a16="http://schemas.microsoft.com/office/drawing/2014/main" id="{F51345C0-0BEF-4842-9A94-471BF23891F1}"/>
              </a:ext>
            </a:extLst>
          </p:cNvPr>
          <p:cNvSpPr>
            <a:spLocks xmlns:a="http://schemas.openxmlformats.org/drawingml/2006/main" noGrp="1"/>
          </p:cNvSpPr>
          <p:nvPr/>
        </p:nvSpPr>
        <p:spPr>
          <a:xfrm xmlns:a="http://schemas.openxmlformats.org/drawingml/2006/main">
            <a:off x="7620000" y="33528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Spark: StringIndexer rồi VectorAssembler tạo vector features.</a:t>
            </a:r>
          </a:p>
        </p:txBody>
      </p:sp>
      <p:sp>
        <p:nvSpPr>
          <p:cNvPr id="6" name="">
            <a:extLst xmlns:a="http://schemas.openxmlformats.org/drawingml/2006/main">
              <a:ext uri="{FF2B5EF4-FFF2-40B4-BE49-F238E27FC236}">
                <a16:creationId xmlns:a16="http://schemas.microsoft.com/office/drawing/2014/main" id="{F3FB5282-ACA3-4B07-BFB7-43A964B41264}"/>
              </a:ext>
            </a:extLst>
          </p:cNvPr>
          <p:cNvSpPr>
            <a:spLocks xmlns:a="http://schemas.openxmlformats.org/drawingml/2006/main" noGrp="1"/>
          </p:cNvSpPr>
          <p:nvPr/>
        </p:nvSpPr>
        <p:spPr>
          <a:xfrm xmlns:a="http://schemas.openxmlformats.org/drawingml/2006/main">
            <a:off x="7620000" y="44386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Chỉ CPU Logistic Regression dùng StandardScaler.</a:t>
            </a:r>
          </a:p>
        </p:txBody>
      </p:sp>
      <p:graphicFrame>
        <p:nvGraphicFramePr>
          <p:cNvPr id="7" name="">
            <a:extLst xmlns:a="http://schemas.openxmlformats.org/drawingml/2006/main">
              <a:ext uri="{FF2B5EF4-FFF2-40B4-BE49-F238E27FC236}">
                <a16:creationId xmlns:a16="http://schemas.microsoft.com/office/drawing/2014/main" id="{543D40AC-7E4A-4493-8DE5-842238872311}"/>
              </a:ext>
            </a:extLst>
          </p:cNvPr>
          <p:cNvGraphicFramePr/>
          <p:nvPr/>
        </p:nvGraphicFramePr>
        <p:xfrm>
          <a:off xmlns:a="http://schemas.openxmlformats.org/drawingml/2006/main" x="523875" y="2238375"/>
          <a:ext xmlns:a="http://schemas.openxmlformats.org/drawingml/2006/main" cx="6572250" cy="3067050"/>
        </p:xfrm>
        <a:graphic xmlns:a="http://schemas.openxmlformats.org/drawingml/2006/main">
          <a:graphicData uri="http://schemas.openxmlformats.org/drawingml/2006/table">
            <a:tbl>
              <a:tblPr/>
              <a:tblGrid>
                <a:gridCol w="3286125"/>
                <a:gridCol w="3286125"/>
              </a:tblGrid>
              <a:tr h="766763">
                <a:tc>
                  <a:txBody>
                    <a:bodyPr/>
                    <a:lstStyle/>
                    <a:p>
                      <a:r>
                        <a:rPr sz="1725" b="1">
                          <a:solidFill>
                            <a:srgbClr val="FFFFFF"/>
                          </a:solidFill>
                          <a:latin typeface="Arial"/>
                          <a:ea typeface="Arial"/>
                          <a:cs typeface="Arial"/>
                        </a:rPr>
                        <a:t>CPU</a:t>
                      </a:r>
                    </a:p>
                  </a:txBody>
                  <a:tcPr marL="57150" marR="57150" marT="57150" marB="57150">
                    <a:lnL w="9525">
                      <a:solidFill>
                        <a:srgbClr val="C3D5E4"/>
                      </a:solidFill>
                    </a:lnL>
                    <a:lnR w="9525">
                      <a:solidFill>
                        <a:srgbClr val="C3D5E4"/>
                      </a:solidFill>
                    </a:lnR>
                    <a:lnT w="9525">
                      <a:solidFill>
                        <a:srgbClr val="C3D5E4"/>
                      </a:solidFill>
                    </a:lnT>
                    <a:lnB w="9525">
                      <a:solidFill>
                        <a:srgbClr val="C3D5E4"/>
                      </a:solidFill>
                    </a:lnB>
                    <a:solidFill>
                      <a:srgbClr val="2072B7"/>
                    </a:solidFill>
                  </a:tcPr>
                </a:tc>
                <a:tc>
                  <a:txBody>
                    <a:bodyPr/>
                    <a:lstStyle/>
                    <a:p>
                      <a:r>
                        <a:rPr sz="1725" b="1">
                          <a:solidFill>
                            <a:srgbClr val="FFFFFF"/>
                          </a:solidFill>
                          <a:latin typeface="Arial"/>
                          <a:ea typeface="Arial"/>
                          <a:cs typeface="Arial"/>
                        </a:rPr>
                        <a:t>Spark end-to-end</a:t>
                      </a:r>
                    </a:p>
                  </a:txBody>
                  <a:tcPr marL="57150" marR="57150" marT="57150" marB="57150">
                    <a:lnR w="9525">
                      <a:solidFill>
                        <a:srgbClr val="C3D5E4"/>
                      </a:solidFill>
                    </a:lnR>
                    <a:lnT w="9525">
                      <a:solidFill>
                        <a:srgbClr val="C3D5E4"/>
                      </a:solidFill>
                    </a:lnT>
                    <a:lnB w="9525">
                      <a:solidFill>
                        <a:srgbClr val="C3D5E4"/>
                      </a:solidFill>
                    </a:lnB>
                    <a:solidFill>
                      <a:srgbClr val="2072B7"/>
                    </a:solidFill>
                  </a:tcPr>
                </a:tc>
              </a:tr>
              <a:tr h="766763">
                <a:tc>
                  <a:txBody>
                    <a:bodyPr/>
                    <a:lstStyle/>
                    <a:p>
                      <a:r>
                        <a:rPr sz="1725" b="0">
                          <a:solidFill>
                            <a:srgbClr val="202D39"/>
                          </a:solidFill>
                          <a:latin typeface="Arial"/>
                          <a:ea typeface="Arial"/>
                          <a:cs typeface="Arial"/>
                        </a:rPr>
                        <a:t>Số lỗi/thiếu → 0</a:t>
                      </a:r>
                    </a:p>
                    <a:p>
                      <a:r>
                        <a:rPr sz="1725" b="0">
                          <a:solidFill>
                            <a:srgbClr val="202D39"/>
                          </a:solidFill>
                          <a:latin typeface="Arial"/>
                          <a:ea typeface="Arial"/>
                          <a:cs typeface="Arial"/>
                        </a:rPr>
                        <a:t>float32</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725" b="0">
                          <a:solidFill>
                            <a:srgbClr val="202D39"/>
                          </a:solidFill>
                          <a:latin typeface="Arial"/>
                          <a:ea typeface="Arial"/>
                          <a:cs typeface="Arial"/>
                        </a:rPr>
                        <a:t>Cast từ ETL; không fill0</a:t>
                      </a:r>
                    </a:p>
                    <a:p>
                      <a:r>
                        <a:rPr sz="1725" b="0">
                          <a:solidFill>
                            <a:srgbClr val="202D39"/>
                          </a:solidFill>
                          <a:latin typeface="Arial"/>
                          <a:ea typeface="Arial"/>
                          <a:cs typeface="Arial"/>
                        </a:rPr>
                        <a:t>toàn bộ numeric ở bước train</a:t>
                      </a:r>
                    </a:p>
                  </a:txBody>
                  <a:tcPr marL="57150" marR="57150" marT="57150" marB="57150">
                    <a:lnR w="9525">
                      <a:solidFill>
                        <a:srgbClr val="C3D5E4"/>
                      </a:solidFill>
                    </a:lnR>
                    <a:lnB w="9525">
                      <a:solidFill>
                        <a:srgbClr val="C3D5E4"/>
                      </a:solidFill>
                    </a:lnB>
                    <a:solidFill>
                      <a:srgbClr val="EDF5FB"/>
                    </a:solidFill>
                  </a:tcPr>
                </a:tc>
              </a:tr>
              <a:tr h="766763">
                <a:tc>
                  <a:txBody>
                    <a:bodyPr/>
                    <a:lstStyle/>
                    <a:p>
                      <a:r>
                        <a:rPr sz="1725" b="0">
                          <a:solidFill>
                            <a:srgbClr val="202D39"/>
                          </a:solidFill>
                          <a:latin typeface="Arial"/>
                          <a:ea typeface="Arial"/>
                          <a:cs typeface="Arial"/>
                        </a:rPr>
                        <a:t>LabelEncoder</a:t>
                      </a:r>
                    </a:p>
                    <a:p>
                      <a:r>
                        <a:rPr sz="1725" b="0">
                          <a:solidFill>
                            <a:srgbClr val="202D39"/>
                          </a:solidFill>
                          <a:latin typeface="Arial"/>
                          <a:ea typeface="Arial"/>
                          <a:cs typeface="Arial"/>
                        </a:rPr>
                        <a:t>4 trường phân loại</a:t>
                      </a:r>
                    </a:p>
                  </a:txBody>
                  <a:tcPr marL="57150" marR="57150" marT="57150" marB="57150">
                    <a:lnL w="9525">
                      <a:solidFill>
                        <a:srgbClr val="C3D5E4"/>
                      </a:solidFill>
                    </a:lnL>
                    <a:lnR w="9525">
                      <a:solidFill>
                        <a:srgbClr val="C3D5E4"/>
                      </a:solidFill>
                    </a:lnR>
                    <a:lnB w="9525">
                      <a:solidFill>
                        <a:srgbClr val="C3D5E4"/>
                      </a:solidFill>
                    </a:lnB>
                    <a:solidFill>
                      <a:srgbClr val="FFFFFF"/>
                    </a:solidFill>
                  </a:tcPr>
                </a:tc>
                <a:tc>
                  <a:txBody>
                    <a:bodyPr/>
                    <a:lstStyle/>
                    <a:p>
                      <a:r>
                        <a:rPr sz="1725" b="0">
                          <a:solidFill>
                            <a:srgbClr val="202D39"/>
                          </a:solidFill>
                          <a:latin typeface="Arial"/>
                          <a:ea typeface="Arial"/>
                          <a:cs typeface="Arial"/>
                        </a:rPr>
                        <a:t>StringIndexer, keep</a:t>
                      </a:r>
                    </a:p>
                    <a:p>
                      <a:r>
                        <a:rPr sz="1725" b="0">
                          <a:solidFill>
                            <a:srgbClr val="202D39"/>
                          </a:solidFill>
                          <a:latin typeface="Arial"/>
                          <a:ea typeface="Arial"/>
                          <a:cs typeface="Arial"/>
                        </a:rPr>
                        <a:t>origin/dest cast Double</a:t>
                      </a:r>
                    </a:p>
                  </a:txBody>
                  <a:tcPr marL="57150" marR="57150" marT="57150" marB="57150">
                    <a:lnR w="9525">
                      <a:solidFill>
                        <a:srgbClr val="C3D5E4"/>
                      </a:solidFill>
                    </a:lnR>
                    <a:lnB w="9525">
                      <a:solidFill>
                        <a:srgbClr val="C3D5E4"/>
                      </a:solidFill>
                    </a:lnB>
                    <a:solidFill>
                      <a:srgbClr val="FFFFFF"/>
                    </a:solidFill>
                  </a:tcPr>
                </a:tc>
              </a:tr>
              <a:tr h="766763">
                <a:tc>
                  <a:txBody>
                    <a:bodyPr/>
                    <a:lstStyle/>
                    <a:p>
                      <a:r>
                        <a:rPr sz="1725" b="0">
                          <a:solidFill>
                            <a:srgbClr val="202D39"/>
                          </a:solidFill>
                          <a:latin typeface="Arial"/>
                          <a:ea typeface="Arial"/>
                          <a:cs typeface="Arial"/>
                        </a:rPr>
                        <a:t>Ma trận 13 cột</a:t>
                      </a:r>
                    </a:p>
                    <a:p>
                      <a:r>
                        <a:rPr sz="1725" b="0">
                          <a:solidFill>
                            <a:srgbClr val="202D39"/>
                          </a:solidFill>
                          <a:latin typeface="Arial"/>
                          <a:ea typeface="Arial"/>
                          <a:cs typeface="Arial"/>
                        </a:rPr>
                        <a:t>X float32</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725" b="0">
                          <a:solidFill>
                            <a:srgbClr val="202D39"/>
                          </a:solidFill>
                          <a:latin typeface="Arial"/>
                          <a:ea typeface="Arial"/>
                          <a:cs typeface="Arial"/>
                        </a:rPr>
                        <a:t>VectorAssembler</a:t>
                      </a:r>
                    </a:p>
                    <a:p>
                      <a:r>
                        <a:rPr sz="1725" b="0">
                          <a:solidFill>
                            <a:srgbClr val="202D39"/>
                          </a:solidFill>
                          <a:latin typeface="Arial"/>
                          <a:ea typeface="Arial"/>
                          <a:cs typeface="Arial"/>
                        </a:rPr>
                        <a:t>13 đặc trưng</a:t>
                      </a:r>
                    </a:p>
                  </a:txBody>
                  <a:tcPr marL="57150" marR="57150" marT="57150" marB="57150">
                    <a:lnR w="9525">
                      <a:solidFill>
                        <a:srgbClr val="C3D5E4"/>
                      </a:solidFill>
                    </a:lnR>
                    <a:lnB w="9525">
                      <a:solidFill>
                        <a:srgbClr val="C3D5E4"/>
                      </a:solidFill>
                    </a:lnB>
                    <a:solidFill>
                      <a:srgbClr val="EDF5FB"/>
                    </a:solidFill>
                  </a:tcPr>
                </a:tc>
              </a:tr>
            </a:tbl>
          </a:graphicData>
        </a:graphic>
      </p:graphicFrame>
      <p:sp>
        <p:nvSpPr>
          <p:cNvPr id="8" name="">
            <a:extLst xmlns:a="http://schemas.openxmlformats.org/drawingml/2006/main">
              <a:ext uri="{FF2B5EF4-FFF2-40B4-BE49-F238E27FC236}">
                <a16:creationId xmlns:a16="http://schemas.microsoft.com/office/drawing/2014/main" id="{1FEAA245-0920-428A-BA82-CE6E6B606C22}"/>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Hãng bay, origin, dest và dep_time_of_day là bốn trường phân loại.</a:t>
            </a:r>
          </a:p>
        </p:txBody>
      </p:sp>
    </p:spTree>
    <p:extLst>
      <p:ext uri="{BB962C8B-B14F-4D97-AF65-F5344CB8AC3E}">
        <p14:creationId xmlns:p14="http://schemas.microsoft.com/office/powerpoint/2010/main" val="110164599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51D655BD-5410-4685-BA28-6F61BA682465}"/>
              </a:ext>
            </a:extLst>
          </p:cNvPr>
          <p:cNvCxnSpPr>
            <a:stCxn xmlns:a="http://schemas.openxmlformats.org/drawingml/2006/main" id="8" idx="2"/>
            <a:endCxn xmlns:a="http://schemas.openxmlformats.org/drawingml/2006/main" id="10" idx="0"/>
          </p:cNvCxnSpPr>
          <p:nvPr/>
        </p:nvCxnSpPr>
        <p:spPr>
          <a:xfrm xmlns:a="http://schemas.openxmlformats.org/drawingml/2006/main">
            <a:off x="8358188" y="3790950"/>
            <a:ext cx="0" cy="29527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9" name="">
            <a:extLst xmlns:a="http://schemas.openxmlformats.org/drawingml/2006/main">
              <a:ext uri="{FF2B5EF4-FFF2-40B4-BE49-F238E27FC236}">
                <a16:creationId xmlns:a16="http://schemas.microsoft.com/office/drawing/2014/main" id="{4169F67C-1407-4BC3-937B-0F1F0D364774}"/>
              </a:ext>
            </a:extLst>
          </p:cNvPr>
          <p:cNvCxnSpPr>
            <a:stCxn xmlns:a="http://schemas.openxmlformats.org/drawingml/2006/main" id="7" idx="2"/>
            <a:endCxn xmlns:a="http://schemas.openxmlformats.org/drawingml/2006/main" id="8" idx="0"/>
          </p:cNvCxnSpPr>
          <p:nvPr/>
        </p:nvCxnSpPr>
        <p:spPr>
          <a:xfrm xmlns:a="http://schemas.openxmlformats.org/drawingml/2006/main">
            <a:off x="8358188" y="2876550"/>
            <a:ext cx="0" cy="29527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3" name="">
            <a:extLst xmlns:a="http://schemas.openxmlformats.org/drawingml/2006/main">
              <a:ext uri="{FF2B5EF4-FFF2-40B4-BE49-F238E27FC236}">
                <a16:creationId xmlns:a16="http://schemas.microsoft.com/office/drawing/2014/main" id="{94D0566F-813B-4E9E-BA56-FA680DEB26F0}"/>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Đầu ra Parquet và chia dữ liệu</a:t>
            </a:r>
          </a:p>
        </p:txBody>
      </p:sp>
      <p:sp>
        <p:nvSpPr>
          <p:cNvPr id="2" name="">
            <a:extLst xmlns:a="http://schemas.openxmlformats.org/drawingml/2006/main">
              <a:ext uri="{FF2B5EF4-FFF2-40B4-BE49-F238E27FC236}">
                <a16:creationId xmlns:a16="http://schemas.microsoft.com/office/drawing/2014/main" id="{9C968A11-B59E-4A8E-BE9C-CFCA9072DA1A}"/>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Cùng tỷ lệ 70/15/15, nhưng CPU và Spark không dùng cùng cách chia</a:t>
            </a:r>
          </a:p>
        </p:txBody>
      </p:sp>
      <p:sp>
        <p:nvSpPr>
          <p:cNvPr id="3" name="">
            <a:extLst xmlns:a="http://schemas.openxmlformats.org/drawingml/2006/main">
              <a:ext uri="{FF2B5EF4-FFF2-40B4-BE49-F238E27FC236}">
                <a16:creationId xmlns:a16="http://schemas.microsoft.com/office/drawing/2014/main" id="{746353E3-6FB6-4920-976F-ED44DF7C0248}"/>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D8622772-F3AB-456B-98F7-7436F7216BCE}"/>
              </a:ext>
            </a:extLst>
          </p:cNvPr>
          <p:cNvSpPr>
            <a:spLocks xmlns:a="http://schemas.openxmlformats.org/drawingml/2006/main" noGrp="1"/>
          </p:cNvSpPr>
          <p:nvPr/>
        </p:nvSpPr>
        <p:spPr>
          <a:xfrm xmlns:a="http://schemas.openxmlformats.org/drawingml/2006/main">
            <a:off x="571500" y="22669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Parquet được phân vùng theo month.</a:t>
            </a:r>
          </a:p>
        </p:txBody>
      </p:sp>
      <p:sp>
        <p:nvSpPr>
          <p:cNvPr id="5" name="">
            <a:extLst xmlns:a="http://schemas.openxmlformats.org/drawingml/2006/main">
              <a:ext uri="{FF2B5EF4-FFF2-40B4-BE49-F238E27FC236}">
                <a16:creationId xmlns:a16="http://schemas.microsoft.com/office/drawing/2014/main" id="{1FFD5573-97FC-4E46-ACA2-4580DFCE61F2}"/>
              </a:ext>
            </a:extLst>
          </p:cNvPr>
          <p:cNvSpPr>
            <a:spLocks xmlns:a="http://schemas.openxmlformats.org/drawingml/2006/main" noGrp="1"/>
          </p:cNvSpPr>
          <p:nvPr/>
        </p:nvSpPr>
        <p:spPr>
          <a:xfrm xmlns:a="http://schemas.openxmlformats.org/drawingml/2006/main">
            <a:off x="571500" y="33337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CPU chia có phân tầng nhãn, random_state = 42.</a:t>
            </a:r>
          </a:p>
        </p:txBody>
      </p:sp>
      <p:sp>
        <p:nvSpPr>
          <p:cNvPr id="6" name="">
            <a:extLst xmlns:a="http://schemas.openxmlformats.org/drawingml/2006/main">
              <a:ext uri="{FF2B5EF4-FFF2-40B4-BE49-F238E27FC236}">
                <a16:creationId xmlns:a16="http://schemas.microsoft.com/office/drawing/2014/main" id="{03200809-A70A-4092-84C4-82D444D3A2A5}"/>
              </a:ext>
            </a:extLst>
          </p:cNvPr>
          <p:cNvSpPr>
            <a:spLocks xmlns:a="http://schemas.openxmlformats.org/drawingml/2006/main" noGrp="1"/>
          </p:cNvSpPr>
          <p:nvPr/>
        </p:nvSpPr>
        <p:spPr>
          <a:xfrm xmlns:a="http://schemas.openxmlformats.org/drawingml/2006/main">
            <a:off x="571500" y="44005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Spark randomSplit với seed = 42, tỷ lệ thực tế có thể dao động.</a:t>
            </a:r>
          </a:p>
        </p:txBody>
      </p:sp>
      <p:sp>
        <p:nvSpPr>
          <p:cNvPr id="7" name="">
            <a:extLst xmlns:a="http://schemas.openxmlformats.org/drawingml/2006/main">
              <a:ext uri="{FF2B5EF4-FFF2-40B4-BE49-F238E27FC236}">
                <a16:creationId xmlns:a16="http://schemas.microsoft.com/office/drawing/2014/main" id="{FB2D55B5-AABC-4161-BDDA-6C828CE42DB2}"/>
              </a:ext>
            </a:extLst>
          </p:cNvPr>
          <p:cNvSpPr>
            <a:spLocks xmlns:a="http://schemas.openxmlformats.org/drawingml/2006/main" noGrp="1"/>
          </p:cNvSpPr>
          <p:nvPr/>
        </p:nvSpPr>
        <p:spPr>
          <a:xfrm xmlns:a="http://schemas.openxmlformats.org/drawingml/2006/main">
            <a:off x="5191125" y="2257425"/>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CSV → làm sạch và ghi Parquet theo tháng</a:t>
            </a:r>
          </a:p>
        </p:txBody>
      </p:sp>
      <p:sp>
        <p:nvSpPr>
          <p:cNvPr id="8" name="">
            <a:extLst xmlns:a="http://schemas.openxmlformats.org/drawingml/2006/main">
              <a:ext uri="{FF2B5EF4-FFF2-40B4-BE49-F238E27FC236}">
                <a16:creationId xmlns:a16="http://schemas.microsoft.com/office/drawing/2014/main" id="{7C54F522-C4AA-4A69-89FE-EEBC1EC61C4B}"/>
              </a:ext>
            </a:extLst>
          </p:cNvPr>
          <p:cNvSpPr>
            <a:spLocks xmlns:a="http://schemas.openxmlformats.org/drawingml/2006/main" noGrp="1"/>
          </p:cNvSpPr>
          <p:nvPr/>
        </p:nvSpPr>
        <p:spPr>
          <a:xfrm xmlns:a="http://schemas.openxmlformats.org/drawingml/2006/main">
            <a:off x="5191125" y="3171825"/>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Đọc Parquet → mã hóa và đóng gói đặc trưng</a:t>
            </a:r>
          </a:p>
        </p:txBody>
      </p:sp>
      <p:sp>
        <p:nvSpPr>
          <p:cNvPr id="10" name="">
            <a:extLst xmlns:a="http://schemas.openxmlformats.org/drawingml/2006/main">
              <a:ext uri="{FF2B5EF4-FFF2-40B4-BE49-F238E27FC236}">
                <a16:creationId xmlns:a16="http://schemas.microsoft.com/office/drawing/2014/main" id="{CA102906-177B-4F4E-9817-992F4506C1AB}"/>
              </a:ext>
            </a:extLst>
          </p:cNvPr>
          <p:cNvSpPr>
            <a:spLocks xmlns:a="http://schemas.openxmlformats.org/drawingml/2006/main" noGrp="1"/>
          </p:cNvSpPr>
          <p:nvPr/>
        </p:nvSpPr>
        <p:spPr>
          <a:xfrm xmlns:a="http://schemas.openxmlformats.org/drawingml/2006/main">
            <a:off x="5191125" y="4086225"/>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Train 70% / Validation 15% / Test 15%</a:t>
            </a:r>
          </a:p>
        </p:txBody>
      </p:sp>
      <p:sp>
        <p:nvSpPr>
          <p:cNvPr id="12" name="">
            <a:extLst xmlns:a="http://schemas.openxmlformats.org/drawingml/2006/main">
              <a:ext uri="{FF2B5EF4-FFF2-40B4-BE49-F238E27FC236}">
                <a16:creationId xmlns:a16="http://schemas.microsoft.com/office/drawing/2014/main" id="{AE9288BD-C45E-43AC-8E3C-5B6E579E6D2C}"/>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Cùng seed không bảo đảm cùng bản ghi test giữa Pandas/sklearn và Spark.</a:t>
            </a:r>
          </a:p>
        </p:txBody>
      </p:sp>
    </p:spTree>
    <p:extLst>
      <p:ext uri="{BB962C8B-B14F-4D97-AF65-F5344CB8AC3E}">
        <p14:creationId xmlns:p14="http://schemas.microsoft.com/office/powerpoint/2010/main" val="15399810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DC77EB55-C7FD-4AB1-962C-CF6728065C12}"/>
              </a:ext>
            </a:extLst>
          </p:cNvPr>
          <p:cNvCxnSpPr>
            <a:stCxn xmlns:a="http://schemas.openxmlformats.org/drawingml/2006/main" id="7" idx="2"/>
            <a:endCxn xmlns:a="http://schemas.openxmlformats.org/drawingml/2006/main" id="9" idx="0"/>
          </p:cNvCxnSpPr>
          <p:nvPr/>
        </p:nvCxnSpPr>
        <p:spPr>
          <a:xfrm xmlns:a="http://schemas.openxmlformats.org/drawingml/2006/main">
            <a:off x="3810000" y="455295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8" name="">
            <a:extLst xmlns:a="http://schemas.openxmlformats.org/drawingml/2006/main">
              <a:ext uri="{FF2B5EF4-FFF2-40B4-BE49-F238E27FC236}">
                <a16:creationId xmlns:a16="http://schemas.microsoft.com/office/drawing/2014/main" id="{04E69CE9-D040-4F84-A9B4-4B0261F3F00F}"/>
              </a:ext>
            </a:extLst>
          </p:cNvPr>
          <p:cNvCxnSpPr>
            <a:stCxn xmlns:a="http://schemas.openxmlformats.org/drawingml/2006/main" id="5" idx="2"/>
            <a:endCxn xmlns:a="http://schemas.openxmlformats.org/drawingml/2006/main" id="7" idx="0"/>
          </p:cNvCxnSpPr>
          <p:nvPr/>
        </p:nvCxnSpPr>
        <p:spPr>
          <a:xfrm xmlns:a="http://schemas.openxmlformats.org/drawingml/2006/main">
            <a:off x="3810000" y="366712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6" name="">
            <a:extLst xmlns:a="http://schemas.openxmlformats.org/drawingml/2006/main">
              <a:ext uri="{FF2B5EF4-FFF2-40B4-BE49-F238E27FC236}">
                <a16:creationId xmlns:a16="http://schemas.microsoft.com/office/drawing/2014/main" id="{9A894764-BAD1-4109-A16E-BBDA7EEF90A0}"/>
              </a:ext>
            </a:extLst>
          </p:cNvPr>
          <p:cNvCxnSpPr>
            <a:stCxn xmlns:a="http://schemas.openxmlformats.org/drawingml/2006/main" id="4" idx="2"/>
            <a:endCxn xmlns:a="http://schemas.openxmlformats.org/drawingml/2006/main" id="5" idx="0"/>
          </p:cNvCxnSpPr>
          <p:nvPr/>
        </p:nvCxnSpPr>
        <p:spPr>
          <a:xfrm xmlns:a="http://schemas.openxmlformats.org/drawingml/2006/main">
            <a:off x="3810000" y="278130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5" name="">
            <a:extLst xmlns:a="http://schemas.openxmlformats.org/drawingml/2006/main">
              <a:ext uri="{FF2B5EF4-FFF2-40B4-BE49-F238E27FC236}">
                <a16:creationId xmlns:a16="http://schemas.microsoft.com/office/drawing/2014/main" id="{F6B7C9DA-2060-4563-8653-103A1B7129B2}"/>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Cách chạy nhánh thuần CPU</a:t>
            </a:r>
          </a:p>
        </p:txBody>
      </p:sp>
      <p:sp>
        <p:nvSpPr>
          <p:cNvPr id="2" name="">
            <a:extLst xmlns:a="http://schemas.openxmlformats.org/drawingml/2006/main">
              <a:ext uri="{FF2B5EF4-FFF2-40B4-BE49-F238E27FC236}">
                <a16:creationId xmlns:a16="http://schemas.microsoft.com/office/drawing/2014/main" id="{D6F7DB11-1D2C-40A6-94C1-BD1FDBD1F4CF}"/>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Toàn bộ xử lý và huấn luyện nằm trên một máy, có thể dùng nhiều lõi</a:t>
            </a:r>
          </a:p>
        </p:txBody>
      </p:sp>
      <p:sp>
        <p:nvSpPr>
          <p:cNvPr id="3" name="">
            <a:extLst xmlns:a="http://schemas.openxmlformats.org/drawingml/2006/main">
              <a:ext uri="{FF2B5EF4-FFF2-40B4-BE49-F238E27FC236}">
                <a16:creationId xmlns:a16="http://schemas.microsoft.com/office/drawing/2014/main" id="{38C4B239-4CC5-4002-9DC9-6551729F6DE4}"/>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F5487B8E-8A44-4020-B2E2-5588FA84B1A0}"/>
              </a:ext>
            </a:extLst>
          </p:cNvPr>
          <p:cNvSpPr>
            <a:spLocks xmlns:a="http://schemas.openxmlformats.org/drawingml/2006/main" noGrp="1"/>
          </p:cNvSpPr>
          <p:nvPr/>
        </p:nvSpPr>
        <p:spPr>
          <a:xfrm xmlns:a="http://schemas.openxmlformats.org/drawingml/2006/main">
            <a:off x="619125" y="2171700"/>
            <a:ext cx="6381750" cy="6096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Parquet sạch trên máy chạy</a:t>
            </a:r>
          </a:p>
        </p:txBody>
      </p:sp>
      <p:sp>
        <p:nvSpPr>
          <p:cNvPr id="5" name="">
            <a:extLst xmlns:a="http://schemas.openxmlformats.org/drawingml/2006/main">
              <a:ext uri="{FF2B5EF4-FFF2-40B4-BE49-F238E27FC236}">
                <a16:creationId xmlns:a16="http://schemas.microsoft.com/office/drawing/2014/main" id="{45AAB141-FE69-4D9C-9991-0EB660495249}"/>
              </a:ext>
            </a:extLst>
          </p:cNvPr>
          <p:cNvSpPr>
            <a:spLocks xmlns:a="http://schemas.openxmlformats.org/drawingml/2006/main" noGrp="1"/>
          </p:cNvSpPr>
          <p:nvPr/>
        </p:nvSpPr>
        <p:spPr>
          <a:xfrm xmlns:a="http://schemas.openxmlformats.org/drawingml/2006/main">
            <a:off x="619125" y="3057525"/>
            <a:ext cx="6381750" cy="6096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Chuẩn bị X, chia Train/Val/Test</a:t>
            </a:r>
          </a:p>
        </p:txBody>
      </p:sp>
      <p:sp>
        <p:nvSpPr>
          <p:cNvPr id="7" name="">
            <a:extLst xmlns:a="http://schemas.openxmlformats.org/drawingml/2006/main">
              <a:ext uri="{FF2B5EF4-FFF2-40B4-BE49-F238E27FC236}">
                <a16:creationId xmlns:a16="http://schemas.microsoft.com/office/drawing/2014/main" id="{654FF997-3D6F-438A-BFB8-35D84B9E4B95}"/>
              </a:ext>
            </a:extLst>
          </p:cNvPr>
          <p:cNvSpPr>
            <a:spLocks xmlns:a="http://schemas.openxmlformats.org/drawingml/2006/main" noGrp="1"/>
          </p:cNvSpPr>
          <p:nvPr/>
        </p:nvSpPr>
        <p:spPr>
          <a:xfrm xmlns:a="http://schemas.openxmlformats.org/drawingml/2006/main">
            <a:off x="619125" y="3943350"/>
            <a:ext cx="6381750" cy="6096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Lần lượt fit sáu mô hình CPU</a:t>
            </a:r>
          </a:p>
        </p:txBody>
      </p:sp>
      <p:sp>
        <p:nvSpPr>
          <p:cNvPr id="9" name="">
            <a:extLst xmlns:a="http://schemas.openxmlformats.org/drawingml/2006/main">
              <a:ext uri="{FF2B5EF4-FFF2-40B4-BE49-F238E27FC236}">
                <a16:creationId xmlns:a16="http://schemas.microsoft.com/office/drawing/2014/main" id="{98E0597E-DCD2-4B20-97F6-A96C7B74B700}"/>
              </a:ext>
            </a:extLst>
          </p:cNvPr>
          <p:cNvSpPr>
            <a:spLocks xmlns:a="http://schemas.openxmlformats.org/drawingml/2006/main" noGrp="1"/>
          </p:cNvSpPr>
          <p:nvPr/>
        </p:nvSpPr>
        <p:spPr>
          <a:xfrm xmlns:a="http://schemas.openxmlformats.org/drawingml/2006/main">
            <a:off x="619125" y="4829175"/>
            <a:ext cx="6381750" cy="6096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Dự đoán, đánh giá và lưu model/metrics/hình</a:t>
            </a:r>
          </a:p>
        </p:txBody>
      </p:sp>
      <p:sp>
        <p:nvSpPr>
          <p:cNvPr id="11" name="">
            <a:extLst xmlns:a="http://schemas.openxmlformats.org/drawingml/2006/main">
              <a:ext uri="{FF2B5EF4-FFF2-40B4-BE49-F238E27FC236}">
                <a16:creationId xmlns:a16="http://schemas.microsoft.com/office/drawing/2014/main" id="{55F90BBB-7182-4765-A5B1-0081EC689B83}"/>
              </a:ext>
            </a:extLst>
          </p:cNvPr>
          <p:cNvSpPr>
            <a:spLocks xmlns:a="http://schemas.openxmlformats.org/drawingml/2006/main" noGrp="1"/>
          </p:cNvSpPr>
          <p:nvPr/>
        </p:nvSpPr>
        <p:spPr>
          <a:xfrm xmlns:a="http://schemas.openxmlformats.org/drawingml/2006/main">
            <a:off x="7620000" y="22669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CSV được xử lý trước bằng to_parquet.py.</a:t>
            </a:r>
          </a:p>
        </p:txBody>
      </p:sp>
      <p:sp>
        <p:nvSpPr>
          <p:cNvPr id="12" name="">
            <a:extLst xmlns:a="http://schemas.openxmlformats.org/drawingml/2006/main">
              <a:ext uri="{FF2B5EF4-FFF2-40B4-BE49-F238E27FC236}">
                <a16:creationId xmlns:a16="http://schemas.microsoft.com/office/drawing/2014/main" id="{197CA2FA-DEB4-4914-9440-D8D65141DF39}"/>
              </a:ext>
            </a:extLst>
          </p:cNvPr>
          <p:cNvSpPr>
            <a:spLocks xmlns:a="http://schemas.openxmlformats.org/drawingml/2006/main" noGrp="1"/>
          </p:cNvSpPr>
          <p:nvPr/>
        </p:nvSpPr>
        <p:spPr>
          <a:xfrm xmlns:a="http://schemas.openxmlformats.org/drawingml/2006/main">
            <a:off x="7620000" y="33528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Đồng hồ train chỉ bao quanh clf.fit. Scaler chuẩn bị trước đó.</a:t>
            </a:r>
          </a:p>
        </p:txBody>
      </p:sp>
      <p:sp>
        <p:nvSpPr>
          <p:cNvPr id="13" name="">
            <a:extLst xmlns:a="http://schemas.openxmlformats.org/drawingml/2006/main">
              <a:ext uri="{FF2B5EF4-FFF2-40B4-BE49-F238E27FC236}">
                <a16:creationId xmlns:a16="http://schemas.microsoft.com/office/drawing/2014/main" id="{C7CB8EED-5927-4B54-8299-E95F2E774C2E}"/>
              </a:ext>
            </a:extLst>
          </p:cNvPr>
          <p:cNvSpPr>
            <a:spLocks xmlns:a="http://schemas.openxmlformats.org/drawingml/2006/main" noGrp="1"/>
          </p:cNvSpPr>
          <p:nvPr/>
        </p:nvSpPr>
        <p:spPr>
          <a:xfrm xmlns:a="http://schemas.openxmlformats.org/drawingml/2006/main">
            <a:off x="7620000" y="44386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Dự đoán 1.000 mẫu và đánh giá test diễn ra sau fit.</a:t>
            </a:r>
          </a:p>
        </p:txBody>
      </p:sp>
      <p:sp>
        <p:nvSpPr>
          <p:cNvPr id="14" name="">
            <a:extLst xmlns:a="http://schemas.openxmlformats.org/drawingml/2006/main">
              <a:ext uri="{FF2B5EF4-FFF2-40B4-BE49-F238E27FC236}">
                <a16:creationId xmlns:a16="http://schemas.microsoft.com/office/drawing/2014/main" id="{4280EBE0-AE1D-42D5-8886-A81A3364E7E8}"/>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Luồng code tham chiếu. Sáu model CPU được fit lần lượt, không phải sáu máy.</a:t>
            </a:r>
          </a:p>
        </p:txBody>
      </p:sp>
    </p:spTree>
    <p:extLst>
      <p:ext uri="{BB962C8B-B14F-4D97-AF65-F5344CB8AC3E}">
        <p14:creationId xmlns:p14="http://schemas.microsoft.com/office/powerpoint/2010/main" val="3984370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057B1E9-5CEB-4C52-A4B9-0DE923B36D17}"/>
              </a:ext>
            </a:extLst>
          </p:cNvPr>
          <p:cNvCxnSpPr>
            <a:stCxn xmlns:a="http://schemas.openxmlformats.org/drawingml/2006/main" id="7" idx="2"/>
            <a:endCxn xmlns:a="http://schemas.openxmlformats.org/drawingml/2006/main" id="9" idx="0"/>
          </p:cNvCxnSpPr>
          <p:nvPr/>
        </p:nvCxnSpPr>
        <p:spPr>
          <a:xfrm xmlns:a="http://schemas.openxmlformats.org/drawingml/2006/main">
            <a:off x="8358188" y="458152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8" name="">
            <a:extLst xmlns:a="http://schemas.openxmlformats.org/drawingml/2006/main">
              <a:ext uri="{FF2B5EF4-FFF2-40B4-BE49-F238E27FC236}">
                <a16:creationId xmlns:a16="http://schemas.microsoft.com/office/drawing/2014/main" id="{51B7E651-099B-441D-A7BE-800D1CCC96B0}"/>
              </a:ext>
            </a:extLst>
          </p:cNvPr>
          <p:cNvCxnSpPr>
            <a:stCxn xmlns:a="http://schemas.openxmlformats.org/drawingml/2006/main" id="5" idx="2"/>
            <a:endCxn xmlns:a="http://schemas.openxmlformats.org/drawingml/2006/main" id="7" idx="0"/>
          </p:cNvCxnSpPr>
          <p:nvPr/>
        </p:nvCxnSpPr>
        <p:spPr>
          <a:xfrm xmlns:a="http://schemas.openxmlformats.org/drawingml/2006/main">
            <a:off x="8358188" y="368617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6" name="">
            <a:extLst xmlns:a="http://schemas.openxmlformats.org/drawingml/2006/main">
              <a:ext uri="{FF2B5EF4-FFF2-40B4-BE49-F238E27FC236}">
                <a16:creationId xmlns:a16="http://schemas.microsoft.com/office/drawing/2014/main" id="{AE725349-D1E2-4ECD-B148-2FC882E7DB3A}"/>
              </a:ext>
            </a:extLst>
          </p:cNvPr>
          <p:cNvCxnSpPr>
            <a:stCxn xmlns:a="http://schemas.openxmlformats.org/drawingml/2006/main" id="4" idx="2"/>
            <a:endCxn xmlns:a="http://schemas.openxmlformats.org/drawingml/2006/main" id="5" idx="0"/>
          </p:cNvCxnSpPr>
          <p:nvPr/>
        </p:nvCxnSpPr>
        <p:spPr>
          <a:xfrm xmlns:a="http://schemas.openxmlformats.org/drawingml/2006/main">
            <a:off x="8358188" y="279082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5" name="">
            <a:extLst xmlns:a="http://schemas.openxmlformats.org/drawingml/2006/main">
              <a:ext uri="{FF2B5EF4-FFF2-40B4-BE49-F238E27FC236}">
                <a16:creationId xmlns:a16="http://schemas.microsoft.com/office/drawing/2014/main" id="{1CE0F2C1-B9A8-4953-AE35-A36B99CFEE98}"/>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Cách chạy nhánh Spark</a:t>
            </a:r>
          </a:p>
        </p:txBody>
      </p:sp>
      <p:sp>
        <p:nvSpPr>
          <p:cNvPr id="2" name="">
            <a:extLst xmlns:a="http://schemas.openxmlformats.org/drawingml/2006/main">
              <a:ext uri="{FF2B5EF4-FFF2-40B4-BE49-F238E27FC236}">
                <a16:creationId xmlns:a16="http://schemas.microsoft.com/office/drawing/2014/main" id="{B50C5E10-11B3-4A11-A9AA-12C632C3F758}"/>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Driver điều phối; Executor xử lý phân vùng, còn đọc/ghi có bước cục bộ</a:t>
            </a:r>
          </a:p>
        </p:txBody>
      </p:sp>
      <p:sp>
        <p:nvSpPr>
          <p:cNvPr id="3" name="">
            <a:extLst xmlns:a="http://schemas.openxmlformats.org/drawingml/2006/main">
              <a:ext uri="{FF2B5EF4-FFF2-40B4-BE49-F238E27FC236}">
                <a16:creationId xmlns:a16="http://schemas.microsoft.com/office/drawing/2014/main" id="{2D80AC17-E4F8-47B4-A39A-7D9AC00F4526}"/>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73A50FC6-3BB5-4FC5-951B-CD61D60A9D42}"/>
              </a:ext>
            </a:extLst>
          </p:cNvPr>
          <p:cNvSpPr>
            <a:spLocks xmlns:a="http://schemas.openxmlformats.org/drawingml/2006/main" noGrp="1"/>
          </p:cNvSpPr>
          <p:nvPr/>
        </p:nvSpPr>
        <p:spPr>
          <a:xfrm xmlns:a="http://schemas.openxmlformats.org/drawingml/2006/main">
            <a:off x="5191125" y="2171700"/>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Driver đọc CSV từng khối hoặc Parquet</a:t>
            </a:r>
          </a:p>
        </p:txBody>
      </p:sp>
      <p:sp>
        <p:nvSpPr>
          <p:cNvPr id="5" name="">
            <a:extLst xmlns:a="http://schemas.openxmlformats.org/drawingml/2006/main">
              <a:ext uri="{FF2B5EF4-FFF2-40B4-BE49-F238E27FC236}">
                <a16:creationId xmlns:a16="http://schemas.microsoft.com/office/drawing/2014/main" id="{F6D2A1DD-F3DB-4BE3-829E-215EA1409640}"/>
              </a:ext>
            </a:extLst>
          </p:cNvPr>
          <p:cNvSpPr>
            <a:spLocks xmlns:a="http://schemas.openxmlformats.org/drawingml/2006/main" noGrp="1"/>
          </p:cNvSpPr>
          <p:nvPr/>
        </p:nvSpPr>
        <p:spPr>
          <a:xfrm xmlns:a="http://schemas.openxmlformats.org/drawingml/2006/main">
            <a:off x="5191125" y="3067050"/>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Phân phối phân vùng tới Executor</a:t>
            </a:r>
          </a:p>
        </p:txBody>
      </p:sp>
      <p:sp>
        <p:nvSpPr>
          <p:cNvPr id="7" name="">
            <a:extLst xmlns:a="http://schemas.openxmlformats.org/drawingml/2006/main">
              <a:ext uri="{FF2B5EF4-FFF2-40B4-BE49-F238E27FC236}">
                <a16:creationId xmlns:a16="http://schemas.microsoft.com/office/drawing/2014/main" id="{2B1FD7BF-1669-43EB-A74C-0601E2975983}"/>
              </a:ext>
            </a:extLst>
          </p:cNvPr>
          <p:cNvSpPr>
            <a:spLocks xmlns:a="http://schemas.openxmlformats.org/drawingml/2006/main" noGrp="1"/>
          </p:cNvSpPr>
          <p:nvPr/>
        </p:nvSpPr>
        <p:spPr>
          <a:xfrm xmlns:a="http://schemas.openxmlformats.org/drawingml/2006/main">
            <a:off x="5191125" y="3962400"/>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Chuẩn bị features → fit mô hình phân tán</a:t>
            </a:r>
          </a:p>
        </p:txBody>
      </p:sp>
      <p:sp>
        <p:nvSpPr>
          <p:cNvPr id="9" name="">
            <a:extLst xmlns:a="http://schemas.openxmlformats.org/drawingml/2006/main">
              <a:ext uri="{FF2B5EF4-FFF2-40B4-BE49-F238E27FC236}">
                <a16:creationId xmlns:a16="http://schemas.microsoft.com/office/drawing/2014/main" id="{A8560959-5468-4EE8-AC1C-0BDE3B08268B}"/>
              </a:ext>
            </a:extLst>
          </p:cNvPr>
          <p:cNvSpPr>
            <a:spLocks xmlns:a="http://schemas.openxmlformats.org/drawingml/2006/main" noGrp="1"/>
          </p:cNvSpPr>
          <p:nvPr/>
        </p:nvSpPr>
        <p:spPr>
          <a:xfrm xmlns:a="http://schemas.openxmlformats.org/drawingml/2006/main">
            <a:off x="5191125" y="4857750"/>
            <a:ext cx="6334125" cy="6191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76200" tIns="47625" rIns="7620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Đánh giá → lưu model và metrics</a:t>
            </a:r>
          </a:p>
        </p:txBody>
      </p:sp>
      <p:sp>
        <p:nvSpPr>
          <p:cNvPr id="11" name="">
            <a:extLst xmlns:a="http://schemas.openxmlformats.org/drawingml/2006/main">
              <a:ext uri="{FF2B5EF4-FFF2-40B4-BE49-F238E27FC236}">
                <a16:creationId xmlns:a16="http://schemas.microsoft.com/office/drawing/2014/main" id="{5289319E-F404-480D-B110-82EECB004099}"/>
              </a:ext>
            </a:extLst>
          </p:cNvPr>
          <p:cNvSpPr>
            <a:spLocks xmlns:a="http://schemas.openxmlformats.org/drawingml/2006/main" noGrp="1"/>
          </p:cNvSpPr>
          <p:nvPr/>
        </p:nvSpPr>
        <p:spPr>
          <a:xfrm xmlns:a="http://schemas.openxmlformats.org/drawingml/2006/main">
            <a:off x="571500" y="22288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ETL cluster: Driver đọc khối 1 triệu dòng và ghi Parquet sau toPandas.</a:t>
            </a:r>
          </a:p>
        </p:txBody>
      </p:sp>
      <p:sp>
        <p:nvSpPr>
          <p:cNvPr id="12" name="">
            <a:extLst xmlns:a="http://schemas.openxmlformats.org/drawingml/2006/main">
              <a:ext uri="{FF2B5EF4-FFF2-40B4-BE49-F238E27FC236}">
                <a16:creationId xmlns:a16="http://schemas.microsoft.com/office/drawing/2014/main" id="{81C1D64E-240F-451E-9064-95B8399D169B}"/>
              </a:ext>
            </a:extLst>
          </p:cNvPr>
          <p:cNvSpPr>
            <a:spLocks xmlns:a="http://schemas.openxmlformats.org/drawingml/2006/main" noGrp="1"/>
          </p:cNvSpPr>
          <p:nvPr/>
        </p:nvSpPr>
        <p:spPr>
          <a:xfrm xmlns:a="http://schemas.openxmlformats.org/drawingml/2006/main">
            <a:off x="571500" y="33718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Train: Driver đọc Parquet bằng PyArrow rồi repartition lên Spark.</a:t>
            </a:r>
          </a:p>
        </p:txBody>
      </p:sp>
      <p:sp>
        <p:nvSpPr>
          <p:cNvPr id="13" name="">
            <a:extLst xmlns:a="http://schemas.openxmlformats.org/drawingml/2006/main">
              <a:ext uri="{FF2B5EF4-FFF2-40B4-BE49-F238E27FC236}">
                <a16:creationId xmlns:a16="http://schemas.microsoft.com/office/drawing/2014/main" id="{B07A9ED2-F9CB-471C-A043-D91DDF243FBB}"/>
              </a:ext>
            </a:extLst>
          </p:cNvPr>
          <p:cNvSpPr>
            <a:spLocks xmlns:a="http://schemas.openxmlformats.org/drawingml/2006/main" noGrp="1"/>
          </p:cNvSpPr>
          <p:nvPr/>
        </p:nvSpPr>
        <p:spPr>
          <a:xfrm xmlns:a="http://schemas.openxmlformats.org/drawingml/2006/main">
            <a:off x="571500" y="45148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Nhánh hiện tại mặc định bỏ ETL; bản Git cũ mặc định chạy ETL.</a:t>
            </a:r>
          </a:p>
        </p:txBody>
      </p:sp>
      <p:sp>
        <p:nvSpPr>
          <p:cNvPr id="14" name="">
            <a:extLst xmlns:a="http://schemas.openxmlformats.org/drawingml/2006/main">
              <a:ext uri="{FF2B5EF4-FFF2-40B4-BE49-F238E27FC236}">
                <a16:creationId xmlns:a16="http://schemas.microsoft.com/office/drawing/2014/main" id="{BDDEA61E-B948-485A-B4AE-20D543C0931A}"/>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Sơ đồ run_end_to_end_spark.py. Spark ETL riêng và pipeline.py là các entrypoint khác.</a:t>
            </a:r>
          </a:p>
        </p:txBody>
      </p:sp>
    </p:spTree>
    <p:extLst>
      <p:ext uri="{BB962C8B-B14F-4D97-AF65-F5344CB8AC3E}">
        <p14:creationId xmlns:p14="http://schemas.microsoft.com/office/powerpoint/2010/main" val="1989990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5" name="">
            <a:extLst xmlns:a="http://schemas.openxmlformats.org/drawingml/2006/main">
              <a:ext uri="{FF2B5EF4-FFF2-40B4-BE49-F238E27FC236}">
                <a16:creationId xmlns:a16="http://schemas.microsoft.com/office/drawing/2014/main" id="{1F1FA688-5E4F-4E28-8AF1-3CD56336A73A}"/>
              </a:ext>
            </a:extLst>
          </p:cNvPr>
          <p:cNvCxnSpPr>
            <a:stCxn xmlns:a="http://schemas.openxmlformats.org/drawingml/2006/main" id="7" idx="3"/>
            <a:endCxn xmlns:a="http://schemas.openxmlformats.org/drawingml/2006/main" id="9" idx="1"/>
          </p:cNvCxnSpPr>
          <p:nvPr/>
        </p:nvCxnSpPr>
        <p:spPr>
          <a:xfrm xmlns:a="http://schemas.openxmlformats.org/drawingml/2006/main">
            <a:off x="3143250" y="3643313"/>
            <a:ext cx="857250" cy="857250"/>
          </a:xfrm>
          <a:prstGeom xmlns:a="http://schemas.openxmlformats.org/drawingml/2006/main" prst="bentConnector3">
            <a:avLst>
              <a:gd name="adj1" fmla="val 50000"/>
            </a:avLst>
          </a:prstGeom>
          <a:ln xmlns:a="http://schemas.openxmlformats.org/drawingml/2006/main" w="19050">
            <a:solidFill>
              <a:srgbClr val="2072B7"/>
            </a:solidFill>
            <a:prstDash val="dash"/>
            <a:headEnd type="none" w="med" len="med"/>
            <a:tailEnd type="none" w="sm" len="sm"/>
          </a:ln>
        </p:spPr>
      </p:cxnSp>
      <p:cxnSp>
        <p:nvCxnSpPr>
          <p:cNvPr id="24" name="">
            <a:extLst xmlns:a="http://schemas.openxmlformats.org/drawingml/2006/main">
              <a:ext uri="{FF2B5EF4-FFF2-40B4-BE49-F238E27FC236}">
                <a16:creationId xmlns:a16="http://schemas.microsoft.com/office/drawing/2014/main" id="{F887AE13-49AB-464C-A47D-141912CED692}"/>
              </a:ext>
            </a:extLst>
          </p:cNvPr>
          <p:cNvCxnSpPr>
            <a:stCxn xmlns:a="http://schemas.openxmlformats.org/drawingml/2006/main" id="7" idx="3"/>
            <a:endCxn xmlns:a="http://schemas.openxmlformats.org/drawingml/2006/main" id="8" idx="1"/>
          </p:cNvCxnSpPr>
          <p:nvPr/>
        </p:nvCxnSpPr>
        <p:spPr>
          <a:xfrm xmlns:a="http://schemas.openxmlformats.org/drawingml/2006/main" flipV="1">
            <a:off x="3143250" y="2833688"/>
            <a:ext cx="857250" cy="809625"/>
          </a:xfrm>
          <a:prstGeom xmlns:a="http://schemas.openxmlformats.org/drawingml/2006/main" prst="bentConnector3">
            <a:avLst>
              <a:gd name="adj1" fmla="val 50000"/>
            </a:avLst>
          </a:prstGeom>
          <a:ln xmlns:a="http://schemas.openxmlformats.org/drawingml/2006/main" w="19050">
            <a:solidFill>
              <a:srgbClr val="2072B7"/>
            </a:solidFill>
            <a:prstDash val="dash"/>
            <a:headEnd type="none" w="med" len="med"/>
            <a:tailEnd type="none" w="sm" len="sm"/>
          </a:ln>
        </p:spPr>
      </p:cxnSp>
      <p:sp>
        <p:nvSpPr>
          <p:cNvPr id="28" name="">
            <a:extLst xmlns:a="http://schemas.openxmlformats.org/drawingml/2006/main">
              <a:ext uri="{FF2B5EF4-FFF2-40B4-BE49-F238E27FC236}">
                <a16:creationId xmlns:a16="http://schemas.microsoft.com/office/drawing/2014/main" id="{B17A35DE-7A5A-435F-A811-D2CCB012A146}"/>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Cụm ba máy qua Tailscale</a:t>
            </a:r>
          </a:p>
        </p:txBody>
      </p:sp>
      <p:sp>
        <p:nvSpPr>
          <p:cNvPr id="2" name="">
            <a:extLst xmlns:a="http://schemas.openxmlformats.org/drawingml/2006/main">
              <a:ext uri="{FF2B5EF4-FFF2-40B4-BE49-F238E27FC236}">
                <a16:creationId xmlns:a16="http://schemas.microsoft.com/office/drawing/2014/main" id="{259348A3-4C78-4FD7-A834-E9DECCF6FAF2}"/>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Master quản lý tài nguyên, Driver điều phối tác vụ của ứng dụng</a:t>
            </a:r>
          </a:p>
        </p:txBody>
      </p:sp>
      <p:sp>
        <p:nvSpPr>
          <p:cNvPr id="3" name="">
            <a:extLst xmlns:a="http://schemas.openxmlformats.org/drawingml/2006/main">
              <a:ext uri="{FF2B5EF4-FFF2-40B4-BE49-F238E27FC236}">
                <a16:creationId xmlns:a16="http://schemas.microsoft.com/office/drawing/2014/main" id="{3723732B-F5F4-4D1D-8EC2-0C0BB9A89AC6}"/>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65426498-278D-4503-BC95-3891E8C2F49F}"/>
              </a:ext>
            </a:extLst>
          </p:cNvPr>
          <p:cNvSpPr>
            <a:spLocks xmlns:a="http://schemas.openxmlformats.org/drawingml/2006/main" noGrp="1"/>
          </p:cNvSpPr>
          <p:nvPr/>
        </p:nvSpPr>
        <p:spPr>
          <a:xfrm xmlns:a="http://schemas.openxmlformats.org/drawingml/2006/main">
            <a:off x="7620000" y="2238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Master cấp và quản lý tài nguyên trong cụm.</a:t>
            </a:r>
          </a:p>
        </p:txBody>
      </p:sp>
      <p:sp>
        <p:nvSpPr>
          <p:cNvPr id="5" name="">
            <a:extLst xmlns:a="http://schemas.openxmlformats.org/drawingml/2006/main">
              <a:ext uri="{FF2B5EF4-FFF2-40B4-BE49-F238E27FC236}">
                <a16:creationId xmlns:a16="http://schemas.microsoft.com/office/drawing/2014/main" id="{4E1D501B-6DC2-4F45-A5CB-9BAFD64F8746}"/>
              </a:ext>
            </a:extLst>
          </p:cNvPr>
          <p:cNvSpPr>
            <a:spLocks xmlns:a="http://schemas.openxmlformats.org/drawingml/2006/main" noGrp="1"/>
          </p:cNvSpPr>
          <p:nvPr/>
        </p:nvSpPr>
        <p:spPr>
          <a:xfrm xmlns:a="http://schemas.openxmlformats.org/drawingml/2006/main">
            <a:off x="7620000" y="33337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Driver lập kế hoạch, gửi tác vụ và nhận kết quả.</a:t>
            </a:r>
          </a:p>
        </p:txBody>
      </p:sp>
      <p:sp>
        <p:nvSpPr>
          <p:cNvPr id="6" name="">
            <a:extLst xmlns:a="http://schemas.openxmlformats.org/drawingml/2006/main">
              <a:ext uri="{FF2B5EF4-FFF2-40B4-BE49-F238E27FC236}">
                <a16:creationId xmlns:a16="http://schemas.microsoft.com/office/drawing/2014/main" id="{558F6939-ECDE-4202-8CC9-FA5A5E2689ED}"/>
              </a:ext>
            </a:extLst>
          </p:cNvPr>
          <p:cNvSpPr>
            <a:spLocks xmlns:a="http://schemas.openxmlformats.org/drawingml/2006/main" noGrp="1"/>
          </p:cNvSpPr>
          <p:nvPr/>
        </p:nvSpPr>
        <p:spPr>
          <a:xfrm xmlns:a="http://schemas.openxmlformats.org/drawingml/2006/main">
            <a:off x="7620000" y="44291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Executor trong Worker thực thi trên phân vùng dữ liệu.</a:t>
            </a:r>
          </a:p>
        </p:txBody>
      </p:sp>
      <p:sp>
        <p:nvSpPr>
          <p:cNvPr id="7" name="">
            <a:extLst xmlns:a="http://schemas.openxmlformats.org/drawingml/2006/main">
              <a:ext uri="{FF2B5EF4-FFF2-40B4-BE49-F238E27FC236}">
                <a16:creationId xmlns:a16="http://schemas.microsoft.com/office/drawing/2014/main" id="{D3AE9B6A-EF11-40F0-8D77-0A03CF76155C}"/>
              </a:ext>
            </a:extLst>
          </p:cNvPr>
          <p:cNvSpPr>
            <a:spLocks xmlns:a="http://schemas.openxmlformats.org/drawingml/2006/main" noGrp="1"/>
          </p:cNvSpPr>
          <p:nvPr/>
        </p:nvSpPr>
        <p:spPr>
          <a:xfrm xmlns:a="http://schemas.openxmlformats.org/drawingml/2006/main">
            <a:off x="523875" y="2238375"/>
            <a:ext cx="2619375" cy="280987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800">
                <a:solidFill>
                  <a:srgbClr val="202D39"/>
                </a:solidFill>
                <a:latin typeface="Arial"/>
                <a:ea typeface="Arial"/>
                <a:cs typeface="Arial"/>
              </a:defRPr>
            </a:defPPr>
          </a:lstStyle>
          <a:p xmlns:a="http://schemas.openxmlformats.org/drawingml/2006/main">
            <a:r>
              <a:t/>
            </a:r>
          </a:p>
        </p:txBody>
      </p:sp>
      <p:sp>
        <p:nvSpPr>
          <p:cNvPr id="8" name="">
            <a:extLst xmlns:a="http://schemas.openxmlformats.org/drawingml/2006/main">
              <a:ext uri="{FF2B5EF4-FFF2-40B4-BE49-F238E27FC236}">
                <a16:creationId xmlns:a16="http://schemas.microsoft.com/office/drawing/2014/main" id="{61D62EA7-DAD8-474C-BB68-4416B760C411}"/>
              </a:ext>
            </a:extLst>
          </p:cNvPr>
          <p:cNvSpPr>
            <a:spLocks xmlns:a="http://schemas.openxmlformats.org/drawingml/2006/main" noGrp="1"/>
          </p:cNvSpPr>
          <p:nvPr/>
        </p:nvSpPr>
        <p:spPr>
          <a:xfrm xmlns:a="http://schemas.openxmlformats.org/drawingml/2006/main">
            <a:off x="4000500" y="2238375"/>
            <a:ext cx="2952750" cy="11906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800">
                <a:solidFill>
                  <a:srgbClr val="202D39"/>
                </a:solidFill>
                <a:latin typeface="Arial"/>
                <a:ea typeface="Arial"/>
                <a:cs typeface="Arial"/>
              </a:defRPr>
            </a:defPPr>
          </a:lstStyle>
          <a:p xmlns:a="http://schemas.openxmlformats.org/drawingml/2006/main">
            <a:r>
              <a:t/>
            </a:r>
          </a:p>
        </p:txBody>
      </p:sp>
      <p:sp>
        <p:nvSpPr>
          <p:cNvPr id="9" name="">
            <a:extLst xmlns:a="http://schemas.openxmlformats.org/drawingml/2006/main">
              <a:ext uri="{FF2B5EF4-FFF2-40B4-BE49-F238E27FC236}">
                <a16:creationId xmlns:a16="http://schemas.microsoft.com/office/drawing/2014/main" id="{EDC58B7D-E8D9-4B92-BDA5-D13F80576F46}"/>
              </a:ext>
            </a:extLst>
          </p:cNvPr>
          <p:cNvSpPr>
            <a:spLocks xmlns:a="http://schemas.openxmlformats.org/drawingml/2006/main" noGrp="1"/>
          </p:cNvSpPr>
          <p:nvPr/>
        </p:nvSpPr>
        <p:spPr>
          <a:xfrm xmlns:a="http://schemas.openxmlformats.org/drawingml/2006/main">
            <a:off x="4000500" y="3905250"/>
            <a:ext cx="2952750" cy="11906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800">
                <a:solidFill>
                  <a:srgbClr val="202D39"/>
                </a:solidFill>
                <a:latin typeface="Arial"/>
                <a:ea typeface="Arial"/>
                <a:cs typeface="Arial"/>
              </a:defRPr>
            </a:defPPr>
          </a:lstStyle>
          <a:p xmlns:a="http://schemas.openxmlformats.org/drawingml/2006/main">
            <a:r>
              <a:t/>
            </a:r>
          </a:p>
        </p:txBody>
      </p:sp>
      <p:sp>
        <p:nvSpPr>
          <p:cNvPr id="10" name="">
            <a:extLst xmlns:a="http://schemas.openxmlformats.org/drawingml/2006/main">
              <a:ext uri="{FF2B5EF4-FFF2-40B4-BE49-F238E27FC236}">
                <a16:creationId xmlns:a16="http://schemas.microsoft.com/office/drawing/2014/main" id="{99CCE52C-89A6-49F0-B3A8-FA6FA58BE189}"/>
              </a:ext>
            </a:extLst>
          </p:cNvPr>
          <p:cNvSpPr>
            <a:spLocks xmlns:a="http://schemas.openxmlformats.org/drawingml/2006/main" noGrp="1"/>
          </p:cNvSpPr>
          <p:nvPr/>
        </p:nvSpPr>
        <p:spPr>
          <a:xfrm xmlns:a="http://schemas.openxmlformats.org/drawingml/2006/main">
            <a:off x="695325" y="237172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072B7"/>
                </a:solidFill>
                <a:latin typeface="Arial"/>
                <a:ea typeface="Arial"/>
                <a:cs typeface="Arial"/>
              </a:defRPr>
            </a:defPPr>
          </a:lstStyle>
          <a:p xmlns:a="http://schemas.openxmlformats.org/drawingml/2006/main">
            <a:pPr>
              <a:buNone/>
              <a:defRPr sz="1800" b="1">
                <a:solidFill>
                  <a:srgbClr val="2072B7"/>
                </a:solidFill>
                <a:latin typeface="Arial"/>
                <a:ea typeface="Arial"/>
                <a:cs typeface="Arial"/>
              </a:defRPr>
            </a:pPr>
            <a:r>
              <a:rPr sz="1800" b="1">
                <a:solidFill>
                  <a:srgbClr val="2072B7"/>
                </a:solidFill>
                <a:latin typeface="Arial"/>
                <a:ea typeface="Arial"/>
                <a:cs typeface="Arial"/>
              </a:rPr>
              <a:t>MÁY 1</a:t>
            </a:r>
          </a:p>
        </p:txBody>
      </p:sp>
      <p:sp>
        <p:nvSpPr>
          <p:cNvPr id="11" name="">
            <a:extLst xmlns:a="http://schemas.openxmlformats.org/drawingml/2006/main">
              <a:ext uri="{FF2B5EF4-FFF2-40B4-BE49-F238E27FC236}">
                <a16:creationId xmlns:a16="http://schemas.microsoft.com/office/drawing/2014/main" id="{12B3A6C3-6B6D-47B7-93E8-9323E3CAC303}"/>
              </a:ext>
            </a:extLst>
          </p:cNvPr>
          <p:cNvSpPr>
            <a:spLocks xmlns:a="http://schemas.openxmlformats.org/drawingml/2006/main" noGrp="1"/>
          </p:cNvSpPr>
          <p:nvPr/>
        </p:nvSpPr>
        <p:spPr>
          <a:xfrm xmlns:a="http://schemas.openxmlformats.org/drawingml/2006/main">
            <a:off x="685800" y="2790825"/>
            <a:ext cx="2286000" cy="44767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650">
                <a:solidFill>
                  <a:srgbClr val="FFFFFF"/>
                </a:solidFill>
                <a:latin typeface="Arial"/>
                <a:ea typeface="Arial"/>
                <a:cs typeface="Arial"/>
              </a:defRPr>
            </a:defPPr>
          </a:lstStyle>
          <a:p xmlns:a="http://schemas.openxmlformats.org/drawingml/2006/main">
            <a:pPr algn="ctr">
              <a:buNone/>
              <a:defRPr sz="1650">
                <a:solidFill>
                  <a:srgbClr val="FFFFFF"/>
                </a:solidFill>
                <a:latin typeface="Arial"/>
                <a:ea typeface="Arial"/>
                <a:cs typeface="Arial"/>
              </a:defRPr>
            </a:pPr>
            <a:r>
              <a:rPr sz="1650">
                <a:solidFill>
                  <a:srgbClr val="FFFFFF"/>
                </a:solidFill>
                <a:latin typeface="Arial"/>
                <a:ea typeface="Arial"/>
                <a:cs typeface="Arial"/>
              </a:rPr>
              <a:t>Spark Master</a:t>
            </a:r>
          </a:p>
        </p:txBody>
      </p:sp>
      <p:sp>
        <p:nvSpPr>
          <p:cNvPr id="12" name="">
            <a:extLst xmlns:a="http://schemas.openxmlformats.org/drawingml/2006/main">
              <a:ext uri="{FF2B5EF4-FFF2-40B4-BE49-F238E27FC236}">
                <a16:creationId xmlns:a16="http://schemas.microsoft.com/office/drawing/2014/main" id="{5DFD4A17-90AB-41CB-9A48-EF80B0C354C4}"/>
              </a:ext>
            </a:extLst>
          </p:cNvPr>
          <p:cNvSpPr>
            <a:spLocks xmlns:a="http://schemas.openxmlformats.org/drawingml/2006/main" noGrp="1"/>
          </p:cNvSpPr>
          <p:nvPr/>
        </p:nvSpPr>
        <p:spPr>
          <a:xfrm xmlns:a="http://schemas.openxmlformats.org/drawingml/2006/main">
            <a:off x="685800" y="3371850"/>
            <a:ext cx="2286000" cy="447675"/>
          </a:xfrm>
          <a:prstGeom xmlns:a="http://schemas.openxmlformats.org/drawingml/2006/main" prst="rect">
            <a:avLst/>
          </a:prstGeom>
          <a:solidFill xmlns:a="http://schemas.openxmlformats.org/drawingml/2006/main">
            <a:srgbClr val="174C7E"/>
          </a:solidFill>
          <a:ln xmlns:a="http://schemas.openxmlformats.org/drawingml/2006/main" w="9525">
            <a:solidFill>
              <a:srgbClr val="174C7E"/>
            </a:solidFill>
          </a:ln>
        </p:spPr>
        <p:txBody>
          <a:bodyPr xmlns:a="http://schemas.openxmlformats.org/drawingml/2006/main" lIns="95250" tIns="47625" rIns="95250" bIns="47625" anchor="ctr"/>
          <a:lstStyle xmlns:a="http://schemas.openxmlformats.org/drawingml/2006/main">
            <a:defPPr algn="ctr">
              <a:defRPr sz="1650">
                <a:solidFill>
                  <a:srgbClr val="FFFFFF"/>
                </a:solidFill>
                <a:latin typeface="Arial"/>
                <a:ea typeface="Arial"/>
                <a:cs typeface="Arial"/>
              </a:defRPr>
            </a:defPPr>
          </a:lstStyle>
          <a:p xmlns:a="http://schemas.openxmlformats.org/drawingml/2006/main">
            <a:pPr algn="ctr">
              <a:buNone/>
              <a:defRPr sz="1650">
                <a:solidFill>
                  <a:srgbClr val="FFFFFF"/>
                </a:solidFill>
                <a:latin typeface="Arial"/>
                <a:ea typeface="Arial"/>
                <a:cs typeface="Arial"/>
              </a:defRPr>
            </a:pPr>
            <a:r>
              <a:rPr sz="1650">
                <a:solidFill>
                  <a:srgbClr val="FFFFFF"/>
                </a:solidFill>
                <a:latin typeface="Arial"/>
                <a:ea typeface="Arial"/>
                <a:cs typeface="Arial"/>
              </a:rPr>
              <a:t>Driver</a:t>
            </a:r>
          </a:p>
        </p:txBody>
      </p:sp>
      <p:sp>
        <p:nvSpPr>
          <p:cNvPr id="13" name="">
            <a:extLst xmlns:a="http://schemas.openxmlformats.org/drawingml/2006/main">
              <a:ext uri="{FF2B5EF4-FFF2-40B4-BE49-F238E27FC236}">
                <a16:creationId xmlns:a16="http://schemas.microsoft.com/office/drawing/2014/main" id="{DC501A47-646B-4E8F-ACE7-34E77DF8B4FB}"/>
              </a:ext>
            </a:extLst>
          </p:cNvPr>
          <p:cNvSpPr>
            <a:spLocks xmlns:a="http://schemas.openxmlformats.org/drawingml/2006/main" noGrp="1"/>
          </p:cNvSpPr>
          <p:nvPr/>
        </p:nvSpPr>
        <p:spPr>
          <a:xfrm xmlns:a="http://schemas.openxmlformats.org/drawingml/2006/main">
            <a:off x="685800" y="3952875"/>
            <a:ext cx="2286000" cy="89535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r>
              <a:t/>
            </a:r>
          </a:p>
        </p:txBody>
      </p:sp>
      <p:sp>
        <p:nvSpPr>
          <p:cNvPr id="14" name="">
            <a:extLst xmlns:a="http://schemas.openxmlformats.org/drawingml/2006/main">
              <a:ext uri="{FF2B5EF4-FFF2-40B4-BE49-F238E27FC236}">
                <a16:creationId xmlns:a16="http://schemas.microsoft.com/office/drawing/2014/main" id="{D636C21C-3A78-458D-8621-A4580895CA2E}"/>
              </a:ext>
            </a:extLst>
          </p:cNvPr>
          <p:cNvSpPr>
            <a:spLocks xmlns:a="http://schemas.openxmlformats.org/drawingml/2006/main" noGrp="1"/>
          </p:cNvSpPr>
          <p:nvPr/>
        </p:nvSpPr>
        <p:spPr>
          <a:xfrm xmlns:a="http://schemas.openxmlformats.org/drawingml/2006/main">
            <a:off x="828675" y="4029075"/>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2B7"/>
                </a:solidFill>
                <a:latin typeface="Arial"/>
                <a:ea typeface="Arial"/>
                <a:cs typeface="Arial"/>
              </a:defRPr>
            </a:defPPr>
          </a:lstStyle>
          <a:p xmlns:a="http://schemas.openxmlformats.org/drawingml/2006/main">
            <a:pPr>
              <a:buNone/>
              <a:defRPr sz="1650" b="1">
                <a:solidFill>
                  <a:srgbClr val="2072B7"/>
                </a:solidFill>
                <a:latin typeface="Arial"/>
                <a:ea typeface="Arial"/>
                <a:cs typeface="Arial"/>
              </a:defRPr>
            </a:pPr>
            <a:r>
              <a:rPr sz="1650" b="1">
                <a:solidFill>
                  <a:srgbClr val="2072B7"/>
                </a:solidFill>
                <a:latin typeface="Arial"/>
                <a:ea typeface="Arial"/>
                <a:cs typeface="Arial"/>
              </a:rPr>
              <a:t>Worker 1</a:t>
            </a:r>
          </a:p>
        </p:txBody>
      </p:sp>
      <p:sp>
        <p:nvSpPr>
          <p:cNvPr id="15" name="">
            <a:extLst xmlns:a="http://schemas.openxmlformats.org/drawingml/2006/main">
              <a:ext uri="{FF2B5EF4-FFF2-40B4-BE49-F238E27FC236}">
                <a16:creationId xmlns:a16="http://schemas.microsoft.com/office/drawing/2014/main" id="{301F48BE-1DC7-43DB-8317-E3ADF132184A}"/>
              </a:ext>
            </a:extLst>
          </p:cNvPr>
          <p:cNvSpPr>
            <a:spLocks xmlns:a="http://schemas.openxmlformats.org/drawingml/2006/main" noGrp="1"/>
          </p:cNvSpPr>
          <p:nvPr/>
        </p:nvSpPr>
        <p:spPr>
          <a:xfrm xmlns:a="http://schemas.openxmlformats.org/drawingml/2006/main">
            <a:off x="828675" y="4362450"/>
            <a:ext cx="2000250" cy="3429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575">
                <a:solidFill>
                  <a:srgbClr val="FFFFFF"/>
                </a:solidFill>
                <a:latin typeface="Arial"/>
                <a:ea typeface="Arial"/>
                <a:cs typeface="Arial"/>
              </a:defRPr>
            </a:defPPr>
          </a:lstStyle>
          <a:p xmlns:a="http://schemas.openxmlformats.org/drawingml/2006/main">
            <a:pPr algn="ctr">
              <a:buNone/>
              <a:defRPr sz="1575">
                <a:solidFill>
                  <a:srgbClr val="FFFFFF"/>
                </a:solidFill>
                <a:latin typeface="Arial"/>
                <a:ea typeface="Arial"/>
                <a:cs typeface="Arial"/>
              </a:defRPr>
            </a:pPr>
            <a:r>
              <a:rPr sz="1575">
                <a:solidFill>
                  <a:srgbClr val="FFFFFF"/>
                </a:solidFill>
                <a:latin typeface="Arial"/>
                <a:ea typeface="Arial"/>
                <a:cs typeface="Arial"/>
              </a:rPr>
              <a:t>Executor</a:t>
            </a:r>
          </a:p>
        </p:txBody>
      </p:sp>
      <p:sp>
        <p:nvSpPr>
          <p:cNvPr id="16" name="">
            <a:extLst xmlns:a="http://schemas.openxmlformats.org/drawingml/2006/main">
              <a:ext uri="{FF2B5EF4-FFF2-40B4-BE49-F238E27FC236}">
                <a16:creationId xmlns:a16="http://schemas.microsoft.com/office/drawing/2014/main" id="{EB52A5F5-E5E7-43EB-8332-4C5E98F568D3}"/>
              </a:ext>
            </a:extLst>
          </p:cNvPr>
          <p:cNvSpPr>
            <a:spLocks xmlns:a="http://schemas.openxmlformats.org/drawingml/2006/main" noGrp="1"/>
          </p:cNvSpPr>
          <p:nvPr/>
        </p:nvSpPr>
        <p:spPr>
          <a:xfrm xmlns:a="http://schemas.openxmlformats.org/drawingml/2006/main">
            <a:off x="4162425" y="233362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2B7"/>
                </a:solidFill>
                <a:latin typeface="Arial"/>
                <a:ea typeface="Arial"/>
                <a:cs typeface="Arial"/>
              </a:defRPr>
            </a:defPPr>
          </a:lstStyle>
          <a:p xmlns:a="http://schemas.openxmlformats.org/drawingml/2006/main">
            <a:pPr>
              <a:buNone/>
              <a:defRPr sz="1725" b="1">
                <a:solidFill>
                  <a:srgbClr val="2072B7"/>
                </a:solidFill>
                <a:latin typeface="Arial"/>
                <a:ea typeface="Arial"/>
                <a:cs typeface="Arial"/>
              </a:defRPr>
            </a:pPr>
            <a:r>
              <a:rPr sz="1725" b="1">
                <a:solidFill>
                  <a:srgbClr val="2072B7"/>
                </a:solidFill>
                <a:latin typeface="Arial"/>
                <a:ea typeface="Arial"/>
                <a:cs typeface="Arial"/>
              </a:rPr>
              <a:t>MÁY 2</a:t>
            </a:r>
          </a:p>
        </p:txBody>
      </p:sp>
      <p:sp>
        <p:nvSpPr>
          <p:cNvPr id="17" name="">
            <a:extLst xmlns:a="http://schemas.openxmlformats.org/drawingml/2006/main">
              <a:ext uri="{FF2B5EF4-FFF2-40B4-BE49-F238E27FC236}">
                <a16:creationId xmlns:a16="http://schemas.microsoft.com/office/drawing/2014/main" id="{D2305457-347E-4F0C-9D3F-F13D0DDB783B}"/>
              </a:ext>
            </a:extLst>
          </p:cNvPr>
          <p:cNvSpPr>
            <a:spLocks xmlns:a="http://schemas.openxmlformats.org/drawingml/2006/main" noGrp="1"/>
          </p:cNvSpPr>
          <p:nvPr/>
        </p:nvSpPr>
        <p:spPr>
          <a:xfrm xmlns:a="http://schemas.openxmlformats.org/drawingml/2006/main">
            <a:off x="4162425" y="2647950"/>
            <a:ext cx="2628900" cy="6572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r>
              <a:t/>
            </a:r>
          </a:p>
        </p:txBody>
      </p:sp>
      <p:sp>
        <p:nvSpPr>
          <p:cNvPr id="18" name="">
            <a:extLst xmlns:a="http://schemas.openxmlformats.org/drawingml/2006/main">
              <a:ext uri="{FF2B5EF4-FFF2-40B4-BE49-F238E27FC236}">
                <a16:creationId xmlns:a16="http://schemas.microsoft.com/office/drawing/2014/main" id="{86923D07-7E66-4C9A-8C61-79B60039446B}"/>
              </a:ext>
            </a:extLst>
          </p:cNvPr>
          <p:cNvSpPr>
            <a:spLocks xmlns:a="http://schemas.openxmlformats.org/drawingml/2006/main" noGrp="1"/>
          </p:cNvSpPr>
          <p:nvPr/>
        </p:nvSpPr>
        <p:spPr>
          <a:xfrm xmlns:a="http://schemas.openxmlformats.org/drawingml/2006/main">
            <a:off x="4352925" y="267652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2072B7"/>
                </a:solidFill>
                <a:latin typeface="Arial"/>
                <a:ea typeface="Arial"/>
                <a:cs typeface="Arial"/>
              </a:defRPr>
            </a:defPPr>
          </a:lstStyle>
          <a:p xmlns:a="http://schemas.openxmlformats.org/drawingml/2006/main">
            <a:pPr>
              <a:buNone/>
              <a:defRPr sz="1575" b="1">
                <a:solidFill>
                  <a:srgbClr val="2072B7"/>
                </a:solidFill>
                <a:latin typeface="Arial"/>
                <a:ea typeface="Arial"/>
                <a:cs typeface="Arial"/>
              </a:defRPr>
            </a:pPr>
            <a:r>
              <a:rPr sz="1575" b="1">
                <a:solidFill>
                  <a:srgbClr val="2072B7"/>
                </a:solidFill>
                <a:latin typeface="Arial"/>
                <a:ea typeface="Arial"/>
                <a:cs typeface="Arial"/>
              </a:rPr>
              <a:t>Worker 2</a:t>
            </a:r>
          </a:p>
        </p:txBody>
      </p:sp>
      <p:sp>
        <p:nvSpPr>
          <p:cNvPr id="19" name="">
            <a:extLst xmlns:a="http://schemas.openxmlformats.org/drawingml/2006/main">
              <a:ext uri="{FF2B5EF4-FFF2-40B4-BE49-F238E27FC236}">
                <a16:creationId xmlns:a16="http://schemas.microsoft.com/office/drawing/2014/main" id="{9EDA942B-B634-46A2-8FCF-49A6A3FFDC1A}"/>
              </a:ext>
            </a:extLst>
          </p:cNvPr>
          <p:cNvSpPr>
            <a:spLocks xmlns:a="http://schemas.openxmlformats.org/drawingml/2006/main" noGrp="1"/>
          </p:cNvSpPr>
          <p:nvPr/>
        </p:nvSpPr>
        <p:spPr>
          <a:xfrm xmlns:a="http://schemas.openxmlformats.org/drawingml/2006/main">
            <a:off x="4352925" y="2962275"/>
            <a:ext cx="2247900" cy="2857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500">
                <a:solidFill>
                  <a:srgbClr val="FFFFFF"/>
                </a:solidFill>
                <a:latin typeface="Arial"/>
                <a:ea typeface="Arial"/>
                <a:cs typeface="Arial"/>
              </a:defRPr>
            </a:defPPr>
          </a:lstStyle>
          <a:p xmlns:a="http://schemas.openxmlformats.org/drawingml/2006/main">
            <a:pPr algn="ctr">
              <a:buNone/>
              <a:defRPr sz="1500">
                <a:solidFill>
                  <a:srgbClr val="FFFFFF"/>
                </a:solidFill>
                <a:latin typeface="Arial"/>
                <a:ea typeface="Arial"/>
                <a:cs typeface="Arial"/>
              </a:defRPr>
            </a:pPr>
            <a:r>
              <a:rPr sz="1500">
                <a:solidFill>
                  <a:srgbClr val="FFFFFF"/>
                </a:solidFill>
                <a:latin typeface="Arial"/>
                <a:ea typeface="Arial"/>
                <a:cs typeface="Arial"/>
              </a:rPr>
              <a:t>Executor</a:t>
            </a:r>
          </a:p>
        </p:txBody>
      </p:sp>
      <p:sp>
        <p:nvSpPr>
          <p:cNvPr id="20" name="">
            <a:extLst xmlns:a="http://schemas.openxmlformats.org/drawingml/2006/main">
              <a:ext uri="{FF2B5EF4-FFF2-40B4-BE49-F238E27FC236}">
                <a16:creationId xmlns:a16="http://schemas.microsoft.com/office/drawing/2014/main" id="{EDF204B1-6EE6-4D8E-80AA-CE8A27BB7216}"/>
              </a:ext>
            </a:extLst>
          </p:cNvPr>
          <p:cNvSpPr>
            <a:spLocks xmlns:a="http://schemas.openxmlformats.org/drawingml/2006/main" noGrp="1"/>
          </p:cNvSpPr>
          <p:nvPr/>
        </p:nvSpPr>
        <p:spPr>
          <a:xfrm xmlns:a="http://schemas.openxmlformats.org/drawingml/2006/main">
            <a:off x="4162425" y="400050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1">
                <a:solidFill>
                  <a:srgbClr val="2072B7"/>
                </a:solidFill>
                <a:latin typeface="Arial"/>
                <a:ea typeface="Arial"/>
                <a:cs typeface="Arial"/>
              </a:defRPr>
            </a:defPPr>
          </a:lstStyle>
          <a:p xmlns:a="http://schemas.openxmlformats.org/drawingml/2006/main">
            <a:pPr>
              <a:buNone/>
              <a:defRPr sz="1725" b="1">
                <a:solidFill>
                  <a:srgbClr val="2072B7"/>
                </a:solidFill>
                <a:latin typeface="Arial"/>
                <a:ea typeface="Arial"/>
                <a:cs typeface="Arial"/>
              </a:defRPr>
            </a:pPr>
            <a:r>
              <a:rPr sz="1725" b="1">
                <a:solidFill>
                  <a:srgbClr val="2072B7"/>
                </a:solidFill>
                <a:latin typeface="Arial"/>
                <a:ea typeface="Arial"/>
                <a:cs typeface="Arial"/>
              </a:rPr>
              <a:t>MÁY 3</a:t>
            </a:r>
          </a:p>
        </p:txBody>
      </p:sp>
      <p:sp>
        <p:nvSpPr>
          <p:cNvPr id="21" name="">
            <a:extLst xmlns:a="http://schemas.openxmlformats.org/drawingml/2006/main">
              <a:ext uri="{FF2B5EF4-FFF2-40B4-BE49-F238E27FC236}">
                <a16:creationId xmlns:a16="http://schemas.microsoft.com/office/drawing/2014/main" id="{14AF1BA2-9B55-4A62-B707-BDB51EDDF13F}"/>
              </a:ext>
            </a:extLst>
          </p:cNvPr>
          <p:cNvSpPr>
            <a:spLocks xmlns:a="http://schemas.openxmlformats.org/drawingml/2006/main" noGrp="1"/>
          </p:cNvSpPr>
          <p:nvPr/>
        </p:nvSpPr>
        <p:spPr>
          <a:xfrm xmlns:a="http://schemas.openxmlformats.org/drawingml/2006/main">
            <a:off x="4162425" y="4314825"/>
            <a:ext cx="2628900" cy="6572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r>
              <a:t/>
            </a:r>
          </a:p>
        </p:txBody>
      </p:sp>
      <p:sp>
        <p:nvSpPr>
          <p:cNvPr id="22" name="">
            <a:extLst xmlns:a="http://schemas.openxmlformats.org/drawingml/2006/main">
              <a:ext uri="{FF2B5EF4-FFF2-40B4-BE49-F238E27FC236}">
                <a16:creationId xmlns:a16="http://schemas.microsoft.com/office/drawing/2014/main" id="{1C42B156-5757-4412-A18C-9CBBD01F7264}"/>
              </a:ext>
            </a:extLst>
          </p:cNvPr>
          <p:cNvSpPr>
            <a:spLocks xmlns:a="http://schemas.openxmlformats.org/drawingml/2006/main" noGrp="1"/>
          </p:cNvSpPr>
          <p:nvPr/>
        </p:nvSpPr>
        <p:spPr>
          <a:xfrm xmlns:a="http://schemas.openxmlformats.org/drawingml/2006/main">
            <a:off x="4352925" y="4343400"/>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1">
                <a:solidFill>
                  <a:srgbClr val="2072B7"/>
                </a:solidFill>
                <a:latin typeface="Arial"/>
                <a:ea typeface="Arial"/>
                <a:cs typeface="Arial"/>
              </a:defRPr>
            </a:defPPr>
          </a:lstStyle>
          <a:p xmlns:a="http://schemas.openxmlformats.org/drawingml/2006/main">
            <a:pPr>
              <a:buNone/>
              <a:defRPr sz="1575" b="1">
                <a:solidFill>
                  <a:srgbClr val="2072B7"/>
                </a:solidFill>
                <a:latin typeface="Arial"/>
                <a:ea typeface="Arial"/>
                <a:cs typeface="Arial"/>
              </a:defRPr>
            </a:pPr>
            <a:r>
              <a:rPr sz="1575" b="1">
                <a:solidFill>
                  <a:srgbClr val="2072B7"/>
                </a:solidFill>
                <a:latin typeface="Arial"/>
                <a:ea typeface="Arial"/>
                <a:cs typeface="Arial"/>
              </a:rPr>
              <a:t>Worker 3</a:t>
            </a:r>
          </a:p>
        </p:txBody>
      </p:sp>
      <p:sp>
        <p:nvSpPr>
          <p:cNvPr id="23" name="">
            <a:extLst xmlns:a="http://schemas.openxmlformats.org/drawingml/2006/main">
              <a:ext uri="{FF2B5EF4-FFF2-40B4-BE49-F238E27FC236}">
                <a16:creationId xmlns:a16="http://schemas.microsoft.com/office/drawing/2014/main" id="{480B3ED4-B576-4F0F-B17C-3CE734AA2DA2}"/>
              </a:ext>
            </a:extLst>
          </p:cNvPr>
          <p:cNvSpPr>
            <a:spLocks xmlns:a="http://schemas.openxmlformats.org/drawingml/2006/main" noGrp="1"/>
          </p:cNvSpPr>
          <p:nvPr/>
        </p:nvSpPr>
        <p:spPr>
          <a:xfrm xmlns:a="http://schemas.openxmlformats.org/drawingml/2006/main">
            <a:off x="4352925" y="4629150"/>
            <a:ext cx="2247900" cy="2857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500">
                <a:solidFill>
                  <a:srgbClr val="FFFFFF"/>
                </a:solidFill>
                <a:latin typeface="Arial"/>
                <a:ea typeface="Arial"/>
                <a:cs typeface="Arial"/>
              </a:defRPr>
            </a:defPPr>
          </a:lstStyle>
          <a:p xmlns:a="http://schemas.openxmlformats.org/drawingml/2006/main">
            <a:pPr algn="ctr">
              <a:buNone/>
              <a:defRPr sz="1500">
                <a:solidFill>
                  <a:srgbClr val="FFFFFF"/>
                </a:solidFill>
                <a:latin typeface="Arial"/>
                <a:ea typeface="Arial"/>
                <a:cs typeface="Arial"/>
              </a:defRPr>
            </a:pPr>
            <a:r>
              <a:rPr sz="1500">
                <a:solidFill>
                  <a:srgbClr val="FFFFFF"/>
                </a:solidFill>
                <a:latin typeface="Arial"/>
                <a:ea typeface="Arial"/>
                <a:cs typeface="Arial"/>
              </a:rPr>
              <a:t>Executor</a:t>
            </a:r>
          </a:p>
        </p:txBody>
      </p:sp>
      <p:sp>
        <p:nvSpPr>
          <p:cNvPr id="26" name="">
            <a:extLst xmlns:a="http://schemas.openxmlformats.org/drawingml/2006/main">
              <a:ext uri="{FF2B5EF4-FFF2-40B4-BE49-F238E27FC236}">
                <a16:creationId xmlns:a16="http://schemas.microsoft.com/office/drawing/2014/main" id="{B780B6B4-FF94-404A-B4FC-B9295A4D5C72}"/>
              </a:ext>
            </a:extLst>
          </p:cNvPr>
          <p:cNvSpPr>
            <a:spLocks xmlns:a="http://schemas.openxmlformats.org/drawingml/2006/main" noGrp="1"/>
          </p:cNvSpPr>
          <p:nvPr/>
        </p:nvSpPr>
        <p:spPr>
          <a:xfrm xmlns:a="http://schemas.openxmlformats.org/drawingml/2006/main">
            <a:off x="3333750" y="523875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2072B7"/>
                </a:solidFill>
                <a:latin typeface="Arial"/>
                <a:ea typeface="Arial"/>
                <a:cs typeface="Arial"/>
              </a:defRPr>
            </a:defPPr>
          </a:lstStyle>
          <a:p xmlns:a="http://schemas.openxmlformats.org/drawingml/2006/main">
            <a:pPr>
              <a:buNone/>
              <a:defRPr sz="1650" b="1">
                <a:solidFill>
                  <a:srgbClr val="2072B7"/>
                </a:solidFill>
                <a:latin typeface="Arial"/>
                <a:ea typeface="Arial"/>
                <a:cs typeface="Arial"/>
              </a:defRPr>
            </a:pPr>
            <a:r>
              <a:rPr sz="1650" b="1">
                <a:solidFill>
                  <a:srgbClr val="2072B7"/>
                </a:solidFill>
                <a:latin typeface="Arial"/>
                <a:ea typeface="Arial"/>
                <a:cs typeface="Arial"/>
              </a:rPr>
              <a:t>Mạng Tailscale</a:t>
            </a:r>
          </a:p>
        </p:txBody>
      </p:sp>
      <p:sp>
        <p:nvSpPr>
          <p:cNvPr id="27" name="">
            <a:extLst xmlns:a="http://schemas.openxmlformats.org/drawingml/2006/main">
              <a:ext uri="{FF2B5EF4-FFF2-40B4-BE49-F238E27FC236}">
                <a16:creationId xmlns:a16="http://schemas.microsoft.com/office/drawing/2014/main" id="{E37B9A3C-6A07-4299-9E1E-455BF1F39FAA}"/>
              </a:ext>
            </a:extLst>
          </p:cNvPr>
          <p:cNvSpPr>
            <a:spLocks xmlns:a="http://schemas.openxmlformats.org/drawingml/2006/main" noGrp="1"/>
          </p:cNvSpPr>
          <p:nvPr/>
        </p:nvSpPr>
        <p:spPr>
          <a:xfrm xmlns:a="http://schemas.openxmlformats.org/drawingml/2006/main">
            <a:off x="523875" y="572452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buNone/>
              <a:defRPr sz="1575" b="0">
                <a:solidFill>
                  <a:srgbClr val="586675"/>
                </a:solidFill>
                <a:latin typeface="Arial"/>
                <a:ea typeface="Arial"/>
                <a:cs typeface="Arial"/>
              </a:defRPr>
            </a:pPr>
            <a:r>
              <a:rPr sz="1575" b="0">
                <a:solidFill>
                  <a:srgbClr val="586675"/>
                </a:solidFill>
                <a:latin typeface="Arial"/>
                <a:ea typeface="Arial"/>
                <a:cs typeface="Arial"/>
              </a:rPr>
              <a:t>Ba máy vật lý. Không bổ sung thông số phần cứng.</a:t>
            </a:r>
          </a:p>
        </p:txBody>
      </p:sp>
    </p:spTree>
    <p:extLst>
      <p:ext uri="{BB962C8B-B14F-4D97-AF65-F5344CB8AC3E}">
        <p14:creationId xmlns:p14="http://schemas.microsoft.com/office/powerpoint/2010/main" val="331935195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C9F714CA-3DB4-4B69-ABD9-9A39EC52B54A}"/>
              </a:ext>
            </a:extLst>
          </p:cNvPr>
          <p:cNvCxnSpPr>
            <a:stCxn xmlns:a="http://schemas.openxmlformats.org/drawingml/2006/main" id="13" idx="2"/>
            <a:endCxn xmlns:a="http://schemas.openxmlformats.org/drawingml/2006/main" id="17" idx="0"/>
          </p:cNvCxnSpPr>
          <p:nvPr/>
        </p:nvCxnSpPr>
        <p:spPr>
          <a:xfrm xmlns:a="http://schemas.openxmlformats.org/drawingml/2006/main">
            <a:off x="8286750" y="4686300"/>
            <a:ext cx="0" cy="5810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6" name="">
            <a:extLst xmlns:a="http://schemas.openxmlformats.org/drawingml/2006/main">
              <a:ext uri="{FF2B5EF4-FFF2-40B4-BE49-F238E27FC236}">
                <a16:creationId xmlns:a16="http://schemas.microsoft.com/office/drawing/2014/main" id="{5C82BE8B-AAC7-47F9-B4A2-A718F2A4054C}"/>
              </a:ext>
            </a:extLst>
          </p:cNvPr>
          <p:cNvCxnSpPr>
            <a:stCxn xmlns:a="http://schemas.openxmlformats.org/drawingml/2006/main" id="9" idx="2"/>
            <a:endCxn xmlns:a="http://schemas.openxmlformats.org/drawingml/2006/main" id="13" idx="0"/>
          </p:cNvCxnSpPr>
          <p:nvPr/>
        </p:nvCxnSpPr>
        <p:spPr>
          <a:xfrm xmlns:a="http://schemas.openxmlformats.org/drawingml/2006/main" flipH="1">
            <a:off x="8286750" y="3676650"/>
            <a:ext cx="2190750" cy="3619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5" name="">
            <a:extLst xmlns:a="http://schemas.openxmlformats.org/drawingml/2006/main">
              <a:ext uri="{FF2B5EF4-FFF2-40B4-BE49-F238E27FC236}">
                <a16:creationId xmlns:a16="http://schemas.microsoft.com/office/drawing/2014/main" id="{5A4829C3-D043-4EE5-AC85-D2592A65B1D7}"/>
              </a:ext>
            </a:extLst>
          </p:cNvPr>
          <p:cNvCxnSpPr>
            <a:stCxn xmlns:a="http://schemas.openxmlformats.org/drawingml/2006/main" id="8" idx="2"/>
            <a:endCxn xmlns:a="http://schemas.openxmlformats.org/drawingml/2006/main" id="13" idx="0"/>
          </p:cNvCxnSpPr>
          <p:nvPr/>
        </p:nvCxnSpPr>
        <p:spPr>
          <a:xfrm xmlns:a="http://schemas.openxmlformats.org/drawingml/2006/main">
            <a:off x="8286750" y="3676650"/>
            <a:ext cx="0" cy="36195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4" name="">
            <a:extLst xmlns:a="http://schemas.openxmlformats.org/drawingml/2006/main">
              <a:ext uri="{FF2B5EF4-FFF2-40B4-BE49-F238E27FC236}">
                <a16:creationId xmlns:a16="http://schemas.microsoft.com/office/drawing/2014/main" id="{783090D2-FEDF-4BBA-A5AB-AD9DEF28F791}"/>
              </a:ext>
            </a:extLst>
          </p:cNvPr>
          <p:cNvCxnSpPr>
            <a:stCxn xmlns:a="http://schemas.openxmlformats.org/drawingml/2006/main" id="7" idx="2"/>
            <a:endCxn xmlns:a="http://schemas.openxmlformats.org/drawingml/2006/main" id="13" idx="0"/>
          </p:cNvCxnSpPr>
          <p:nvPr/>
        </p:nvCxnSpPr>
        <p:spPr>
          <a:xfrm xmlns:a="http://schemas.openxmlformats.org/drawingml/2006/main">
            <a:off x="6096000" y="3676650"/>
            <a:ext cx="2190750" cy="361950"/>
          </a:xfrm>
          <a:prstGeom xmlns:a="http://schemas.openxmlformats.org/drawingml/2006/main" prst="bentConnector4">
            <a:avLst>
              <a:gd name="adj1" fmla="val 0"/>
              <a:gd name="adj2" fmla="val 50000"/>
            </a:avLst>
          </a:prstGeom>
          <a:ln xmlns:a="http://schemas.openxmlformats.org/drawingml/2006/main" w="19050">
            <a:solidFill>
              <a:srgbClr val="2072B7"/>
            </a:solidFill>
            <a:prstDash val="solid"/>
            <a:headEnd type="none" w="med" len="med"/>
            <a:tailEnd type="triangle" w="sm" len="sm"/>
          </a:ln>
        </p:spPr>
      </p:cxnSp>
      <p:cxnSp>
        <p:nvCxnSpPr>
          <p:cNvPr id="12" name="">
            <a:extLst xmlns:a="http://schemas.openxmlformats.org/drawingml/2006/main">
              <a:ext uri="{FF2B5EF4-FFF2-40B4-BE49-F238E27FC236}">
                <a16:creationId xmlns:a16="http://schemas.microsoft.com/office/drawing/2014/main" id="{9785A36F-207C-4E28-8B64-A74A5418CC16}"/>
              </a:ext>
            </a:extLst>
          </p:cNvPr>
          <p:cNvCxnSpPr>
            <a:stCxn xmlns:a="http://schemas.openxmlformats.org/drawingml/2006/main" id="6" idx="2"/>
            <a:endCxn xmlns:a="http://schemas.openxmlformats.org/drawingml/2006/main" id="9" idx="0"/>
          </p:cNvCxnSpPr>
          <p:nvPr/>
        </p:nvCxnSpPr>
        <p:spPr>
          <a:xfrm xmlns:a="http://schemas.openxmlformats.org/drawingml/2006/main">
            <a:off x="10477500" y="2676525"/>
            <a:ext cx="0" cy="30480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DAC5694A-FD60-4754-B519-99753A142680}"/>
              </a:ext>
            </a:extLst>
          </p:cNvPr>
          <p:cNvCxnSpPr>
            <a:stCxn xmlns:a="http://schemas.openxmlformats.org/drawingml/2006/main" id="5" idx="2"/>
            <a:endCxn xmlns:a="http://schemas.openxmlformats.org/drawingml/2006/main" id="8" idx="0"/>
          </p:cNvCxnSpPr>
          <p:nvPr/>
        </p:nvCxnSpPr>
        <p:spPr>
          <a:xfrm xmlns:a="http://schemas.openxmlformats.org/drawingml/2006/main">
            <a:off x="8286750" y="2676525"/>
            <a:ext cx="0" cy="30480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0" name="">
            <a:extLst xmlns:a="http://schemas.openxmlformats.org/drawingml/2006/main">
              <a:ext uri="{FF2B5EF4-FFF2-40B4-BE49-F238E27FC236}">
                <a16:creationId xmlns:a16="http://schemas.microsoft.com/office/drawing/2014/main" id="{003329F1-651A-45E0-A48C-8E67BEBF2C9A}"/>
              </a:ext>
            </a:extLst>
          </p:cNvPr>
          <p:cNvCxnSpPr>
            <a:stCxn xmlns:a="http://schemas.openxmlformats.org/drawingml/2006/main" id="4" idx="2"/>
            <a:endCxn xmlns:a="http://schemas.openxmlformats.org/drawingml/2006/main" id="7" idx="0"/>
          </p:cNvCxnSpPr>
          <p:nvPr/>
        </p:nvCxnSpPr>
        <p:spPr>
          <a:xfrm xmlns:a="http://schemas.openxmlformats.org/drawingml/2006/main">
            <a:off x="6096000" y="2676525"/>
            <a:ext cx="0" cy="304800"/>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22" name="">
            <a:extLst xmlns:a="http://schemas.openxmlformats.org/drawingml/2006/main">
              <a:ext uri="{FF2B5EF4-FFF2-40B4-BE49-F238E27FC236}">
                <a16:creationId xmlns:a16="http://schemas.microsoft.com/office/drawing/2014/main" id="{A2E26EF6-E549-4B38-8B61-28E97A325DCA}"/>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Random Forest phân tán</a:t>
            </a:r>
          </a:p>
        </p:txBody>
      </p:sp>
      <p:sp>
        <p:nvSpPr>
          <p:cNvPr id="2" name="">
            <a:extLst xmlns:a="http://schemas.openxmlformats.org/drawingml/2006/main">
              <a:ext uri="{FF2B5EF4-FFF2-40B4-BE49-F238E27FC236}">
                <a16:creationId xmlns:a16="http://schemas.microsoft.com/office/drawing/2014/main" id="{C610D725-5B55-4CCC-96EE-AAE8F1BD5D58}"/>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Nhiều Executor cùng tính thống kê để xây rừng, không chia một cây cho mỗi máy</a:t>
            </a:r>
          </a:p>
        </p:txBody>
      </p:sp>
      <p:sp>
        <p:nvSpPr>
          <p:cNvPr id="3" name="">
            <a:extLst xmlns:a="http://schemas.openxmlformats.org/drawingml/2006/main">
              <a:ext uri="{FF2B5EF4-FFF2-40B4-BE49-F238E27FC236}">
                <a16:creationId xmlns:a16="http://schemas.microsoft.com/office/drawing/2014/main" id="{0ABA2AE6-3A9C-4D7F-A98B-DA0C1DE07A0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588EEBAA-94D8-4FD8-AAFB-B3C30CAA4FB5}"/>
              </a:ext>
            </a:extLst>
          </p:cNvPr>
          <p:cNvSpPr>
            <a:spLocks xmlns:a="http://schemas.openxmlformats.org/drawingml/2006/main" noGrp="1"/>
          </p:cNvSpPr>
          <p:nvPr/>
        </p:nvSpPr>
        <p:spPr>
          <a:xfrm xmlns:a="http://schemas.openxmlformats.org/drawingml/2006/main">
            <a:off x="5095875" y="2171700"/>
            <a:ext cx="2000250" cy="5048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Phân vùng 1</a:t>
            </a:r>
          </a:p>
        </p:txBody>
      </p:sp>
      <p:sp>
        <p:nvSpPr>
          <p:cNvPr id="5" name="">
            <a:extLst xmlns:a="http://schemas.openxmlformats.org/drawingml/2006/main">
              <a:ext uri="{FF2B5EF4-FFF2-40B4-BE49-F238E27FC236}">
                <a16:creationId xmlns:a16="http://schemas.microsoft.com/office/drawing/2014/main" id="{E1CE8204-E8E1-423D-87EB-68E169981EE2}"/>
              </a:ext>
            </a:extLst>
          </p:cNvPr>
          <p:cNvSpPr>
            <a:spLocks xmlns:a="http://schemas.openxmlformats.org/drawingml/2006/main" noGrp="1"/>
          </p:cNvSpPr>
          <p:nvPr/>
        </p:nvSpPr>
        <p:spPr>
          <a:xfrm xmlns:a="http://schemas.openxmlformats.org/drawingml/2006/main">
            <a:off x="7286625" y="2171700"/>
            <a:ext cx="2000250" cy="5048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Phân vùng 2</a:t>
            </a:r>
          </a:p>
        </p:txBody>
      </p:sp>
      <p:sp>
        <p:nvSpPr>
          <p:cNvPr id="6" name="">
            <a:extLst xmlns:a="http://schemas.openxmlformats.org/drawingml/2006/main">
              <a:ext uri="{FF2B5EF4-FFF2-40B4-BE49-F238E27FC236}">
                <a16:creationId xmlns:a16="http://schemas.microsoft.com/office/drawing/2014/main" id="{A432680F-9B3B-4150-B3EB-16A16DDABEAF}"/>
              </a:ext>
            </a:extLst>
          </p:cNvPr>
          <p:cNvSpPr>
            <a:spLocks xmlns:a="http://schemas.openxmlformats.org/drawingml/2006/main" noGrp="1"/>
          </p:cNvSpPr>
          <p:nvPr/>
        </p:nvSpPr>
        <p:spPr>
          <a:xfrm xmlns:a="http://schemas.openxmlformats.org/drawingml/2006/main">
            <a:off x="9477375" y="2171700"/>
            <a:ext cx="2000250" cy="504825"/>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Phân vùng 3</a:t>
            </a:r>
          </a:p>
        </p:txBody>
      </p:sp>
      <p:sp>
        <p:nvSpPr>
          <p:cNvPr id="7" name="">
            <a:extLst xmlns:a="http://schemas.openxmlformats.org/drawingml/2006/main">
              <a:ext uri="{FF2B5EF4-FFF2-40B4-BE49-F238E27FC236}">
                <a16:creationId xmlns:a16="http://schemas.microsoft.com/office/drawing/2014/main" id="{71D5FC2F-E41E-4020-83E7-2DD62CBEBCF8}"/>
              </a:ext>
            </a:extLst>
          </p:cNvPr>
          <p:cNvSpPr>
            <a:spLocks xmlns:a="http://schemas.openxmlformats.org/drawingml/2006/main" noGrp="1"/>
          </p:cNvSpPr>
          <p:nvPr/>
        </p:nvSpPr>
        <p:spPr>
          <a:xfrm xmlns:a="http://schemas.openxmlformats.org/drawingml/2006/main">
            <a:off x="5095875" y="2981325"/>
            <a:ext cx="2000250" cy="6953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pPr algn="ctr">
              <a:buNone/>
              <a:defRPr sz="1650">
                <a:solidFill>
                  <a:srgbClr val="202D39"/>
                </a:solidFill>
                <a:latin typeface="Arial"/>
                <a:ea typeface="Arial"/>
                <a:cs typeface="Arial"/>
              </a:defRPr>
            </a:pPr>
            <a:r>
              <a:rPr sz="1650">
                <a:solidFill>
                  <a:srgbClr val="202D39"/>
                </a:solidFill>
                <a:latin typeface="Arial"/>
                <a:ea typeface="Arial"/>
                <a:cs typeface="Arial"/>
              </a:rPr>
              <a:t>Executor</a:t>
            </a:r>
          </a:p>
          <a:p xmlns:a="http://schemas.openxmlformats.org/drawingml/2006/main">
            <a:pPr algn="ctr">
              <a:buNone/>
              <a:defRPr sz="1650">
                <a:solidFill>
                  <a:srgbClr val="202D39"/>
                </a:solidFill>
                <a:latin typeface="Arial"/>
                <a:ea typeface="Arial"/>
                <a:cs typeface="Arial"/>
              </a:defRPr>
            </a:pPr>
            <a:r>
              <a:rPr sz="1650">
                <a:solidFill>
                  <a:srgbClr val="202D39"/>
                </a:solidFill>
                <a:latin typeface="Arial"/>
                <a:ea typeface="Arial"/>
                <a:cs typeface="Arial"/>
              </a:rPr>
              <a:t>Thống kê nhãn</a:t>
            </a:r>
          </a:p>
        </p:txBody>
      </p:sp>
      <p:sp>
        <p:nvSpPr>
          <p:cNvPr id="8" name="">
            <a:extLst xmlns:a="http://schemas.openxmlformats.org/drawingml/2006/main">
              <a:ext uri="{FF2B5EF4-FFF2-40B4-BE49-F238E27FC236}">
                <a16:creationId xmlns:a16="http://schemas.microsoft.com/office/drawing/2014/main" id="{EE4CD6D9-2AAA-4B7B-93CD-46FFFCC8E52F}"/>
              </a:ext>
            </a:extLst>
          </p:cNvPr>
          <p:cNvSpPr>
            <a:spLocks xmlns:a="http://schemas.openxmlformats.org/drawingml/2006/main" noGrp="1"/>
          </p:cNvSpPr>
          <p:nvPr/>
        </p:nvSpPr>
        <p:spPr>
          <a:xfrm xmlns:a="http://schemas.openxmlformats.org/drawingml/2006/main">
            <a:off x="7286625" y="2981325"/>
            <a:ext cx="2000250" cy="6953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pPr algn="ctr">
              <a:buNone/>
              <a:defRPr sz="1650">
                <a:solidFill>
                  <a:srgbClr val="202D39"/>
                </a:solidFill>
                <a:latin typeface="Arial"/>
                <a:ea typeface="Arial"/>
                <a:cs typeface="Arial"/>
              </a:defRPr>
            </a:pPr>
            <a:r>
              <a:rPr sz="1650">
                <a:solidFill>
                  <a:srgbClr val="202D39"/>
                </a:solidFill>
                <a:latin typeface="Arial"/>
                <a:ea typeface="Arial"/>
                <a:cs typeface="Arial"/>
              </a:rPr>
              <a:t>Executor</a:t>
            </a:r>
          </a:p>
          <a:p xmlns:a="http://schemas.openxmlformats.org/drawingml/2006/main">
            <a:pPr algn="ctr">
              <a:buNone/>
              <a:defRPr sz="1650">
                <a:solidFill>
                  <a:srgbClr val="202D39"/>
                </a:solidFill>
                <a:latin typeface="Arial"/>
                <a:ea typeface="Arial"/>
                <a:cs typeface="Arial"/>
              </a:defRPr>
            </a:pPr>
            <a:r>
              <a:rPr sz="1650">
                <a:solidFill>
                  <a:srgbClr val="202D39"/>
                </a:solidFill>
                <a:latin typeface="Arial"/>
                <a:ea typeface="Arial"/>
                <a:cs typeface="Arial"/>
              </a:rPr>
              <a:t>Thống kê nhãn</a:t>
            </a:r>
          </a:p>
        </p:txBody>
      </p:sp>
      <p:sp>
        <p:nvSpPr>
          <p:cNvPr id="9" name="">
            <a:extLst xmlns:a="http://schemas.openxmlformats.org/drawingml/2006/main">
              <a:ext uri="{FF2B5EF4-FFF2-40B4-BE49-F238E27FC236}">
                <a16:creationId xmlns:a16="http://schemas.microsoft.com/office/drawing/2014/main" id="{982F5DBF-858F-4EEE-90C9-B4E8392D01FC}"/>
              </a:ext>
            </a:extLst>
          </p:cNvPr>
          <p:cNvSpPr>
            <a:spLocks xmlns:a="http://schemas.openxmlformats.org/drawingml/2006/main" noGrp="1"/>
          </p:cNvSpPr>
          <p:nvPr/>
        </p:nvSpPr>
        <p:spPr>
          <a:xfrm xmlns:a="http://schemas.openxmlformats.org/drawingml/2006/main">
            <a:off x="9477375" y="2981325"/>
            <a:ext cx="2000250" cy="695325"/>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95250" tIns="47625" rIns="9525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pPr algn="ctr">
              <a:buNone/>
              <a:defRPr sz="1650">
                <a:solidFill>
                  <a:srgbClr val="202D39"/>
                </a:solidFill>
                <a:latin typeface="Arial"/>
                <a:ea typeface="Arial"/>
                <a:cs typeface="Arial"/>
              </a:defRPr>
            </a:pPr>
            <a:r>
              <a:rPr sz="1650">
                <a:solidFill>
                  <a:srgbClr val="202D39"/>
                </a:solidFill>
                <a:latin typeface="Arial"/>
                <a:ea typeface="Arial"/>
                <a:cs typeface="Arial"/>
              </a:rPr>
              <a:t>Executor</a:t>
            </a:r>
          </a:p>
          <a:p xmlns:a="http://schemas.openxmlformats.org/drawingml/2006/main">
            <a:pPr algn="ctr">
              <a:buNone/>
              <a:defRPr sz="1650">
                <a:solidFill>
                  <a:srgbClr val="202D39"/>
                </a:solidFill>
                <a:latin typeface="Arial"/>
                <a:ea typeface="Arial"/>
                <a:cs typeface="Arial"/>
              </a:defRPr>
            </a:pPr>
            <a:r>
              <a:rPr sz="1650">
                <a:solidFill>
                  <a:srgbClr val="202D39"/>
                </a:solidFill>
                <a:latin typeface="Arial"/>
                <a:ea typeface="Arial"/>
                <a:cs typeface="Arial"/>
              </a:rPr>
              <a:t>Thống kê nhãn</a:t>
            </a:r>
          </a:p>
        </p:txBody>
      </p:sp>
      <p:sp>
        <p:nvSpPr>
          <p:cNvPr id="13" name="">
            <a:extLst xmlns:a="http://schemas.openxmlformats.org/drawingml/2006/main">
              <a:ext uri="{FF2B5EF4-FFF2-40B4-BE49-F238E27FC236}">
                <a16:creationId xmlns:a16="http://schemas.microsoft.com/office/drawing/2014/main" id="{C0F7CAEB-D913-4E75-95C2-125EA5487205}"/>
              </a:ext>
            </a:extLst>
          </p:cNvPr>
          <p:cNvSpPr>
            <a:spLocks xmlns:a="http://schemas.openxmlformats.org/drawingml/2006/main" noGrp="1"/>
          </p:cNvSpPr>
          <p:nvPr/>
        </p:nvSpPr>
        <p:spPr>
          <a:xfrm xmlns:a="http://schemas.openxmlformats.org/drawingml/2006/main">
            <a:off x="5095875" y="4038600"/>
            <a:ext cx="6381750" cy="6477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Tổng hợp thống kê, chọn điểm chia cho các cây</a:t>
            </a:r>
          </a:p>
        </p:txBody>
      </p:sp>
      <p:sp>
        <p:nvSpPr>
          <p:cNvPr id="17" name="">
            <a:extLst xmlns:a="http://schemas.openxmlformats.org/drawingml/2006/main">
              <a:ext uri="{FF2B5EF4-FFF2-40B4-BE49-F238E27FC236}">
                <a16:creationId xmlns:a16="http://schemas.microsoft.com/office/drawing/2014/main" id="{6999A8B0-69A9-490E-95E4-6060BF392DFF}"/>
              </a:ext>
            </a:extLst>
          </p:cNvPr>
          <p:cNvSpPr>
            <a:spLocks xmlns:a="http://schemas.openxmlformats.org/drawingml/2006/main" noGrp="1"/>
          </p:cNvSpPr>
          <p:nvPr/>
        </p:nvSpPr>
        <p:spPr>
          <a:xfrm xmlns:a="http://schemas.openxmlformats.org/drawingml/2006/main">
            <a:off x="5095875" y="5267325"/>
            <a:ext cx="6381750" cy="64770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Rừng cây dự đoán và bỏ phiếu đa số</a:t>
            </a:r>
          </a:p>
        </p:txBody>
      </p:sp>
      <p:sp>
        <p:nvSpPr>
          <p:cNvPr id="19" name="">
            <a:extLst xmlns:a="http://schemas.openxmlformats.org/drawingml/2006/main">
              <a:ext uri="{FF2B5EF4-FFF2-40B4-BE49-F238E27FC236}">
                <a16:creationId xmlns:a16="http://schemas.microsoft.com/office/drawing/2014/main" id="{B03F1946-C54A-4256-9F23-27EF8EB46084}"/>
              </a:ext>
            </a:extLst>
          </p:cNvPr>
          <p:cNvSpPr>
            <a:spLocks xmlns:a="http://schemas.openxmlformats.org/drawingml/2006/main" noGrp="1"/>
          </p:cNvSpPr>
          <p:nvPr/>
        </p:nvSpPr>
        <p:spPr>
          <a:xfrm xmlns:a="http://schemas.openxmlformats.org/drawingml/2006/main">
            <a:off x="571500" y="2238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Dữ liệu được chia thành nhiều phân vùng.</a:t>
            </a:r>
          </a:p>
        </p:txBody>
      </p:sp>
      <p:sp>
        <p:nvSpPr>
          <p:cNvPr id="20" name="">
            <a:extLst xmlns:a="http://schemas.openxmlformats.org/drawingml/2006/main">
              <a:ext uri="{FF2B5EF4-FFF2-40B4-BE49-F238E27FC236}">
                <a16:creationId xmlns:a16="http://schemas.microsoft.com/office/drawing/2014/main" id="{A0AA17A2-BD08-4DD2-8AD1-99296BE86E6B}"/>
              </a:ext>
            </a:extLst>
          </p:cNvPr>
          <p:cNvSpPr>
            <a:spLocks xmlns:a="http://schemas.openxmlformats.org/drawingml/2006/main" noGrp="1"/>
          </p:cNvSpPr>
          <p:nvPr/>
        </p:nvSpPr>
        <p:spPr>
          <a:xfrm xmlns:a="http://schemas.openxmlformats.org/drawingml/2006/main">
            <a:off x="571500" y="33051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Executor tính thống kê trên phần dữ liệu được giao.</a:t>
            </a:r>
          </a:p>
        </p:txBody>
      </p:sp>
      <p:sp>
        <p:nvSpPr>
          <p:cNvPr id="21" name="">
            <a:extLst xmlns:a="http://schemas.openxmlformats.org/drawingml/2006/main">
              <a:ext uri="{FF2B5EF4-FFF2-40B4-BE49-F238E27FC236}">
                <a16:creationId xmlns:a16="http://schemas.microsoft.com/office/drawing/2014/main" id="{3272134E-2F9C-4337-AA74-24D1FC00E7A8}"/>
              </a:ext>
            </a:extLst>
          </p:cNvPr>
          <p:cNvSpPr>
            <a:spLocks xmlns:a="http://schemas.openxmlformats.org/drawingml/2006/main" noGrp="1"/>
          </p:cNvSpPr>
          <p:nvPr/>
        </p:nvSpPr>
        <p:spPr>
          <a:xfrm xmlns:a="http://schemas.openxmlformats.org/drawingml/2006/main">
            <a:off x="571500" y="43719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Kết hợp thống kê để xây cây. Khi dự đoán, rừng tổng hợp nhãn.</a:t>
            </a:r>
          </a:p>
        </p:txBody>
      </p:sp>
    </p:spTree>
    <p:extLst>
      <p:ext uri="{BB962C8B-B14F-4D97-AF65-F5344CB8AC3E}">
        <p14:creationId xmlns:p14="http://schemas.microsoft.com/office/powerpoint/2010/main" val="33784133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CA2F0CD-627E-41F9-9158-FDE6A118BA82}"/>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Đối chiếu hai nhánh và phạm vi đo</a:t>
            </a:r>
          </a:p>
        </p:txBody>
      </p:sp>
      <p:sp>
        <p:nvSpPr>
          <p:cNvPr id="2" name="">
            <a:extLst xmlns:a="http://schemas.openxmlformats.org/drawingml/2006/main">
              <a:ext uri="{FF2B5EF4-FFF2-40B4-BE49-F238E27FC236}">
                <a16:creationId xmlns:a16="http://schemas.microsoft.com/office/drawing/2014/main" id="{5262CCF9-B089-4620-AD48-5967C8BD8272}"/>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Train chỉ là một đoạn của toàn trình, không gồm mọi bước xử lý</a:t>
            </a:r>
          </a:p>
        </p:txBody>
      </p:sp>
      <p:sp>
        <p:nvSpPr>
          <p:cNvPr id="3" name="">
            <a:extLst xmlns:a="http://schemas.openxmlformats.org/drawingml/2006/main">
              <a:ext uri="{FF2B5EF4-FFF2-40B4-BE49-F238E27FC236}">
                <a16:creationId xmlns:a16="http://schemas.microsoft.com/office/drawing/2014/main" id="{355AA9AB-C016-44C1-943D-3165C68F7E3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B40E68C7-1B77-44C0-A1F3-5B2D185A9788}"/>
              </a:ext>
            </a:extLst>
          </p:cNvPr>
          <p:cNvSpPr>
            <a:spLocks xmlns:a="http://schemas.openxmlformats.org/drawingml/2006/main" noGrp="1"/>
          </p:cNvSpPr>
          <p:nvPr/>
        </p:nvSpPr>
        <p:spPr>
          <a:xfrm xmlns:a="http://schemas.openxmlformats.org/drawingml/2006/main">
            <a:off x="7620000" y="22288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CPU: một máy, nhiều lõi nếu estimator hỗ trợ.</a:t>
            </a:r>
          </a:p>
        </p:txBody>
      </p:sp>
      <p:sp>
        <p:nvSpPr>
          <p:cNvPr id="5" name="">
            <a:extLst xmlns:a="http://schemas.openxmlformats.org/drawingml/2006/main">
              <a:ext uri="{FF2B5EF4-FFF2-40B4-BE49-F238E27FC236}">
                <a16:creationId xmlns:a16="http://schemas.microsoft.com/office/drawing/2014/main" id="{FA745D1D-B0C9-4138-AEEF-43863CADDDC7}"/>
              </a:ext>
            </a:extLst>
          </p:cNvPr>
          <p:cNvSpPr>
            <a:spLocks xmlns:a="http://schemas.openxmlformats.org/drawingml/2006/main" noGrp="1"/>
          </p:cNvSpPr>
          <p:nvPr/>
        </p:nvSpPr>
        <p:spPr>
          <a:xfrm xmlns:a="http://schemas.openxmlformats.org/drawingml/2006/main">
            <a:off x="7620000" y="33432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Spark: Driver điều phối nhiều Executor trong cụm.</a:t>
            </a:r>
          </a:p>
        </p:txBody>
      </p:sp>
      <p:sp>
        <p:nvSpPr>
          <p:cNvPr id="6" name="">
            <a:extLst xmlns:a="http://schemas.openxmlformats.org/drawingml/2006/main">
              <a:ext uri="{FF2B5EF4-FFF2-40B4-BE49-F238E27FC236}">
                <a16:creationId xmlns:a16="http://schemas.microsoft.com/office/drawing/2014/main" id="{AE401462-0B1E-44B8-A6A9-E4ED7254B440}"/>
              </a:ext>
            </a:extLst>
          </p:cNvPr>
          <p:cNvSpPr>
            <a:spLocks xmlns:a="http://schemas.openxmlformats.org/drawingml/2006/main" noGrp="1"/>
          </p:cNvSpPr>
          <p:nvPr/>
        </p:nvSpPr>
        <p:spPr>
          <a:xfrm xmlns:a="http://schemas.openxmlformats.org/drawingml/2006/main">
            <a:off x="7620000" y="44577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Đo fit riêng; đo toàn trình còn gồm nạp, ETL nếu có, đánh giá và lưu.</a:t>
            </a:r>
          </a:p>
        </p:txBody>
      </p:sp>
      <p:graphicFrame>
        <p:nvGraphicFramePr>
          <p:cNvPr id="7" name="">
            <a:extLst xmlns:a="http://schemas.openxmlformats.org/drawingml/2006/main">
              <a:ext uri="{FF2B5EF4-FFF2-40B4-BE49-F238E27FC236}">
                <a16:creationId xmlns:a16="http://schemas.microsoft.com/office/drawing/2014/main" id="{B9272541-04F8-441C-A249-7194C442FC55}"/>
              </a:ext>
            </a:extLst>
          </p:cNvPr>
          <p:cNvGraphicFramePr/>
          <p:nvPr/>
        </p:nvGraphicFramePr>
        <p:xfrm>
          <a:off xmlns:a="http://schemas.openxmlformats.org/drawingml/2006/main" x="523875" y="2228850"/>
          <a:ext xmlns:a="http://schemas.openxmlformats.org/drawingml/2006/main" cx="6572250" cy="3381375"/>
        </p:xfrm>
        <a:graphic xmlns:a="http://schemas.openxmlformats.org/drawingml/2006/main">
          <a:graphicData uri="http://schemas.openxmlformats.org/drawingml/2006/table">
            <a:tbl>
              <a:tblPr/>
              <a:tblGrid>
                <a:gridCol w="1571625"/>
                <a:gridCol w="2333625"/>
                <a:gridCol w="2667000"/>
              </a:tblGrid>
              <a:tr h="676275">
                <a:tc>
                  <a:txBody>
                    <a:bodyPr/>
                    <a:lstStyle/>
                    <a:p>
                      <a:r>
                        <a:rPr sz="1650" b="1">
                          <a:solidFill>
                            <a:srgbClr val="FFFFFF"/>
                          </a:solidFill>
                          <a:latin typeface="Arial"/>
                          <a:ea typeface="Arial"/>
                          <a:cs typeface="Arial"/>
                        </a:rPr>
                        <a:t>Bước</a:t>
                      </a:r>
                    </a:p>
                  </a:txBody>
                  <a:tcPr marL="57150" marR="57150" marT="57150" marB="57150">
                    <a:lnL w="9525">
                      <a:solidFill>
                        <a:srgbClr val="C3D5E4"/>
                      </a:solidFill>
                    </a:lnL>
                    <a:lnR w="9525">
                      <a:solidFill>
                        <a:srgbClr val="C3D5E4"/>
                      </a:solidFill>
                    </a:lnR>
                    <a:lnT w="9525">
                      <a:solidFill>
                        <a:srgbClr val="C3D5E4"/>
                      </a:solidFill>
                    </a:lnT>
                    <a:lnB w="9525">
                      <a:solidFill>
                        <a:srgbClr val="C3D5E4"/>
                      </a:solidFill>
                    </a:lnB>
                    <a:solidFill>
                      <a:srgbClr val="2072B7"/>
                    </a:solidFill>
                  </a:tcPr>
                </a:tc>
                <a:tc>
                  <a:txBody>
                    <a:bodyPr/>
                    <a:lstStyle/>
                    <a:p>
                      <a:r>
                        <a:rPr sz="1650" b="1">
                          <a:solidFill>
                            <a:srgbClr val="FFFFFF"/>
                          </a:solidFill>
                          <a:latin typeface="Arial"/>
                          <a:ea typeface="Arial"/>
                          <a:cs typeface="Arial"/>
                        </a:rPr>
                        <a:t>CPU</a:t>
                      </a:r>
                    </a:p>
                  </a:txBody>
                  <a:tcPr marL="57150" marR="57150" marT="57150" marB="57150">
                    <a:lnR w="9525">
                      <a:solidFill>
                        <a:srgbClr val="C3D5E4"/>
                      </a:solidFill>
                    </a:lnR>
                    <a:lnT w="9525">
                      <a:solidFill>
                        <a:srgbClr val="C3D5E4"/>
                      </a:solidFill>
                    </a:lnT>
                    <a:lnB w="9525">
                      <a:solidFill>
                        <a:srgbClr val="C3D5E4"/>
                      </a:solidFill>
                    </a:lnB>
                    <a:solidFill>
                      <a:srgbClr val="2072B7"/>
                    </a:solidFill>
                  </a:tcPr>
                </a:tc>
                <a:tc>
                  <a:txBody>
                    <a:bodyPr/>
                    <a:lstStyle/>
                    <a:p>
                      <a:r>
                        <a:rPr sz="1650" b="1">
                          <a:solidFill>
                            <a:srgbClr val="FFFFFF"/>
                          </a:solidFill>
                          <a:latin typeface="Arial"/>
                          <a:ea typeface="Arial"/>
                          <a:cs typeface="Arial"/>
                        </a:rPr>
                        <a:t>Spark end-to-end</a:t>
                      </a:r>
                    </a:p>
                  </a:txBody>
                  <a:tcPr marL="57150" marR="57150" marT="57150" marB="57150">
                    <a:lnR w="9525">
                      <a:solidFill>
                        <a:srgbClr val="C3D5E4"/>
                      </a:solidFill>
                    </a:lnR>
                    <a:lnT w="9525">
                      <a:solidFill>
                        <a:srgbClr val="C3D5E4"/>
                      </a:solidFill>
                    </a:lnT>
                    <a:lnB w="9525">
                      <a:solidFill>
                        <a:srgbClr val="C3D5E4"/>
                      </a:solidFill>
                    </a:lnB>
                    <a:solidFill>
                      <a:srgbClr val="2072B7"/>
                    </a:solidFill>
                  </a:tcPr>
                </a:tc>
              </a:tr>
              <a:tr h="676275">
                <a:tc>
                  <a:txBody>
                    <a:bodyPr/>
                    <a:lstStyle/>
                    <a:p>
                      <a:r>
                        <a:rPr sz="1650" b="0">
                          <a:solidFill>
                            <a:srgbClr val="202D39"/>
                          </a:solidFill>
                          <a:latin typeface="Arial"/>
                          <a:ea typeface="Arial"/>
                          <a:cs typeface="Arial"/>
                        </a:rPr>
                        <a:t>Đọc dữ liệu</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Pandas</a:t>
                      </a:r>
                    </a:p>
                  </a:txBody>
                  <a:tcPr marL="57150" marR="57150" marT="57150" marB="57150">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Driver: Pandas/PyArrow</a:t>
                      </a:r>
                    </a:p>
                  </a:txBody>
                  <a:tcPr marL="57150" marR="57150" marT="57150" marB="57150">
                    <a:lnR w="9525">
                      <a:solidFill>
                        <a:srgbClr val="C3D5E4"/>
                      </a:solidFill>
                    </a:lnR>
                    <a:lnB w="9525">
                      <a:solidFill>
                        <a:srgbClr val="C3D5E4"/>
                      </a:solidFill>
                    </a:lnB>
                    <a:solidFill>
                      <a:srgbClr val="EDF5FB"/>
                    </a:solidFill>
                  </a:tcPr>
                </a:tc>
              </a:tr>
              <a:tr h="676275">
                <a:tc>
                  <a:txBody>
                    <a:bodyPr/>
                    <a:lstStyle/>
                    <a:p>
                      <a:r>
                        <a:rPr sz="1650" b="0">
                          <a:solidFill>
                            <a:srgbClr val="202D39"/>
                          </a:solidFill>
                          <a:latin typeface="Arial"/>
                          <a:ea typeface="Arial"/>
                          <a:cs typeface="Arial"/>
                        </a:rPr>
                        <a:t>Chuẩn bị X</a:t>
                      </a:r>
                    </a:p>
                  </a:txBody>
                  <a:tcPr marL="57150" marR="57150" marT="57150" marB="57150">
                    <a:lnL w="9525">
                      <a:solidFill>
                        <a:srgbClr val="C3D5E4"/>
                      </a:solidFill>
                    </a:lnL>
                    <a:lnR w="9525">
                      <a:solidFill>
                        <a:srgbClr val="C3D5E4"/>
                      </a:solidFill>
                    </a:lnR>
                    <a:lnB w="9525">
                      <a:solidFill>
                        <a:srgbClr val="C3D5E4"/>
                      </a:solidFill>
                    </a:lnB>
                    <a:solidFill>
                      <a:srgbClr val="FFFFFF"/>
                    </a:solidFill>
                  </a:tcPr>
                </a:tc>
                <a:tc>
                  <a:txBody>
                    <a:bodyPr/>
                    <a:lstStyle/>
                    <a:p>
                      <a:r>
                        <a:rPr sz="1650" b="0">
                          <a:solidFill>
                            <a:srgbClr val="202D39"/>
                          </a:solidFill>
                          <a:latin typeface="Arial"/>
                          <a:ea typeface="Arial"/>
                          <a:cs typeface="Arial"/>
                        </a:rPr>
                        <a:t>LabelEncoder</a:t>
                      </a:r>
                    </a:p>
                    <a:p>
                      <a:r>
                        <a:rPr sz="1650" b="0">
                          <a:solidFill>
                            <a:srgbClr val="202D39"/>
                          </a:solidFill>
                          <a:latin typeface="Arial"/>
                          <a:ea typeface="Arial"/>
                          <a:cs typeface="Arial"/>
                        </a:rPr>
                        <a:t>float32</a:t>
                      </a:r>
                    </a:p>
                  </a:txBody>
                  <a:tcPr marL="57150" marR="57150" marT="57150" marB="57150">
                    <a:lnR w="9525">
                      <a:solidFill>
                        <a:srgbClr val="C3D5E4"/>
                      </a:solidFill>
                    </a:lnR>
                    <a:lnB w="9525">
                      <a:solidFill>
                        <a:srgbClr val="C3D5E4"/>
                      </a:solidFill>
                    </a:lnB>
                    <a:solidFill>
                      <a:srgbClr val="FFFFFF"/>
                    </a:solidFill>
                  </a:tcPr>
                </a:tc>
                <a:tc>
                  <a:txBody>
                    <a:bodyPr/>
                    <a:lstStyle/>
                    <a:p>
                      <a:r>
                        <a:rPr sz="1650" b="0">
                          <a:solidFill>
                            <a:srgbClr val="202D39"/>
                          </a:solidFill>
                          <a:latin typeface="Arial"/>
                          <a:ea typeface="Arial"/>
                          <a:cs typeface="Arial"/>
                        </a:rPr>
                        <a:t>StringIndexer</a:t>
                      </a:r>
                    </a:p>
                    <a:p>
                      <a:r>
                        <a:rPr sz="1650" b="0">
                          <a:solidFill>
                            <a:srgbClr val="202D39"/>
                          </a:solidFill>
                          <a:latin typeface="Arial"/>
                          <a:ea typeface="Arial"/>
                          <a:cs typeface="Arial"/>
                        </a:rPr>
                        <a:t>VectorAssembler</a:t>
                      </a:r>
                    </a:p>
                  </a:txBody>
                  <a:tcPr marL="57150" marR="57150" marT="57150" marB="57150">
                    <a:lnR w="9525">
                      <a:solidFill>
                        <a:srgbClr val="C3D5E4"/>
                      </a:solidFill>
                    </a:lnR>
                    <a:lnB w="9525">
                      <a:solidFill>
                        <a:srgbClr val="C3D5E4"/>
                      </a:solidFill>
                    </a:lnB>
                    <a:solidFill>
                      <a:srgbClr val="FFFFFF"/>
                    </a:solidFill>
                  </a:tcPr>
                </a:tc>
              </a:tr>
              <a:tr h="676275">
                <a:tc>
                  <a:txBody>
                    <a:bodyPr/>
                    <a:lstStyle/>
                    <a:p>
                      <a:r>
                        <a:rPr sz="1650" b="0">
                          <a:solidFill>
                            <a:srgbClr val="202D39"/>
                          </a:solidFill>
                          <a:latin typeface="Arial"/>
                          <a:ea typeface="Arial"/>
                          <a:cs typeface="Arial"/>
                        </a:rPr>
                        <a:t>Train</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clf.fit</a:t>
                      </a:r>
                    </a:p>
                    <a:p>
                      <a:r>
                        <a:rPr sz="1650" b="0">
                          <a:solidFill>
                            <a:srgbClr val="202D39"/>
                          </a:solidFill>
                          <a:latin typeface="Arial"/>
                          <a:ea typeface="Arial"/>
                          <a:cs typeface="Arial"/>
                        </a:rPr>
                        <a:t>trên một máy</a:t>
                      </a:r>
                    </a:p>
                  </a:txBody>
                  <a:tcPr marL="57150" marR="57150" marT="57150" marB="57150">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estimator.fit</a:t>
                      </a:r>
                    </a:p>
                    <a:p>
                      <a:r>
                        <a:rPr sz="1650" b="0">
                          <a:solidFill>
                            <a:srgbClr val="202D39"/>
                          </a:solidFill>
                          <a:latin typeface="Arial"/>
                          <a:ea typeface="Arial"/>
                          <a:cs typeface="Arial"/>
                        </a:rPr>
                        <a:t>qua Executor</a:t>
                      </a:r>
                    </a:p>
                  </a:txBody>
                  <a:tcPr marL="57150" marR="57150" marT="57150" marB="57150">
                    <a:lnR w="9525">
                      <a:solidFill>
                        <a:srgbClr val="C3D5E4"/>
                      </a:solidFill>
                    </a:lnR>
                    <a:lnB w="9525">
                      <a:solidFill>
                        <a:srgbClr val="C3D5E4"/>
                      </a:solidFill>
                    </a:lnB>
                    <a:solidFill>
                      <a:srgbClr val="EDF5FB"/>
                    </a:solidFill>
                  </a:tcPr>
                </a:tc>
              </a:tr>
              <a:tr h="676275">
                <a:tc>
                  <a:txBody>
                    <a:bodyPr/>
                    <a:lstStyle/>
                    <a:p>
                      <a:r>
                        <a:rPr sz="1650" b="0">
                          <a:solidFill>
                            <a:srgbClr val="202D39"/>
                          </a:solidFill>
                          <a:latin typeface="Arial"/>
                          <a:ea typeface="Arial"/>
                          <a:cs typeface="Arial"/>
                        </a:rPr>
                        <a:t>Đánh giá/lưu</a:t>
                      </a:r>
                    </a:p>
                  </a:txBody>
                  <a:tcPr marL="57150" marR="57150" marT="57150" marB="57150">
                    <a:lnL w="9525">
                      <a:solidFill>
                        <a:srgbClr val="C3D5E4"/>
                      </a:solidFill>
                    </a:lnL>
                    <a:lnR w="9525">
                      <a:solidFill>
                        <a:srgbClr val="C3D5E4"/>
                      </a:solidFill>
                    </a:lnR>
                    <a:lnB w="9525">
                      <a:solidFill>
                        <a:srgbClr val="C3D5E4"/>
                      </a:solidFill>
                    </a:lnB>
                    <a:solidFill>
                      <a:srgbClr val="FFFFFF"/>
                    </a:solidFill>
                  </a:tcPr>
                </a:tc>
                <a:tc>
                  <a:txBody>
                    <a:bodyPr/>
                    <a:lstStyle/>
                    <a:p>
                      <a:r>
                        <a:rPr sz="1650" b="0">
                          <a:solidFill>
                            <a:srgbClr val="202D39"/>
                          </a:solidFill>
                          <a:latin typeface="Arial"/>
                          <a:ea typeface="Arial"/>
                          <a:cs typeface="Arial"/>
                        </a:rPr>
                        <a:t>sklearn, joblib</a:t>
                      </a:r>
                    </a:p>
                    <a:p>
                      <a:r>
                        <a:rPr sz="1650" b="0">
                          <a:solidFill>
                            <a:srgbClr val="202D39"/>
                          </a:solidFill>
                          <a:latin typeface="Arial"/>
                          <a:ea typeface="Arial"/>
                          <a:cs typeface="Arial"/>
                        </a:rPr>
                        <a:t>hình/JSON/CSV</a:t>
                      </a:r>
                    </a:p>
                  </a:txBody>
                  <a:tcPr marL="57150" marR="57150" marT="57150" marB="57150">
                    <a:lnR w="9525">
                      <a:solidFill>
                        <a:srgbClr val="C3D5E4"/>
                      </a:solidFill>
                    </a:lnR>
                    <a:lnB w="9525">
                      <a:solidFill>
                        <a:srgbClr val="C3D5E4"/>
                      </a:solidFill>
                    </a:lnB>
                    <a:solidFill>
                      <a:srgbClr val="FFFFFF"/>
                    </a:solidFill>
                  </a:tcPr>
                </a:tc>
                <a:tc>
                  <a:txBody>
                    <a:bodyPr/>
                    <a:lstStyle/>
                    <a:p>
                      <a:r>
                        <a:rPr sz="1650" b="0">
                          <a:solidFill>
                            <a:srgbClr val="202D39"/>
                          </a:solidFill>
                          <a:latin typeface="Arial"/>
                          <a:ea typeface="Arial"/>
                          <a:cs typeface="Arial"/>
                        </a:rPr>
                        <a:t>Spark evaluator</a:t>
                      </a:r>
                    </a:p>
                    <a:p>
                      <a:r>
                        <a:rPr sz="1650" b="0">
                          <a:solidFill>
                            <a:srgbClr val="202D39"/>
                          </a:solidFill>
                          <a:latin typeface="Arial"/>
                          <a:ea typeface="Arial"/>
                          <a:cs typeface="Arial"/>
                        </a:rPr>
                        <a:t>model/JSON</a:t>
                      </a:r>
                    </a:p>
                  </a:txBody>
                  <a:tcPr marL="57150" marR="57150" marT="57150" marB="57150">
                    <a:lnR w="9525">
                      <a:solidFill>
                        <a:srgbClr val="C3D5E4"/>
                      </a:solidFill>
                    </a:lnR>
                    <a:lnB w="9525">
                      <a:solidFill>
                        <a:srgbClr val="C3D5E4"/>
                      </a:solidFill>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9CE4B49B-C8BC-436C-93DE-FE9A649B92CD}"/>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Dùng wall-clock. Cột pure/network trong bản cũ có ước lượng, không phải đo độc lập.</a:t>
            </a:r>
          </a:p>
        </p:txBody>
      </p:sp>
    </p:spTree>
    <p:extLst>
      <p:ext uri="{BB962C8B-B14F-4D97-AF65-F5344CB8AC3E}">
        <p14:creationId xmlns:p14="http://schemas.microsoft.com/office/powerpoint/2010/main" val="3169863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9349970E-6F37-4E3B-8601-86D7D09454CC}"/>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Tệp và lệnh chạy đã có trong dự án</a:t>
            </a:r>
          </a:p>
        </p:txBody>
      </p:sp>
      <p:sp>
        <p:nvSpPr>
          <p:cNvPr id="2" name="">
            <a:extLst xmlns:a="http://schemas.openxmlformats.org/drawingml/2006/main">
              <a:ext uri="{FF2B5EF4-FFF2-40B4-BE49-F238E27FC236}">
                <a16:creationId xmlns:a16="http://schemas.microsoft.com/office/drawing/2014/main" id="{B257C97E-3070-4043-A8F2-0A0212031BA1}"/>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Chạy từ thư mục gốc dự án, dùng đúng môi trường và dữ liệu</a:t>
            </a:r>
          </a:p>
        </p:txBody>
      </p:sp>
      <p:sp>
        <p:nvSpPr>
          <p:cNvPr id="3" name="">
            <a:extLst xmlns:a="http://schemas.openxmlformats.org/drawingml/2006/main">
              <a:ext uri="{FF2B5EF4-FFF2-40B4-BE49-F238E27FC236}">
                <a16:creationId xmlns:a16="http://schemas.microsoft.com/office/drawing/2014/main" id="{20EB685F-5D08-4ABA-AFF5-3D50F62F4AE7}"/>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72E63BAC-0880-4E72-B8CE-20EE9299AD92}"/>
              </a:ext>
            </a:extLst>
          </p:cNvPr>
          <p:cNvSpPr>
            <a:spLocks xmlns:a="http://schemas.openxmlformats.org/drawingml/2006/main" noGrp="1"/>
          </p:cNvSpPr>
          <p:nvPr/>
        </p:nvSpPr>
        <p:spPr>
          <a:xfrm xmlns:a="http://schemas.openxmlformats.org/drawingml/2006/main">
            <a:off x="571500" y="2238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CPU cần Parquet sạch trước khi huấn luyện.</a:t>
            </a:r>
          </a:p>
        </p:txBody>
      </p:sp>
      <p:sp>
        <p:nvSpPr>
          <p:cNvPr id="5" name="">
            <a:extLst xmlns:a="http://schemas.openxmlformats.org/drawingml/2006/main">
              <a:ext uri="{FF2B5EF4-FFF2-40B4-BE49-F238E27FC236}">
                <a16:creationId xmlns:a16="http://schemas.microsoft.com/office/drawing/2014/main" id="{D0ABF3D3-1F62-44EB-B3A6-C8385E0F2435}"/>
              </a:ext>
            </a:extLst>
          </p:cNvPr>
          <p:cNvSpPr>
            <a:spLocks xmlns:a="http://schemas.openxmlformats.org/drawingml/2006/main" noGrp="1"/>
          </p:cNvSpPr>
          <p:nvPr/>
        </p:nvSpPr>
        <p:spPr>
          <a:xfrm xmlns:a="http://schemas.openxmlformats.org/drawingml/2006/main">
            <a:off x="571500" y="33432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Spark cần Master, ba Worker và môi trường thư viện phù hợp.</a:t>
            </a:r>
          </a:p>
        </p:txBody>
      </p:sp>
      <p:sp>
        <p:nvSpPr>
          <p:cNvPr id="6" name="">
            <a:extLst xmlns:a="http://schemas.openxmlformats.org/drawingml/2006/main">
              <a:ext uri="{FF2B5EF4-FFF2-40B4-BE49-F238E27FC236}">
                <a16:creationId xmlns:a16="http://schemas.microsoft.com/office/drawing/2014/main" id="{23804068-700C-4C4C-AA76-A64A8FA46600}"/>
              </a:ext>
            </a:extLst>
          </p:cNvPr>
          <p:cNvSpPr>
            <a:spLocks xmlns:a="http://schemas.openxmlformats.org/drawingml/2006/main" noGrp="1"/>
          </p:cNvSpPr>
          <p:nvPr/>
        </p:nvSpPr>
        <p:spPr>
          <a:xfrm xmlns:a="http://schemas.openxmlformats.org/drawingml/2006/main">
            <a:off x="571500" y="44481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Lệnh được xác nhận từ script, chưa chứng minh đã dùng nguyên trạng ngày 10/10.</a:t>
            </a:r>
          </a:p>
        </p:txBody>
      </p:sp>
      <p:sp>
        <p:nvSpPr>
          <p:cNvPr id="7" name="">
            <a:extLst xmlns:a="http://schemas.openxmlformats.org/drawingml/2006/main">
              <a:ext uri="{FF2B5EF4-FFF2-40B4-BE49-F238E27FC236}">
                <a16:creationId xmlns:a16="http://schemas.microsoft.com/office/drawing/2014/main" id="{D5BA5C7F-6712-4F42-B11D-7F027B0FEE02}"/>
              </a:ext>
            </a:extLst>
          </p:cNvPr>
          <p:cNvSpPr>
            <a:spLocks xmlns:a="http://schemas.openxmlformats.org/drawingml/2006/main" noGrp="1"/>
          </p:cNvSpPr>
          <p:nvPr/>
        </p:nvSpPr>
        <p:spPr>
          <a:xfrm xmlns:a="http://schemas.openxmlformats.org/drawingml/2006/main">
            <a:off x="5095875" y="2190750"/>
            <a:ext cx="652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2B7"/>
                </a:solidFill>
                <a:latin typeface="Arial"/>
                <a:ea typeface="Arial"/>
                <a:cs typeface="Arial"/>
              </a:defRPr>
            </a:defPPr>
          </a:lstStyle>
          <a:p xmlns:a="http://schemas.openxmlformats.org/drawingml/2006/main">
            <a:pPr>
              <a:defRPr sz="1875" b="1">
                <a:solidFill>
                  <a:srgbClr val="2072B7"/>
                </a:solidFill>
                <a:latin typeface="Arial"/>
                <a:ea typeface="Arial"/>
                <a:cs typeface="Arial"/>
              </a:defRPr>
            </a:pPr>
            <a:r>
              <a:rPr sz="1875" b="1">
                <a:solidFill>
                  <a:srgbClr val="2072B7"/>
                </a:solidFill>
                <a:latin typeface="Arial"/>
                <a:ea typeface="Arial"/>
                <a:cs typeface="Arial"/>
              </a:rPr>
              <a:t>CPU: file BAT đã cung cấp</a:t>
            </a:r>
          </a:p>
        </p:txBody>
      </p:sp>
      <p:sp>
        <p:nvSpPr>
          <p:cNvPr id="8" name="">
            <a:extLst xmlns:a="http://schemas.openxmlformats.org/drawingml/2006/main">
              <a:ext uri="{FF2B5EF4-FFF2-40B4-BE49-F238E27FC236}">
                <a16:creationId xmlns:a16="http://schemas.microsoft.com/office/drawing/2014/main" id="{0C01421D-7798-4A47-AA93-7267BC9EC0D9}"/>
              </a:ext>
            </a:extLst>
          </p:cNvPr>
          <p:cNvSpPr>
            <a:spLocks xmlns:a="http://schemas.openxmlformats.org/drawingml/2006/main" noGrp="1"/>
          </p:cNvSpPr>
          <p:nvPr/>
        </p:nvSpPr>
        <p:spPr>
          <a:xfrm xmlns:a="http://schemas.openxmlformats.org/drawingml/2006/main">
            <a:off x="5095875" y="2647950"/>
            <a:ext cx="6524625" cy="51435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76200" tIns="47625" rIns="76200" bIns="47625" anchor="ctr"/>
          <a:lstStyle xmlns:a="http://schemas.openxmlformats.org/drawingml/2006/main">
            <a:defPPr algn="ctr">
              <a:defRPr sz="1875">
                <a:solidFill>
                  <a:srgbClr val="202D39"/>
                </a:solidFill>
                <a:latin typeface="Arial"/>
                <a:ea typeface="Arial"/>
                <a:cs typeface="Arial"/>
              </a:defRPr>
            </a:defPPr>
          </a:lstStyle>
          <a:p xmlns:a="http://schemas.openxmlformats.org/drawingml/2006/main">
            <a:pPr algn="ctr">
              <a:defRPr sz="1875">
                <a:solidFill>
                  <a:srgbClr val="202D39"/>
                </a:solidFill>
                <a:latin typeface="Arial"/>
                <a:ea typeface="Arial"/>
                <a:cs typeface="Arial"/>
              </a:defRPr>
            </a:pPr>
            <a:r>
              <a:rPr sz="1875">
                <a:solidFill>
                  <a:srgbClr val="202D39"/>
                </a:solidFill>
                <a:latin typeface="Arial"/>
                <a:ea typeface="Arial"/>
                <a:cs typeface="Arial"/>
              </a:rPr>
              <a:t>run_single_machine_cpu.bat</a:t>
            </a:r>
          </a:p>
        </p:txBody>
      </p:sp>
      <p:sp>
        <p:nvSpPr>
          <p:cNvPr id="9" name="">
            <a:extLst xmlns:a="http://schemas.openxmlformats.org/drawingml/2006/main">
              <a:ext uri="{FF2B5EF4-FFF2-40B4-BE49-F238E27FC236}">
                <a16:creationId xmlns:a16="http://schemas.microsoft.com/office/drawing/2014/main" id="{54A27178-5D94-4DDB-88E1-B0FE5553EC55}"/>
              </a:ext>
            </a:extLst>
          </p:cNvPr>
          <p:cNvSpPr>
            <a:spLocks xmlns:a="http://schemas.openxmlformats.org/drawingml/2006/main" noGrp="1"/>
          </p:cNvSpPr>
          <p:nvPr/>
        </p:nvSpPr>
        <p:spPr>
          <a:xfrm xmlns:a="http://schemas.openxmlformats.org/drawingml/2006/main">
            <a:off x="5095875" y="3400425"/>
            <a:ext cx="652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2B7"/>
                </a:solidFill>
                <a:latin typeface="Arial"/>
                <a:ea typeface="Arial"/>
                <a:cs typeface="Arial"/>
              </a:defRPr>
            </a:defPPr>
          </a:lstStyle>
          <a:p xmlns:a="http://schemas.openxmlformats.org/drawingml/2006/main">
            <a:pPr>
              <a:defRPr sz="1875" b="1">
                <a:solidFill>
                  <a:srgbClr val="2072B7"/>
                </a:solidFill>
                <a:latin typeface="Arial"/>
                <a:ea typeface="Arial"/>
                <a:cs typeface="Arial"/>
              </a:defRPr>
            </a:pPr>
            <a:r>
              <a:rPr sz="1875" b="1">
                <a:solidFill>
                  <a:srgbClr val="2072B7"/>
                </a:solidFill>
                <a:latin typeface="Arial"/>
                <a:ea typeface="Arial"/>
                <a:cs typeface="Arial"/>
              </a:rPr>
              <a:t>Bản Git tham chiếu: Spark</a:t>
            </a:r>
          </a:p>
        </p:txBody>
      </p:sp>
      <p:sp>
        <p:nvSpPr>
          <p:cNvPr id="10" name="">
            <a:extLst xmlns:a="http://schemas.openxmlformats.org/drawingml/2006/main">
              <a:ext uri="{FF2B5EF4-FFF2-40B4-BE49-F238E27FC236}">
                <a16:creationId xmlns:a16="http://schemas.microsoft.com/office/drawing/2014/main" id="{2AC1AF25-F5B7-4F7E-AD7E-DA47CDBAF485}"/>
              </a:ext>
            </a:extLst>
          </p:cNvPr>
          <p:cNvSpPr>
            <a:spLocks xmlns:a="http://schemas.openxmlformats.org/drawingml/2006/main" noGrp="1"/>
          </p:cNvSpPr>
          <p:nvPr/>
        </p:nvSpPr>
        <p:spPr>
          <a:xfrm xmlns:a="http://schemas.openxmlformats.org/drawingml/2006/main">
            <a:off x="5095875" y="3800475"/>
            <a:ext cx="6524625" cy="51435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76200" tIns="47625" rIns="76200" bIns="47625" anchor="ctr"/>
          <a:lstStyle xmlns:a="http://schemas.openxmlformats.org/drawingml/2006/main">
            <a:defPPr algn="ctr">
              <a:defRPr sz="1875">
                <a:solidFill>
                  <a:srgbClr val="202D39"/>
                </a:solidFill>
                <a:latin typeface="Arial"/>
                <a:ea typeface="Arial"/>
                <a:cs typeface="Arial"/>
              </a:defRPr>
            </a:defPPr>
          </a:lstStyle>
          <a:p xmlns:a="http://schemas.openxmlformats.org/drawingml/2006/main">
            <a:pPr algn="ctr">
              <a:defRPr sz="1875">
                <a:solidFill>
                  <a:srgbClr val="202D39"/>
                </a:solidFill>
                <a:latin typeface="Arial"/>
                <a:ea typeface="Arial"/>
                <a:cs typeface="Arial"/>
              </a:defRPr>
            </a:pPr>
            <a:r>
              <a:rPr sz="1875">
                <a:solidFill>
                  <a:srgbClr val="202D39"/>
                </a:solidFill>
                <a:latin typeface="Arial"/>
                <a:ea typeface="Arial"/>
                <a:cs typeface="Arial"/>
              </a:rPr>
              <a:t>run_spark_end_to_end.bat</a:t>
            </a:r>
          </a:p>
        </p:txBody>
      </p:sp>
      <p:sp>
        <p:nvSpPr>
          <p:cNvPr id="11" name="">
            <a:extLst xmlns:a="http://schemas.openxmlformats.org/drawingml/2006/main">
              <a:ext uri="{FF2B5EF4-FFF2-40B4-BE49-F238E27FC236}">
                <a16:creationId xmlns:a16="http://schemas.microsoft.com/office/drawing/2014/main" id="{35392D2A-C88F-4546-BC24-8FA797B94EDE}"/>
              </a:ext>
            </a:extLst>
          </p:cNvPr>
          <p:cNvSpPr>
            <a:spLocks xmlns:a="http://schemas.openxmlformats.org/drawingml/2006/main" noGrp="1"/>
          </p:cNvSpPr>
          <p:nvPr/>
        </p:nvSpPr>
        <p:spPr>
          <a:xfrm xmlns:a="http://schemas.openxmlformats.org/drawingml/2006/main">
            <a:off x="5095875" y="4552950"/>
            <a:ext cx="6524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072B7"/>
                </a:solidFill>
                <a:latin typeface="Arial"/>
                <a:ea typeface="Arial"/>
                <a:cs typeface="Arial"/>
              </a:defRPr>
            </a:defPPr>
          </a:lstStyle>
          <a:p xmlns:a="http://schemas.openxmlformats.org/drawingml/2006/main">
            <a:pPr>
              <a:defRPr sz="1875" b="1">
                <a:solidFill>
                  <a:srgbClr val="2072B7"/>
                </a:solidFill>
                <a:latin typeface="Arial"/>
                <a:ea typeface="Arial"/>
                <a:cs typeface="Arial"/>
              </a:defRPr>
            </a:pPr>
            <a:r>
              <a:rPr sz="1875" b="1">
                <a:solidFill>
                  <a:srgbClr val="2072B7"/>
                </a:solidFill>
                <a:latin typeface="Arial"/>
                <a:ea typeface="Arial"/>
                <a:cs typeface="Arial"/>
              </a:rPr>
              <a:t>Code hiện tại: lệnh tương đương</a:t>
            </a:r>
          </a:p>
        </p:txBody>
      </p:sp>
      <p:sp>
        <p:nvSpPr>
          <p:cNvPr id="12" name="">
            <a:extLst xmlns:a="http://schemas.openxmlformats.org/drawingml/2006/main">
              <a:ext uri="{FF2B5EF4-FFF2-40B4-BE49-F238E27FC236}">
                <a16:creationId xmlns:a16="http://schemas.microsoft.com/office/drawing/2014/main" id="{2144D561-C168-40CD-91E2-01D8F5881892}"/>
              </a:ext>
            </a:extLst>
          </p:cNvPr>
          <p:cNvSpPr>
            <a:spLocks xmlns:a="http://schemas.openxmlformats.org/drawingml/2006/main" noGrp="1"/>
          </p:cNvSpPr>
          <p:nvPr/>
        </p:nvSpPr>
        <p:spPr>
          <a:xfrm xmlns:a="http://schemas.openxmlformats.org/drawingml/2006/main">
            <a:off x="5095875" y="4962525"/>
            <a:ext cx="6524625" cy="952500"/>
          </a:xfrm>
          <a:prstGeom xmlns:a="http://schemas.openxmlformats.org/drawingml/2006/main" prst="rect">
            <a:avLst/>
          </a:prstGeom>
          <a:solidFill xmlns:a="http://schemas.openxmlformats.org/drawingml/2006/main">
            <a:srgbClr val="EDF5FB"/>
          </a:solidFill>
          <a:ln xmlns:a="http://schemas.openxmlformats.org/drawingml/2006/main" w="9525">
            <a:solidFill>
              <a:srgbClr val="B9D2E7"/>
            </a:solidFill>
          </a:ln>
        </p:spPr>
        <p:txBody>
          <a:bodyPr xmlns:a="http://schemas.openxmlformats.org/drawingml/2006/main" lIns="76200" tIns="47625" rIns="76200" bIns="47625" anchor="ctr"/>
          <a:lstStyle xmlns:a="http://schemas.openxmlformats.org/drawingml/2006/main">
            <a:defPPr algn="ctr">
              <a:defRPr sz="1650">
                <a:solidFill>
                  <a:srgbClr val="202D39"/>
                </a:solidFill>
                <a:latin typeface="Arial"/>
                <a:ea typeface="Arial"/>
                <a:cs typeface="Arial"/>
              </a:defRPr>
            </a:defPPr>
          </a:lstStyle>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python src/spark_ml/run_end_to_end_spark.py</a:t>
            </a:r>
          </a:p>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--parquet data/cleaned_flight_data_2024.parquet</a:t>
            </a:r>
          </a:p>
          <a:p xmlns:a="http://schemas.openxmlformats.org/drawingml/2006/main">
            <a:pPr algn="ctr">
              <a:defRPr sz="1650">
                <a:solidFill>
                  <a:srgbClr val="202D39"/>
                </a:solidFill>
                <a:latin typeface="Arial"/>
                <a:ea typeface="Arial"/>
                <a:cs typeface="Arial"/>
              </a:defRPr>
            </a:pPr>
            <a:r>
              <a:rPr sz="1650">
                <a:solidFill>
                  <a:srgbClr val="202D39"/>
                </a:solidFill>
                <a:latin typeface="Arial"/>
                <a:ea typeface="Arial"/>
                <a:cs typeface="Arial"/>
              </a:rPr>
              <a:t>--master spark://100.65.205.113:7077</a:t>
            </a:r>
          </a:p>
        </p:txBody>
      </p:sp>
      <p:sp>
        <p:nvSpPr>
          <p:cNvPr id="13" name="">
            <a:extLst xmlns:a="http://schemas.openxmlformats.org/drawingml/2006/main">
              <a:ext uri="{FF2B5EF4-FFF2-40B4-BE49-F238E27FC236}">
                <a16:creationId xmlns:a16="http://schemas.microsoft.com/office/drawing/2014/main" id="{E39D1FC7-ED2D-402B-8348-C6877C73E17B}"/>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Thông số RF của CLI/BAT không được coi là cấu hình lượt 10/10 nếu thiếu log.</a:t>
            </a:r>
          </a:p>
        </p:txBody>
      </p:sp>
    </p:spTree>
    <p:extLst>
      <p:ext uri="{BB962C8B-B14F-4D97-AF65-F5344CB8AC3E}">
        <p14:creationId xmlns:p14="http://schemas.microsoft.com/office/powerpoint/2010/main" val="206007311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BC43FED-F271-41C0-B114-606EFAD38F8A}"/>
              </a:ext>
            </a:extLst>
          </p:cNvPr>
          <p:cNvSpPr>
            <a:spLocks xmlns:a="http://schemas.openxmlformats.org/drawingml/2006/main" noGrp="1"/>
          </p:cNvSpPr>
          <p:nvPr/>
        </p:nvSpPr>
        <p:spPr>
          <a:xfrm xmlns:a="http://schemas.openxmlformats.org/drawingml/2006/main">
            <a:off x="571500" y="990600"/>
            <a:ext cx="11049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defRPr sz="2775" b="1">
                <a:solidFill>
                  <a:srgbClr val="2072B7"/>
                </a:solidFill>
                <a:latin typeface="Arial"/>
                <a:ea typeface="Arial"/>
                <a:cs typeface="Arial"/>
              </a:defRPr>
            </a:pPr>
            <a:r>
              <a:rPr sz="2775" b="1">
                <a:solidFill>
                  <a:srgbClr val="2072B7"/>
                </a:solidFill>
                <a:latin typeface="Arial"/>
                <a:ea typeface="Arial"/>
                <a:cs typeface="Arial"/>
              </a:rPr>
              <a:t>Bản Git và code hiện tại</a:t>
            </a:r>
          </a:p>
        </p:txBody>
      </p:sp>
      <p:sp>
        <p:nvSpPr>
          <p:cNvPr id="2" name="">
            <a:extLst xmlns:a="http://schemas.openxmlformats.org/drawingml/2006/main">
              <a:ext uri="{FF2B5EF4-FFF2-40B4-BE49-F238E27FC236}">
                <a16:creationId xmlns:a16="http://schemas.microsoft.com/office/drawing/2014/main" id="{D7BB55A6-7005-4917-827B-9EF0B820506E}"/>
              </a:ext>
            </a:extLst>
          </p:cNvPr>
          <p:cNvSpPr>
            <a:spLocks xmlns:a="http://schemas.openxmlformats.org/drawingml/2006/main" noGrp="1"/>
          </p:cNvSpPr>
          <p:nvPr/>
        </p:nvSpPr>
        <p:spPr>
          <a:xfrm xmlns:a="http://schemas.openxmlformats.org/drawingml/2006/main">
            <a:off x="571500" y="1581150"/>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defRPr sz="1800" b="1">
                <a:solidFill>
                  <a:srgbClr val="174C7E"/>
                </a:solidFill>
                <a:latin typeface="Arial"/>
                <a:ea typeface="Arial"/>
                <a:cs typeface="Arial"/>
              </a:defRPr>
            </a:pPr>
            <a:r>
              <a:rPr sz="1800" b="1">
                <a:solidFill>
                  <a:srgbClr val="174C7E"/>
                </a:solidFill>
                <a:latin typeface="Arial"/>
                <a:ea typeface="Arial"/>
                <a:cs typeface="Arial"/>
              </a:rPr>
              <a:t>Code giải thích cách triển khai, không thay thế log của lượt thực nghiệm cũ</a:t>
            </a:r>
          </a:p>
        </p:txBody>
      </p:sp>
      <p:sp>
        <p:nvSpPr>
          <p:cNvPr id="3" name="">
            <a:extLst xmlns:a="http://schemas.openxmlformats.org/drawingml/2006/main">
              <a:ext uri="{FF2B5EF4-FFF2-40B4-BE49-F238E27FC236}">
                <a16:creationId xmlns:a16="http://schemas.microsoft.com/office/drawing/2014/main" id="{F0190291-BDAF-4D89-BAC9-DDD09EE84444}"/>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defRPr sz="1275" b="0">
                <a:solidFill>
                  <a:srgbClr val="2072B7"/>
                </a:solidFill>
                <a:latin typeface="Arial"/>
                <a:ea typeface="Arial"/>
                <a:cs typeface="Arial"/>
              </a:defRPr>
            </a:pPr>
            <a:r>
              <a:rPr sz="1275" b="0">
                <a:solidFill>
                  <a:srgbClr val="2072B7"/>
                </a:solidFill>
                <a:latin typeface="Arial"/>
                <a:ea typeface="Arial"/>
                <a:cs typeface="Arial"/>
              </a:rPr>
              <a:t>21</a:t>
            </a:r>
          </a:p>
        </p:txBody>
      </p:sp>
      <p:sp>
        <p:nvSpPr>
          <p:cNvPr id="4" name="">
            <a:extLst xmlns:a="http://schemas.openxmlformats.org/drawingml/2006/main">
              <a:ext uri="{FF2B5EF4-FFF2-40B4-BE49-F238E27FC236}">
                <a16:creationId xmlns:a16="http://schemas.microsoft.com/office/drawing/2014/main" id="{965B21DC-0161-4778-BD20-ED33354EC6C8}"/>
              </a:ext>
            </a:extLst>
          </p:cNvPr>
          <p:cNvSpPr>
            <a:spLocks xmlns:a="http://schemas.openxmlformats.org/drawingml/2006/main" noGrp="1"/>
          </p:cNvSpPr>
          <p:nvPr/>
        </p:nvSpPr>
        <p:spPr>
          <a:xfrm xmlns:a="http://schemas.openxmlformats.org/drawingml/2006/main">
            <a:off x="7620000" y="2238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Commit dca2d78 được tạo sau giờ lưu kết quả Spark ngày 10/10.</a:t>
            </a:r>
          </a:p>
        </p:txBody>
      </p:sp>
      <p:sp>
        <p:nvSpPr>
          <p:cNvPr id="5" name="">
            <a:extLst xmlns:a="http://schemas.openxmlformats.org/drawingml/2006/main">
              <a:ext uri="{FF2B5EF4-FFF2-40B4-BE49-F238E27FC236}">
                <a16:creationId xmlns:a16="http://schemas.microsoft.com/office/drawing/2014/main" id="{41D94B1E-668C-48D7-9EFB-640677197E53}"/>
              </a:ext>
            </a:extLst>
          </p:cNvPr>
          <p:cNvSpPr>
            <a:spLocks xmlns:a="http://schemas.openxmlformats.org/drawingml/2006/main" noGrp="1"/>
          </p:cNvSpPr>
          <p:nvPr/>
        </p:nvSpPr>
        <p:spPr>
          <a:xfrm xmlns:a="http://schemas.openxmlformats.org/drawingml/2006/main">
            <a:off x="7620000" y="33623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Mã hiện tại ngày 13/10 chuyển nhánh Spark thành năm mô hình.</a:t>
            </a:r>
          </a:p>
        </p:txBody>
      </p:sp>
      <p:sp>
        <p:nvSpPr>
          <p:cNvPr id="6" name="">
            <a:extLst xmlns:a="http://schemas.openxmlformats.org/drawingml/2006/main">
              <a:ext uri="{FF2B5EF4-FFF2-40B4-BE49-F238E27FC236}">
                <a16:creationId xmlns:a16="http://schemas.microsoft.com/office/drawing/2014/main" id="{2A2B6F15-E5E7-490A-AFB2-DE52177CDA40}"/>
              </a:ext>
            </a:extLst>
          </p:cNvPr>
          <p:cNvSpPr>
            <a:spLocks xmlns:a="http://schemas.openxmlformats.org/drawingml/2006/main" noGrp="1"/>
          </p:cNvSpPr>
          <p:nvPr/>
        </p:nvSpPr>
        <p:spPr>
          <a:xfrm xmlns:a="http://schemas.openxmlformats.org/drawingml/2006/main">
            <a:off x="7620000" y="44862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defRPr sz="1950" b="0">
                <a:solidFill>
                  <a:srgbClr val="202D39"/>
                </a:solidFill>
                <a:latin typeface="Arial"/>
                <a:ea typeface="Arial"/>
                <a:cs typeface="Arial"/>
              </a:defRPr>
            </a:pPr>
            <a:r>
              <a:rPr sz="1950" b="0">
                <a:solidFill>
                  <a:srgbClr val="202D39"/>
                </a:solidFill>
                <a:latin typeface="Arial"/>
                <a:ea typeface="Arial"/>
                <a:cs typeface="Arial"/>
              </a:rPr>
              <a:t>Phần kết quả giữ sáu CPU và ba Spark thực đo đã xác nhận.</a:t>
            </a:r>
          </a:p>
        </p:txBody>
      </p:sp>
      <p:graphicFrame>
        <p:nvGraphicFramePr>
          <p:cNvPr id="7" name="">
            <a:extLst xmlns:a="http://schemas.openxmlformats.org/drawingml/2006/main">
              <a:ext uri="{FF2B5EF4-FFF2-40B4-BE49-F238E27FC236}">
                <a16:creationId xmlns:a16="http://schemas.microsoft.com/office/drawing/2014/main" id="{80729BBC-6332-4FBC-91B6-442735DB1893}"/>
              </a:ext>
            </a:extLst>
          </p:cNvPr>
          <p:cNvGraphicFramePr/>
          <p:nvPr/>
        </p:nvGraphicFramePr>
        <p:xfrm>
          <a:off xmlns:a="http://schemas.openxmlformats.org/drawingml/2006/main" x="523875" y="2238375"/>
          <a:ext xmlns:a="http://schemas.openxmlformats.org/drawingml/2006/main" cx="6572250" cy="3267075"/>
        </p:xfrm>
        <a:graphic xmlns:a="http://schemas.openxmlformats.org/drawingml/2006/main">
          <a:graphicData uri="http://schemas.openxmlformats.org/drawingml/2006/table">
            <a:tbl>
              <a:tblPr/>
              <a:tblGrid>
                <a:gridCol w="3286125"/>
                <a:gridCol w="3286125"/>
              </a:tblGrid>
              <a:tr h="816769">
                <a:tc>
                  <a:txBody>
                    <a:bodyPr/>
                    <a:lstStyle/>
                    <a:p>
                      <a:r>
                        <a:rPr sz="1650" b="1">
                          <a:solidFill>
                            <a:srgbClr val="FFFFFF"/>
                          </a:solidFill>
                          <a:latin typeface="Arial"/>
                          <a:ea typeface="Arial"/>
                          <a:cs typeface="Arial"/>
                        </a:rPr>
                        <a:t>Bản Git 10/10</a:t>
                      </a:r>
                    </a:p>
                  </a:txBody>
                  <a:tcPr marL="57150" marR="57150" marT="57150" marB="57150">
                    <a:lnL w="9525">
                      <a:solidFill>
                        <a:srgbClr val="C3D5E4"/>
                      </a:solidFill>
                    </a:lnL>
                    <a:lnR w="9525">
                      <a:solidFill>
                        <a:srgbClr val="C3D5E4"/>
                      </a:solidFill>
                    </a:lnR>
                    <a:lnT w="9525">
                      <a:solidFill>
                        <a:srgbClr val="C3D5E4"/>
                      </a:solidFill>
                    </a:lnT>
                    <a:lnB w="9525">
                      <a:solidFill>
                        <a:srgbClr val="C3D5E4"/>
                      </a:solidFill>
                    </a:lnB>
                    <a:solidFill>
                      <a:srgbClr val="2072B7"/>
                    </a:solidFill>
                  </a:tcPr>
                </a:tc>
                <a:tc>
                  <a:txBody>
                    <a:bodyPr/>
                    <a:lstStyle/>
                    <a:p>
                      <a:r>
                        <a:rPr sz="1650" b="1">
                          <a:solidFill>
                            <a:srgbClr val="FFFFFF"/>
                          </a:solidFill>
                          <a:latin typeface="Arial"/>
                          <a:ea typeface="Arial"/>
                          <a:cs typeface="Arial"/>
                        </a:rPr>
                        <a:t>Code hiện tại 13/10</a:t>
                      </a:r>
                    </a:p>
                  </a:txBody>
                  <a:tcPr marL="57150" marR="57150" marT="57150" marB="57150">
                    <a:lnR w="9525">
                      <a:solidFill>
                        <a:srgbClr val="C3D5E4"/>
                      </a:solidFill>
                    </a:lnR>
                    <a:lnT w="9525">
                      <a:solidFill>
                        <a:srgbClr val="C3D5E4"/>
                      </a:solidFill>
                    </a:lnT>
                    <a:lnB w="9525">
                      <a:solidFill>
                        <a:srgbClr val="C3D5E4"/>
                      </a:solidFill>
                    </a:lnB>
                    <a:solidFill>
                      <a:srgbClr val="2072B7"/>
                    </a:solidFill>
                  </a:tcPr>
                </a:tc>
              </a:tr>
              <a:tr h="816769">
                <a:tc>
                  <a:txBody>
                    <a:bodyPr/>
                    <a:lstStyle/>
                    <a:p>
                      <a:r>
                        <a:rPr sz="1650" b="0">
                          <a:solidFill>
                            <a:srgbClr val="202D39"/>
                          </a:solidFill>
                          <a:latin typeface="Arial"/>
                          <a:ea typeface="Arial"/>
                          <a:cs typeface="Arial"/>
                        </a:rPr>
                        <a:t>Tham chiếu gần lượt cũ</a:t>
                      </a:r>
                    </a:p>
                    <a:p>
                      <a:r>
                        <a:rPr sz="1650" b="0">
                          <a:solidFill>
                            <a:srgbClr val="202D39"/>
                          </a:solidFill>
                          <a:latin typeface="Arial"/>
                          <a:ea typeface="Arial"/>
                          <a:cs typeface="Arial"/>
                        </a:rPr>
                        <a:t>Commit sau metrics</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Triển khai đã sửa</a:t>
                      </a:r>
                    </a:p>
                    <a:p>
                      <a:r>
                        <a:rPr sz="1650" b="0">
                          <a:solidFill>
                            <a:srgbClr val="202D39"/>
                          </a:solidFill>
                          <a:latin typeface="Arial"/>
                          <a:ea typeface="Arial"/>
                          <a:cs typeface="Arial"/>
                        </a:rPr>
                        <a:t>Không dùng làm cấu hình cũ</a:t>
                      </a:r>
                    </a:p>
                  </a:txBody>
                  <a:tcPr marL="57150" marR="57150" marT="57150" marB="57150">
                    <a:lnR w="9525">
                      <a:solidFill>
                        <a:srgbClr val="C3D5E4"/>
                      </a:solidFill>
                    </a:lnR>
                    <a:lnB w="9525">
                      <a:solidFill>
                        <a:srgbClr val="C3D5E4"/>
                      </a:solidFill>
                    </a:lnB>
                    <a:solidFill>
                      <a:srgbClr val="EDF5FB"/>
                    </a:solidFill>
                  </a:tcPr>
                </a:tc>
              </a:tr>
              <a:tr h="816769">
                <a:tc>
                  <a:txBody>
                    <a:bodyPr/>
                    <a:lstStyle/>
                    <a:p>
                      <a:r>
                        <a:rPr sz="1650" b="0">
                          <a:solidFill>
                            <a:srgbClr val="202D39"/>
                          </a:solidFill>
                          <a:latin typeface="Arial"/>
                          <a:ea typeface="Arial"/>
                          <a:cs typeface="Arial"/>
                        </a:rPr>
                        <a:t>ETL mặc định bật</a:t>
                      </a:r>
                    </a:p>
                    <a:p>
                      <a:r>
                        <a:rPr sz="1650" b="0">
                          <a:solidFill>
                            <a:srgbClr val="202D39"/>
                          </a:solidFill>
                          <a:latin typeface="Arial"/>
                          <a:ea typeface="Arial"/>
                          <a:cs typeface="Arial"/>
                        </a:rPr>
                        <a:t>RF estimator cứng 10 cây</a:t>
                      </a:r>
                    </a:p>
                  </a:txBody>
                  <a:tcPr marL="57150" marR="57150" marT="57150" marB="57150">
                    <a:lnL w="9525">
                      <a:solidFill>
                        <a:srgbClr val="C3D5E4"/>
                      </a:solidFill>
                    </a:lnL>
                    <a:lnR w="9525">
                      <a:solidFill>
                        <a:srgbClr val="C3D5E4"/>
                      </a:solidFill>
                    </a:lnR>
                    <a:lnB w="9525">
                      <a:solidFill>
                        <a:srgbClr val="C3D5E4"/>
                      </a:solidFill>
                    </a:lnB>
                    <a:solidFill>
                      <a:srgbClr val="FFFFFF"/>
                    </a:solidFill>
                  </a:tcPr>
                </a:tc>
                <a:tc>
                  <a:txBody>
                    <a:bodyPr/>
                    <a:lstStyle/>
                    <a:p>
                      <a:r>
                        <a:rPr sz="1650" b="0">
                          <a:solidFill>
                            <a:srgbClr val="202D39"/>
                          </a:solidFill>
                          <a:latin typeface="Arial"/>
                          <a:ea typeface="Arial"/>
                          <a:cs typeface="Arial"/>
                        </a:rPr>
                        <a:t>ETL mặc định bỏ qua</a:t>
                      </a:r>
                    </a:p>
                    <a:p>
                      <a:r>
                        <a:rPr sz="1650" b="0">
                          <a:solidFill>
                            <a:srgbClr val="202D39"/>
                          </a:solidFill>
                          <a:latin typeface="Arial"/>
                          <a:ea typeface="Arial"/>
                          <a:cs typeface="Arial"/>
                        </a:rPr>
                        <a:t>RF dùng tham số CLI</a:t>
                      </a:r>
                    </a:p>
                  </a:txBody>
                  <a:tcPr marL="57150" marR="57150" marT="57150" marB="57150">
                    <a:lnR w="9525">
                      <a:solidFill>
                        <a:srgbClr val="C3D5E4"/>
                      </a:solidFill>
                    </a:lnR>
                    <a:lnB w="9525">
                      <a:solidFill>
                        <a:srgbClr val="C3D5E4"/>
                      </a:solidFill>
                    </a:lnB>
                    <a:solidFill>
                      <a:srgbClr val="FFFFFF"/>
                    </a:solidFill>
                  </a:tcPr>
                </a:tc>
              </a:tr>
              <a:tr h="816769">
                <a:tc>
                  <a:txBody>
                    <a:bodyPr/>
                    <a:lstStyle/>
                    <a:p>
                      <a:r>
                        <a:rPr sz="1650" b="0">
                          <a:solidFill>
                            <a:srgbClr val="202D39"/>
                          </a:solidFill>
                          <a:latin typeface="Arial"/>
                          <a:ea typeface="Arial"/>
                          <a:cs typeface="Arial"/>
                        </a:rPr>
                        <a:t>Có fallback/gán số</a:t>
                      </a:r>
                    </a:p>
                    <a:p>
                      <a:r>
                        <a:rPr sz="1650" b="0">
                          <a:solidFill>
                            <a:srgbClr val="202D39"/>
                          </a:solidFill>
                          <a:latin typeface="Arial"/>
                          <a:ea typeface="Arial"/>
                          <a:cs typeface="Arial"/>
                        </a:rPr>
                        <a:t>Pure/network có suy diễn</a:t>
                      </a:r>
                    </a:p>
                  </a:txBody>
                  <a:tcPr marL="57150" marR="57150" marT="57150" marB="57150">
                    <a:lnL w="9525">
                      <a:solidFill>
                        <a:srgbClr val="C3D5E4"/>
                      </a:solidFill>
                    </a:lnL>
                    <a:lnR w="9525">
                      <a:solidFill>
                        <a:srgbClr val="C3D5E4"/>
                      </a:solidFill>
                    </a:lnR>
                    <a:lnB w="9525">
                      <a:solidFill>
                        <a:srgbClr val="C3D5E4"/>
                      </a:solidFill>
                    </a:lnB>
                    <a:solidFill>
                      <a:srgbClr val="EDF5FB"/>
                    </a:solidFill>
                  </a:tcPr>
                </a:tc>
                <a:tc>
                  <a:txBody>
                    <a:bodyPr/>
                    <a:lstStyle/>
                    <a:p>
                      <a:r>
                        <a:rPr sz="1650" b="0">
                          <a:solidFill>
                            <a:srgbClr val="202D39"/>
                          </a:solidFill>
                          <a:latin typeface="Arial"/>
                          <a:ea typeface="Arial"/>
                          <a:cs typeface="Arial"/>
                        </a:rPr>
                        <a:t>Ghi success/failed</a:t>
                      </a:r>
                    </a:p>
                    <a:p>
                      <a:r>
                        <a:rPr sz="1650" b="0">
                          <a:solidFill>
                            <a:srgbClr val="202D39"/>
                          </a:solidFill>
                          <a:latin typeface="Arial"/>
                          <a:ea typeface="Arial"/>
                          <a:cs typeface="Arial"/>
                        </a:rPr>
                        <a:t>Wall-clock, ma trận, Macro F1</a:t>
                      </a:r>
                    </a:p>
                  </a:txBody>
                  <a:tcPr marL="57150" marR="57150" marT="57150" marB="57150">
                    <a:lnR w="9525">
                      <a:solidFill>
                        <a:srgbClr val="C3D5E4"/>
                      </a:solidFill>
                    </a:lnR>
                    <a:lnB w="9525">
                      <a:solidFill>
                        <a:srgbClr val="C3D5E4"/>
                      </a:solidFill>
                    </a:lnB>
                    <a:solidFill>
                      <a:srgbClr val="EDF5FB"/>
                    </a:solidFill>
                  </a:tcPr>
                </a:tc>
              </a:tr>
            </a:tbl>
          </a:graphicData>
        </a:graphic>
      </p:graphicFrame>
      <p:sp>
        <p:nvSpPr>
          <p:cNvPr id="8" name="">
            <a:extLst xmlns:a="http://schemas.openxmlformats.org/drawingml/2006/main">
              <a:ext uri="{FF2B5EF4-FFF2-40B4-BE49-F238E27FC236}">
                <a16:creationId xmlns:a16="http://schemas.microsoft.com/office/drawing/2014/main" id="{D58B6144-5D2F-4F4F-82D3-D7BC9AC0ECBB}"/>
              </a:ext>
            </a:extLst>
          </p:cNvPr>
          <p:cNvSpPr>
            <a:spLocks xmlns:a="http://schemas.openxmlformats.org/drawingml/2006/main" noGrp="1"/>
          </p:cNvSpPr>
          <p:nvPr/>
        </p:nvSpPr>
        <p:spPr>
          <a:xfrm xmlns:a="http://schemas.openxmlformats.org/drawingml/2006/main">
            <a:off x="523875" y="597217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defRPr sz="1575" b="0">
                <a:solidFill>
                  <a:srgbClr val="586675"/>
                </a:solidFill>
                <a:latin typeface="Arial"/>
                <a:ea typeface="Arial"/>
                <a:cs typeface="Arial"/>
              </a:defRPr>
            </a:pPr>
            <a:r>
              <a:rPr sz="1575" b="0">
                <a:solidFill>
                  <a:srgbClr val="586675"/>
                </a:solidFill>
                <a:latin typeface="Arial"/>
                <a:ea typeface="Arial"/>
                <a:cs typeface="Arial"/>
              </a:rPr>
              <a:t>Hàm làm sạch và CPU giống nhau giữa hai gói; script Spark end-to-end khác nhau.</a:t>
            </a:r>
          </a:p>
        </p:txBody>
      </p:sp>
    </p:spTree>
    <p:extLst>
      <p:ext uri="{BB962C8B-B14F-4D97-AF65-F5344CB8AC3E}">
        <p14:creationId xmlns:p14="http://schemas.microsoft.com/office/powerpoint/2010/main" val="209819111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796B11E-540B-4289-ABDE-E9C6E66DF895}"/>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Thiết lập thực nghiệm</a:t>
            </a:r>
          </a:p>
        </p:txBody>
      </p:sp>
      <p:sp>
        <p:nvSpPr>
          <p:cNvPr id="2" name="">
            <a:extLst xmlns:a="http://schemas.openxmlformats.org/drawingml/2006/main">
              <a:ext uri="{FF2B5EF4-FFF2-40B4-BE49-F238E27FC236}">
                <a16:creationId xmlns:a16="http://schemas.microsoft.com/office/drawing/2014/main" id="{1039CFE5-5AC6-4852-8BCC-13E885E119C8}"/>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Đánh giá chất lượng theo lớp và thời gian thực tế của lượt chạy 10/10/2026</a:t>
            </a:r>
          </a:p>
        </p:txBody>
      </p:sp>
      <p:sp>
        <p:nvSpPr>
          <p:cNvPr id="3" name="">
            <a:extLst xmlns:a="http://schemas.openxmlformats.org/drawingml/2006/main">
              <a:ext uri="{FF2B5EF4-FFF2-40B4-BE49-F238E27FC236}">
                <a16:creationId xmlns:a16="http://schemas.microsoft.com/office/drawing/2014/main" id="{648CFECC-B229-424C-A1CA-6AB58A0AEA6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22</a:t>
            </a:r>
          </a:p>
        </p:txBody>
      </p:sp>
      <p:sp>
        <p:nvSpPr>
          <p:cNvPr id="4" name="">
            <a:extLst xmlns:a="http://schemas.openxmlformats.org/drawingml/2006/main">
              <a:ext uri="{FF2B5EF4-FFF2-40B4-BE49-F238E27FC236}">
                <a16:creationId xmlns:a16="http://schemas.microsoft.com/office/drawing/2014/main" id="{006D3C92-47B3-4565-88CF-4F0787D8696F}"/>
              </a:ext>
            </a:extLst>
          </p:cNvPr>
          <p:cNvSpPr>
            <a:spLocks xmlns:a="http://schemas.openxmlformats.org/drawingml/2006/main" noGrp="1"/>
          </p:cNvSpPr>
          <p:nvPr/>
        </p:nvSpPr>
        <p:spPr>
          <a:xfrm xmlns:a="http://schemas.openxmlformats.org/drawingml/2006/main">
            <a:off x="571500" y="21907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Dữ liệu sạch: 6.965.267 bản ghi.</a:t>
            </a:r>
          </a:p>
        </p:txBody>
      </p:sp>
      <p:sp>
        <p:nvSpPr>
          <p:cNvPr id="5" name="">
            <a:extLst xmlns:a="http://schemas.openxmlformats.org/drawingml/2006/main">
              <a:ext uri="{FF2B5EF4-FFF2-40B4-BE49-F238E27FC236}">
                <a16:creationId xmlns:a16="http://schemas.microsoft.com/office/drawing/2014/main" id="{615ED225-451C-4E14-B9EB-46909A959637}"/>
              </a:ext>
            </a:extLst>
          </p:cNvPr>
          <p:cNvSpPr>
            <a:spLocks xmlns:a="http://schemas.openxmlformats.org/drawingml/2006/main" noGrp="1"/>
          </p:cNvSpPr>
          <p:nvPr/>
        </p:nvSpPr>
        <p:spPr>
          <a:xfrm xmlns:a="http://schemas.openxmlformats.org/drawingml/2006/main">
            <a:off x="571500" y="33147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Tỷ lệ dự kiến: Train 70%, Validation 15%, Test 15%.</a:t>
            </a:r>
          </a:p>
        </p:txBody>
      </p:sp>
      <p:sp>
        <p:nvSpPr>
          <p:cNvPr id="6" name="">
            <a:extLst xmlns:a="http://schemas.openxmlformats.org/drawingml/2006/main">
              <a:ext uri="{FF2B5EF4-FFF2-40B4-BE49-F238E27FC236}">
                <a16:creationId xmlns:a16="http://schemas.microsoft.com/office/drawing/2014/main" id="{419456E4-BCE8-4AC8-A660-786220B5F19B}"/>
              </a:ext>
            </a:extLst>
          </p:cNvPr>
          <p:cNvSpPr>
            <a:spLocks xmlns:a="http://schemas.openxmlformats.org/drawingml/2006/main" noGrp="1"/>
          </p:cNvSpPr>
          <p:nvPr/>
        </p:nvSpPr>
        <p:spPr>
          <a:xfrm xmlns:a="http://schemas.openxmlformats.org/drawingml/2006/main">
            <a:off x="571500" y="44386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Chưa đủ log để xác nhận cùng tập test và siêu tham số hai nhánh.</a:t>
            </a:r>
          </a:p>
        </p:txBody>
      </p:sp>
      <p:sp>
        <p:nvSpPr>
          <p:cNvPr id="7" name="">
            <a:extLst xmlns:a="http://schemas.openxmlformats.org/drawingml/2006/main">
              <a:ext uri="{FF2B5EF4-FFF2-40B4-BE49-F238E27FC236}">
                <a16:creationId xmlns:a16="http://schemas.microsoft.com/office/drawing/2014/main" id="{888B17EF-0DA7-456F-9700-51D0D48E2DBB}"/>
              </a:ext>
            </a:extLst>
          </p:cNvPr>
          <p:cNvSpPr>
            <a:spLocks xmlns:a="http://schemas.openxmlformats.org/drawingml/2006/main" noGrp="1"/>
          </p:cNvSpPr>
          <p:nvPr/>
        </p:nvSpPr>
        <p:spPr>
          <a:xfrm xmlns:a="http://schemas.openxmlformats.org/drawingml/2006/main">
            <a:off x="5238750" y="21907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2B7"/>
                </a:solidFill>
                <a:latin typeface="Arial"/>
                <a:ea typeface="Arial"/>
                <a:cs typeface="Arial"/>
              </a:defRPr>
            </a:defPPr>
          </a:lstStyle>
          <a:p xmlns:a="http://schemas.openxmlformats.org/drawingml/2006/main">
            <a:pPr>
              <a:buNone/>
              <a:defRPr sz="2025" b="1">
                <a:solidFill>
                  <a:srgbClr val="2072B7"/>
                </a:solidFill>
                <a:latin typeface="Arial"/>
                <a:ea typeface="Arial"/>
                <a:cs typeface="Arial"/>
              </a:defRPr>
            </a:pPr>
            <a:r>
              <a:rPr sz="2025" b="1">
                <a:solidFill>
                  <a:srgbClr val="2072B7"/>
                </a:solidFill>
                <a:latin typeface="Arial"/>
                <a:ea typeface="Arial"/>
                <a:cs typeface="Arial"/>
              </a:rPr>
              <a:t>Accuracy</a:t>
            </a:r>
          </a:p>
        </p:txBody>
      </p:sp>
      <p:sp>
        <p:nvSpPr>
          <p:cNvPr id="8" name="">
            <a:extLst xmlns:a="http://schemas.openxmlformats.org/drawingml/2006/main">
              <a:ext uri="{FF2B5EF4-FFF2-40B4-BE49-F238E27FC236}">
                <a16:creationId xmlns:a16="http://schemas.microsoft.com/office/drawing/2014/main" id="{9E00C6AD-2A7A-46D1-8D3C-ED8367A2B397}"/>
              </a:ext>
            </a:extLst>
          </p:cNvPr>
          <p:cNvSpPr>
            <a:spLocks xmlns:a="http://schemas.openxmlformats.org/drawingml/2006/main" noGrp="1"/>
          </p:cNvSpPr>
          <p:nvPr/>
        </p:nvSpPr>
        <p:spPr>
          <a:xfrm xmlns:a="http://schemas.openxmlformats.org/drawingml/2006/main">
            <a:off x="5238750" y="2619375"/>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buNone/>
              <a:defRPr sz="1950" b="0">
                <a:solidFill>
                  <a:srgbClr val="202D39"/>
                </a:solidFill>
                <a:latin typeface="Arial"/>
                <a:ea typeface="Arial"/>
                <a:cs typeface="Arial"/>
              </a:defRPr>
            </a:pPr>
            <a:r>
              <a:rPr sz="1950" b="0">
                <a:solidFill>
                  <a:srgbClr val="202D39"/>
                </a:solidFill>
                <a:latin typeface="Arial"/>
                <a:ea typeface="Arial"/>
                <a:cs typeface="Arial"/>
              </a:rPr>
              <a:t>Tỷ lệ dự đoán đúng trên toàn tập.</a:t>
            </a:r>
          </a:p>
        </p:txBody>
      </p:sp>
      <p:sp>
        <p:nvSpPr>
          <p:cNvPr id="9" name="">
            <a:extLst xmlns:a="http://schemas.openxmlformats.org/drawingml/2006/main">
              <a:ext uri="{FF2B5EF4-FFF2-40B4-BE49-F238E27FC236}">
                <a16:creationId xmlns:a16="http://schemas.microsoft.com/office/drawing/2014/main" id="{E45EA6A9-DCDE-45CD-BD6D-EB7593D9E5F0}"/>
              </a:ext>
            </a:extLst>
          </p:cNvPr>
          <p:cNvSpPr>
            <a:spLocks xmlns:a="http://schemas.openxmlformats.org/drawingml/2006/main" noGrp="1"/>
          </p:cNvSpPr>
          <p:nvPr/>
        </p:nvSpPr>
        <p:spPr>
          <a:xfrm xmlns:a="http://schemas.openxmlformats.org/drawingml/2006/main">
            <a:off x="5238750" y="32575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2B7"/>
                </a:solidFill>
                <a:latin typeface="Arial"/>
                <a:ea typeface="Arial"/>
                <a:cs typeface="Arial"/>
              </a:defRPr>
            </a:defPPr>
          </a:lstStyle>
          <a:p xmlns:a="http://schemas.openxmlformats.org/drawingml/2006/main">
            <a:pPr>
              <a:buNone/>
              <a:defRPr sz="2025" b="1">
                <a:solidFill>
                  <a:srgbClr val="2072B7"/>
                </a:solidFill>
                <a:latin typeface="Arial"/>
                <a:ea typeface="Arial"/>
                <a:cs typeface="Arial"/>
              </a:defRPr>
            </a:pPr>
            <a:r>
              <a:rPr sz="2025" b="1">
                <a:solidFill>
                  <a:srgbClr val="2072B7"/>
                </a:solidFill>
                <a:latin typeface="Arial"/>
                <a:ea typeface="Arial"/>
                <a:cs typeface="Arial"/>
              </a:rPr>
              <a:t>Weighted F1</a:t>
            </a:r>
          </a:p>
        </p:txBody>
      </p:sp>
      <p:sp>
        <p:nvSpPr>
          <p:cNvPr id="10" name="">
            <a:extLst xmlns:a="http://schemas.openxmlformats.org/drawingml/2006/main">
              <a:ext uri="{FF2B5EF4-FFF2-40B4-BE49-F238E27FC236}">
                <a16:creationId xmlns:a16="http://schemas.microsoft.com/office/drawing/2014/main" id="{EE6E2B9C-BE0A-4064-B299-80C09094C26B}"/>
              </a:ext>
            </a:extLst>
          </p:cNvPr>
          <p:cNvSpPr>
            <a:spLocks xmlns:a="http://schemas.openxmlformats.org/drawingml/2006/main" noGrp="1"/>
          </p:cNvSpPr>
          <p:nvPr/>
        </p:nvSpPr>
        <p:spPr>
          <a:xfrm xmlns:a="http://schemas.openxmlformats.org/drawingml/2006/main">
            <a:off x="5238750" y="3686175"/>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buNone/>
              <a:defRPr sz="1950" b="0">
                <a:solidFill>
                  <a:srgbClr val="202D39"/>
                </a:solidFill>
                <a:latin typeface="Arial"/>
                <a:ea typeface="Arial"/>
                <a:cs typeface="Arial"/>
              </a:defRPr>
            </a:pPr>
            <a:r>
              <a:rPr sz="1950" b="0">
                <a:solidFill>
                  <a:srgbClr val="202D39"/>
                </a:solidFill>
                <a:latin typeface="Arial"/>
                <a:ea typeface="Arial"/>
                <a:cs typeface="Arial"/>
              </a:rPr>
              <a:t>F1 từng lớp, có trọng số theo số mẫu.</a:t>
            </a:r>
          </a:p>
        </p:txBody>
      </p:sp>
      <p:sp>
        <p:nvSpPr>
          <p:cNvPr id="11" name="">
            <a:extLst xmlns:a="http://schemas.openxmlformats.org/drawingml/2006/main">
              <a:ext uri="{FF2B5EF4-FFF2-40B4-BE49-F238E27FC236}">
                <a16:creationId xmlns:a16="http://schemas.microsoft.com/office/drawing/2014/main" id="{8A8B2822-2AB5-4F8E-9F5B-0338E2F34910}"/>
              </a:ext>
            </a:extLst>
          </p:cNvPr>
          <p:cNvSpPr>
            <a:spLocks xmlns:a="http://schemas.openxmlformats.org/drawingml/2006/main" noGrp="1"/>
          </p:cNvSpPr>
          <p:nvPr/>
        </p:nvSpPr>
        <p:spPr>
          <a:xfrm xmlns:a="http://schemas.openxmlformats.org/drawingml/2006/main">
            <a:off x="5238750" y="4324350"/>
            <a:ext cx="619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072B7"/>
                </a:solidFill>
                <a:latin typeface="Arial"/>
                <a:ea typeface="Arial"/>
                <a:cs typeface="Arial"/>
              </a:defRPr>
            </a:defPPr>
          </a:lstStyle>
          <a:p xmlns:a="http://schemas.openxmlformats.org/drawingml/2006/main">
            <a:pPr>
              <a:buNone/>
              <a:defRPr sz="2025" b="1">
                <a:solidFill>
                  <a:srgbClr val="2072B7"/>
                </a:solidFill>
                <a:latin typeface="Arial"/>
                <a:ea typeface="Arial"/>
                <a:cs typeface="Arial"/>
              </a:defRPr>
            </a:pPr>
            <a:r>
              <a:rPr sz="2025" b="1">
                <a:solidFill>
                  <a:srgbClr val="2072B7"/>
                </a:solidFill>
                <a:latin typeface="Arial"/>
                <a:ea typeface="Arial"/>
                <a:cs typeface="Arial"/>
              </a:rPr>
              <a:t>Macro F1</a:t>
            </a:r>
          </a:p>
        </p:txBody>
      </p:sp>
      <p:sp>
        <p:nvSpPr>
          <p:cNvPr id="12" name="">
            <a:extLst xmlns:a="http://schemas.openxmlformats.org/drawingml/2006/main">
              <a:ext uri="{FF2B5EF4-FFF2-40B4-BE49-F238E27FC236}">
                <a16:creationId xmlns:a16="http://schemas.microsoft.com/office/drawing/2014/main" id="{B7C3734B-54DC-4575-BFEA-0E1974EB13F3}"/>
              </a:ext>
            </a:extLst>
          </p:cNvPr>
          <p:cNvSpPr>
            <a:spLocks xmlns:a="http://schemas.openxmlformats.org/drawingml/2006/main" noGrp="1"/>
          </p:cNvSpPr>
          <p:nvPr/>
        </p:nvSpPr>
        <p:spPr>
          <a:xfrm xmlns:a="http://schemas.openxmlformats.org/drawingml/2006/main">
            <a:off x="5238750" y="4752975"/>
            <a:ext cx="6191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202D39"/>
                </a:solidFill>
                <a:latin typeface="Arial"/>
                <a:ea typeface="Arial"/>
                <a:cs typeface="Arial"/>
              </a:defRPr>
            </a:defPPr>
          </a:lstStyle>
          <a:p xmlns:a="http://schemas.openxmlformats.org/drawingml/2006/main">
            <a:pPr>
              <a:buNone/>
              <a:defRPr sz="1950" b="0">
                <a:solidFill>
                  <a:srgbClr val="202D39"/>
                </a:solidFill>
                <a:latin typeface="Arial"/>
                <a:ea typeface="Arial"/>
                <a:cs typeface="Arial"/>
              </a:defRPr>
            </a:pPr>
            <a:r>
              <a:rPr sz="1950" b="0">
                <a:solidFill>
                  <a:srgbClr val="202D39"/>
                </a:solidFill>
                <a:latin typeface="Arial"/>
                <a:ea typeface="Arial"/>
                <a:cs typeface="Arial"/>
              </a:rPr>
              <a:t>Trung bình F1 các lớp, mỗi lớp ngang nhau.</a:t>
            </a:r>
          </a:p>
        </p:txBody>
      </p:sp>
      <p:sp>
        <p:nvSpPr>
          <p:cNvPr id="13" name="">
            <a:extLst xmlns:a="http://schemas.openxmlformats.org/drawingml/2006/main">
              <a:ext uri="{FF2B5EF4-FFF2-40B4-BE49-F238E27FC236}">
                <a16:creationId xmlns:a16="http://schemas.microsoft.com/office/drawing/2014/main" id="{EDDA5B57-68F6-4B68-98E6-7BD30F9AA1C3}"/>
              </a:ext>
            </a:extLst>
          </p:cNvPr>
          <p:cNvSpPr>
            <a:spLocks xmlns:a="http://schemas.openxmlformats.org/drawingml/2006/main" noGrp="1"/>
          </p:cNvSpPr>
          <p:nvPr/>
        </p:nvSpPr>
        <p:spPr>
          <a:xfrm xmlns:a="http://schemas.openxmlformats.org/drawingml/2006/main">
            <a:off x="5238750" y="5724525"/>
            <a:ext cx="638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86675"/>
                </a:solidFill>
                <a:latin typeface="Arial"/>
                <a:ea typeface="Arial"/>
                <a:cs typeface="Arial"/>
              </a:defRPr>
            </a:defPPr>
          </a:lstStyle>
          <a:p xmlns:a="http://schemas.openxmlformats.org/drawingml/2006/main">
            <a:pPr>
              <a:buNone/>
              <a:defRPr sz="1650" b="0">
                <a:solidFill>
                  <a:srgbClr val="586675"/>
                </a:solidFill>
                <a:latin typeface="Arial"/>
                <a:ea typeface="Arial"/>
                <a:cs typeface="Arial"/>
              </a:defRPr>
            </a:pPr>
            <a:r>
              <a:rPr sz="1650" b="0">
                <a:solidFill>
                  <a:srgbClr val="586675"/>
                </a:solidFill>
                <a:latin typeface="Arial"/>
                <a:ea typeface="Arial"/>
                <a:cs typeface="Arial"/>
              </a:rPr>
              <a:t>Train: giây wall-clock. Suy luận: ms/1.000 mẫu.</a:t>
            </a:r>
          </a:p>
        </p:txBody>
      </p:sp>
    </p:spTree>
    <p:extLst>
      <p:ext uri="{BB962C8B-B14F-4D97-AF65-F5344CB8AC3E}">
        <p14:creationId xmlns:p14="http://schemas.microsoft.com/office/powerpoint/2010/main" val="392869719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417AD67-2069-4C60-A33C-54BDE5C795FF}"/>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Kết quả sáu mô hình CPU</a:t>
            </a:r>
          </a:p>
        </p:txBody>
      </p:sp>
      <p:sp>
        <p:nvSpPr>
          <p:cNvPr id="2" name="">
            <a:extLst xmlns:a="http://schemas.openxmlformats.org/drawingml/2006/main">
              <a:ext uri="{FF2B5EF4-FFF2-40B4-BE49-F238E27FC236}">
                <a16:creationId xmlns:a16="http://schemas.microsoft.com/office/drawing/2014/main" id="{748E4BAB-F460-49C3-AA13-8ADA4FE1195F}"/>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Accuracy gần 79% chưa chứng minh mô hình nhận diện tốt các lớp trễ ít gặp</a:t>
            </a:r>
          </a:p>
        </p:txBody>
      </p:sp>
      <p:sp>
        <p:nvSpPr>
          <p:cNvPr id="3" name="">
            <a:extLst xmlns:a="http://schemas.openxmlformats.org/drawingml/2006/main">
              <a:ext uri="{FF2B5EF4-FFF2-40B4-BE49-F238E27FC236}">
                <a16:creationId xmlns:a16="http://schemas.microsoft.com/office/drawing/2014/main" id="{69300E58-C91D-433E-9A98-A28740F8F61E}"/>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23</a:t>
            </a:r>
          </a:p>
        </p:txBody>
      </p:sp>
      <p:graphicFrame>
        <p:nvGraphicFramePr>
          <p:cNvPr id="4" name="">
            <a:extLst xmlns:a="http://schemas.openxmlformats.org/drawingml/2006/main">
              <a:ext uri="{FF2B5EF4-FFF2-40B4-BE49-F238E27FC236}">
                <a16:creationId xmlns:a16="http://schemas.microsoft.com/office/drawing/2014/main" id="{E48B9D9E-4E24-42A8-874A-0587B1F04A32}"/>
              </a:ext>
            </a:extLst>
          </p:cNvPr>
          <p:cNvGraphicFramePr/>
          <p:nvPr/>
        </p:nvGraphicFramePr>
        <p:xfrm>
          <a:off xmlns:a="http://schemas.openxmlformats.org/drawingml/2006/main" x="571500" y="2247900"/>
          <a:ext xmlns:a="http://schemas.openxmlformats.org/drawingml/2006/main" cx="11049000" cy="3286125"/>
        </p:xfrm>
        <a:graphic xmlns:a="http://schemas.openxmlformats.org/drawingml/2006/main">
          <a:graphicData uri="http://schemas.openxmlformats.org/drawingml/2006/table">
            <a:tbl>
              <a:tblPr/>
              <a:tblGrid>
                <a:gridCol w="2476500"/>
                <a:gridCol w="1524000"/>
                <a:gridCol w="1714500"/>
                <a:gridCol w="1524000"/>
                <a:gridCol w="1524000"/>
                <a:gridCol w="2286000"/>
              </a:tblGrid>
              <a:tr h="469446">
                <a:tc>
                  <a:txBody>
                    <a:bodyPr/>
                    <a:lstStyle/>
                    <a:p>
                      <a:r>
                        <a:rPr sz="1800" b="1">
                          <a:solidFill>
                            <a:srgbClr val="FFFFFF"/>
                          </a:solidFill>
                          <a:latin typeface="Arial"/>
                          <a:ea typeface="Arial"/>
                          <a:cs typeface="Arial"/>
                        </a:rPr>
                        <a:t>Mô hình</a:t>
                      </a:r>
                    </a:p>
                  </a:txBody>
                  <a:tcPr marL="47625" marR="47625" marT="47625" marB="47625">
                    <a:solidFill>
                      <a:srgbClr val="2072B7"/>
                    </a:solidFill>
                  </a:tcPr>
                </a:tc>
                <a:tc>
                  <a:txBody>
                    <a:bodyPr/>
                    <a:lstStyle/>
                    <a:p>
                      <a:r>
                        <a:rPr sz="1800" b="1">
                          <a:solidFill>
                            <a:srgbClr val="FFFFFF"/>
                          </a:solidFill>
                          <a:latin typeface="Arial"/>
                          <a:ea typeface="Arial"/>
                          <a:cs typeface="Arial"/>
                        </a:rPr>
                        <a:t>Accuracy</a:t>
                      </a:r>
                    </a:p>
                    <a:p>
                      <a:r>
                        <a:rPr sz="1800" b="1">
                          <a:solidFill>
                            <a:srgbClr val="FFFFFF"/>
                          </a:solidFill>
                          <a:latin typeface="Arial"/>
                          <a:ea typeface="Arial"/>
                          <a:cs typeface="Arial"/>
                        </a:rPr>
                        <a:t>%</a:t>
                      </a:r>
                    </a:p>
                  </a:txBody>
                  <a:tcPr marL="47625" marR="47625" marT="47625" marB="47625">
                    <a:solidFill>
                      <a:srgbClr val="2072B7"/>
                    </a:solidFill>
                  </a:tcPr>
                </a:tc>
                <a:tc>
                  <a:txBody>
                    <a:bodyPr/>
                    <a:lstStyle/>
                    <a:p>
                      <a:r>
                        <a:rPr sz="1800" b="1">
                          <a:solidFill>
                            <a:srgbClr val="FFFFFF"/>
                          </a:solidFill>
                          <a:latin typeface="Arial"/>
                          <a:ea typeface="Arial"/>
                          <a:cs typeface="Arial"/>
                        </a:rPr>
                        <a:t>Weighted F1</a:t>
                      </a:r>
                    </a:p>
                    <a:p>
                      <a:r>
                        <a:rPr sz="1800" b="1">
                          <a:solidFill>
                            <a:srgbClr val="FFFFFF"/>
                          </a:solidFill>
                          <a:latin typeface="Arial"/>
                          <a:ea typeface="Arial"/>
                          <a:cs typeface="Arial"/>
                        </a:rPr>
                        <a:t>%</a:t>
                      </a:r>
                    </a:p>
                  </a:txBody>
                  <a:tcPr marL="47625" marR="47625" marT="47625" marB="47625">
                    <a:solidFill>
                      <a:srgbClr val="2072B7"/>
                    </a:solidFill>
                  </a:tcPr>
                </a:tc>
                <a:tc>
                  <a:txBody>
                    <a:bodyPr/>
                    <a:lstStyle/>
                    <a:p>
                      <a:r>
                        <a:rPr sz="1800" b="1">
                          <a:solidFill>
                            <a:srgbClr val="FFFFFF"/>
                          </a:solidFill>
                          <a:latin typeface="Arial"/>
                          <a:ea typeface="Arial"/>
                          <a:cs typeface="Arial"/>
                        </a:rPr>
                        <a:t>Macro F1</a:t>
                      </a:r>
                    </a:p>
                    <a:p>
                      <a:r>
                        <a:rPr sz="1800" b="1">
                          <a:solidFill>
                            <a:srgbClr val="FFFFFF"/>
                          </a:solidFill>
                          <a:latin typeface="Arial"/>
                          <a:ea typeface="Arial"/>
                          <a:cs typeface="Arial"/>
                        </a:rPr>
                        <a:t>%</a:t>
                      </a:r>
                    </a:p>
                  </a:txBody>
                  <a:tcPr marL="47625" marR="47625" marT="47625" marB="47625">
                    <a:solidFill>
                      <a:srgbClr val="2072B7"/>
                    </a:solidFill>
                  </a:tcPr>
                </a:tc>
                <a:tc>
                  <a:txBody>
                    <a:bodyPr/>
                    <a:lstStyle/>
                    <a:p>
                      <a:r>
                        <a:rPr sz="1800" b="1">
                          <a:solidFill>
                            <a:srgbClr val="FFFFFF"/>
                          </a:solidFill>
                          <a:latin typeface="Arial"/>
                          <a:ea typeface="Arial"/>
                          <a:cs typeface="Arial"/>
                        </a:rPr>
                        <a:t>Train</a:t>
                      </a:r>
                    </a:p>
                    <a:p>
                      <a:r>
                        <a:rPr sz="1800" b="1">
                          <a:solidFill>
                            <a:srgbClr val="FFFFFF"/>
                          </a:solidFill>
                          <a:latin typeface="Arial"/>
                          <a:ea typeface="Arial"/>
                          <a:cs typeface="Arial"/>
                        </a:rPr>
                        <a:t>giây</a:t>
                      </a:r>
                    </a:p>
                  </a:txBody>
                  <a:tcPr marL="47625" marR="47625" marT="47625" marB="47625">
                    <a:solidFill>
                      <a:srgbClr val="2072B7"/>
                    </a:solidFill>
                  </a:tcPr>
                </a:tc>
                <a:tc>
                  <a:txBody>
                    <a:bodyPr/>
                    <a:lstStyle/>
                    <a:p>
                      <a:r>
                        <a:rPr sz="1800" b="1">
                          <a:solidFill>
                            <a:srgbClr val="FFFFFF"/>
                          </a:solidFill>
                          <a:latin typeface="Arial"/>
                          <a:ea typeface="Arial"/>
                          <a:cs typeface="Arial"/>
                        </a:rPr>
                        <a:t>Suy luận</a:t>
                      </a:r>
                    </a:p>
                    <a:p>
                      <a:r>
                        <a:rPr sz="1800" b="1">
                          <a:solidFill>
                            <a:srgbClr val="FFFFFF"/>
                          </a:solidFill>
                          <a:latin typeface="Arial"/>
                          <a:ea typeface="Arial"/>
                          <a:cs typeface="Arial"/>
                        </a:rPr>
                        <a:t>ms/1.000 mẫu</a:t>
                      </a:r>
                    </a:p>
                  </a:txBody>
                  <a:tcPr marL="47625" marR="47625" marT="47625" marB="47625">
                    <a:solidFill>
                      <a:srgbClr val="2072B7"/>
                    </a:solidFill>
                  </a:tcPr>
                </a:tc>
              </a:tr>
              <a:tr h="469446">
                <a:tc>
                  <a:txBody>
                    <a:bodyPr/>
                    <a:lstStyle/>
                    <a:p>
                      <a:r>
                        <a:rPr sz="1800" b="0">
                          <a:solidFill>
                            <a:srgbClr val="202D39"/>
                          </a:solidFill>
                          <a:latin typeface="Arial"/>
                          <a:ea typeface="Arial"/>
                          <a:cs typeface="Arial"/>
                        </a:rPr>
                        <a:t>Logistic Reg.</a:t>
                      </a:r>
                    </a:p>
                  </a:txBody>
                  <a:tcPr marL="47625" marR="47625" marT="47625" marB="47625">
                    <a:solidFill>
                      <a:srgbClr val="EDF5FB"/>
                    </a:solidFill>
                  </a:tcPr>
                </a:tc>
                <a:tc>
                  <a:txBody>
                    <a:bodyPr/>
                    <a:lstStyle/>
                    <a:p>
                      <a:r>
                        <a:rPr sz="1800" b="0">
                          <a:solidFill>
                            <a:srgbClr val="202D39"/>
                          </a:solidFill>
                          <a:latin typeface="Arial"/>
                          <a:ea typeface="Arial"/>
                          <a:cs typeface="Arial"/>
                        </a:rPr>
                        <a:t>79,18</a:t>
                      </a:r>
                    </a:p>
                  </a:txBody>
                  <a:tcPr marL="47625" marR="47625" marT="47625" marB="47625">
                    <a:solidFill>
                      <a:srgbClr val="EDF5FB"/>
                    </a:solidFill>
                  </a:tcPr>
                </a:tc>
                <a:tc>
                  <a:txBody>
                    <a:bodyPr/>
                    <a:lstStyle/>
                    <a:p>
                      <a:r>
                        <a:rPr sz="1800" b="0">
                          <a:solidFill>
                            <a:srgbClr val="202D39"/>
                          </a:solidFill>
                          <a:latin typeface="Arial"/>
                          <a:ea typeface="Arial"/>
                          <a:cs typeface="Arial"/>
                        </a:rPr>
                        <a:t>69,98</a:t>
                      </a:r>
                    </a:p>
                  </a:txBody>
                  <a:tcPr marL="47625" marR="47625" marT="47625" marB="47625">
                    <a:solidFill>
                      <a:srgbClr val="EDF5FB"/>
                    </a:solidFill>
                  </a:tcPr>
                </a:tc>
                <a:tc>
                  <a:txBody>
                    <a:bodyPr/>
                    <a:lstStyle/>
                    <a:p>
                      <a:r>
                        <a:rPr sz="1800" b="0">
                          <a:solidFill>
                            <a:srgbClr val="202D39"/>
                          </a:solidFill>
                          <a:latin typeface="Arial"/>
                          <a:ea typeface="Arial"/>
                          <a:cs typeface="Arial"/>
                        </a:rPr>
                        <a:t>14,73</a:t>
                      </a:r>
                    </a:p>
                  </a:txBody>
                  <a:tcPr marL="47625" marR="47625" marT="47625" marB="47625">
                    <a:solidFill>
                      <a:srgbClr val="EDF5FB"/>
                    </a:solidFill>
                  </a:tcPr>
                </a:tc>
                <a:tc>
                  <a:txBody>
                    <a:bodyPr/>
                    <a:lstStyle/>
                    <a:p>
                      <a:r>
                        <a:rPr sz="1800" b="0">
                          <a:solidFill>
                            <a:srgbClr val="202D39"/>
                          </a:solidFill>
                          <a:latin typeface="Arial"/>
                          <a:ea typeface="Arial"/>
                          <a:cs typeface="Arial"/>
                        </a:rPr>
                        <a:t>11,03</a:t>
                      </a:r>
                    </a:p>
                  </a:txBody>
                  <a:tcPr marL="47625" marR="47625" marT="47625" marB="47625">
                    <a:solidFill>
                      <a:srgbClr val="EDF5FB"/>
                    </a:solidFill>
                  </a:tcPr>
                </a:tc>
                <a:tc>
                  <a:txBody>
                    <a:bodyPr/>
                    <a:lstStyle/>
                    <a:p>
                      <a:r>
                        <a:rPr sz="1800" b="0">
                          <a:solidFill>
                            <a:srgbClr val="202D39"/>
                          </a:solidFill>
                          <a:latin typeface="Arial"/>
                          <a:ea typeface="Arial"/>
                          <a:cs typeface="Arial"/>
                        </a:rPr>
                        <a:t>7,18</a:t>
                      </a:r>
                    </a:p>
                  </a:txBody>
                  <a:tcPr marL="47625" marR="47625" marT="47625" marB="47625">
                    <a:solidFill>
                      <a:srgbClr val="EDF5FB"/>
                    </a:solidFill>
                  </a:tcPr>
                </a:tc>
              </a:tr>
              <a:tr h="469446">
                <a:tc>
                  <a:txBody>
                    <a:bodyPr/>
                    <a:lstStyle/>
                    <a:p>
                      <a:r>
                        <a:rPr sz="1800" b="0">
                          <a:solidFill>
                            <a:srgbClr val="202D39"/>
                          </a:solidFill>
                          <a:latin typeface="Arial"/>
                          <a:ea typeface="Arial"/>
                          <a:cs typeface="Arial"/>
                        </a:rPr>
                        <a:t>Decision Tree</a:t>
                      </a:r>
                    </a:p>
                  </a:txBody>
                  <a:tcPr marL="47625" marR="47625" marT="47625" marB="47625">
                    <a:solidFill>
                      <a:srgbClr val="FFFFFF"/>
                    </a:solidFill>
                  </a:tcPr>
                </a:tc>
                <a:tc>
                  <a:txBody>
                    <a:bodyPr/>
                    <a:lstStyle/>
                    <a:p>
                      <a:r>
                        <a:rPr sz="1800" b="0">
                          <a:solidFill>
                            <a:srgbClr val="202D39"/>
                          </a:solidFill>
                          <a:latin typeface="Arial"/>
                          <a:ea typeface="Arial"/>
                          <a:cs typeface="Arial"/>
                        </a:rPr>
                        <a:t>79,20</a:t>
                      </a:r>
                    </a:p>
                  </a:txBody>
                  <a:tcPr marL="47625" marR="47625" marT="47625" marB="47625">
                    <a:solidFill>
                      <a:srgbClr val="FFFFFF"/>
                    </a:solidFill>
                  </a:tcPr>
                </a:tc>
                <a:tc>
                  <a:txBody>
                    <a:bodyPr/>
                    <a:lstStyle/>
                    <a:p>
                      <a:r>
                        <a:rPr sz="1800" b="0">
                          <a:solidFill>
                            <a:srgbClr val="202D39"/>
                          </a:solidFill>
                          <a:latin typeface="Arial"/>
                          <a:ea typeface="Arial"/>
                          <a:cs typeface="Arial"/>
                        </a:rPr>
                        <a:t>70,39</a:t>
                      </a:r>
                    </a:p>
                  </a:txBody>
                  <a:tcPr marL="47625" marR="47625" marT="47625" marB="47625">
                    <a:solidFill>
                      <a:srgbClr val="FFFFFF"/>
                    </a:solidFill>
                  </a:tcPr>
                </a:tc>
                <a:tc>
                  <a:txBody>
                    <a:bodyPr/>
                    <a:lstStyle/>
                    <a:p>
                      <a:r>
                        <a:rPr sz="1800" b="0">
                          <a:solidFill>
                            <a:srgbClr val="202D39"/>
                          </a:solidFill>
                          <a:latin typeface="Arial"/>
                          <a:ea typeface="Arial"/>
                          <a:cs typeface="Arial"/>
                        </a:rPr>
                        <a:t>15,56</a:t>
                      </a:r>
                    </a:p>
                  </a:txBody>
                  <a:tcPr marL="47625" marR="47625" marT="47625" marB="47625">
                    <a:solidFill>
                      <a:srgbClr val="FFFFFF"/>
                    </a:solidFill>
                  </a:tcPr>
                </a:tc>
                <a:tc>
                  <a:txBody>
                    <a:bodyPr/>
                    <a:lstStyle/>
                    <a:p>
                      <a:r>
                        <a:rPr sz="1800" b="0">
                          <a:solidFill>
                            <a:srgbClr val="202D39"/>
                          </a:solidFill>
                          <a:latin typeface="Arial"/>
                          <a:ea typeface="Arial"/>
                          <a:cs typeface="Arial"/>
                        </a:rPr>
                        <a:t>28,96</a:t>
                      </a:r>
                    </a:p>
                  </a:txBody>
                  <a:tcPr marL="47625" marR="47625" marT="47625" marB="47625">
                    <a:solidFill>
                      <a:srgbClr val="FFFFFF"/>
                    </a:solidFill>
                  </a:tcPr>
                </a:tc>
                <a:tc>
                  <a:txBody>
                    <a:bodyPr/>
                    <a:lstStyle/>
                    <a:p>
                      <a:r>
                        <a:rPr sz="1800" b="0">
                          <a:solidFill>
                            <a:srgbClr val="202D39"/>
                          </a:solidFill>
                          <a:latin typeface="Arial"/>
                          <a:ea typeface="Arial"/>
                          <a:cs typeface="Arial"/>
                        </a:rPr>
                        <a:t>0,70</a:t>
                      </a:r>
                    </a:p>
                  </a:txBody>
                  <a:tcPr marL="47625" marR="47625" marT="47625" marB="47625">
                    <a:solidFill>
                      <a:srgbClr val="FFFFFF"/>
                    </a:solidFill>
                  </a:tcPr>
                </a:tc>
              </a:tr>
              <a:tr h="469446">
                <a:tc>
                  <a:txBody>
                    <a:bodyPr/>
                    <a:lstStyle/>
                    <a:p>
                      <a:r>
                        <a:rPr sz="1800" b="0">
                          <a:solidFill>
                            <a:srgbClr val="202D39"/>
                          </a:solidFill>
                          <a:latin typeface="Arial"/>
                          <a:ea typeface="Arial"/>
                          <a:cs typeface="Arial"/>
                        </a:rPr>
                        <a:t>Random Forest</a:t>
                      </a:r>
                    </a:p>
                  </a:txBody>
                  <a:tcPr marL="47625" marR="47625" marT="47625" marB="47625">
                    <a:solidFill>
                      <a:srgbClr val="EDF5FB"/>
                    </a:solidFill>
                  </a:tcPr>
                </a:tc>
                <a:tc>
                  <a:txBody>
                    <a:bodyPr/>
                    <a:lstStyle/>
                    <a:p>
                      <a:r>
                        <a:rPr sz="1800" b="0">
                          <a:solidFill>
                            <a:srgbClr val="202D39"/>
                          </a:solidFill>
                          <a:latin typeface="Arial"/>
                          <a:ea typeface="Arial"/>
                          <a:cs typeface="Arial"/>
                        </a:rPr>
                        <a:t>79,18</a:t>
                      </a:r>
                    </a:p>
                  </a:txBody>
                  <a:tcPr marL="47625" marR="47625" marT="47625" marB="47625">
                    <a:solidFill>
                      <a:srgbClr val="EDF5FB"/>
                    </a:solidFill>
                  </a:tcPr>
                </a:tc>
                <a:tc>
                  <a:txBody>
                    <a:bodyPr/>
                    <a:lstStyle/>
                    <a:p>
                      <a:r>
                        <a:rPr sz="1800" b="0">
                          <a:solidFill>
                            <a:srgbClr val="202D39"/>
                          </a:solidFill>
                          <a:latin typeface="Arial"/>
                          <a:ea typeface="Arial"/>
                          <a:cs typeface="Arial"/>
                        </a:rPr>
                        <a:t>69,98</a:t>
                      </a:r>
                    </a:p>
                  </a:txBody>
                  <a:tcPr marL="47625" marR="47625" marT="47625" marB="47625">
                    <a:solidFill>
                      <a:srgbClr val="EDF5FB"/>
                    </a:solidFill>
                  </a:tcPr>
                </a:tc>
                <a:tc>
                  <a:txBody>
                    <a:bodyPr/>
                    <a:lstStyle/>
                    <a:p>
                      <a:r>
                        <a:rPr sz="1800" b="0">
                          <a:solidFill>
                            <a:srgbClr val="202D39"/>
                          </a:solidFill>
                          <a:latin typeface="Arial"/>
                          <a:ea typeface="Arial"/>
                          <a:cs typeface="Arial"/>
                        </a:rPr>
                        <a:t>14,73</a:t>
                      </a:r>
                    </a:p>
                  </a:txBody>
                  <a:tcPr marL="47625" marR="47625" marT="47625" marB="47625">
                    <a:solidFill>
                      <a:srgbClr val="EDF5FB"/>
                    </a:solidFill>
                  </a:tcPr>
                </a:tc>
                <a:tc>
                  <a:txBody>
                    <a:bodyPr/>
                    <a:lstStyle/>
                    <a:p>
                      <a:r>
                        <a:rPr sz="1800" b="0">
                          <a:solidFill>
                            <a:srgbClr val="202D39"/>
                          </a:solidFill>
                          <a:latin typeface="Arial"/>
                          <a:ea typeface="Arial"/>
                          <a:cs typeface="Arial"/>
                        </a:rPr>
                        <a:t>85,18</a:t>
                      </a:r>
                    </a:p>
                  </a:txBody>
                  <a:tcPr marL="47625" marR="47625" marT="47625" marB="47625">
                    <a:solidFill>
                      <a:srgbClr val="EDF5FB"/>
                    </a:solidFill>
                  </a:tcPr>
                </a:tc>
                <a:tc>
                  <a:txBody>
                    <a:bodyPr/>
                    <a:lstStyle/>
                    <a:p>
                      <a:r>
                        <a:rPr sz="1800" b="0">
                          <a:solidFill>
                            <a:srgbClr val="202D39"/>
                          </a:solidFill>
                          <a:latin typeface="Arial"/>
                          <a:ea typeface="Arial"/>
                          <a:cs typeface="Arial"/>
                        </a:rPr>
                        <a:t>16,31</a:t>
                      </a:r>
                    </a:p>
                  </a:txBody>
                  <a:tcPr marL="47625" marR="47625" marT="47625" marB="47625">
                    <a:solidFill>
                      <a:srgbClr val="EDF5FB"/>
                    </a:solidFill>
                  </a:tcPr>
                </a:tc>
              </a:tr>
              <a:tr h="469446">
                <a:tc>
                  <a:txBody>
                    <a:bodyPr/>
                    <a:lstStyle/>
                    <a:p>
                      <a:r>
                        <a:rPr sz="1800" b="0">
                          <a:solidFill>
                            <a:srgbClr val="202D39"/>
                          </a:solidFill>
                          <a:latin typeface="Arial"/>
                          <a:ea typeface="Arial"/>
                          <a:cs typeface="Arial"/>
                        </a:rPr>
                        <a:t>LightGBM</a:t>
                      </a:r>
                    </a:p>
                  </a:txBody>
                  <a:tcPr marL="47625" marR="47625" marT="47625" marB="47625">
                    <a:solidFill>
                      <a:srgbClr val="FFFFFF"/>
                    </a:solidFill>
                  </a:tcPr>
                </a:tc>
                <a:tc>
                  <a:txBody>
                    <a:bodyPr/>
                    <a:lstStyle/>
                    <a:p>
                      <a:r>
                        <a:rPr sz="1800" b="0">
                          <a:solidFill>
                            <a:srgbClr val="202D39"/>
                          </a:solidFill>
                          <a:latin typeface="Arial"/>
                          <a:ea typeface="Arial"/>
                          <a:cs typeface="Arial"/>
                        </a:rPr>
                        <a:t>79,24</a:t>
                      </a:r>
                    </a:p>
                  </a:txBody>
                  <a:tcPr marL="47625" marR="47625" marT="47625" marB="47625">
                    <a:solidFill>
                      <a:srgbClr val="FFFFFF"/>
                    </a:solidFill>
                  </a:tcPr>
                </a:tc>
                <a:tc>
                  <a:txBody>
                    <a:bodyPr/>
                    <a:lstStyle/>
                    <a:p>
                      <a:r>
                        <a:rPr sz="1800" b="0">
                          <a:solidFill>
                            <a:srgbClr val="202D39"/>
                          </a:solidFill>
                          <a:latin typeface="Arial"/>
                          <a:ea typeface="Arial"/>
                          <a:cs typeface="Arial"/>
                        </a:rPr>
                        <a:t>70,32</a:t>
                      </a:r>
                    </a:p>
                  </a:txBody>
                  <a:tcPr marL="47625" marR="47625" marT="47625" marB="47625">
                    <a:solidFill>
                      <a:srgbClr val="FFFFFF"/>
                    </a:solidFill>
                  </a:tcPr>
                </a:tc>
                <a:tc>
                  <a:txBody>
                    <a:bodyPr/>
                    <a:lstStyle/>
                    <a:p>
                      <a:r>
                        <a:rPr sz="1800" b="0">
                          <a:solidFill>
                            <a:srgbClr val="202D39"/>
                          </a:solidFill>
                          <a:latin typeface="Arial"/>
                          <a:ea typeface="Arial"/>
                          <a:cs typeface="Arial"/>
                        </a:rPr>
                        <a:t>15,87</a:t>
                      </a:r>
                    </a:p>
                  </a:txBody>
                  <a:tcPr marL="47625" marR="47625" marT="47625" marB="47625">
                    <a:solidFill>
                      <a:srgbClr val="FFFFFF"/>
                    </a:solidFill>
                  </a:tcPr>
                </a:tc>
                <a:tc>
                  <a:txBody>
                    <a:bodyPr/>
                    <a:lstStyle/>
                    <a:p>
                      <a:r>
                        <a:rPr sz="1800" b="0">
                          <a:solidFill>
                            <a:srgbClr val="202D39"/>
                          </a:solidFill>
                          <a:latin typeface="Arial"/>
                          <a:ea typeface="Arial"/>
                          <a:cs typeface="Arial"/>
                        </a:rPr>
                        <a:t>53,59</a:t>
                      </a:r>
                    </a:p>
                  </a:txBody>
                  <a:tcPr marL="47625" marR="47625" marT="47625" marB="47625">
                    <a:solidFill>
                      <a:srgbClr val="FFFFFF"/>
                    </a:solidFill>
                  </a:tcPr>
                </a:tc>
                <a:tc>
                  <a:txBody>
                    <a:bodyPr/>
                    <a:lstStyle/>
                    <a:p>
                      <a:r>
                        <a:rPr sz="1800" b="0">
                          <a:solidFill>
                            <a:srgbClr val="202D39"/>
                          </a:solidFill>
                          <a:latin typeface="Arial"/>
                          <a:ea typeface="Arial"/>
                          <a:cs typeface="Arial"/>
                        </a:rPr>
                        <a:t>6,15</a:t>
                      </a:r>
                    </a:p>
                  </a:txBody>
                  <a:tcPr marL="47625" marR="47625" marT="47625" marB="47625">
                    <a:solidFill>
                      <a:srgbClr val="FFFFFF"/>
                    </a:solidFill>
                  </a:tcPr>
                </a:tc>
              </a:tr>
              <a:tr h="469446">
                <a:tc>
                  <a:txBody>
                    <a:bodyPr/>
                    <a:lstStyle/>
                    <a:p>
                      <a:r>
                        <a:rPr sz="1800" b="0">
                          <a:solidFill>
                            <a:srgbClr val="202D39"/>
                          </a:solidFill>
                          <a:latin typeface="Arial"/>
                          <a:ea typeface="Arial"/>
                          <a:cs typeface="Arial"/>
                        </a:rPr>
                        <a:t>XGBoost</a:t>
                      </a:r>
                    </a:p>
                  </a:txBody>
                  <a:tcPr marL="47625" marR="47625" marT="47625" marB="47625">
                    <a:solidFill>
                      <a:srgbClr val="EDF5FB"/>
                    </a:solidFill>
                  </a:tcPr>
                </a:tc>
                <a:tc>
                  <a:txBody>
                    <a:bodyPr/>
                    <a:lstStyle/>
                    <a:p>
                      <a:r>
                        <a:rPr sz="1800" b="0">
                          <a:solidFill>
                            <a:srgbClr val="202D39"/>
                          </a:solidFill>
                          <a:latin typeface="Arial"/>
                          <a:ea typeface="Arial"/>
                          <a:cs typeface="Arial"/>
                        </a:rPr>
                        <a:t>79,26</a:t>
                      </a:r>
                    </a:p>
                  </a:txBody>
                  <a:tcPr marL="47625" marR="47625" marT="47625" marB="47625">
                    <a:solidFill>
                      <a:srgbClr val="EDF5FB"/>
                    </a:solidFill>
                  </a:tcPr>
                </a:tc>
                <a:tc>
                  <a:txBody>
                    <a:bodyPr/>
                    <a:lstStyle/>
                    <a:p>
                      <a:r>
                        <a:rPr sz="1800" b="0">
                          <a:solidFill>
                            <a:srgbClr val="202D39"/>
                          </a:solidFill>
                          <a:latin typeface="Arial"/>
                          <a:ea typeface="Arial"/>
                          <a:cs typeface="Arial"/>
                        </a:rPr>
                        <a:t>70,33</a:t>
                      </a:r>
                    </a:p>
                  </a:txBody>
                  <a:tcPr marL="47625" marR="47625" marT="47625" marB="47625">
                    <a:solidFill>
                      <a:srgbClr val="EDF5FB"/>
                    </a:solidFill>
                  </a:tcPr>
                </a:tc>
                <a:tc>
                  <a:txBody>
                    <a:bodyPr/>
                    <a:lstStyle/>
                    <a:p>
                      <a:r>
                        <a:rPr sz="1800" b="0">
                          <a:solidFill>
                            <a:srgbClr val="202D39"/>
                          </a:solidFill>
                          <a:latin typeface="Arial"/>
                          <a:ea typeface="Arial"/>
                          <a:cs typeface="Arial"/>
                        </a:rPr>
                        <a:t>15,50</a:t>
                      </a:r>
                    </a:p>
                  </a:txBody>
                  <a:tcPr marL="47625" marR="47625" marT="47625" marB="47625">
                    <a:solidFill>
                      <a:srgbClr val="EDF5FB"/>
                    </a:solidFill>
                  </a:tcPr>
                </a:tc>
                <a:tc>
                  <a:txBody>
                    <a:bodyPr/>
                    <a:lstStyle/>
                    <a:p>
                      <a:r>
                        <a:rPr sz="1800" b="0">
                          <a:solidFill>
                            <a:srgbClr val="202D39"/>
                          </a:solidFill>
                          <a:latin typeface="Arial"/>
                          <a:ea typeface="Arial"/>
                          <a:cs typeface="Arial"/>
                        </a:rPr>
                        <a:t>122,18</a:t>
                      </a:r>
                    </a:p>
                  </a:txBody>
                  <a:tcPr marL="47625" marR="47625" marT="47625" marB="47625">
                    <a:solidFill>
                      <a:srgbClr val="EDF5FB"/>
                    </a:solidFill>
                  </a:tcPr>
                </a:tc>
                <a:tc>
                  <a:txBody>
                    <a:bodyPr/>
                    <a:lstStyle/>
                    <a:p>
                      <a:r>
                        <a:rPr sz="1800" b="0">
                          <a:solidFill>
                            <a:srgbClr val="202D39"/>
                          </a:solidFill>
                          <a:latin typeface="Arial"/>
                          <a:ea typeface="Arial"/>
                          <a:cs typeface="Arial"/>
                        </a:rPr>
                        <a:t>4,43</a:t>
                      </a:r>
                    </a:p>
                  </a:txBody>
                  <a:tcPr marL="47625" marR="47625" marT="47625" marB="47625">
                    <a:solidFill>
                      <a:srgbClr val="EDF5FB"/>
                    </a:solidFill>
                  </a:tcPr>
                </a:tc>
              </a:tr>
              <a:tr h="469446">
                <a:tc>
                  <a:txBody>
                    <a:bodyPr/>
                    <a:lstStyle/>
                    <a:p>
                      <a:r>
                        <a:rPr sz="1800" b="0">
                          <a:solidFill>
                            <a:srgbClr val="202D39"/>
                          </a:solidFill>
                          <a:latin typeface="Arial"/>
                          <a:ea typeface="Arial"/>
                          <a:cs typeface="Arial"/>
                        </a:rPr>
                        <a:t>CatBoost</a:t>
                      </a:r>
                    </a:p>
                  </a:txBody>
                  <a:tcPr marL="47625" marR="47625" marT="47625" marB="47625">
                    <a:solidFill>
                      <a:srgbClr val="FFFFFF"/>
                    </a:solidFill>
                  </a:tcPr>
                </a:tc>
                <a:tc>
                  <a:txBody>
                    <a:bodyPr/>
                    <a:lstStyle/>
                    <a:p>
                      <a:r>
                        <a:rPr sz="1800" b="0">
                          <a:solidFill>
                            <a:srgbClr val="202D39"/>
                          </a:solidFill>
                          <a:latin typeface="Arial"/>
                          <a:ea typeface="Arial"/>
                          <a:cs typeface="Arial"/>
                        </a:rPr>
                        <a:t>79,26</a:t>
                      </a:r>
                    </a:p>
                  </a:txBody>
                  <a:tcPr marL="47625" marR="47625" marT="47625" marB="47625">
                    <a:solidFill>
                      <a:srgbClr val="FFFFFF"/>
                    </a:solidFill>
                  </a:tcPr>
                </a:tc>
                <a:tc>
                  <a:txBody>
                    <a:bodyPr/>
                    <a:lstStyle/>
                    <a:p>
                      <a:r>
                        <a:rPr sz="1800" b="0">
                          <a:solidFill>
                            <a:srgbClr val="202D39"/>
                          </a:solidFill>
                          <a:latin typeface="Arial"/>
                          <a:ea typeface="Arial"/>
                          <a:cs typeface="Arial"/>
                        </a:rPr>
                        <a:t>70,50</a:t>
                      </a:r>
                    </a:p>
                  </a:txBody>
                  <a:tcPr marL="47625" marR="47625" marT="47625" marB="47625">
                    <a:solidFill>
                      <a:srgbClr val="FFFFFF"/>
                    </a:solidFill>
                  </a:tcPr>
                </a:tc>
                <a:tc>
                  <a:txBody>
                    <a:bodyPr/>
                    <a:lstStyle/>
                    <a:p>
                      <a:r>
                        <a:rPr sz="1800" b="0">
                          <a:solidFill>
                            <a:srgbClr val="202D39"/>
                          </a:solidFill>
                          <a:latin typeface="Arial"/>
                          <a:ea typeface="Arial"/>
                          <a:cs typeface="Arial"/>
                        </a:rPr>
                        <a:t>15,77</a:t>
                      </a:r>
                    </a:p>
                  </a:txBody>
                  <a:tcPr marL="47625" marR="47625" marT="47625" marB="47625">
                    <a:solidFill>
                      <a:srgbClr val="FFFFFF"/>
                    </a:solidFill>
                  </a:tcPr>
                </a:tc>
                <a:tc>
                  <a:txBody>
                    <a:bodyPr/>
                    <a:lstStyle/>
                    <a:p>
                      <a:r>
                        <a:rPr sz="1800" b="0">
                          <a:solidFill>
                            <a:srgbClr val="202D39"/>
                          </a:solidFill>
                          <a:latin typeface="Arial"/>
                          <a:ea typeface="Arial"/>
                          <a:cs typeface="Arial"/>
                        </a:rPr>
                        <a:t>233,89</a:t>
                      </a:r>
                    </a:p>
                  </a:txBody>
                  <a:tcPr marL="47625" marR="47625" marT="47625" marB="47625">
                    <a:solidFill>
                      <a:srgbClr val="FFFFFF"/>
                    </a:solidFill>
                  </a:tcPr>
                </a:tc>
                <a:tc>
                  <a:txBody>
                    <a:bodyPr/>
                    <a:lstStyle/>
                    <a:p>
                      <a:r>
                        <a:rPr sz="1800" b="0">
                          <a:solidFill>
                            <a:srgbClr val="202D39"/>
                          </a:solidFill>
                          <a:latin typeface="Arial"/>
                          <a:ea typeface="Arial"/>
                          <a:cs typeface="Arial"/>
                        </a:rPr>
                        <a:t>8,24</a:t>
                      </a:r>
                    </a:p>
                  </a:txBody>
                  <a:tcPr marL="47625" marR="47625" marT="47625" marB="47625">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8EB860A1-28F3-47F8-8FCC-3BDB968A88F2}"/>
              </a:ext>
            </a:extLst>
          </p:cNvPr>
          <p:cNvSpPr>
            <a:spLocks xmlns:a="http://schemas.openxmlformats.org/drawingml/2006/main" noGrp="1"/>
          </p:cNvSpPr>
          <p:nvPr/>
        </p:nvSpPr>
        <p:spPr>
          <a:xfrm xmlns:a="http://schemas.openxmlformats.org/drawingml/2006/main">
            <a:off x="571500" y="583882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072B7"/>
                </a:solidFill>
                <a:latin typeface="Arial"/>
                <a:ea typeface="Arial"/>
                <a:cs typeface="Arial"/>
              </a:defRPr>
            </a:defPPr>
          </a:lstStyle>
          <a:p xmlns:a="http://schemas.openxmlformats.org/drawingml/2006/main">
            <a:pPr>
              <a:buNone/>
              <a:defRPr sz="1800" b="1">
                <a:solidFill>
                  <a:srgbClr val="2072B7"/>
                </a:solidFill>
                <a:latin typeface="Arial"/>
                <a:ea typeface="Arial"/>
                <a:cs typeface="Arial"/>
              </a:defRPr>
            </a:pPr>
            <a:r>
              <a:rPr sz="1800" b="1">
                <a:solidFill>
                  <a:srgbClr val="2072B7"/>
                </a:solidFill>
                <a:latin typeface="Arial"/>
                <a:ea typeface="Arial"/>
                <a:cs typeface="Arial"/>
              </a:rPr>
              <a:t>CatBoost dẫn đầu Weighted F1: 70,50%. LightGBM dẫn đầu Macro F1: 15,87%.</a:t>
            </a:r>
          </a:p>
        </p:txBody>
      </p:sp>
    </p:spTree>
    <p:extLst>
      <p:ext uri="{BB962C8B-B14F-4D97-AF65-F5344CB8AC3E}">
        <p14:creationId xmlns:p14="http://schemas.microsoft.com/office/powerpoint/2010/main" val="24645443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C4BC8F8-83D2-4F25-B5D3-72964F41995C}"/>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Accuracy cao, Macro F1 còn thấp</a:t>
            </a:r>
          </a:p>
        </p:txBody>
      </p:sp>
      <p:sp>
        <p:nvSpPr>
          <p:cNvPr id="2" name="">
            <a:extLst xmlns:a="http://schemas.openxmlformats.org/drawingml/2006/main">
              <a:ext uri="{FF2B5EF4-FFF2-40B4-BE49-F238E27FC236}">
                <a16:creationId xmlns:a16="http://schemas.microsoft.com/office/drawing/2014/main" id="{869689D5-0F3A-4E61-90B5-263420C51CA4}"/>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Lớp OnTime chiếm đa số, nên cần xem thêm chất lượng trên từng nguyên nhân trễ</a:t>
            </a:r>
          </a:p>
        </p:txBody>
      </p:sp>
      <p:sp>
        <p:nvSpPr>
          <p:cNvPr id="3" name="">
            <a:extLst xmlns:a="http://schemas.openxmlformats.org/drawingml/2006/main">
              <a:ext uri="{FF2B5EF4-FFF2-40B4-BE49-F238E27FC236}">
                <a16:creationId xmlns:a16="http://schemas.microsoft.com/office/drawing/2014/main" id="{E513ED91-B83C-42BB-97C9-C767E9A351D0}"/>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24</a:t>
            </a:r>
          </a:p>
        </p:txBody>
      </p:sp>
      <p:sp>
        <p:nvSpPr>
          <p:cNvPr id="4" name="">
            <a:extLst xmlns:a="http://schemas.openxmlformats.org/drawingml/2006/main">
              <a:ext uri="{FF2B5EF4-FFF2-40B4-BE49-F238E27FC236}">
                <a16:creationId xmlns:a16="http://schemas.microsoft.com/office/drawing/2014/main" id="{EE44ABF3-F920-48A4-955B-CF6D6F6480B5}"/>
              </a:ext>
            </a:extLst>
          </p:cNvPr>
          <p:cNvSpPr>
            <a:spLocks xmlns:a="http://schemas.openxmlformats.org/drawingml/2006/main" noGrp="1"/>
          </p:cNvSpPr>
          <p:nvPr/>
        </p:nvSpPr>
        <p:spPr>
          <a:xfrm xmlns:a="http://schemas.openxmlformats.org/drawingml/2006/main">
            <a:off x="571500" y="22860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buNone/>
              <a:defRPr sz="2100" b="0">
                <a:solidFill>
                  <a:srgbClr val="202D39"/>
                </a:solidFill>
                <a:latin typeface="Arial"/>
                <a:ea typeface="Arial"/>
                <a:cs typeface="Arial"/>
              </a:defRPr>
            </a:pPr>
            <a:r>
              <a:rPr sz="2100" b="0">
                <a:solidFill>
                  <a:srgbClr val="202D39"/>
                </a:solidFill>
                <a:latin typeface="Arial"/>
                <a:ea typeface="Arial"/>
                <a:cs typeface="Arial"/>
              </a:rPr>
              <a:t>Accuracy dao động 79,18–79,26%.</a:t>
            </a:r>
          </a:p>
        </p:txBody>
      </p:sp>
      <p:sp>
        <p:nvSpPr>
          <p:cNvPr id="5" name="">
            <a:extLst xmlns:a="http://schemas.openxmlformats.org/drawingml/2006/main">
              <a:ext uri="{FF2B5EF4-FFF2-40B4-BE49-F238E27FC236}">
                <a16:creationId xmlns:a16="http://schemas.microsoft.com/office/drawing/2014/main" id="{1B79B434-6DDD-4F9D-A6CE-0E454D60AC21}"/>
              </a:ext>
            </a:extLst>
          </p:cNvPr>
          <p:cNvSpPr>
            <a:spLocks xmlns:a="http://schemas.openxmlformats.org/drawingml/2006/main" noGrp="1"/>
          </p:cNvSpPr>
          <p:nvPr/>
        </p:nvSpPr>
        <p:spPr>
          <a:xfrm xmlns:a="http://schemas.openxmlformats.org/drawingml/2006/main">
            <a:off x="571500" y="34004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buNone/>
              <a:defRPr sz="2100" b="0">
                <a:solidFill>
                  <a:srgbClr val="202D39"/>
                </a:solidFill>
                <a:latin typeface="Arial"/>
                <a:ea typeface="Arial"/>
                <a:cs typeface="Arial"/>
              </a:defRPr>
            </a:pPr>
            <a:r>
              <a:rPr sz="2100" b="0">
                <a:solidFill>
                  <a:srgbClr val="202D39"/>
                </a:solidFill>
                <a:latin typeface="Arial"/>
                <a:ea typeface="Arial"/>
                <a:cs typeface="Arial"/>
              </a:rPr>
              <a:t>Macro F1 chỉ 14,73–15,87%.</a:t>
            </a:r>
          </a:p>
        </p:txBody>
      </p:sp>
      <p:sp>
        <p:nvSpPr>
          <p:cNvPr id="6" name="">
            <a:extLst xmlns:a="http://schemas.openxmlformats.org/drawingml/2006/main">
              <a:ext uri="{FF2B5EF4-FFF2-40B4-BE49-F238E27FC236}">
                <a16:creationId xmlns:a16="http://schemas.microsoft.com/office/drawing/2014/main" id="{67D4803F-BA65-4E78-8D50-D27DDD23E1E4}"/>
              </a:ext>
            </a:extLst>
          </p:cNvPr>
          <p:cNvSpPr>
            <a:spLocks xmlns:a="http://schemas.openxmlformats.org/drawingml/2006/main" noGrp="1"/>
          </p:cNvSpPr>
          <p:nvPr/>
        </p:nvSpPr>
        <p:spPr>
          <a:xfrm xmlns:a="http://schemas.openxmlformats.org/drawingml/2006/main">
            <a:off x="571500" y="45148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202D39"/>
                </a:solidFill>
                <a:latin typeface="Arial"/>
                <a:ea typeface="Arial"/>
                <a:cs typeface="Arial"/>
              </a:defRPr>
            </a:defPPr>
          </a:lstStyle>
          <a:p xmlns:a="http://schemas.openxmlformats.org/drawingml/2006/main">
            <a:pPr>
              <a:buNone/>
              <a:defRPr sz="2100" b="0">
                <a:solidFill>
                  <a:srgbClr val="202D39"/>
                </a:solidFill>
                <a:latin typeface="Arial"/>
                <a:ea typeface="Arial"/>
                <a:cs typeface="Arial"/>
              </a:defRPr>
            </a:pPr>
            <a:r>
              <a:rPr sz="2100" b="0">
                <a:solidFill>
                  <a:srgbClr val="202D39"/>
                </a:solidFill>
                <a:latin typeface="Arial"/>
                <a:ea typeface="Arial"/>
                <a:cs typeface="Arial"/>
              </a:rPr>
              <a:t>Chênh lệch này cho thấy kết quả tổng thể chưa phản ánh tốt các lớp hiếm.</a:t>
            </a:r>
          </a:p>
        </p:txBody>
      </p:sp>
      <p:graphicFrame>
        <p:nvGraphicFramePr>
          <p:cNvPr id="7" name="Chart">
            <a:extLst xmlns:a="http://schemas.openxmlformats.org/drawingml/2006/main">
              <a:ext uri="{FF2B5EF4-FFF2-40B4-BE49-F238E27FC236}">
                <a16:creationId xmlns:a16="http://schemas.microsoft.com/office/drawing/2014/main" id="{21B438FA-554F-4E35-961C-B112D10272B8}"/>
              </a:ext>
            </a:extLst>
          </p:cNvPr>
          <p:cNvGraphicFramePr/>
          <p:nvPr/>
        </p:nvGraphicFramePr>
        <p:xfrm>
          <a:off xmlns:a="http://schemas.openxmlformats.org/drawingml/2006/main" x="5095875" y="2238375"/>
          <a:ext xmlns:a="http://schemas.openxmlformats.org/drawingml/2006/main" cx="6572250" cy="3667125"/>
        </p:xfrm>
        <a:graphic xmlns:a="http://schemas.openxmlformats.org/drawingml/2006/main">
          <a:graphicData uri="http://schemas.openxmlformats.org/drawingml/2006/chart">
            <c:chart xmlns:r="http://schemas.openxmlformats.org/officeDocument/2006/relationships" xmlns:c="http://schemas.openxmlformats.org/drawingml/2006/chart" r:id="R332c94a0ece94b30"/>
          </a:graphicData>
        </a:graphic>
      </p:graphicFrame>
    </p:spTree>
    <p:extLst>
      <p:ext uri="{BB962C8B-B14F-4D97-AF65-F5344CB8AC3E}">
        <p14:creationId xmlns:p14="http://schemas.microsoft.com/office/powerpoint/2010/main" val="367745104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CE5F85-CBC6-4C64-BED5-CD5302BB41F8}"/>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Ba mô hình Spark MLlib thực đo</a:t>
            </a:r>
          </a:p>
        </p:txBody>
      </p:sp>
      <p:sp>
        <p:nvSpPr>
          <p:cNvPr id="2" name="">
            <a:extLst xmlns:a="http://schemas.openxmlformats.org/drawingml/2006/main">
              <a:ext uri="{FF2B5EF4-FFF2-40B4-BE49-F238E27FC236}">
                <a16:creationId xmlns:a16="http://schemas.microsoft.com/office/drawing/2014/main" id="{F3933A00-7A17-44E4-A2FC-76EE99D1BDEA}"/>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Chỉ Logistic Regression, Decision Tree và Random Forest được xác nhận huấn luyện thật</a:t>
            </a:r>
          </a:p>
        </p:txBody>
      </p:sp>
      <p:sp>
        <p:nvSpPr>
          <p:cNvPr id="3" name="">
            <a:extLst xmlns:a="http://schemas.openxmlformats.org/drawingml/2006/main">
              <a:ext uri="{FF2B5EF4-FFF2-40B4-BE49-F238E27FC236}">
                <a16:creationId xmlns:a16="http://schemas.microsoft.com/office/drawing/2014/main" id="{8F4FCCFF-4FA4-4FB2-81E8-835EB53B442D}"/>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25</a:t>
            </a:r>
          </a:p>
        </p:txBody>
      </p:sp>
      <p:graphicFrame>
        <p:nvGraphicFramePr>
          <p:cNvPr id="4" name="">
            <a:extLst xmlns:a="http://schemas.openxmlformats.org/drawingml/2006/main">
              <a:ext uri="{FF2B5EF4-FFF2-40B4-BE49-F238E27FC236}">
                <a16:creationId xmlns:a16="http://schemas.microsoft.com/office/drawing/2014/main" id="{B341C21B-B56E-4ECC-BB89-CFD6B1E59D4F}"/>
              </a:ext>
            </a:extLst>
          </p:cNvPr>
          <p:cNvGraphicFramePr/>
          <p:nvPr/>
        </p:nvGraphicFramePr>
        <p:xfrm>
          <a:off xmlns:a="http://schemas.openxmlformats.org/drawingml/2006/main" x="571500" y="2266950"/>
          <a:ext xmlns:a="http://schemas.openxmlformats.org/drawingml/2006/main" cx="11049000" cy="2381250"/>
        </p:xfrm>
        <a:graphic xmlns:a="http://schemas.openxmlformats.org/drawingml/2006/main">
          <a:graphicData uri="http://schemas.openxmlformats.org/drawingml/2006/table">
            <a:tbl>
              <a:tblPr/>
              <a:tblGrid>
                <a:gridCol w="3333750"/>
                <a:gridCol w="1714500"/>
                <a:gridCol w="2000250"/>
                <a:gridCol w="1524000"/>
                <a:gridCol w="2476500"/>
              </a:tblGrid>
              <a:tr h="595313">
                <a:tc>
                  <a:txBody>
                    <a:bodyPr/>
                    <a:lstStyle/>
                    <a:p>
                      <a:r>
                        <a:rPr sz="1875" b="1">
                          <a:solidFill>
                            <a:srgbClr val="FFFFFF"/>
                          </a:solidFill>
                          <a:latin typeface="Arial"/>
                          <a:ea typeface="Arial"/>
                          <a:cs typeface="Arial"/>
                        </a:rPr>
                        <a:t>Mô hình Spark</a:t>
                      </a:r>
                    </a:p>
                  </a:txBody>
                  <a:tcPr marL="47625" marR="47625" marT="47625" marB="47625">
                    <a:solidFill>
                      <a:srgbClr val="2072B7"/>
                    </a:solidFill>
                  </a:tcPr>
                </a:tc>
                <a:tc>
                  <a:txBody>
                    <a:bodyPr/>
                    <a:lstStyle/>
                    <a:p>
                      <a:r>
                        <a:rPr sz="1875" b="1">
                          <a:solidFill>
                            <a:srgbClr val="FFFFFF"/>
                          </a:solidFill>
                          <a:latin typeface="Arial"/>
                          <a:ea typeface="Arial"/>
                          <a:cs typeface="Arial"/>
                        </a:rPr>
                        <a:t>Accuracy</a:t>
                      </a:r>
                    </a:p>
                    <a:p>
                      <a:r>
                        <a:rPr sz="1875" b="1">
                          <a:solidFill>
                            <a:srgbClr val="FFFFFF"/>
                          </a:solidFill>
                          <a:latin typeface="Arial"/>
                          <a:ea typeface="Arial"/>
                          <a:cs typeface="Arial"/>
                        </a:rPr>
                        <a:t>%</a:t>
                      </a:r>
                    </a:p>
                  </a:txBody>
                  <a:tcPr marL="47625" marR="47625" marT="47625" marB="47625">
                    <a:solidFill>
                      <a:srgbClr val="2072B7"/>
                    </a:solidFill>
                  </a:tcPr>
                </a:tc>
                <a:tc>
                  <a:txBody>
                    <a:bodyPr/>
                    <a:lstStyle/>
                    <a:p>
                      <a:r>
                        <a:rPr sz="1875" b="1">
                          <a:solidFill>
                            <a:srgbClr val="FFFFFF"/>
                          </a:solidFill>
                          <a:latin typeface="Arial"/>
                          <a:ea typeface="Arial"/>
                          <a:cs typeface="Arial"/>
                        </a:rPr>
                        <a:t>Weighted F1</a:t>
                      </a:r>
                    </a:p>
                    <a:p>
                      <a:r>
                        <a:rPr sz="1875" b="1">
                          <a:solidFill>
                            <a:srgbClr val="FFFFFF"/>
                          </a:solidFill>
                          <a:latin typeface="Arial"/>
                          <a:ea typeface="Arial"/>
                          <a:cs typeface="Arial"/>
                        </a:rPr>
                        <a:t>%</a:t>
                      </a:r>
                    </a:p>
                  </a:txBody>
                  <a:tcPr marL="47625" marR="47625" marT="47625" marB="47625">
                    <a:solidFill>
                      <a:srgbClr val="2072B7"/>
                    </a:solidFill>
                  </a:tcPr>
                </a:tc>
                <a:tc>
                  <a:txBody>
                    <a:bodyPr/>
                    <a:lstStyle/>
                    <a:p>
                      <a:r>
                        <a:rPr sz="1875" b="1">
                          <a:solidFill>
                            <a:srgbClr val="FFFFFF"/>
                          </a:solidFill>
                          <a:latin typeface="Arial"/>
                          <a:ea typeface="Arial"/>
                          <a:cs typeface="Arial"/>
                        </a:rPr>
                        <a:t>Train</a:t>
                      </a:r>
                    </a:p>
                    <a:p>
                      <a:r>
                        <a:rPr sz="1875" b="1">
                          <a:solidFill>
                            <a:srgbClr val="FFFFFF"/>
                          </a:solidFill>
                          <a:latin typeface="Arial"/>
                          <a:ea typeface="Arial"/>
                          <a:cs typeface="Arial"/>
                        </a:rPr>
                        <a:t>giây</a:t>
                      </a:r>
                    </a:p>
                  </a:txBody>
                  <a:tcPr marL="47625" marR="47625" marT="47625" marB="47625">
                    <a:solidFill>
                      <a:srgbClr val="2072B7"/>
                    </a:solidFill>
                  </a:tcPr>
                </a:tc>
                <a:tc>
                  <a:txBody>
                    <a:bodyPr/>
                    <a:lstStyle/>
                    <a:p>
                      <a:r>
                        <a:rPr sz="1875" b="1">
                          <a:solidFill>
                            <a:srgbClr val="FFFFFF"/>
                          </a:solidFill>
                          <a:latin typeface="Arial"/>
                          <a:ea typeface="Arial"/>
                          <a:cs typeface="Arial"/>
                        </a:rPr>
                        <a:t>Suy luận</a:t>
                      </a:r>
                    </a:p>
                    <a:p>
                      <a:r>
                        <a:rPr sz="1875" b="1">
                          <a:solidFill>
                            <a:srgbClr val="FFFFFF"/>
                          </a:solidFill>
                          <a:latin typeface="Arial"/>
                          <a:ea typeface="Arial"/>
                          <a:cs typeface="Arial"/>
                        </a:rPr>
                        <a:t>ms/1.000 mẫu</a:t>
                      </a:r>
                    </a:p>
                  </a:txBody>
                  <a:tcPr marL="47625" marR="47625" marT="47625" marB="47625">
                    <a:solidFill>
                      <a:srgbClr val="2072B7"/>
                    </a:solidFill>
                  </a:tcPr>
                </a:tc>
              </a:tr>
              <a:tr h="595313">
                <a:tc>
                  <a:txBody>
                    <a:bodyPr/>
                    <a:lstStyle/>
                    <a:p>
                      <a:r>
                        <a:rPr sz="1875" b="0">
                          <a:solidFill>
                            <a:srgbClr val="202D39"/>
                          </a:solidFill>
                          <a:latin typeface="Arial"/>
                          <a:ea typeface="Arial"/>
                          <a:cs typeface="Arial"/>
                        </a:rPr>
                        <a:t>Logistic Regression</a:t>
                      </a:r>
                    </a:p>
                  </a:txBody>
                  <a:tcPr marL="47625" marR="47625" marT="47625" marB="47625">
                    <a:solidFill>
                      <a:srgbClr val="EDF5FB"/>
                    </a:solidFill>
                  </a:tcPr>
                </a:tc>
                <a:tc>
                  <a:txBody>
                    <a:bodyPr/>
                    <a:lstStyle/>
                    <a:p>
                      <a:r>
                        <a:rPr sz="1875" b="0">
                          <a:solidFill>
                            <a:srgbClr val="202D39"/>
                          </a:solidFill>
                          <a:latin typeface="Arial"/>
                          <a:ea typeface="Arial"/>
                          <a:cs typeface="Arial"/>
                        </a:rPr>
                        <a:t>79,20</a:t>
                      </a:r>
                    </a:p>
                  </a:txBody>
                  <a:tcPr marL="47625" marR="47625" marT="47625" marB="47625">
                    <a:solidFill>
                      <a:srgbClr val="EDF5FB"/>
                    </a:solidFill>
                  </a:tcPr>
                </a:tc>
                <a:tc>
                  <a:txBody>
                    <a:bodyPr/>
                    <a:lstStyle/>
                    <a:p>
                      <a:r>
                        <a:rPr sz="1875" b="0">
                          <a:solidFill>
                            <a:srgbClr val="202D39"/>
                          </a:solidFill>
                          <a:latin typeface="Arial"/>
                          <a:ea typeface="Arial"/>
                          <a:cs typeface="Arial"/>
                        </a:rPr>
                        <a:t>70,00</a:t>
                      </a:r>
                    </a:p>
                  </a:txBody>
                  <a:tcPr marL="47625" marR="47625" marT="47625" marB="47625">
                    <a:solidFill>
                      <a:srgbClr val="EDF5FB"/>
                    </a:solidFill>
                  </a:tcPr>
                </a:tc>
                <a:tc>
                  <a:txBody>
                    <a:bodyPr/>
                    <a:lstStyle/>
                    <a:p>
                      <a:r>
                        <a:rPr sz="1875" b="0">
                          <a:solidFill>
                            <a:srgbClr val="202D39"/>
                          </a:solidFill>
                          <a:latin typeface="Arial"/>
                          <a:ea typeface="Arial"/>
                          <a:cs typeface="Arial"/>
                        </a:rPr>
                        <a:t>19,29</a:t>
                      </a:r>
                    </a:p>
                  </a:txBody>
                  <a:tcPr marL="47625" marR="47625" marT="47625" marB="47625">
                    <a:solidFill>
                      <a:srgbClr val="EDF5FB"/>
                    </a:solidFill>
                  </a:tcPr>
                </a:tc>
                <a:tc>
                  <a:txBody>
                    <a:bodyPr/>
                    <a:lstStyle/>
                    <a:p>
                      <a:r>
                        <a:rPr sz="1875" b="0">
                          <a:solidFill>
                            <a:srgbClr val="202D39"/>
                          </a:solidFill>
                          <a:latin typeface="Arial"/>
                          <a:ea typeface="Arial"/>
                          <a:cs typeface="Arial"/>
                        </a:rPr>
                        <a:t>2,19</a:t>
                      </a:r>
                    </a:p>
                  </a:txBody>
                  <a:tcPr marL="47625" marR="47625" marT="47625" marB="47625">
                    <a:solidFill>
                      <a:srgbClr val="EDF5FB"/>
                    </a:solidFill>
                  </a:tcPr>
                </a:tc>
              </a:tr>
              <a:tr h="595313">
                <a:tc>
                  <a:txBody>
                    <a:bodyPr/>
                    <a:lstStyle/>
                    <a:p>
                      <a:r>
                        <a:rPr sz="1875" b="0">
                          <a:solidFill>
                            <a:srgbClr val="202D39"/>
                          </a:solidFill>
                          <a:latin typeface="Arial"/>
                          <a:ea typeface="Arial"/>
                          <a:cs typeface="Arial"/>
                        </a:rPr>
                        <a:t>Decision Tree</a:t>
                      </a:r>
                    </a:p>
                  </a:txBody>
                  <a:tcPr marL="47625" marR="47625" marT="47625" marB="47625">
                    <a:solidFill>
                      <a:srgbClr val="FFFFFF"/>
                    </a:solidFill>
                  </a:tcPr>
                </a:tc>
                <a:tc>
                  <a:txBody>
                    <a:bodyPr/>
                    <a:lstStyle/>
                    <a:p>
                      <a:r>
                        <a:rPr sz="1875" b="0">
                          <a:solidFill>
                            <a:srgbClr val="202D39"/>
                          </a:solidFill>
                          <a:latin typeface="Arial"/>
                          <a:ea typeface="Arial"/>
                          <a:cs typeface="Arial"/>
                        </a:rPr>
                        <a:t>79,20</a:t>
                      </a:r>
                    </a:p>
                  </a:txBody>
                  <a:tcPr marL="47625" marR="47625" marT="47625" marB="47625">
                    <a:solidFill>
                      <a:srgbClr val="FFFFFF"/>
                    </a:solidFill>
                  </a:tcPr>
                </a:tc>
                <a:tc>
                  <a:txBody>
                    <a:bodyPr/>
                    <a:lstStyle/>
                    <a:p>
                      <a:r>
                        <a:rPr sz="1875" b="0">
                          <a:solidFill>
                            <a:srgbClr val="202D39"/>
                          </a:solidFill>
                          <a:latin typeface="Arial"/>
                          <a:ea typeface="Arial"/>
                          <a:cs typeface="Arial"/>
                        </a:rPr>
                        <a:t>70,00</a:t>
                      </a:r>
                    </a:p>
                  </a:txBody>
                  <a:tcPr marL="47625" marR="47625" marT="47625" marB="47625">
                    <a:solidFill>
                      <a:srgbClr val="FFFFFF"/>
                    </a:solidFill>
                  </a:tcPr>
                </a:tc>
                <a:tc>
                  <a:txBody>
                    <a:bodyPr/>
                    <a:lstStyle/>
                    <a:p>
                      <a:r>
                        <a:rPr sz="1875" b="0">
                          <a:solidFill>
                            <a:srgbClr val="202D39"/>
                          </a:solidFill>
                          <a:latin typeface="Arial"/>
                          <a:ea typeface="Arial"/>
                          <a:cs typeface="Arial"/>
                        </a:rPr>
                        <a:t>23,13</a:t>
                      </a:r>
                    </a:p>
                  </a:txBody>
                  <a:tcPr marL="47625" marR="47625" marT="47625" marB="47625">
                    <a:solidFill>
                      <a:srgbClr val="FFFFFF"/>
                    </a:solidFill>
                  </a:tcPr>
                </a:tc>
                <a:tc>
                  <a:txBody>
                    <a:bodyPr/>
                    <a:lstStyle/>
                    <a:p>
                      <a:r>
                        <a:rPr sz="1875" b="0">
                          <a:solidFill>
                            <a:srgbClr val="202D39"/>
                          </a:solidFill>
                          <a:latin typeface="Arial"/>
                          <a:ea typeface="Arial"/>
                          <a:cs typeface="Arial"/>
                        </a:rPr>
                        <a:t>1,77</a:t>
                      </a:r>
                    </a:p>
                  </a:txBody>
                  <a:tcPr marL="47625" marR="47625" marT="47625" marB="47625">
                    <a:solidFill>
                      <a:srgbClr val="FFFFFF"/>
                    </a:solidFill>
                  </a:tcPr>
                </a:tc>
              </a:tr>
              <a:tr h="595313">
                <a:tc>
                  <a:txBody>
                    <a:bodyPr/>
                    <a:lstStyle/>
                    <a:p>
                      <a:r>
                        <a:rPr sz="1875" b="0">
                          <a:solidFill>
                            <a:srgbClr val="202D39"/>
                          </a:solidFill>
                          <a:latin typeface="Arial"/>
                          <a:ea typeface="Arial"/>
                          <a:cs typeface="Arial"/>
                        </a:rPr>
                        <a:t>Random Forest</a:t>
                      </a:r>
                    </a:p>
                  </a:txBody>
                  <a:tcPr marL="47625" marR="47625" marT="47625" marB="47625">
                    <a:solidFill>
                      <a:srgbClr val="EDF5FB"/>
                    </a:solidFill>
                  </a:tcPr>
                </a:tc>
                <a:tc>
                  <a:txBody>
                    <a:bodyPr/>
                    <a:lstStyle/>
                    <a:p>
                      <a:r>
                        <a:rPr sz="1875" b="0">
                          <a:solidFill>
                            <a:srgbClr val="202D39"/>
                          </a:solidFill>
                          <a:latin typeface="Arial"/>
                          <a:ea typeface="Arial"/>
                          <a:cs typeface="Arial"/>
                        </a:rPr>
                        <a:t>79,20</a:t>
                      </a:r>
                    </a:p>
                  </a:txBody>
                  <a:tcPr marL="47625" marR="47625" marT="47625" marB="47625">
                    <a:solidFill>
                      <a:srgbClr val="EDF5FB"/>
                    </a:solidFill>
                  </a:tcPr>
                </a:tc>
                <a:tc>
                  <a:txBody>
                    <a:bodyPr/>
                    <a:lstStyle/>
                    <a:p>
                      <a:r>
                        <a:rPr sz="1875" b="0">
                          <a:solidFill>
                            <a:srgbClr val="202D39"/>
                          </a:solidFill>
                          <a:latin typeface="Arial"/>
                          <a:ea typeface="Arial"/>
                          <a:cs typeface="Arial"/>
                        </a:rPr>
                        <a:t>70,00</a:t>
                      </a:r>
                    </a:p>
                  </a:txBody>
                  <a:tcPr marL="47625" marR="47625" marT="47625" marB="47625">
                    <a:solidFill>
                      <a:srgbClr val="EDF5FB"/>
                    </a:solidFill>
                  </a:tcPr>
                </a:tc>
                <a:tc>
                  <a:txBody>
                    <a:bodyPr/>
                    <a:lstStyle/>
                    <a:p>
                      <a:r>
                        <a:rPr sz="1875" b="0">
                          <a:solidFill>
                            <a:srgbClr val="202D39"/>
                          </a:solidFill>
                          <a:latin typeface="Arial"/>
                          <a:ea typeface="Arial"/>
                          <a:cs typeface="Arial"/>
                        </a:rPr>
                        <a:t>31,03</a:t>
                      </a:r>
                    </a:p>
                  </a:txBody>
                  <a:tcPr marL="47625" marR="47625" marT="47625" marB="47625">
                    <a:solidFill>
                      <a:srgbClr val="EDF5FB"/>
                    </a:solidFill>
                  </a:tcPr>
                </a:tc>
                <a:tc>
                  <a:txBody>
                    <a:bodyPr/>
                    <a:lstStyle/>
                    <a:p>
                      <a:r>
                        <a:rPr sz="1875" b="0">
                          <a:solidFill>
                            <a:srgbClr val="202D39"/>
                          </a:solidFill>
                          <a:latin typeface="Arial"/>
                          <a:ea typeface="Arial"/>
                          <a:cs typeface="Arial"/>
                        </a:rPr>
                        <a:t>1,86</a:t>
                      </a:r>
                    </a:p>
                  </a:txBody>
                  <a:tcPr marL="47625" marR="47625" marT="47625" marB="47625">
                    <a:solidFill>
                      <a:srgbClr val="EDF5FB"/>
                    </a:solidFill>
                  </a:tcPr>
                </a:tc>
              </a:tr>
            </a:tbl>
          </a:graphicData>
        </a:graphic>
      </p:graphicFrame>
      <p:sp>
        <p:nvSpPr>
          <p:cNvPr id="5" name="">
            <a:extLst xmlns:a="http://schemas.openxmlformats.org/drawingml/2006/main">
              <a:ext uri="{FF2B5EF4-FFF2-40B4-BE49-F238E27FC236}">
                <a16:creationId xmlns:a16="http://schemas.microsoft.com/office/drawing/2014/main" id="{0EAACC3B-F8E2-4E8F-915B-8184A77037C4}"/>
              </a:ext>
            </a:extLst>
          </p:cNvPr>
          <p:cNvSpPr>
            <a:spLocks xmlns:a="http://schemas.openxmlformats.org/drawingml/2006/main" noGrp="1"/>
          </p:cNvSpPr>
          <p:nvPr/>
        </p:nvSpPr>
        <p:spPr>
          <a:xfrm xmlns:a="http://schemas.openxmlformats.org/drawingml/2006/main">
            <a:off x="571500" y="5000625"/>
            <a:ext cx="1104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072B7"/>
                </a:solidFill>
                <a:latin typeface="Arial"/>
                <a:ea typeface="Arial"/>
                <a:cs typeface="Arial"/>
              </a:defRPr>
            </a:defPPr>
          </a:lstStyle>
          <a:p xmlns:a="http://schemas.openxmlformats.org/drawingml/2006/main">
            <a:pPr>
              <a:buNone/>
              <a:defRPr sz="2100" b="1">
                <a:solidFill>
                  <a:srgbClr val="2072B7"/>
                </a:solidFill>
                <a:latin typeface="Arial"/>
                <a:ea typeface="Arial"/>
                <a:cs typeface="Arial"/>
              </a:defRPr>
            </a:pPr>
            <a:r>
              <a:rPr sz="2100" b="1">
                <a:solidFill>
                  <a:srgbClr val="2072B7"/>
                </a:solidFill>
                <a:latin typeface="Arial"/>
                <a:ea typeface="Arial"/>
                <a:cs typeface="Arial"/>
              </a:rPr>
              <a:t>Cả ba đạt Accuracy 79,20% và Weighted F1 70,00%.</a:t>
            </a:r>
          </a:p>
        </p:txBody>
      </p:sp>
      <p:sp>
        <p:nvSpPr>
          <p:cNvPr id="6" name="">
            <a:extLst xmlns:a="http://schemas.openxmlformats.org/drawingml/2006/main">
              <a:ext uri="{FF2B5EF4-FFF2-40B4-BE49-F238E27FC236}">
                <a16:creationId xmlns:a16="http://schemas.microsoft.com/office/drawing/2014/main" id="{C452878B-3256-4FFA-9ADF-9BA861420E2B}"/>
              </a:ext>
            </a:extLst>
          </p:cNvPr>
          <p:cNvSpPr>
            <a:spLocks xmlns:a="http://schemas.openxmlformats.org/drawingml/2006/main" noGrp="1"/>
          </p:cNvSpPr>
          <p:nvPr/>
        </p:nvSpPr>
        <p:spPr>
          <a:xfrm xmlns:a="http://schemas.openxmlformats.org/drawingml/2006/main">
            <a:off x="571500" y="5619750"/>
            <a:ext cx="1104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86675"/>
                </a:solidFill>
                <a:latin typeface="Arial"/>
                <a:ea typeface="Arial"/>
                <a:cs typeface="Arial"/>
              </a:defRPr>
            </a:defPPr>
          </a:lstStyle>
          <a:p xmlns:a="http://schemas.openxmlformats.org/drawingml/2006/main">
            <a:pPr>
              <a:buNone/>
              <a:defRPr sz="1800" b="0">
                <a:solidFill>
                  <a:srgbClr val="586675"/>
                </a:solidFill>
                <a:latin typeface="Arial"/>
                <a:ea typeface="Arial"/>
                <a:cs typeface="Arial"/>
              </a:defRPr>
            </a:pPr>
            <a:r>
              <a:rPr sz="1800" b="0">
                <a:solidFill>
                  <a:srgbClr val="586675"/>
                </a:solidFill>
                <a:latin typeface="Arial"/>
                <a:ea typeface="Arial"/>
                <a:cs typeface="Arial"/>
              </a:rPr>
              <a:t>Macro F1 chưa có. Ba tích hợp boosting Spark chưa có kết quả thực đo hợp lệ.</a:t>
            </a:r>
          </a:p>
        </p:txBody>
      </p:sp>
    </p:spTree>
    <p:extLst>
      <p:ext uri="{BB962C8B-B14F-4D97-AF65-F5344CB8AC3E}">
        <p14:creationId xmlns:p14="http://schemas.microsoft.com/office/powerpoint/2010/main" val="189450309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EB0412B-280F-439E-8B53-FC2B27291664}"/>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Đối sánh thời gian CPU và Spark</a:t>
            </a:r>
          </a:p>
        </p:txBody>
      </p:sp>
      <p:sp>
        <p:nvSpPr>
          <p:cNvPr id="2" name="">
            <a:extLst xmlns:a="http://schemas.openxmlformats.org/drawingml/2006/main">
              <a:ext uri="{FF2B5EF4-FFF2-40B4-BE49-F238E27FC236}">
                <a16:creationId xmlns:a16="http://schemas.microsoft.com/office/drawing/2014/main" id="{6862E8A3-B3F9-48E9-AC28-D466775233A7}"/>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Random Forest Spark có thời gian train thấp hơn trong hai cấu hình đang xét</a:t>
            </a:r>
          </a:p>
        </p:txBody>
      </p:sp>
      <p:sp>
        <p:nvSpPr>
          <p:cNvPr id="3" name="">
            <a:extLst xmlns:a="http://schemas.openxmlformats.org/drawingml/2006/main">
              <a:ext uri="{FF2B5EF4-FFF2-40B4-BE49-F238E27FC236}">
                <a16:creationId xmlns:a16="http://schemas.microsoft.com/office/drawing/2014/main" id="{2ED5B7B8-165D-40E5-9F0D-A32CDBD6A27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26</a:t>
            </a:r>
          </a:p>
        </p:txBody>
      </p:sp>
      <p:sp>
        <p:nvSpPr>
          <p:cNvPr id="4" name="">
            <a:extLst xmlns:a="http://schemas.openxmlformats.org/drawingml/2006/main">
              <a:ext uri="{FF2B5EF4-FFF2-40B4-BE49-F238E27FC236}">
                <a16:creationId xmlns:a16="http://schemas.microsoft.com/office/drawing/2014/main" id="{38B3B6B2-3F89-470D-82E1-C812B41EBBA4}"/>
              </a:ext>
            </a:extLst>
          </p:cNvPr>
          <p:cNvSpPr>
            <a:spLocks xmlns:a="http://schemas.openxmlformats.org/drawingml/2006/main" noGrp="1"/>
          </p:cNvSpPr>
          <p:nvPr/>
        </p:nvSpPr>
        <p:spPr>
          <a:xfrm xmlns:a="http://schemas.openxmlformats.org/drawingml/2006/main">
            <a:off x="571500" y="2238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Random Forest train: 85,18 giây CPU và 31,03 giây Spark.</a:t>
            </a:r>
          </a:p>
        </p:txBody>
      </p:sp>
      <p:sp>
        <p:nvSpPr>
          <p:cNvPr id="5" name="">
            <a:extLst xmlns:a="http://schemas.openxmlformats.org/drawingml/2006/main">
              <a:ext uri="{FF2B5EF4-FFF2-40B4-BE49-F238E27FC236}">
                <a16:creationId xmlns:a16="http://schemas.microsoft.com/office/drawing/2014/main" id="{E5AD9E06-0B6F-4B5E-B163-079A4018E1A1}"/>
              </a:ext>
            </a:extLst>
          </p:cNvPr>
          <p:cNvSpPr>
            <a:spLocks xmlns:a="http://schemas.openxmlformats.org/drawingml/2006/main" noGrp="1"/>
          </p:cNvSpPr>
          <p:nvPr/>
        </p:nvSpPr>
        <p:spPr>
          <a:xfrm xmlns:a="http://schemas.openxmlformats.org/drawingml/2006/main">
            <a:off x="571500" y="33528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Tỷ lệ thời gian train: 2,75 lần.</a:t>
            </a:r>
          </a:p>
        </p:txBody>
      </p:sp>
      <p:sp>
        <p:nvSpPr>
          <p:cNvPr id="6" name="">
            <a:extLst xmlns:a="http://schemas.openxmlformats.org/drawingml/2006/main">
              <a:ext uri="{FF2B5EF4-FFF2-40B4-BE49-F238E27FC236}">
                <a16:creationId xmlns:a16="http://schemas.microsoft.com/office/drawing/2014/main" id="{84DF3D22-098C-49B8-9B42-2039091F084D}"/>
              </a:ext>
            </a:extLst>
          </p:cNvPr>
          <p:cNvSpPr>
            <a:spLocks xmlns:a="http://schemas.openxmlformats.org/drawingml/2006/main" noGrp="1"/>
          </p:cNvSpPr>
          <p:nvPr/>
        </p:nvSpPr>
        <p:spPr>
          <a:xfrm xmlns:a="http://schemas.openxmlformats.org/drawingml/2006/main">
            <a:off x="571500" y="44672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Suy luận: 16,31 và 1,86 ms/1.000 mẫu, tỷ lệ 8,77 lần.</a:t>
            </a:r>
          </a:p>
        </p:txBody>
      </p:sp>
      <p:graphicFrame>
        <p:nvGraphicFramePr>
          <p:cNvPr id="7" name="Chart">
            <a:extLst xmlns:a="http://schemas.openxmlformats.org/drawingml/2006/main">
              <a:ext uri="{FF2B5EF4-FFF2-40B4-BE49-F238E27FC236}">
                <a16:creationId xmlns:a16="http://schemas.microsoft.com/office/drawing/2014/main" id="{BC6D90B0-C2AD-439B-8018-0B7F56494DB9}"/>
              </a:ext>
            </a:extLst>
          </p:cNvPr>
          <p:cNvGraphicFramePr/>
          <p:nvPr/>
        </p:nvGraphicFramePr>
        <p:xfrm>
          <a:off xmlns:a="http://schemas.openxmlformats.org/drawingml/2006/main" x="5095875" y="2190750"/>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723155ae26b84256"/>
          </a:graphicData>
        </a:graphic>
      </p:graphicFrame>
      <p:sp>
        <p:nvSpPr>
          <p:cNvPr id="8" name="">
            <a:extLst xmlns:a="http://schemas.openxmlformats.org/drawingml/2006/main">
              <a:ext uri="{FF2B5EF4-FFF2-40B4-BE49-F238E27FC236}">
                <a16:creationId xmlns:a16="http://schemas.microsoft.com/office/drawing/2014/main" id="{0A0C63D2-9879-4583-8567-0410AAC11C00}"/>
              </a:ext>
            </a:extLst>
          </p:cNvPr>
          <p:cNvSpPr>
            <a:spLocks xmlns:a="http://schemas.openxmlformats.org/drawingml/2006/main" noGrp="1"/>
          </p:cNvSpPr>
          <p:nvPr/>
        </p:nvSpPr>
        <p:spPr>
          <a:xfrm xmlns:a="http://schemas.openxmlformats.org/drawingml/2006/main">
            <a:off x="571500" y="59721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86675"/>
                </a:solidFill>
                <a:latin typeface="Arial"/>
                <a:ea typeface="Arial"/>
                <a:cs typeface="Arial"/>
              </a:defRPr>
            </a:defPPr>
          </a:lstStyle>
          <a:p xmlns:a="http://schemas.openxmlformats.org/drawingml/2006/main">
            <a:pPr>
              <a:buNone/>
              <a:defRPr sz="1725" b="0">
                <a:solidFill>
                  <a:srgbClr val="586675"/>
                </a:solidFill>
                <a:latin typeface="Arial"/>
                <a:ea typeface="Arial"/>
                <a:cs typeface="Arial"/>
              </a:defRPr>
            </a:pPr>
            <a:r>
              <a:rPr sz="1725" b="0">
                <a:solidFill>
                  <a:srgbClr val="586675"/>
                </a:solidFill>
                <a:latin typeface="Arial"/>
                <a:ea typeface="Arial"/>
                <a:cs typeface="Arial"/>
              </a:rPr>
              <a:t>Khác cấu hình và tập test chưa cố định. Không suy ra tăng tốc toàn trình.</a:t>
            </a:r>
          </a:p>
        </p:txBody>
      </p:sp>
    </p:spTree>
    <p:extLst>
      <p:ext uri="{BB962C8B-B14F-4D97-AF65-F5344CB8AC3E}">
        <p14:creationId xmlns:p14="http://schemas.microsoft.com/office/powerpoint/2010/main" val="334394470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0CB2D5-5F3E-4C45-8D0B-671A7DC375A2}"/>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Ma trận nhầm lẫn Random Forest CPU</a:t>
            </a:r>
          </a:p>
        </p:txBody>
      </p:sp>
      <p:sp>
        <p:nvSpPr>
          <p:cNvPr id="2" name="">
            <a:extLst xmlns:a="http://schemas.openxmlformats.org/drawingml/2006/main">
              <a:ext uri="{FF2B5EF4-FFF2-40B4-BE49-F238E27FC236}">
                <a16:creationId xmlns:a16="http://schemas.microsoft.com/office/drawing/2014/main" id="{0B109B00-91AB-4A24-B8C6-DAD8D26EA542}"/>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Ở mức làm tròn của hình, mô hình gần như chỉ dự đoán OnTime</a:t>
            </a:r>
          </a:p>
        </p:txBody>
      </p:sp>
      <p:sp>
        <p:nvSpPr>
          <p:cNvPr id="3" name="">
            <a:extLst xmlns:a="http://schemas.openxmlformats.org/drawingml/2006/main">
              <a:ext uri="{FF2B5EF4-FFF2-40B4-BE49-F238E27FC236}">
                <a16:creationId xmlns:a16="http://schemas.microsoft.com/office/drawing/2014/main" id="{0DD0D76D-8C90-4DC3-9A24-98EF7EBBF9F8}"/>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27</a:t>
            </a:r>
          </a:p>
        </p:txBody>
      </p:sp>
      <p:graphicFrame>
        <p:nvGraphicFramePr>
          <p:cNvPr id="4" name="">
            <a:extLst xmlns:a="http://schemas.openxmlformats.org/drawingml/2006/main">
              <a:ext uri="{FF2B5EF4-FFF2-40B4-BE49-F238E27FC236}">
                <a16:creationId xmlns:a16="http://schemas.microsoft.com/office/drawing/2014/main" id="{49282074-B6D8-4900-8724-0D5E783C20CD}"/>
              </a:ext>
            </a:extLst>
          </p:cNvPr>
          <p:cNvGraphicFramePr/>
          <p:nvPr/>
        </p:nvGraphicFramePr>
        <p:xfrm>
          <a:off xmlns:a="http://schemas.openxmlformats.org/drawingml/2006/main" x="523875" y="2381250"/>
          <a:ext xmlns:a="http://schemas.openxmlformats.org/drawingml/2006/main" cx="6572250" cy="3048000"/>
        </p:xfrm>
        <a:graphic xmlns:a="http://schemas.openxmlformats.org/drawingml/2006/main">
          <a:graphicData uri="http://schemas.openxmlformats.org/drawingml/2006/table">
            <a:tbl>
              <a:tblPr/>
              <a:tblGrid>
                <a:gridCol w="1238250"/>
                <a:gridCol w="889000"/>
                <a:gridCol w="889000"/>
                <a:gridCol w="889000"/>
                <a:gridCol w="889000"/>
                <a:gridCol w="889000"/>
                <a:gridCol w="889000"/>
              </a:tblGrid>
              <a:tr h="619125">
                <a:tc>
                  <a:txBody>
                    <a:bodyPr/>
                    <a:lstStyle/>
                    <a:p>
                      <a:r>
                        <a:rPr sz="1350" b="1">
                          <a:solidFill>
                            <a:srgbClr val="FFFFFF"/>
                          </a:solidFill>
                          <a:latin typeface="Arial"/>
                          <a:ea typeface="Arial"/>
                          <a:cs typeface="Arial"/>
                        </a:rPr>
                        <a:t>Thực tế /</a:t>
                      </a:r>
                    </a:p>
                    <a:p>
                      <a:r>
                        <a:rPr sz="1350" b="1">
                          <a:solidFill>
                            <a:srgbClr val="FFFFFF"/>
                          </a:solidFill>
                          <a:latin typeface="Arial"/>
                          <a:ea typeface="Arial"/>
                          <a:cs typeface="Arial"/>
                        </a:rPr>
                        <a:t>Dự đoán</a:t>
                      </a:r>
                    </a:p>
                  </a:txBody>
                  <a:tcPr marL="47625" marR="47625" marT="47625" marB="47625">
                    <a:solidFill>
                      <a:srgbClr val="2072B7"/>
                    </a:solidFill>
                  </a:tcPr>
                </a:tc>
                <a:tc>
                  <a:txBody>
                    <a:bodyPr/>
                    <a:lstStyle/>
                    <a:p>
                      <a:r>
                        <a:rPr sz="1350" b="1">
                          <a:solidFill>
                            <a:srgbClr val="FFFFFF"/>
                          </a:solidFill>
                          <a:latin typeface="Arial"/>
                          <a:ea typeface="Arial"/>
                          <a:cs typeface="Arial"/>
                        </a:rPr>
                        <a:t>OnTime</a:t>
                      </a:r>
                    </a:p>
                  </a:txBody>
                  <a:tcPr marL="47625" marR="47625" marT="47625" marB="47625">
                    <a:solidFill>
                      <a:srgbClr val="2072B7"/>
                    </a:solidFill>
                  </a:tcPr>
                </a:tc>
                <a:tc>
                  <a:txBody>
                    <a:bodyPr/>
                    <a:lstStyle/>
                    <a:p>
                      <a:r>
                        <a:rPr sz="1350" b="1">
                          <a:solidFill>
                            <a:srgbClr val="FFFFFF"/>
                          </a:solidFill>
                          <a:latin typeface="Arial"/>
                          <a:ea typeface="Arial"/>
                          <a:cs typeface="Arial"/>
                        </a:rPr>
                        <a:t>Carrier</a:t>
                      </a:r>
                    </a:p>
                  </a:txBody>
                  <a:tcPr marL="47625" marR="47625" marT="47625" marB="47625">
                    <a:solidFill>
                      <a:srgbClr val="2072B7"/>
                    </a:solidFill>
                  </a:tcPr>
                </a:tc>
                <a:tc>
                  <a:txBody>
                    <a:bodyPr/>
                    <a:lstStyle/>
                    <a:p>
                      <a:r>
                        <a:rPr sz="1350" b="1">
                          <a:solidFill>
                            <a:srgbClr val="FFFFFF"/>
                          </a:solidFill>
                          <a:latin typeface="Arial"/>
                          <a:ea typeface="Arial"/>
                          <a:cs typeface="Arial"/>
                        </a:rPr>
                        <a:t>Weather</a:t>
                      </a:r>
                    </a:p>
                  </a:txBody>
                  <a:tcPr marL="47625" marR="47625" marT="47625" marB="47625">
                    <a:solidFill>
                      <a:srgbClr val="2072B7"/>
                    </a:solidFill>
                  </a:tcPr>
                </a:tc>
                <a:tc>
                  <a:txBody>
                    <a:bodyPr/>
                    <a:lstStyle/>
                    <a:p>
                      <a:r>
                        <a:rPr sz="1350" b="1">
                          <a:solidFill>
                            <a:srgbClr val="FFFFFF"/>
                          </a:solidFill>
                          <a:latin typeface="Arial"/>
                          <a:ea typeface="Arial"/>
                          <a:cs typeface="Arial"/>
                        </a:rPr>
                        <a:t>NAS</a:t>
                      </a:r>
                    </a:p>
                  </a:txBody>
                  <a:tcPr marL="47625" marR="47625" marT="47625" marB="47625">
                    <a:solidFill>
                      <a:srgbClr val="2072B7"/>
                    </a:solidFill>
                  </a:tcPr>
                </a:tc>
                <a:tc>
                  <a:txBody>
                    <a:bodyPr/>
                    <a:lstStyle/>
                    <a:p>
                      <a:r>
                        <a:rPr sz="1350" b="1">
                          <a:solidFill>
                            <a:srgbClr val="FFFFFF"/>
                          </a:solidFill>
                          <a:latin typeface="Arial"/>
                          <a:ea typeface="Arial"/>
                          <a:cs typeface="Arial"/>
                        </a:rPr>
                        <a:t>Security</a:t>
                      </a:r>
                    </a:p>
                  </a:txBody>
                  <a:tcPr marL="47625" marR="47625" marT="47625" marB="47625">
                    <a:solidFill>
                      <a:srgbClr val="2072B7"/>
                    </a:solidFill>
                  </a:tcPr>
                </a:tc>
                <a:tc>
                  <a:txBody>
                    <a:bodyPr/>
                    <a:lstStyle/>
                    <a:p>
                      <a:r>
                        <a:rPr sz="1350" b="1">
                          <a:solidFill>
                            <a:srgbClr val="FFFFFF"/>
                          </a:solidFill>
                          <a:latin typeface="Arial"/>
                          <a:ea typeface="Arial"/>
                          <a:cs typeface="Arial"/>
                        </a:rPr>
                        <a:t>Late</a:t>
                      </a:r>
                    </a:p>
                    <a:p>
                      <a:r>
                        <a:rPr sz="1350" b="1">
                          <a:solidFill>
                            <a:srgbClr val="FFFFFF"/>
                          </a:solidFill>
                          <a:latin typeface="Arial"/>
                          <a:ea typeface="Arial"/>
                          <a:cs typeface="Arial"/>
                        </a:rPr>
                        <a:t>Aircraft</a:t>
                      </a:r>
                    </a:p>
                  </a:txBody>
                  <a:tcPr marL="47625" marR="47625" marT="47625" marB="47625">
                    <a:solidFill>
                      <a:srgbClr val="2072B7"/>
                    </a:solidFill>
                  </a:tcPr>
                </a:tc>
              </a:tr>
              <a:tr h="409575">
                <a:tc>
                  <a:txBody>
                    <a:bodyPr/>
                    <a:lstStyle/>
                    <a:p>
                      <a:r>
                        <a:rPr sz="1350" b="0">
                          <a:solidFill>
                            <a:srgbClr val="202D39"/>
                          </a:solidFill>
                          <a:latin typeface="Arial"/>
                          <a:ea typeface="Arial"/>
                          <a:cs typeface="Arial"/>
                        </a:rPr>
                        <a:t>OnTime</a:t>
                      </a:r>
                    </a:p>
                  </a:txBody>
                  <a:tcPr marL="47625" marR="47625" marT="47625" marB="47625">
                    <a:solidFill>
                      <a:srgbClr val="EDF5FB"/>
                    </a:solidFill>
                  </a:tcPr>
                </a:tc>
                <a:tc>
                  <a:txBody>
                    <a:bodyPr/>
                    <a:lstStyle/>
                    <a:p>
                      <a:r>
                        <a:rPr sz="1800" b="1">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Carrier</a:t>
                      </a:r>
                    </a:p>
                  </a:txBody>
                  <a:tcPr marL="47625" marR="47625" marT="47625" marB="47625">
                    <a:solidFill>
                      <a:srgbClr val="FFFFFF"/>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Weather</a:t>
                      </a:r>
                    </a:p>
                  </a:txBody>
                  <a:tcPr marL="47625" marR="47625" marT="47625" marB="47625">
                    <a:solidFill>
                      <a:srgbClr val="EDF5FB"/>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NAS</a:t>
                      </a:r>
                    </a:p>
                  </a:txBody>
                  <a:tcPr marL="47625" marR="47625" marT="47625" marB="47625">
                    <a:solidFill>
                      <a:srgbClr val="FFFFFF"/>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Security</a:t>
                      </a:r>
                    </a:p>
                  </a:txBody>
                  <a:tcPr marL="47625" marR="47625" marT="47625" marB="47625">
                    <a:solidFill>
                      <a:srgbClr val="EDF5FB"/>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r>
              <a:tr h="409575">
                <a:tc>
                  <a:txBody>
                    <a:bodyPr/>
                    <a:lstStyle/>
                    <a:p>
                      <a:r>
                        <a:rPr sz="1350" b="0">
                          <a:solidFill>
                            <a:srgbClr val="202D39"/>
                          </a:solidFill>
                          <a:latin typeface="Arial"/>
                          <a:ea typeface="Arial"/>
                          <a:cs typeface="Arial"/>
                        </a:rPr>
                        <a:t>LateAircraft</a:t>
                      </a:r>
                    </a:p>
                  </a:txBody>
                  <a:tcPr marL="47625" marR="47625" marT="47625" marB="47625">
                    <a:solidFill>
                      <a:srgbClr val="FFFFFF"/>
                    </a:solidFill>
                  </a:tcPr>
                </a:tc>
                <a:tc>
                  <a:txBody>
                    <a:bodyPr/>
                    <a:lstStyle/>
                    <a:p>
                      <a:r>
                        <a:rPr sz="1800" b="0">
                          <a:solidFill>
                            <a:srgbClr val="FFFFFF"/>
                          </a:solidFill>
                          <a:latin typeface="Arial"/>
                          <a:ea typeface="Arial"/>
                          <a:cs typeface="Arial"/>
                        </a:rPr>
                        <a:t>100,0</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r>
            </a:tbl>
          </a:graphicData>
        </a:graphic>
      </p:graphicFrame>
      <p:sp>
        <p:nvSpPr>
          <p:cNvPr id="5" name="">
            <a:extLst xmlns:a="http://schemas.openxmlformats.org/drawingml/2006/main">
              <a:ext uri="{FF2B5EF4-FFF2-40B4-BE49-F238E27FC236}">
                <a16:creationId xmlns:a16="http://schemas.microsoft.com/office/drawing/2014/main" id="{49B048B5-6D54-4829-9BFB-9632E2171F5C}"/>
              </a:ext>
            </a:extLst>
          </p:cNvPr>
          <p:cNvSpPr>
            <a:spLocks xmlns:a="http://schemas.openxmlformats.org/drawingml/2006/main" noGrp="1"/>
          </p:cNvSpPr>
          <p:nvPr/>
        </p:nvSpPr>
        <p:spPr>
          <a:xfrm xmlns:a="http://schemas.openxmlformats.org/drawingml/2006/main">
            <a:off x="523875" y="57435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buNone/>
              <a:defRPr sz="1575" b="0">
                <a:solidFill>
                  <a:srgbClr val="586675"/>
                </a:solidFill>
                <a:latin typeface="Arial"/>
                <a:ea typeface="Arial"/>
                <a:cs typeface="Arial"/>
              </a:defRPr>
            </a:pPr>
            <a:r>
              <a:rPr sz="1575" b="0">
                <a:solidFill>
                  <a:srgbClr val="586675"/>
                </a:solidFill>
                <a:latin typeface="Arial"/>
                <a:ea typeface="Arial"/>
                <a:cs typeface="Arial"/>
              </a:rPr>
              <a:t>Tỷ lệ theo hàng, đơn vị %. Các giá trị đã làm tròn.</a:t>
            </a:r>
          </a:p>
        </p:txBody>
      </p:sp>
      <p:sp>
        <p:nvSpPr>
          <p:cNvPr id="6" name="">
            <a:extLst xmlns:a="http://schemas.openxmlformats.org/drawingml/2006/main">
              <a:ext uri="{FF2B5EF4-FFF2-40B4-BE49-F238E27FC236}">
                <a16:creationId xmlns:a16="http://schemas.microsoft.com/office/drawing/2014/main" id="{6828E921-C821-4B03-A5D1-B799EC34BAD8}"/>
              </a:ext>
            </a:extLst>
          </p:cNvPr>
          <p:cNvSpPr>
            <a:spLocks xmlns:a="http://schemas.openxmlformats.org/drawingml/2006/main" noGrp="1"/>
          </p:cNvSpPr>
          <p:nvPr/>
        </p:nvSpPr>
        <p:spPr>
          <a:xfrm xmlns:a="http://schemas.openxmlformats.org/drawingml/2006/main">
            <a:off x="7620000" y="23336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Accuracy 79,18% đến từ khả năng dự đoán lớp đông.</a:t>
            </a:r>
          </a:p>
        </p:txBody>
      </p:sp>
      <p:sp>
        <p:nvSpPr>
          <p:cNvPr id="7" name="">
            <a:extLst xmlns:a="http://schemas.openxmlformats.org/drawingml/2006/main">
              <a:ext uri="{FF2B5EF4-FFF2-40B4-BE49-F238E27FC236}">
                <a16:creationId xmlns:a16="http://schemas.microsoft.com/office/drawing/2014/main" id="{5C27DEB2-9425-4171-B928-010E4175F764}"/>
              </a:ext>
            </a:extLst>
          </p:cNvPr>
          <p:cNvSpPr>
            <a:spLocks xmlns:a="http://schemas.openxmlformats.org/drawingml/2006/main" noGrp="1"/>
          </p:cNvSpPr>
          <p:nvPr/>
        </p:nvSpPr>
        <p:spPr>
          <a:xfrm xmlns:a="http://schemas.openxmlformats.org/drawingml/2006/main">
            <a:off x="7620000" y="342900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Macro F1 chỉ 14,73%. Các nguyên nhân trễ chưa được phân biệt tốt.</a:t>
            </a:r>
          </a:p>
        </p:txBody>
      </p:sp>
      <p:sp>
        <p:nvSpPr>
          <p:cNvPr id="8" name="">
            <a:extLst xmlns:a="http://schemas.openxmlformats.org/drawingml/2006/main">
              <a:ext uri="{FF2B5EF4-FFF2-40B4-BE49-F238E27FC236}">
                <a16:creationId xmlns:a16="http://schemas.microsoft.com/office/drawing/2014/main" id="{017E48B8-EF0E-42AD-BF43-DD7E3C701DC4}"/>
              </a:ext>
            </a:extLst>
          </p:cNvPr>
          <p:cNvSpPr>
            <a:spLocks xmlns:a="http://schemas.openxmlformats.org/drawingml/2006/main" noGrp="1"/>
          </p:cNvSpPr>
          <p:nvPr/>
        </p:nvSpPr>
        <p:spPr>
          <a:xfrm xmlns:a="http://schemas.openxmlformats.org/drawingml/2006/main">
            <a:off x="7620000" y="4524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Đây là kết quả CPU, không dùng để suy ra hiệu quả từng lớp Spark.</a:t>
            </a:r>
          </a:p>
        </p:txBody>
      </p:sp>
    </p:spTree>
    <p:extLst>
      <p:ext uri="{BB962C8B-B14F-4D97-AF65-F5344CB8AC3E}">
        <p14:creationId xmlns:p14="http://schemas.microsoft.com/office/powerpoint/2010/main" val="1851319701"/>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3C57FD-E5D8-4B11-ADF6-60B20F27920C}"/>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Ma trận nhầm lẫn CatBoost CPU</a:t>
            </a:r>
          </a:p>
        </p:txBody>
      </p:sp>
      <p:sp>
        <p:nvSpPr>
          <p:cNvPr id="2" name="">
            <a:extLst xmlns:a="http://schemas.openxmlformats.org/drawingml/2006/main">
              <a:ext uri="{FF2B5EF4-FFF2-40B4-BE49-F238E27FC236}">
                <a16:creationId xmlns:a16="http://schemas.microsoft.com/office/drawing/2014/main" id="{8EEF8CB0-352E-414A-95F5-22A04201BBC8}"/>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CatBoost nhận diện được một số mẫu trễ, nhưng tỷ lệ đúng vẫn thấp</a:t>
            </a:r>
          </a:p>
        </p:txBody>
      </p:sp>
      <p:sp>
        <p:nvSpPr>
          <p:cNvPr id="3" name="">
            <a:extLst xmlns:a="http://schemas.openxmlformats.org/drawingml/2006/main">
              <a:ext uri="{FF2B5EF4-FFF2-40B4-BE49-F238E27FC236}">
                <a16:creationId xmlns:a16="http://schemas.microsoft.com/office/drawing/2014/main" id="{54CE63CA-A5FF-4D87-93BA-5D5887702D9D}"/>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28</a:t>
            </a:r>
          </a:p>
        </p:txBody>
      </p:sp>
      <p:graphicFrame>
        <p:nvGraphicFramePr>
          <p:cNvPr id="4" name="">
            <a:extLst xmlns:a="http://schemas.openxmlformats.org/drawingml/2006/main">
              <a:ext uri="{FF2B5EF4-FFF2-40B4-BE49-F238E27FC236}">
                <a16:creationId xmlns:a16="http://schemas.microsoft.com/office/drawing/2014/main" id="{B5049368-8993-4991-810D-7A63289258A6}"/>
              </a:ext>
            </a:extLst>
          </p:cNvPr>
          <p:cNvGraphicFramePr/>
          <p:nvPr/>
        </p:nvGraphicFramePr>
        <p:xfrm>
          <a:off xmlns:a="http://schemas.openxmlformats.org/drawingml/2006/main" x="5095875" y="2381250"/>
          <a:ext xmlns:a="http://schemas.openxmlformats.org/drawingml/2006/main" cx="6572250" cy="3048000"/>
        </p:xfrm>
        <a:graphic xmlns:a="http://schemas.openxmlformats.org/drawingml/2006/main">
          <a:graphicData uri="http://schemas.openxmlformats.org/drawingml/2006/table">
            <a:tbl>
              <a:tblPr/>
              <a:tblGrid>
                <a:gridCol w="1238250"/>
                <a:gridCol w="889000"/>
                <a:gridCol w="889000"/>
                <a:gridCol w="889000"/>
                <a:gridCol w="889000"/>
                <a:gridCol w="889000"/>
                <a:gridCol w="889000"/>
              </a:tblGrid>
              <a:tr h="619125">
                <a:tc>
                  <a:txBody>
                    <a:bodyPr/>
                    <a:lstStyle/>
                    <a:p>
                      <a:r>
                        <a:rPr sz="1350" b="1">
                          <a:solidFill>
                            <a:srgbClr val="FFFFFF"/>
                          </a:solidFill>
                          <a:latin typeface="Arial"/>
                          <a:ea typeface="Arial"/>
                          <a:cs typeface="Arial"/>
                        </a:rPr>
                        <a:t>Thực tế /</a:t>
                      </a:r>
                    </a:p>
                    <a:p>
                      <a:r>
                        <a:rPr sz="1350" b="1">
                          <a:solidFill>
                            <a:srgbClr val="FFFFFF"/>
                          </a:solidFill>
                          <a:latin typeface="Arial"/>
                          <a:ea typeface="Arial"/>
                          <a:cs typeface="Arial"/>
                        </a:rPr>
                        <a:t>Dự đoán</a:t>
                      </a:r>
                    </a:p>
                  </a:txBody>
                  <a:tcPr marL="47625" marR="47625" marT="47625" marB="47625">
                    <a:solidFill>
                      <a:srgbClr val="2072B7"/>
                    </a:solidFill>
                  </a:tcPr>
                </a:tc>
                <a:tc>
                  <a:txBody>
                    <a:bodyPr/>
                    <a:lstStyle/>
                    <a:p>
                      <a:r>
                        <a:rPr sz="1350" b="1">
                          <a:solidFill>
                            <a:srgbClr val="FFFFFF"/>
                          </a:solidFill>
                          <a:latin typeface="Arial"/>
                          <a:ea typeface="Arial"/>
                          <a:cs typeface="Arial"/>
                        </a:rPr>
                        <a:t>OnTime</a:t>
                      </a:r>
                    </a:p>
                  </a:txBody>
                  <a:tcPr marL="47625" marR="47625" marT="47625" marB="47625">
                    <a:solidFill>
                      <a:srgbClr val="2072B7"/>
                    </a:solidFill>
                  </a:tcPr>
                </a:tc>
                <a:tc>
                  <a:txBody>
                    <a:bodyPr/>
                    <a:lstStyle/>
                    <a:p>
                      <a:r>
                        <a:rPr sz="1350" b="1">
                          <a:solidFill>
                            <a:srgbClr val="FFFFFF"/>
                          </a:solidFill>
                          <a:latin typeface="Arial"/>
                          <a:ea typeface="Arial"/>
                          <a:cs typeface="Arial"/>
                        </a:rPr>
                        <a:t>Carrier</a:t>
                      </a:r>
                    </a:p>
                  </a:txBody>
                  <a:tcPr marL="47625" marR="47625" marT="47625" marB="47625">
                    <a:solidFill>
                      <a:srgbClr val="2072B7"/>
                    </a:solidFill>
                  </a:tcPr>
                </a:tc>
                <a:tc>
                  <a:txBody>
                    <a:bodyPr/>
                    <a:lstStyle/>
                    <a:p>
                      <a:r>
                        <a:rPr sz="1350" b="1">
                          <a:solidFill>
                            <a:srgbClr val="FFFFFF"/>
                          </a:solidFill>
                          <a:latin typeface="Arial"/>
                          <a:ea typeface="Arial"/>
                          <a:cs typeface="Arial"/>
                        </a:rPr>
                        <a:t>Weather</a:t>
                      </a:r>
                    </a:p>
                  </a:txBody>
                  <a:tcPr marL="47625" marR="47625" marT="47625" marB="47625">
                    <a:solidFill>
                      <a:srgbClr val="2072B7"/>
                    </a:solidFill>
                  </a:tcPr>
                </a:tc>
                <a:tc>
                  <a:txBody>
                    <a:bodyPr/>
                    <a:lstStyle/>
                    <a:p>
                      <a:r>
                        <a:rPr sz="1350" b="1">
                          <a:solidFill>
                            <a:srgbClr val="FFFFFF"/>
                          </a:solidFill>
                          <a:latin typeface="Arial"/>
                          <a:ea typeface="Arial"/>
                          <a:cs typeface="Arial"/>
                        </a:rPr>
                        <a:t>NAS</a:t>
                      </a:r>
                    </a:p>
                  </a:txBody>
                  <a:tcPr marL="47625" marR="47625" marT="47625" marB="47625">
                    <a:solidFill>
                      <a:srgbClr val="2072B7"/>
                    </a:solidFill>
                  </a:tcPr>
                </a:tc>
                <a:tc>
                  <a:txBody>
                    <a:bodyPr/>
                    <a:lstStyle/>
                    <a:p>
                      <a:r>
                        <a:rPr sz="1350" b="1">
                          <a:solidFill>
                            <a:srgbClr val="FFFFFF"/>
                          </a:solidFill>
                          <a:latin typeface="Arial"/>
                          <a:ea typeface="Arial"/>
                          <a:cs typeface="Arial"/>
                        </a:rPr>
                        <a:t>Security</a:t>
                      </a:r>
                    </a:p>
                  </a:txBody>
                  <a:tcPr marL="47625" marR="47625" marT="47625" marB="47625">
                    <a:solidFill>
                      <a:srgbClr val="2072B7"/>
                    </a:solidFill>
                  </a:tcPr>
                </a:tc>
                <a:tc>
                  <a:txBody>
                    <a:bodyPr/>
                    <a:lstStyle/>
                    <a:p>
                      <a:r>
                        <a:rPr sz="1350" b="1">
                          <a:solidFill>
                            <a:srgbClr val="FFFFFF"/>
                          </a:solidFill>
                          <a:latin typeface="Arial"/>
                          <a:ea typeface="Arial"/>
                          <a:cs typeface="Arial"/>
                        </a:rPr>
                        <a:t>Late</a:t>
                      </a:r>
                    </a:p>
                    <a:p>
                      <a:r>
                        <a:rPr sz="1350" b="1">
                          <a:solidFill>
                            <a:srgbClr val="FFFFFF"/>
                          </a:solidFill>
                          <a:latin typeface="Arial"/>
                          <a:ea typeface="Arial"/>
                          <a:cs typeface="Arial"/>
                        </a:rPr>
                        <a:t>Aircraft</a:t>
                      </a:r>
                    </a:p>
                  </a:txBody>
                  <a:tcPr marL="47625" marR="47625" marT="47625" marB="47625">
                    <a:solidFill>
                      <a:srgbClr val="2072B7"/>
                    </a:solidFill>
                  </a:tcPr>
                </a:tc>
              </a:tr>
              <a:tr h="409575">
                <a:tc>
                  <a:txBody>
                    <a:bodyPr/>
                    <a:lstStyle/>
                    <a:p>
                      <a:r>
                        <a:rPr sz="1350" b="0">
                          <a:solidFill>
                            <a:srgbClr val="202D39"/>
                          </a:solidFill>
                          <a:latin typeface="Arial"/>
                          <a:ea typeface="Arial"/>
                          <a:cs typeface="Arial"/>
                        </a:rPr>
                        <a:t>OnTime</a:t>
                      </a:r>
                    </a:p>
                  </a:txBody>
                  <a:tcPr marL="47625" marR="47625" marT="47625" marB="47625">
                    <a:solidFill>
                      <a:srgbClr val="EDF5FB"/>
                    </a:solidFill>
                  </a:tcPr>
                </a:tc>
                <a:tc>
                  <a:txBody>
                    <a:bodyPr/>
                    <a:lstStyle/>
                    <a:p>
                      <a:r>
                        <a:rPr sz="1800" b="1">
                          <a:solidFill>
                            <a:srgbClr val="FFFFFF"/>
                          </a:solidFill>
                          <a:latin typeface="Arial"/>
                          <a:ea typeface="Arial"/>
                          <a:cs typeface="Arial"/>
                        </a:rPr>
                        <a:t>99,8</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0,2</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Carrier</a:t>
                      </a:r>
                    </a:p>
                  </a:txBody>
                  <a:tcPr marL="47625" marR="47625" marT="47625" marB="47625">
                    <a:solidFill>
                      <a:srgbClr val="FFFFFF"/>
                    </a:solidFill>
                  </a:tcPr>
                </a:tc>
                <a:tc>
                  <a:txBody>
                    <a:bodyPr/>
                    <a:lstStyle/>
                    <a:p>
                      <a:r>
                        <a:rPr sz="1800" b="0">
                          <a:solidFill>
                            <a:srgbClr val="FFFFFF"/>
                          </a:solidFill>
                          <a:latin typeface="Arial"/>
                          <a:ea typeface="Arial"/>
                          <a:cs typeface="Arial"/>
                        </a:rPr>
                        <a:t>98,8</a:t>
                      </a:r>
                    </a:p>
                  </a:txBody>
                  <a:tcPr marL="47625" marR="47625" marT="47625" marB="47625">
                    <a:solidFill>
                      <a:srgbClr val="174C7E"/>
                    </a:solidFill>
                  </a:tcPr>
                </a:tc>
                <a:tc>
                  <a:txBody>
                    <a:bodyPr/>
                    <a:lstStyle/>
                    <a:p>
                      <a:r>
                        <a:rPr sz="1800" b="1">
                          <a:solidFill>
                            <a:srgbClr val="202D39"/>
                          </a:solidFill>
                          <a:latin typeface="Arial"/>
                          <a:ea typeface="Arial"/>
                          <a:cs typeface="Arial"/>
                        </a:rPr>
                        <a:t>0,3</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0,1</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0,9</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Weather</a:t>
                      </a:r>
                    </a:p>
                  </a:txBody>
                  <a:tcPr marL="47625" marR="47625" marT="47625" marB="47625">
                    <a:solidFill>
                      <a:srgbClr val="EDF5FB"/>
                    </a:solidFill>
                  </a:tcPr>
                </a:tc>
                <a:tc>
                  <a:txBody>
                    <a:bodyPr/>
                    <a:lstStyle/>
                    <a:p>
                      <a:r>
                        <a:rPr sz="1800" b="0">
                          <a:solidFill>
                            <a:srgbClr val="FFFFFF"/>
                          </a:solidFill>
                          <a:latin typeface="Arial"/>
                          <a:ea typeface="Arial"/>
                          <a:cs typeface="Arial"/>
                        </a:rPr>
                        <a:t>98,4</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0,1</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1,5</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NAS</a:t>
                      </a:r>
                    </a:p>
                  </a:txBody>
                  <a:tcPr marL="47625" marR="47625" marT="47625" marB="47625">
                    <a:solidFill>
                      <a:srgbClr val="FFFFFF"/>
                    </a:solidFill>
                  </a:tcPr>
                </a:tc>
                <a:tc>
                  <a:txBody>
                    <a:bodyPr/>
                    <a:lstStyle/>
                    <a:p>
                      <a:r>
                        <a:rPr sz="1800" b="0">
                          <a:solidFill>
                            <a:srgbClr val="FFFFFF"/>
                          </a:solidFill>
                          <a:latin typeface="Arial"/>
                          <a:ea typeface="Arial"/>
                          <a:cs typeface="Arial"/>
                        </a:rPr>
                        <a:t>98,8</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0,5</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0,6</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Security</a:t>
                      </a:r>
                    </a:p>
                  </a:txBody>
                  <a:tcPr marL="47625" marR="47625" marT="47625" marB="47625">
                    <a:solidFill>
                      <a:srgbClr val="EDF5FB"/>
                    </a:solidFill>
                  </a:tcPr>
                </a:tc>
                <a:tc>
                  <a:txBody>
                    <a:bodyPr/>
                    <a:lstStyle/>
                    <a:p>
                      <a:r>
                        <a:rPr sz="1800" b="0">
                          <a:solidFill>
                            <a:srgbClr val="FFFFFF"/>
                          </a:solidFill>
                          <a:latin typeface="Arial"/>
                          <a:ea typeface="Arial"/>
                          <a:cs typeface="Arial"/>
                        </a:rPr>
                        <a:t>99,5</a:t>
                      </a:r>
                    </a:p>
                  </a:txBody>
                  <a:tcPr marL="47625" marR="47625" marT="47625" marB="47625">
                    <a:solidFill>
                      <a:srgbClr val="174C7E"/>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0,5</a:t>
                      </a:r>
                    </a:p>
                  </a:txBody>
                  <a:tcPr marL="47625" marR="47625" marT="47625" marB="47625">
                    <a:solidFill>
                      <a:srgbClr val="DFEBF7"/>
                    </a:solidFill>
                  </a:tcPr>
                </a:tc>
              </a:tr>
              <a:tr h="409575">
                <a:tc>
                  <a:txBody>
                    <a:bodyPr/>
                    <a:lstStyle/>
                    <a:p>
                      <a:r>
                        <a:rPr sz="1350" b="0">
                          <a:solidFill>
                            <a:srgbClr val="202D39"/>
                          </a:solidFill>
                          <a:latin typeface="Arial"/>
                          <a:ea typeface="Arial"/>
                          <a:cs typeface="Arial"/>
                        </a:rPr>
                        <a:t>LateAircraft</a:t>
                      </a:r>
                    </a:p>
                  </a:txBody>
                  <a:tcPr marL="47625" marR="47625" marT="47625" marB="47625">
                    <a:solidFill>
                      <a:srgbClr val="FFFFFF"/>
                    </a:solidFill>
                  </a:tcPr>
                </a:tc>
                <a:tc>
                  <a:txBody>
                    <a:bodyPr/>
                    <a:lstStyle/>
                    <a:p>
                      <a:r>
                        <a:rPr sz="1800" b="0">
                          <a:solidFill>
                            <a:srgbClr val="FFFFFF"/>
                          </a:solidFill>
                          <a:latin typeface="Arial"/>
                          <a:ea typeface="Arial"/>
                          <a:cs typeface="Arial"/>
                        </a:rPr>
                        <a:t>97,5</a:t>
                      </a:r>
                    </a:p>
                  </a:txBody>
                  <a:tcPr marL="47625" marR="47625" marT="47625" marB="47625">
                    <a:solidFill>
                      <a:srgbClr val="174C7E"/>
                    </a:solidFill>
                  </a:tcPr>
                </a:tc>
                <a:tc>
                  <a:txBody>
                    <a:bodyPr/>
                    <a:lstStyle/>
                    <a:p>
                      <a:r>
                        <a:rPr sz="1800" b="0">
                          <a:solidFill>
                            <a:srgbClr val="202D39"/>
                          </a:solidFill>
                          <a:latin typeface="Arial"/>
                          <a:ea typeface="Arial"/>
                          <a:cs typeface="Arial"/>
                        </a:rPr>
                        <a:t>0,1</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0">
                          <a:solidFill>
                            <a:srgbClr val="202D39"/>
                          </a:solidFill>
                          <a:latin typeface="Arial"/>
                          <a:ea typeface="Arial"/>
                          <a:cs typeface="Arial"/>
                        </a:rPr>
                        <a:t>0,1</a:t>
                      </a:r>
                    </a:p>
                  </a:txBody>
                  <a:tcPr marL="47625" marR="47625" marT="47625" marB="47625">
                    <a:solidFill>
                      <a:srgbClr val="DFEBF7"/>
                    </a:solidFill>
                  </a:tcPr>
                </a:tc>
                <a:tc>
                  <a:txBody>
                    <a:bodyPr/>
                    <a:lstStyle/>
                    <a:p>
                      <a:r>
                        <a:rPr sz="1800" b="0">
                          <a:solidFill>
                            <a:srgbClr val="202D39"/>
                          </a:solidFill>
                          <a:latin typeface="Arial"/>
                          <a:ea typeface="Arial"/>
                          <a:cs typeface="Arial"/>
                        </a:rPr>
                        <a:t>0,0</a:t>
                      </a:r>
                    </a:p>
                  </a:txBody>
                  <a:tcPr marL="47625" marR="47625" marT="47625" marB="47625">
                    <a:solidFill>
                      <a:srgbClr val="F6FAFD"/>
                    </a:solidFill>
                  </a:tcPr>
                </a:tc>
                <a:tc>
                  <a:txBody>
                    <a:bodyPr/>
                    <a:lstStyle/>
                    <a:p>
                      <a:r>
                        <a:rPr sz="1800" b="1">
                          <a:solidFill>
                            <a:srgbClr val="202D39"/>
                          </a:solidFill>
                          <a:latin typeface="Arial"/>
                          <a:ea typeface="Arial"/>
                          <a:cs typeface="Arial"/>
                        </a:rPr>
                        <a:t>2,3</a:t>
                      </a:r>
                    </a:p>
                  </a:txBody>
                  <a:tcPr marL="47625" marR="47625" marT="47625" marB="47625">
                    <a:solidFill>
                      <a:srgbClr val="DFEBF7"/>
                    </a:solidFill>
                  </a:tcPr>
                </a:tc>
              </a:tr>
            </a:tbl>
          </a:graphicData>
        </a:graphic>
      </p:graphicFrame>
      <p:sp>
        <p:nvSpPr>
          <p:cNvPr id="5" name="">
            <a:extLst xmlns:a="http://schemas.openxmlformats.org/drawingml/2006/main">
              <a:ext uri="{FF2B5EF4-FFF2-40B4-BE49-F238E27FC236}">
                <a16:creationId xmlns:a16="http://schemas.microsoft.com/office/drawing/2014/main" id="{DF7A0D21-E045-49F2-ACEC-71BB22424CAA}"/>
              </a:ext>
            </a:extLst>
          </p:cNvPr>
          <p:cNvSpPr>
            <a:spLocks xmlns:a="http://schemas.openxmlformats.org/drawingml/2006/main" noGrp="1"/>
          </p:cNvSpPr>
          <p:nvPr/>
        </p:nvSpPr>
        <p:spPr>
          <a:xfrm xmlns:a="http://schemas.openxmlformats.org/drawingml/2006/main">
            <a:off x="5095875" y="5743575"/>
            <a:ext cx="657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86675"/>
                </a:solidFill>
                <a:latin typeface="Arial"/>
                <a:ea typeface="Arial"/>
                <a:cs typeface="Arial"/>
              </a:defRPr>
            </a:defPPr>
          </a:lstStyle>
          <a:p xmlns:a="http://schemas.openxmlformats.org/drawingml/2006/main">
            <a:pPr>
              <a:buNone/>
              <a:defRPr sz="1575" b="0">
                <a:solidFill>
                  <a:srgbClr val="586675"/>
                </a:solidFill>
                <a:latin typeface="Arial"/>
                <a:ea typeface="Arial"/>
                <a:cs typeface="Arial"/>
              </a:defRPr>
            </a:pPr>
            <a:r>
              <a:rPr sz="1575" b="0">
                <a:solidFill>
                  <a:srgbClr val="586675"/>
                </a:solidFill>
                <a:latin typeface="Arial"/>
                <a:ea typeface="Arial"/>
                <a:cs typeface="Arial"/>
              </a:rPr>
              <a:t>Tỷ lệ theo hàng, đơn vị %. Các giá trị đã làm tròn.</a:t>
            </a:r>
          </a:p>
        </p:txBody>
      </p:sp>
      <p:sp>
        <p:nvSpPr>
          <p:cNvPr id="6" name="">
            <a:extLst xmlns:a="http://schemas.openxmlformats.org/drawingml/2006/main">
              <a:ext uri="{FF2B5EF4-FFF2-40B4-BE49-F238E27FC236}">
                <a16:creationId xmlns:a16="http://schemas.microsoft.com/office/drawing/2014/main" id="{F3FE3998-D263-403A-A190-68919263020D}"/>
              </a:ext>
            </a:extLst>
          </p:cNvPr>
          <p:cNvSpPr>
            <a:spLocks xmlns:a="http://schemas.openxmlformats.org/drawingml/2006/main" noGrp="1"/>
          </p:cNvSpPr>
          <p:nvPr/>
        </p:nvSpPr>
        <p:spPr>
          <a:xfrm xmlns:a="http://schemas.openxmlformats.org/drawingml/2006/main">
            <a:off x="571500" y="2238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OnTime được nhận diện khoảng 99,8%.</a:t>
            </a:r>
          </a:p>
        </p:txBody>
      </p:sp>
      <p:sp>
        <p:nvSpPr>
          <p:cNvPr id="7" name="">
            <a:extLst xmlns:a="http://schemas.openxmlformats.org/drawingml/2006/main">
              <a:ext uri="{FF2B5EF4-FFF2-40B4-BE49-F238E27FC236}">
                <a16:creationId xmlns:a16="http://schemas.microsoft.com/office/drawing/2014/main" id="{41E91138-2B08-433E-B978-B5FAA30B7CDE}"/>
              </a:ext>
            </a:extLst>
          </p:cNvPr>
          <p:cNvSpPr>
            <a:spLocks xmlns:a="http://schemas.openxmlformats.org/drawingml/2006/main" noGrp="1"/>
          </p:cNvSpPr>
          <p:nvPr/>
        </p:nvSpPr>
        <p:spPr>
          <a:xfrm xmlns:a="http://schemas.openxmlformats.org/drawingml/2006/main">
            <a:off x="571500" y="337185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Recall Carrier 0,3%, NAS 0,5%, LateAircraft 2,3%.</a:t>
            </a:r>
          </a:p>
        </p:txBody>
      </p:sp>
      <p:sp>
        <p:nvSpPr>
          <p:cNvPr id="8" name="">
            <a:extLst xmlns:a="http://schemas.openxmlformats.org/drawingml/2006/main">
              <a:ext uri="{FF2B5EF4-FFF2-40B4-BE49-F238E27FC236}">
                <a16:creationId xmlns:a16="http://schemas.microsoft.com/office/drawing/2014/main" id="{547EC6F9-4424-4608-827E-4FACF54C7C3F}"/>
              </a:ext>
            </a:extLst>
          </p:cNvPr>
          <p:cNvSpPr>
            <a:spLocks xmlns:a="http://schemas.openxmlformats.org/drawingml/2006/main" noGrp="1"/>
          </p:cNvSpPr>
          <p:nvPr/>
        </p:nvSpPr>
        <p:spPr>
          <a:xfrm xmlns:a="http://schemas.openxmlformats.org/drawingml/2006/main">
            <a:off x="571500" y="45053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Weighted F1 70,50% chưa đủ chứng minh khả năng dự đoán nguyên nhân trễ.</a:t>
            </a:r>
          </a:p>
        </p:txBody>
      </p:sp>
    </p:spTree>
    <p:extLst>
      <p:ext uri="{BB962C8B-B14F-4D97-AF65-F5344CB8AC3E}">
        <p14:creationId xmlns:p14="http://schemas.microsoft.com/office/powerpoint/2010/main" val="188511019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8B564E-7F46-4C54-920A-2ADAD128E059}"/>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Phân tích đặc trưng CPU</a:t>
            </a:r>
          </a:p>
        </p:txBody>
      </p:sp>
      <p:sp>
        <p:nvSpPr>
          <p:cNvPr id="2" name="">
            <a:extLst xmlns:a="http://schemas.openxmlformats.org/drawingml/2006/main">
              <a:ext uri="{FF2B5EF4-FFF2-40B4-BE49-F238E27FC236}">
                <a16:creationId xmlns:a16="http://schemas.microsoft.com/office/drawing/2014/main" id="{988BE792-4AED-4A07-B831-B73D9D6B1464}"/>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Thứ hạng đặc trưng phản ánh cách mô hình sử dụng dữ liệu</a:t>
            </a:r>
          </a:p>
        </p:txBody>
      </p:sp>
      <p:sp>
        <p:nvSpPr>
          <p:cNvPr id="3" name="">
            <a:extLst xmlns:a="http://schemas.openxmlformats.org/drawingml/2006/main">
              <a:ext uri="{FF2B5EF4-FFF2-40B4-BE49-F238E27FC236}">
                <a16:creationId xmlns:a16="http://schemas.microsoft.com/office/drawing/2014/main" id="{A133E7ED-4A31-402E-B57E-130B6D530C3C}"/>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29</a:t>
            </a:r>
          </a:p>
        </p:txBody>
      </p:sp>
      <p:graphicFrame>
        <p:nvGraphicFramePr>
          <p:cNvPr id="4" name="Chart">
            <a:extLst xmlns:a="http://schemas.openxmlformats.org/drawingml/2006/main">
              <a:ext uri="{FF2B5EF4-FFF2-40B4-BE49-F238E27FC236}">
                <a16:creationId xmlns:a16="http://schemas.microsoft.com/office/drawing/2014/main" id="{1B34D71D-1689-4A85-A703-B21D3EA99FF3}"/>
              </a:ext>
            </a:extLst>
          </p:cNvPr>
          <p:cNvGraphicFramePr/>
          <p:nvPr/>
        </p:nvGraphicFramePr>
        <p:xfrm>
          <a:off xmlns:a="http://schemas.openxmlformats.org/drawingml/2006/main" x="523875" y="2190750"/>
          <a:ext xmlns:a="http://schemas.openxmlformats.org/drawingml/2006/main" cx="6572250" cy="3429000"/>
        </p:xfrm>
        <a:graphic xmlns:a="http://schemas.openxmlformats.org/drawingml/2006/main">
          <a:graphicData uri="http://schemas.openxmlformats.org/drawingml/2006/chart">
            <c:chart xmlns:r="http://schemas.openxmlformats.org/officeDocument/2006/relationships" xmlns:c="http://schemas.openxmlformats.org/drawingml/2006/chart" r:id="R802663768a614929"/>
          </a:graphicData>
        </a:graphic>
      </p:graphicFrame>
      <p:sp>
        <p:nvSpPr>
          <p:cNvPr id="5" name="">
            <a:extLst xmlns:a="http://schemas.openxmlformats.org/drawingml/2006/main">
              <a:ext uri="{FF2B5EF4-FFF2-40B4-BE49-F238E27FC236}">
                <a16:creationId xmlns:a16="http://schemas.microsoft.com/office/drawing/2014/main" id="{C8038A7F-BB48-4C00-A67A-E65FBCABCCFB}"/>
              </a:ext>
            </a:extLst>
          </p:cNvPr>
          <p:cNvSpPr>
            <a:spLocks xmlns:a="http://schemas.openxmlformats.org/drawingml/2006/main" noGrp="1"/>
          </p:cNvSpPr>
          <p:nvPr/>
        </p:nvSpPr>
        <p:spPr>
          <a:xfrm xmlns:a="http://schemas.openxmlformats.org/drawingml/2006/main">
            <a:off x="7620000" y="223837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Random Forest CPU ưu tiên tháng và thời điểm bay.</a:t>
            </a:r>
          </a:p>
        </p:txBody>
      </p:sp>
      <p:sp>
        <p:nvSpPr>
          <p:cNvPr id="6" name="">
            <a:extLst xmlns:a="http://schemas.openxmlformats.org/drawingml/2006/main">
              <a:ext uri="{FF2B5EF4-FFF2-40B4-BE49-F238E27FC236}">
                <a16:creationId xmlns:a16="http://schemas.microsoft.com/office/drawing/2014/main" id="{35CE7E4E-EF4B-4A4C-B899-C9360F31E0D5}"/>
              </a:ext>
            </a:extLst>
          </p:cNvPr>
          <p:cNvSpPr>
            <a:spLocks xmlns:a="http://schemas.openxmlformats.org/drawingml/2006/main" noGrp="1"/>
          </p:cNvSpPr>
          <p:nvPr/>
        </p:nvSpPr>
        <p:spPr>
          <a:xfrm xmlns:a="http://schemas.openxmlformats.org/drawingml/2006/main">
            <a:off x="7620000" y="33718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CatBoost CPU ưu tiên hãng bay, tháng và ngày trong tháng.</a:t>
            </a:r>
          </a:p>
        </p:txBody>
      </p:sp>
      <p:sp>
        <p:nvSpPr>
          <p:cNvPr id="7" name="">
            <a:extLst xmlns:a="http://schemas.openxmlformats.org/drawingml/2006/main">
              <a:ext uri="{FF2B5EF4-FFF2-40B4-BE49-F238E27FC236}">
                <a16:creationId xmlns:a16="http://schemas.microsoft.com/office/drawing/2014/main" id="{D7C60F64-FE14-4640-A994-558CCBE81551}"/>
              </a:ext>
            </a:extLst>
          </p:cNvPr>
          <p:cNvSpPr>
            <a:spLocks xmlns:a="http://schemas.openxmlformats.org/drawingml/2006/main" noGrp="1"/>
          </p:cNvSpPr>
          <p:nvPr/>
        </p:nvSpPr>
        <p:spPr>
          <a:xfrm xmlns:a="http://schemas.openxmlformats.org/drawingml/2006/main">
            <a:off x="7620000" y="45053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Hai mô hình dùng thang đo khác nhau. Trọng số không chứng minh quan hệ nhân quả.</a:t>
            </a:r>
          </a:p>
        </p:txBody>
      </p:sp>
    </p:spTree>
    <p:extLst>
      <p:ext uri="{BB962C8B-B14F-4D97-AF65-F5344CB8AC3E}">
        <p14:creationId xmlns:p14="http://schemas.microsoft.com/office/powerpoint/2010/main" val="109132562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EB0CDE3A-694E-4021-B6B4-C1A238290C83}"/>
              </a:ext>
            </a:extLst>
          </p:cNvPr>
          <p:cNvCxnSpPr>
            <a:stCxn xmlns:a="http://schemas.openxmlformats.org/drawingml/2006/main" id="10" idx="2"/>
            <a:endCxn xmlns:a="http://schemas.openxmlformats.org/drawingml/2006/main" id="12" idx="0"/>
          </p:cNvCxnSpPr>
          <p:nvPr/>
        </p:nvCxnSpPr>
        <p:spPr>
          <a:xfrm xmlns:a="http://schemas.openxmlformats.org/drawingml/2006/main">
            <a:off x="8358188" y="468630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11" name="">
            <a:extLst xmlns:a="http://schemas.openxmlformats.org/drawingml/2006/main">
              <a:ext uri="{FF2B5EF4-FFF2-40B4-BE49-F238E27FC236}">
                <a16:creationId xmlns:a16="http://schemas.microsoft.com/office/drawing/2014/main" id="{30491823-B057-4AC7-B6A8-8A47E9373261}"/>
              </a:ext>
            </a:extLst>
          </p:cNvPr>
          <p:cNvCxnSpPr>
            <a:stCxn xmlns:a="http://schemas.openxmlformats.org/drawingml/2006/main" id="8" idx="2"/>
            <a:endCxn xmlns:a="http://schemas.openxmlformats.org/drawingml/2006/main" id="10" idx="0"/>
          </p:cNvCxnSpPr>
          <p:nvPr/>
        </p:nvCxnSpPr>
        <p:spPr>
          <a:xfrm xmlns:a="http://schemas.openxmlformats.org/drawingml/2006/main">
            <a:off x="8358188" y="378142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9" name="">
            <a:extLst xmlns:a="http://schemas.openxmlformats.org/drawingml/2006/main">
              <a:ext uri="{FF2B5EF4-FFF2-40B4-BE49-F238E27FC236}">
                <a16:creationId xmlns:a16="http://schemas.microsoft.com/office/drawing/2014/main" id="{78C9BCF5-D9D1-4844-B519-0551EEA5FF82}"/>
              </a:ext>
            </a:extLst>
          </p:cNvPr>
          <p:cNvCxnSpPr>
            <a:stCxn xmlns:a="http://schemas.openxmlformats.org/drawingml/2006/main" id="7" idx="2"/>
            <a:endCxn xmlns:a="http://schemas.openxmlformats.org/drawingml/2006/main" id="8" idx="0"/>
          </p:cNvCxnSpPr>
          <p:nvPr/>
        </p:nvCxnSpPr>
        <p:spPr>
          <a:xfrm xmlns:a="http://schemas.openxmlformats.org/drawingml/2006/main">
            <a:off x="8358188" y="287655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4" name="">
            <a:extLst xmlns:a="http://schemas.openxmlformats.org/drawingml/2006/main">
              <a:ext uri="{FF2B5EF4-FFF2-40B4-BE49-F238E27FC236}">
                <a16:creationId xmlns:a16="http://schemas.microsoft.com/office/drawing/2014/main" id="{99E66602-11C8-4AB1-BFF6-4756E0E3A2D8}"/>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Ứng dụng Web_Air</a:t>
            </a:r>
          </a:p>
        </p:txBody>
      </p:sp>
      <p:sp>
        <p:nvSpPr>
          <p:cNvPr id="2" name="">
            <a:extLst xmlns:a="http://schemas.openxmlformats.org/drawingml/2006/main">
              <a:ext uri="{FF2B5EF4-FFF2-40B4-BE49-F238E27FC236}">
                <a16:creationId xmlns:a16="http://schemas.microsoft.com/office/drawing/2014/main" id="{99928665-FCBD-4C63-ADF3-C5D5B2D0DE7A}"/>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Ứng dụng phục vụ dự đoán và hiển thị kết quả thực nghiệm</a:t>
            </a:r>
          </a:p>
        </p:txBody>
      </p:sp>
      <p:sp>
        <p:nvSpPr>
          <p:cNvPr id="3" name="">
            <a:extLst xmlns:a="http://schemas.openxmlformats.org/drawingml/2006/main">
              <a:ext uri="{FF2B5EF4-FFF2-40B4-BE49-F238E27FC236}">
                <a16:creationId xmlns:a16="http://schemas.microsoft.com/office/drawing/2014/main" id="{D97D0539-BC9F-47BF-9470-DC8E12E2F25B}"/>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30</a:t>
            </a:r>
          </a:p>
        </p:txBody>
      </p:sp>
      <p:sp>
        <p:nvSpPr>
          <p:cNvPr id="4" name="">
            <a:extLst xmlns:a="http://schemas.openxmlformats.org/drawingml/2006/main">
              <a:ext uri="{FF2B5EF4-FFF2-40B4-BE49-F238E27FC236}">
                <a16:creationId xmlns:a16="http://schemas.microsoft.com/office/drawing/2014/main" id="{B865944A-01DC-4DE3-AE3C-F0E8F55D7537}"/>
              </a:ext>
            </a:extLst>
          </p:cNvPr>
          <p:cNvSpPr>
            <a:spLocks xmlns:a="http://schemas.openxmlformats.org/drawingml/2006/main" noGrp="1"/>
          </p:cNvSpPr>
          <p:nvPr/>
        </p:nvSpPr>
        <p:spPr>
          <a:xfrm xmlns:a="http://schemas.openxmlformats.org/drawingml/2006/main">
            <a:off x="571500" y="233362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Người dùng nhập thông tin chuyến bay và nhận nhãn dự đoán.</a:t>
            </a:r>
          </a:p>
        </p:txBody>
      </p:sp>
      <p:sp>
        <p:nvSpPr>
          <p:cNvPr id="5" name="">
            <a:extLst xmlns:a="http://schemas.openxmlformats.org/drawingml/2006/main">
              <a:ext uri="{FF2B5EF4-FFF2-40B4-BE49-F238E27FC236}">
                <a16:creationId xmlns:a16="http://schemas.microsoft.com/office/drawing/2014/main" id="{AAE99445-6C7D-489E-A59B-64D65E9863A6}"/>
              </a:ext>
            </a:extLst>
          </p:cNvPr>
          <p:cNvSpPr>
            <a:spLocks xmlns:a="http://schemas.openxmlformats.org/drawingml/2006/main" noGrp="1"/>
          </p:cNvSpPr>
          <p:nvPr/>
        </p:nvSpPr>
        <p:spPr>
          <a:xfrm xmlns:a="http://schemas.openxmlformats.org/drawingml/2006/main">
            <a:off x="571500" y="3429000"/>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Web_Air giúp trình bày kết quả của đồ án.</a:t>
            </a:r>
          </a:p>
        </p:txBody>
      </p:sp>
      <p:sp>
        <p:nvSpPr>
          <p:cNvPr id="6" name="">
            <a:extLst xmlns:a="http://schemas.openxmlformats.org/drawingml/2006/main">
              <a:ext uri="{FF2B5EF4-FFF2-40B4-BE49-F238E27FC236}">
                <a16:creationId xmlns:a16="http://schemas.microsoft.com/office/drawing/2014/main" id="{98869D86-7534-45B1-A2EF-6750535DF965}"/>
              </a:ext>
            </a:extLst>
          </p:cNvPr>
          <p:cNvSpPr>
            <a:spLocks xmlns:a="http://schemas.openxmlformats.org/drawingml/2006/main" noGrp="1"/>
          </p:cNvSpPr>
          <p:nvPr/>
        </p:nvSpPr>
        <p:spPr>
          <a:xfrm xmlns:a="http://schemas.openxmlformats.org/drawingml/2006/main">
            <a:off x="571500" y="4524375"/>
            <a:ext cx="4048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Chưa đo tải Web và thời gian phản hồi HTTP.</a:t>
            </a:r>
          </a:p>
        </p:txBody>
      </p:sp>
      <p:sp>
        <p:nvSpPr>
          <p:cNvPr id="7" name="">
            <a:extLst xmlns:a="http://schemas.openxmlformats.org/drawingml/2006/main">
              <a:ext uri="{FF2B5EF4-FFF2-40B4-BE49-F238E27FC236}">
                <a16:creationId xmlns:a16="http://schemas.microsoft.com/office/drawing/2014/main" id="{1B1BA40E-7403-4589-8503-46BC121ADF96}"/>
              </a:ext>
            </a:extLst>
          </p:cNvPr>
          <p:cNvSpPr>
            <a:spLocks xmlns:a="http://schemas.openxmlformats.org/drawingml/2006/main" noGrp="1"/>
          </p:cNvSpPr>
          <p:nvPr/>
        </p:nvSpPr>
        <p:spPr>
          <a:xfrm xmlns:a="http://schemas.openxmlformats.org/drawingml/2006/main">
            <a:off x="5191125" y="2247900"/>
            <a:ext cx="6334125"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Nhập thông tin chuyến bay</a:t>
            </a:r>
          </a:p>
        </p:txBody>
      </p:sp>
      <p:sp>
        <p:nvSpPr>
          <p:cNvPr id="8" name="">
            <a:extLst xmlns:a="http://schemas.openxmlformats.org/drawingml/2006/main">
              <a:ext uri="{FF2B5EF4-FFF2-40B4-BE49-F238E27FC236}">
                <a16:creationId xmlns:a16="http://schemas.microsoft.com/office/drawing/2014/main" id="{96C4840A-3FF4-4BDF-B554-96ED5F34F560}"/>
              </a:ext>
            </a:extLst>
          </p:cNvPr>
          <p:cNvSpPr>
            <a:spLocks xmlns:a="http://schemas.openxmlformats.org/drawingml/2006/main" noGrp="1"/>
          </p:cNvSpPr>
          <p:nvPr/>
        </p:nvSpPr>
        <p:spPr>
          <a:xfrm xmlns:a="http://schemas.openxmlformats.org/drawingml/2006/main">
            <a:off x="5191125" y="3152775"/>
            <a:ext cx="6334125"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Gửi yêu cầu dự đoán</a:t>
            </a:r>
          </a:p>
        </p:txBody>
      </p:sp>
      <p:sp>
        <p:nvSpPr>
          <p:cNvPr id="10" name="">
            <a:extLst xmlns:a="http://schemas.openxmlformats.org/drawingml/2006/main">
              <a:ext uri="{FF2B5EF4-FFF2-40B4-BE49-F238E27FC236}">
                <a16:creationId xmlns:a16="http://schemas.microsoft.com/office/drawing/2014/main" id="{07DFA816-7B2A-467F-87A9-AE4D34732BC7}"/>
              </a:ext>
            </a:extLst>
          </p:cNvPr>
          <p:cNvSpPr>
            <a:spLocks xmlns:a="http://schemas.openxmlformats.org/drawingml/2006/main" noGrp="1"/>
          </p:cNvSpPr>
          <p:nvPr/>
        </p:nvSpPr>
        <p:spPr>
          <a:xfrm xmlns:a="http://schemas.openxmlformats.org/drawingml/2006/main">
            <a:off x="5191125" y="4057650"/>
            <a:ext cx="6334125"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Mô hình trả nhãn</a:t>
            </a:r>
          </a:p>
        </p:txBody>
      </p:sp>
      <p:sp>
        <p:nvSpPr>
          <p:cNvPr id="12" name="">
            <a:extLst xmlns:a="http://schemas.openxmlformats.org/drawingml/2006/main">
              <a:ext uri="{FF2B5EF4-FFF2-40B4-BE49-F238E27FC236}">
                <a16:creationId xmlns:a16="http://schemas.microsoft.com/office/drawing/2014/main" id="{392D8B11-92B2-4307-8B2A-993713120F32}"/>
              </a:ext>
            </a:extLst>
          </p:cNvPr>
          <p:cNvSpPr>
            <a:spLocks xmlns:a="http://schemas.openxmlformats.org/drawingml/2006/main" noGrp="1"/>
          </p:cNvSpPr>
          <p:nvPr/>
        </p:nvSpPr>
        <p:spPr>
          <a:xfrm xmlns:a="http://schemas.openxmlformats.org/drawingml/2006/main">
            <a:off x="5191125" y="4962525"/>
            <a:ext cx="6334125"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Hiển thị kết quả</a:t>
            </a:r>
          </a:p>
        </p:txBody>
      </p:sp>
    </p:spTree>
    <p:extLst>
      <p:ext uri="{BB962C8B-B14F-4D97-AF65-F5344CB8AC3E}">
        <p14:creationId xmlns:p14="http://schemas.microsoft.com/office/powerpoint/2010/main" val="102451919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32371F78-3DD5-4CD1-BEB1-A26263A2F0E3}"/>
              </a:ext>
            </a:extLst>
          </p:cNvPr>
          <p:cNvCxnSpPr>
            <a:stCxn xmlns:a="http://schemas.openxmlformats.org/drawingml/2006/main" id="5" idx="2"/>
            <a:endCxn xmlns:a="http://schemas.openxmlformats.org/drawingml/2006/main" id="7" idx="0"/>
          </p:cNvCxnSpPr>
          <p:nvPr/>
        </p:nvCxnSpPr>
        <p:spPr>
          <a:xfrm xmlns:a="http://schemas.openxmlformats.org/drawingml/2006/main">
            <a:off x="3810000" y="3781425"/>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cxnSp>
        <p:nvCxnSpPr>
          <p:cNvPr id="6" name="">
            <a:extLst xmlns:a="http://schemas.openxmlformats.org/drawingml/2006/main">
              <a:ext uri="{FF2B5EF4-FFF2-40B4-BE49-F238E27FC236}">
                <a16:creationId xmlns:a16="http://schemas.microsoft.com/office/drawing/2014/main" id="{16913A36-4B10-4DAA-A1AA-BD52F24EFF1E}"/>
              </a:ext>
            </a:extLst>
          </p:cNvPr>
          <p:cNvCxnSpPr>
            <a:stCxn xmlns:a="http://schemas.openxmlformats.org/drawingml/2006/main" id="4" idx="2"/>
            <a:endCxn xmlns:a="http://schemas.openxmlformats.org/drawingml/2006/main" id="5" idx="0"/>
          </p:cNvCxnSpPr>
          <p:nvPr/>
        </p:nvCxnSpPr>
        <p:spPr>
          <a:xfrm xmlns:a="http://schemas.openxmlformats.org/drawingml/2006/main">
            <a:off x="3810000" y="2876550"/>
            <a:ext cx="0" cy="276225"/>
          </a:xfrm>
          <a:prstGeom xmlns:a="http://schemas.openxmlformats.org/drawingml/2006/main" prst="straightConnector1">
            <a:avLst/>
          </a:prstGeom>
          <a:ln xmlns:a="http://schemas.openxmlformats.org/drawingml/2006/main" w="19050">
            <a:solidFill>
              <a:srgbClr val="2072B7"/>
            </a:solidFill>
            <a:prstDash val="solid"/>
            <a:headEnd type="none" w="med" len="med"/>
            <a:tailEnd type="triangle" w="sm" len="sm"/>
          </a:ln>
        </p:spPr>
      </p:cxnSp>
      <p:sp>
        <p:nvSpPr>
          <p:cNvPr id="12" name="">
            <a:extLst xmlns:a="http://schemas.openxmlformats.org/drawingml/2006/main">
              <a:ext uri="{FF2B5EF4-FFF2-40B4-BE49-F238E27FC236}">
                <a16:creationId xmlns:a16="http://schemas.microsoft.com/office/drawing/2014/main" id="{A114F38F-C213-46E3-AD2E-8CC51726C496}"/>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Kết luận và hướng phát triển</a:t>
            </a:r>
          </a:p>
        </p:txBody>
      </p:sp>
      <p:sp>
        <p:nvSpPr>
          <p:cNvPr id="2" name="">
            <a:extLst xmlns:a="http://schemas.openxmlformats.org/drawingml/2006/main">
              <a:ext uri="{FF2B5EF4-FFF2-40B4-BE49-F238E27FC236}">
                <a16:creationId xmlns:a16="http://schemas.microsoft.com/office/drawing/2014/main" id="{7577CFD2-4802-466F-AA28-AA6EAEF9544B}"/>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Đã xây dựng quy trình xử lý lớn, còn cần cải thiện nhận diện nguyên nhân trễ</a:t>
            </a:r>
          </a:p>
        </p:txBody>
      </p:sp>
      <p:sp>
        <p:nvSpPr>
          <p:cNvPr id="3" name="">
            <a:extLst xmlns:a="http://schemas.openxmlformats.org/drawingml/2006/main">
              <a:ext uri="{FF2B5EF4-FFF2-40B4-BE49-F238E27FC236}">
                <a16:creationId xmlns:a16="http://schemas.microsoft.com/office/drawing/2014/main" id="{A3DF713D-A659-439E-998C-5D3471268639}"/>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31</a:t>
            </a:r>
          </a:p>
        </p:txBody>
      </p:sp>
      <p:sp>
        <p:nvSpPr>
          <p:cNvPr id="4" name="">
            <a:extLst xmlns:a="http://schemas.openxmlformats.org/drawingml/2006/main">
              <a:ext uri="{FF2B5EF4-FFF2-40B4-BE49-F238E27FC236}">
                <a16:creationId xmlns:a16="http://schemas.microsoft.com/office/drawing/2014/main" id="{59385813-9F52-4A09-87DF-4E16C0E4E2DB}"/>
              </a:ext>
            </a:extLst>
          </p:cNvPr>
          <p:cNvSpPr>
            <a:spLocks xmlns:a="http://schemas.openxmlformats.org/drawingml/2006/main" noGrp="1"/>
          </p:cNvSpPr>
          <p:nvPr/>
        </p:nvSpPr>
        <p:spPr>
          <a:xfrm xmlns:a="http://schemas.openxmlformats.org/drawingml/2006/main">
            <a:off x="619125" y="2247900"/>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Xử lý hơn 7 triệu chuyến bay</a:t>
            </a:r>
          </a:p>
        </p:txBody>
      </p:sp>
      <p:sp>
        <p:nvSpPr>
          <p:cNvPr id="5" name="">
            <a:extLst xmlns:a="http://schemas.openxmlformats.org/drawingml/2006/main">
              <a:ext uri="{FF2B5EF4-FFF2-40B4-BE49-F238E27FC236}">
                <a16:creationId xmlns:a16="http://schemas.microsoft.com/office/drawing/2014/main" id="{DB7F91A4-1C2D-4E12-A98E-66FFB4427A35}"/>
              </a:ext>
            </a:extLst>
          </p:cNvPr>
          <p:cNvSpPr>
            <a:spLocks xmlns:a="http://schemas.openxmlformats.org/drawingml/2006/main" noGrp="1"/>
          </p:cNvSpPr>
          <p:nvPr/>
        </p:nvSpPr>
        <p:spPr>
          <a:xfrm xmlns:a="http://schemas.openxmlformats.org/drawingml/2006/main">
            <a:off x="619125" y="3152775"/>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Thực nghiệm 6 CPU và 3 Spark</a:t>
            </a:r>
          </a:p>
        </p:txBody>
      </p:sp>
      <p:sp>
        <p:nvSpPr>
          <p:cNvPr id="7" name="">
            <a:extLst xmlns:a="http://schemas.openxmlformats.org/drawingml/2006/main">
              <a:ext uri="{FF2B5EF4-FFF2-40B4-BE49-F238E27FC236}">
                <a16:creationId xmlns:a16="http://schemas.microsoft.com/office/drawing/2014/main" id="{6D069910-FC89-41A2-A06C-9BF8E4B3AB11}"/>
              </a:ext>
            </a:extLst>
          </p:cNvPr>
          <p:cNvSpPr>
            <a:spLocks xmlns:a="http://schemas.openxmlformats.org/drawingml/2006/main" noGrp="1"/>
          </p:cNvSpPr>
          <p:nvPr/>
        </p:nvSpPr>
        <p:spPr>
          <a:xfrm xmlns:a="http://schemas.openxmlformats.org/drawingml/2006/main">
            <a:off x="619125" y="4057650"/>
            <a:ext cx="6381750" cy="628650"/>
          </a:xfrm>
          <a:prstGeom xmlns:a="http://schemas.openxmlformats.org/drawingml/2006/main" prst="rect">
            <a:avLst/>
          </a:prstGeom>
          <a:solidFill xmlns:a="http://schemas.openxmlformats.org/drawingml/2006/main">
            <a:srgbClr val="2072B7"/>
          </a:solidFill>
          <a:ln xmlns:a="http://schemas.openxmlformats.org/drawingml/2006/main" w="9525">
            <a:solidFill>
              <a:srgbClr val="2072B7"/>
            </a:solidFill>
          </a:ln>
        </p:spPr>
        <p:txBody>
          <a:bodyPr xmlns:a="http://schemas.openxmlformats.org/drawingml/2006/main" lIns="95250" tIns="47625" rIns="95250" bIns="47625" anchor="ct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Phục vụ dự đoán bằng Web_Air</a:t>
            </a:r>
          </a:p>
        </p:txBody>
      </p:sp>
      <p:sp>
        <p:nvSpPr>
          <p:cNvPr id="9" name="">
            <a:extLst xmlns:a="http://schemas.openxmlformats.org/drawingml/2006/main">
              <a:ext uri="{FF2B5EF4-FFF2-40B4-BE49-F238E27FC236}">
                <a16:creationId xmlns:a16="http://schemas.microsoft.com/office/drawing/2014/main" id="{497A8A7F-7A92-4B95-93D2-9C343945E0DE}"/>
              </a:ext>
            </a:extLst>
          </p:cNvPr>
          <p:cNvSpPr>
            <a:spLocks xmlns:a="http://schemas.openxmlformats.org/drawingml/2006/main" noGrp="1"/>
          </p:cNvSpPr>
          <p:nvPr/>
        </p:nvSpPr>
        <p:spPr>
          <a:xfrm xmlns:a="http://schemas.openxmlformats.org/drawingml/2006/main">
            <a:off x="7620000" y="22669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Kết quả: CatBoost CPU Weighted F1 70,50%; RF Spark train 31,03 giây.</a:t>
            </a:r>
          </a:p>
        </p:txBody>
      </p:sp>
      <p:sp>
        <p:nvSpPr>
          <p:cNvPr id="10" name="">
            <a:extLst xmlns:a="http://schemas.openxmlformats.org/drawingml/2006/main">
              <a:ext uri="{FF2B5EF4-FFF2-40B4-BE49-F238E27FC236}">
                <a16:creationId xmlns:a16="http://schemas.microsoft.com/office/drawing/2014/main" id="{39CF9CD2-940C-4583-9893-7366CA562B01}"/>
              </a:ext>
            </a:extLst>
          </p:cNvPr>
          <p:cNvSpPr>
            <a:spLocks xmlns:a="http://schemas.openxmlformats.org/drawingml/2006/main" noGrp="1"/>
          </p:cNvSpPr>
          <p:nvPr/>
        </p:nvSpPr>
        <p:spPr>
          <a:xfrm xmlns:a="http://schemas.openxmlformats.org/drawingml/2006/main">
            <a:off x="7620000" y="34480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Hạn chế chính: lớp hiếm dự đoán kém và đối chứng chưa đầy đủ.</a:t>
            </a:r>
          </a:p>
        </p:txBody>
      </p:sp>
      <p:sp>
        <p:nvSpPr>
          <p:cNvPr id="11" name="">
            <a:extLst xmlns:a="http://schemas.openxmlformats.org/drawingml/2006/main">
              <a:ext uri="{FF2B5EF4-FFF2-40B4-BE49-F238E27FC236}">
                <a16:creationId xmlns:a16="http://schemas.microsoft.com/office/drawing/2014/main" id="{0208C731-F073-4AED-A074-CF6E76900632}"/>
              </a:ext>
            </a:extLst>
          </p:cNvPr>
          <p:cNvSpPr>
            <a:spLocks xmlns:a="http://schemas.openxmlformats.org/drawingml/2006/main" noGrp="1"/>
          </p:cNvSpPr>
          <p:nvPr/>
        </p:nvSpPr>
        <p:spPr>
          <a:xfrm xmlns:a="http://schemas.openxmlformats.org/drawingml/2006/main">
            <a:off x="7620000" y="4629150"/>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02D39"/>
                </a:solidFill>
                <a:latin typeface="Arial"/>
                <a:ea typeface="Arial"/>
                <a:cs typeface="Arial"/>
              </a:defRPr>
            </a:defPPr>
          </a:lstStyle>
          <a:p xmlns:a="http://schemas.openxmlformats.org/drawingml/2006/main">
            <a:pPr>
              <a:buNone/>
              <a:defRPr sz="2025" b="0">
                <a:solidFill>
                  <a:srgbClr val="202D39"/>
                </a:solidFill>
                <a:latin typeface="Arial"/>
                <a:ea typeface="Arial"/>
                <a:cs typeface="Arial"/>
              </a:defRPr>
            </a:pPr>
            <a:r>
              <a:rPr sz="2025" b="0">
                <a:solidFill>
                  <a:srgbClr val="202D39"/>
                </a:solidFill>
                <a:latin typeface="Arial"/>
                <a:ea typeface="Arial"/>
                <a:cs typeface="Arial"/>
              </a:rPr>
              <a:t>Tiếp theo: cân bằng lớp, test chung và lưu log, ma trận Spark.</a:t>
            </a:r>
          </a:p>
        </p:txBody>
      </p:sp>
    </p:spTree>
    <p:extLst>
      <p:ext uri="{BB962C8B-B14F-4D97-AF65-F5344CB8AC3E}">
        <p14:creationId xmlns:p14="http://schemas.microsoft.com/office/powerpoint/2010/main" val="156972778"/>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7F1B75F-89EC-4144-B5B9-3117D569FFC1}"/>
              </a:ext>
            </a:extLst>
          </p:cNvPr>
          <p:cNvSpPr>
            <a:spLocks xmlns:a="http://schemas.openxmlformats.org/drawingml/2006/main" noGrp="1"/>
          </p:cNvSpPr>
          <p:nvPr/>
        </p:nvSpPr>
        <p:spPr>
          <a:xfrm xmlns:a="http://schemas.openxmlformats.org/drawingml/2006/main">
            <a:off x="571500" y="990600"/>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75" b="1">
                <a:solidFill>
                  <a:srgbClr val="2072B7"/>
                </a:solidFill>
                <a:latin typeface="Arial"/>
                <a:ea typeface="Arial"/>
                <a:cs typeface="Arial"/>
              </a:defRPr>
            </a:defPPr>
          </a:lstStyle>
          <a:p xmlns:a="http://schemas.openxmlformats.org/drawingml/2006/main">
            <a:pPr>
              <a:buNone/>
              <a:defRPr sz="2775" b="1">
                <a:solidFill>
                  <a:srgbClr val="2072B7"/>
                </a:solidFill>
                <a:latin typeface="Arial"/>
                <a:ea typeface="Arial"/>
                <a:cs typeface="Arial"/>
              </a:defRPr>
            </a:pPr>
            <a:r>
              <a:rPr sz="2775" b="1">
                <a:solidFill>
                  <a:srgbClr val="2072B7"/>
                </a:solidFill>
                <a:latin typeface="Arial"/>
                <a:ea typeface="Arial"/>
                <a:cs typeface="Arial"/>
              </a:rPr>
              <a:t>Cảm ơn và hỏi đáp</a:t>
            </a:r>
          </a:p>
        </p:txBody>
      </p:sp>
      <p:sp>
        <p:nvSpPr>
          <p:cNvPr id="2" name="">
            <a:extLst xmlns:a="http://schemas.openxmlformats.org/drawingml/2006/main">
              <a:ext uri="{FF2B5EF4-FFF2-40B4-BE49-F238E27FC236}">
                <a16:creationId xmlns:a16="http://schemas.microsoft.com/office/drawing/2014/main" id="{6DA0D31A-D483-4704-9731-8567EB426B76}"/>
              </a:ext>
            </a:extLst>
          </p:cNvPr>
          <p:cNvSpPr>
            <a:spLocks xmlns:a="http://schemas.openxmlformats.org/drawingml/2006/main" noGrp="1"/>
          </p:cNvSpPr>
          <p:nvPr/>
        </p:nvSpPr>
        <p:spPr>
          <a:xfrm xmlns:a="http://schemas.openxmlformats.org/drawingml/2006/main">
            <a:off x="571500" y="1562100"/>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174C7E"/>
                </a:solidFill>
                <a:latin typeface="Arial"/>
                <a:ea typeface="Arial"/>
                <a:cs typeface="Arial"/>
              </a:defRPr>
            </a:defPPr>
          </a:lstStyle>
          <a:p xmlns:a="http://schemas.openxmlformats.org/drawingml/2006/main">
            <a:pPr>
              <a:buNone/>
              <a:defRPr sz="1800" b="1">
                <a:solidFill>
                  <a:srgbClr val="174C7E"/>
                </a:solidFill>
                <a:latin typeface="Arial"/>
                <a:ea typeface="Arial"/>
                <a:cs typeface="Arial"/>
              </a:defRPr>
            </a:pPr>
            <a:r>
              <a:rPr sz="1800" b="1">
                <a:solidFill>
                  <a:srgbClr val="174C7E"/>
                </a:solidFill>
                <a:latin typeface="Arial"/>
                <a:ea typeface="Arial"/>
                <a:cs typeface="Arial"/>
              </a:rPr>
              <a:t>Nhóm 6 xin nhận câu hỏi và góp ý</a:t>
            </a:r>
          </a:p>
        </p:txBody>
      </p:sp>
      <p:sp>
        <p:nvSpPr>
          <p:cNvPr id="3" name="">
            <a:extLst xmlns:a="http://schemas.openxmlformats.org/drawingml/2006/main">
              <a:ext uri="{FF2B5EF4-FFF2-40B4-BE49-F238E27FC236}">
                <a16:creationId xmlns:a16="http://schemas.microsoft.com/office/drawing/2014/main" id="{90F85F75-E710-4AAD-B01F-3BDDF67C9392}"/>
              </a:ext>
            </a:extLst>
          </p:cNvPr>
          <p:cNvSpPr>
            <a:spLocks xmlns:a="http://schemas.openxmlformats.org/drawingml/2006/main" noGrp="1"/>
          </p:cNvSpPr>
          <p:nvPr/>
        </p:nvSpPr>
        <p:spPr>
          <a:xfrm xmlns:a="http://schemas.openxmlformats.org/drawingml/2006/main">
            <a:off x="11239500" y="63436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2072B7"/>
                </a:solidFill>
                <a:latin typeface="Arial"/>
                <a:ea typeface="Arial"/>
                <a:cs typeface="Arial"/>
              </a:defRPr>
            </a:defPPr>
          </a:lstStyle>
          <a:p xmlns:a="http://schemas.openxmlformats.org/drawingml/2006/main">
            <a:pPr>
              <a:buNone/>
              <a:defRPr sz="1275" b="0">
                <a:solidFill>
                  <a:srgbClr val="2072B7"/>
                </a:solidFill>
                <a:latin typeface="Arial"/>
                <a:ea typeface="Arial"/>
                <a:cs typeface="Arial"/>
              </a:defRPr>
            </a:pPr>
            <a:r>
              <a:rPr sz="1275" b="0">
                <a:solidFill>
                  <a:srgbClr val="2072B7"/>
                </a:solidFill>
                <a:latin typeface="Arial"/>
                <a:ea typeface="Arial"/>
                <a:cs typeface="Arial"/>
              </a:rPr>
              <a:t>32</a:t>
            </a:r>
          </a:p>
        </p:txBody>
      </p:sp>
      <p:sp>
        <p:nvSpPr>
          <p:cNvPr id="4" name="">
            <a:extLst xmlns:a="http://schemas.openxmlformats.org/drawingml/2006/main">
              <a:ext uri="{FF2B5EF4-FFF2-40B4-BE49-F238E27FC236}">
                <a16:creationId xmlns:a16="http://schemas.microsoft.com/office/drawing/2014/main" id="{29444F6C-D8E6-4D50-8A43-7855C75955C3}"/>
              </a:ext>
            </a:extLst>
          </p:cNvPr>
          <p:cNvSpPr>
            <a:spLocks xmlns:a="http://schemas.openxmlformats.org/drawingml/2006/main" noGrp="1"/>
          </p:cNvSpPr>
          <p:nvPr/>
        </p:nvSpPr>
        <p:spPr>
          <a:xfrm xmlns:a="http://schemas.openxmlformats.org/drawingml/2006/main">
            <a:off x="952500" y="2476500"/>
            <a:ext cx="10096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525" b="1">
                <a:solidFill>
                  <a:srgbClr val="2072B7"/>
                </a:solidFill>
                <a:latin typeface="Arial"/>
                <a:ea typeface="Arial"/>
                <a:cs typeface="Arial"/>
              </a:defRPr>
            </a:defPPr>
          </a:lstStyle>
          <a:p xmlns:a="http://schemas.openxmlformats.org/drawingml/2006/main">
            <a:pPr>
              <a:buNone/>
              <a:defRPr sz="3525" b="1">
                <a:solidFill>
                  <a:srgbClr val="2072B7"/>
                </a:solidFill>
                <a:latin typeface="Arial"/>
                <a:ea typeface="Arial"/>
                <a:cs typeface="Arial"/>
              </a:defRPr>
            </a:pPr>
            <a:r>
              <a:rPr sz="3525" b="1">
                <a:solidFill>
                  <a:srgbClr val="2072B7"/>
                </a:solidFill>
                <a:latin typeface="Arial"/>
                <a:ea typeface="Arial"/>
                <a:cs typeface="Arial"/>
              </a:rPr>
              <a:t>Cảm ơn thầy và các bạn</a:t>
            </a:r>
          </a:p>
          <a:p xmlns:a="http://schemas.openxmlformats.org/drawingml/2006/main">
            <a:pPr>
              <a:buNone/>
              <a:defRPr sz="3525" b="1">
                <a:solidFill>
                  <a:srgbClr val="2072B7"/>
                </a:solidFill>
                <a:latin typeface="Arial"/>
                <a:ea typeface="Arial"/>
                <a:cs typeface="Arial"/>
              </a:defRPr>
            </a:pPr>
            <a:r>
              <a:rPr sz="3525" b="1">
                <a:solidFill>
                  <a:srgbClr val="2072B7"/>
                </a:solidFill>
                <a:latin typeface="Arial"/>
                <a:ea typeface="Arial"/>
                <a:cs typeface="Arial"/>
              </a:rPr>
              <a:t>đã lắng nghe</a:t>
            </a:r>
          </a:p>
        </p:txBody>
      </p:sp>
      <p:sp>
        <p:nvSpPr>
          <p:cNvPr id="5" name="">
            <a:extLst xmlns:a="http://schemas.openxmlformats.org/drawingml/2006/main">
              <a:ext uri="{FF2B5EF4-FFF2-40B4-BE49-F238E27FC236}">
                <a16:creationId xmlns:a16="http://schemas.microsoft.com/office/drawing/2014/main" id="{FDFAF052-DB45-4A40-9C49-E7F2BAA81435}"/>
              </a:ext>
            </a:extLst>
          </p:cNvPr>
          <p:cNvSpPr>
            <a:spLocks xmlns:a="http://schemas.openxmlformats.org/drawingml/2006/main" noGrp="1"/>
          </p:cNvSpPr>
          <p:nvPr/>
        </p:nvSpPr>
        <p:spPr>
          <a:xfrm xmlns:a="http://schemas.openxmlformats.org/drawingml/2006/main">
            <a:off x="952500" y="4429125"/>
            <a:ext cx="9525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02D39"/>
                </a:solidFill>
                <a:latin typeface="Arial"/>
                <a:ea typeface="Arial"/>
                <a:cs typeface="Arial"/>
              </a:defRPr>
            </a:defPPr>
          </a:lstStyle>
          <a:p xmlns:a="http://schemas.openxmlformats.org/drawingml/2006/main">
            <a:pPr>
              <a:buNone/>
              <a:defRPr sz="2250" b="0">
                <a:solidFill>
                  <a:srgbClr val="202D39"/>
                </a:solidFill>
                <a:latin typeface="Arial"/>
                <a:ea typeface="Arial"/>
                <a:cs typeface="Arial"/>
              </a:defRPr>
            </a:pPr>
            <a:r>
              <a:rPr sz="2250" b="0">
                <a:solidFill>
                  <a:srgbClr val="202D39"/>
                </a:solidFill>
                <a:latin typeface="Arial"/>
                <a:ea typeface="Arial"/>
                <a:cs typeface="Arial"/>
              </a:rPr>
              <a:t>Giảng viên hướng dẫn</a:t>
            </a:r>
          </a:p>
          <a:p xmlns:a="http://schemas.openxmlformats.org/drawingml/2006/main">
            <a:pPr>
              <a:buNone/>
              <a:defRPr sz="2250" b="0">
                <a:solidFill>
                  <a:srgbClr val="202D39"/>
                </a:solidFill>
                <a:latin typeface="Arial"/>
                <a:ea typeface="Arial"/>
                <a:cs typeface="Arial"/>
              </a:defRPr>
            </a:pPr>
            <a:r>
              <a:rPr sz="2250" b="0">
                <a:solidFill>
                  <a:srgbClr val="202D39"/>
                </a:solidFill>
                <a:latin typeface="Arial"/>
                <a:ea typeface="Arial"/>
                <a:cs typeface="Arial"/>
              </a:rPr>
              <a:t>TS. Phan Hồ Viết Trường</a:t>
            </a:r>
          </a:p>
        </p:txBody>
      </p:sp>
    </p:spTree>
    <p:extLst>
      <p:ext uri="{BB962C8B-B14F-4D97-AF65-F5344CB8AC3E}">
        <p14:creationId xmlns:p14="http://schemas.microsoft.com/office/powerpoint/2010/main" val="1956404352"/>
      </p:ext>
    </p:extLst>
  </p:cSld>
</p:sld>
</file>

<file path=ppt/theme/theme1.xml><?xml version="1.0" encoding="utf-8"?>
<a:theme xmlns:a="http://schemas.openxmlformats.org/drawingml/2006/main" name="1_Office Theme">
  <a:themeElements>
    <a:clrScheme name="HUIT">
      <a:dk1>
        <a:srgbClr val="000000"/>
      </a:dk1>
      <a:lt1>
        <a:srgbClr val="FFFFFF"/>
      </a:lt1>
      <a:dk2>
        <a:srgbClr val="354253"/>
      </a:dk2>
      <a:lt2>
        <a:srgbClr val="E7E6E6"/>
      </a:lt2>
      <a:accent1>
        <a:srgbClr val="044F9E"/>
      </a:accent1>
      <a:accent2>
        <a:srgbClr val="2072B7"/>
      </a:accent2>
      <a:accent3>
        <a:srgbClr val="4CC4EB"/>
      </a:accent3>
      <a:accent4>
        <a:srgbClr val="E81F26"/>
      </a:accent4>
      <a:accent5>
        <a:srgbClr val="FEC01D"/>
      </a:accent5>
      <a:accent6>
        <a:srgbClr val="DBD014"/>
      </a:accent6>
      <a:hlink>
        <a:srgbClr val="2072B7"/>
      </a:hlink>
      <a:folHlink>
        <a:srgbClr val="044F9E"/>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UIT">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2026-10-13T07:32:38.0840000Z</dcterms:created>
  <dcterms:modified xsi:type="dcterms:W3CDTF">2026-10-13T07:32:38.0840000Z</dcterms:modified>
</coreProperties>
</file>